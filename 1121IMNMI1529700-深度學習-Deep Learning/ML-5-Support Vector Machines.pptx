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99" r:id="rId3"/>
    <p:sldId id="257" r:id="rId4"/>
    <p:sldId id="258" r:id="rId5"/>
    <p:sldId id="259" r:id="rId6"/>
    <p:sldId id="260" r:id="rId7"/>
    <p:sldId id="261" r:id="rId8"/>
    <p:sldId id="262" r:id="rId9"/>
    <p:sldId id="263" r:id="rId10"/>
    <p:sldId id="271" r:id="rId11"/>
    <p:sldId id="272" r:id="rId12"/>
    <p:sldId id="273" r:id="rId13"/>
    <p:sldId id="264" r:id="rId14"/>
    <p:sldId id="265" r:id="rId15"/>
    <p:sldId id="266" r:id="rId16"/>
    <p:sldId id="274" r:id="rId17"/>
    <p:sldId id="267" r:id="rId18"/>
    <p:sldId id="275" r:id="rId19"/>
    <p:sldId id="268"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3" r:id="rId37"/>
    <p:sldId id="290" r:id="rId38"/>
    <p:sldId id="294" r:id="rId39"/>
    <p:sldId id="295" r:id="rId40"/>
    <p:sldId id="296" r:id="rId41"/>
    <p:sldId id="297" r:id="rId42"/>
    <p:sldId id="298"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75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TW"/>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TW"/>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TW"/>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AE15BA0-F433-4F24-BB59-F5CF53BB419C}"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fontAlgn="base">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fontAlgn="base">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fontAlgn="base">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fontAlgn="base">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53E667-BBE1-405C-941A-3D82D8D990EB}" type="slidenum">
              <a:rPr lang="en-US" altLang="zh-TW"/>
              <a:pPr/>
              <a:t>1</a:t>
            </a:fld>
            <a:endParaRPr lang="en-US" altLang="zh-TW"/>
          </a:p>
        </p:txBody>
      </p:sp>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0327F4-DB71-4E0E-9314-D28AF151641D}" type="slidenum">
              <a:rPr lang="en-US" altLang="zh-TW"/>
              <a:pPr/>
              <a:t>2</a:t>
            </a:fld>
            <a:endParaRPr lang="en-US" altLang="zh-TW"/>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896362-3EC0-4E65-94E9-2D3C5F4150A5}" type="slidenum">
              <a:rPr lang="en-US" altLang="zh-TW"/>
              <a:pPr/>
              <a:t>3</a:t>
            </a:fld>
            <a:endParaRPr lang="en-US" altLang="zh-TW"/>
          </a:p>
        </p:txBody>
      </p:sp>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C2AA03-7850-455D-BF48-C3ADA6760A6E}" type="slidenum">
              <a:rPr lang="en-US" altLang="zh-TW"/>
              <a:pPr/>
              <a:t>4</a:t>
            </a:fld>
            <a:endParaRPr lang="en-US" altLang="zh-TW"/>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79121D-18B3-4F9E-A8DE-F1CDA7D6D6D6}" type="slidenum">
              <a:rPr lang="en-US" altLang="zh-TW"/>
              <a:pPr/>
              <a:t>5</a:t>
            </a:fld>
            <a:endParaRPr lang="en-US" altLang="zh-TW"/>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5BFA0-8306-486E-8096-303370AE46BF}" type="slidenum">
              <a:rPr lang="en-US" altLang="zh-TW"/>
              <a:pPr/>
              <a:t>6</a:t>
            </a:fld>
            <a:endParaRPr lang="en-US" altLang="zh-TW"/>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98135D-1B65-40FC-89AC-D75F0CD9E5AA}" type="slidenum">
              <a:rPr lang="en-US" altLang="zh-TW"/>
              <a:pPr/>
              <a:t>7</a:t>
            </a:fld>
            <a:endParaRPr lang="en-US" altLang="zh-TW"/>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2FDE76-7DC3-467E-881F-3D176EF3195C}" type="slidenum">
              <a:rPr lang="en-US" altLang="zh-TW"/>
              <a:pPr/>
              <a:t>8</a:t>
            </a:fld>
            <a:endParaRPr lang="en-US" altLang="zh-TW"/>
          </a:p>
        </p:txBody>
      </p:sp>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4F841D-F417-41CE-B9D3-AB04AEE00696}" type="slidenum">
              <a:rPr lang="en-US" altLang="zh-TW"/>
              <a:pPr/>
              <a:t>9</a:t>
            </a:fld>
            <a:endParaRPr lang="en-US" altLang="zh-TW"/>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7B4A2C-DBD9-4916-98D6-0849251D2EF6}" type="slidenum">
              <a:rPr lang="en-US" altLang="zh-TW"/>
              <a:pPr/>
              <a:t>10</a:t>
            </a:fld>
            <a:endParaRPr lang="en-US" altLang="zh-TW"/>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126408-EF6A-4AE4-B375-1A682105D6A8}" type="slidenum">
              <a:rPr lang="en-US" altLang="zh-TW"/>
              <a:pPr/>
              <a:t>11</a:t>
            </a:fld>
            <a:endParaRPr lang="en-US" altLang="zh-TW"/>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870CEA-A4F5-458D-BBC3-8AD9D2892B2C}" type="slidenum">
              <a:rPr lang="en-US" altLang="zh-TW"/>
              <a:pPr/>
              <a:t>12</a:t>
            </a:fld>
            <a:endParaRPr lang="en-US" altLang="zh-TW"/>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F380B6-5A94-4CE9-96FD-265E260E79CD}" type="slidenum">
              <a:rPr lang="en-US" altLang="zh-TW"/>
              <a:pPr/>
              <a:t>13</a:t>
            </a:fld>
            <a:endParaRPr lang="en-US" altLang="zh-TW"/>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E36EFA-DF2A-4525-9B71-827BAB79CD88}" type="slidenum">
              <a:rPr lang="en-US" altLang="zh-TW"/>
              <a:pPr/>
              <a:t>14</a:t>
            </a:fld>
            <a:endParaRPr lang="en-US" altLang="zh-TW"/>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E048BD-F2D9-4452-BE36-80A54945AEEB}" type="slidenum">
              <a:rPr lang="en-US" altLang="zh-TW"/>
              <a:pPr/>
              <a:t>15</a:t>
            </a:fld>
            <a:endParaRPr lang="en-US" altLang="zh-TW"/>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8CC64B-B199-4AA8-9469-0101EBA5AB7E}" type="slidenum">
              <a:rPr lang="en-US" altLang="zh-TW"/>
              <a:pPr/>
              <a:t>16</a:t>
            </a:fld>
            <a:endParaRPr lang="en-US" altLang="zh-TW"/>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0A525A-5D95-4AAF-8325-FC40CFCE68CB}" type="slidenum">
              <a:rPr lang="en-US" altLang="zh-TW"/>
              <a:pPr/>
              <a:t>17</a:t>
            </a:fld>
            <a:endParaRPr lang="en-US" altLang="zh-TW"/>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F543E0-E30E-4B7B-8296-C7B7AC27029E}" type="slidenum">
              <a:rPr lang="en-US" altLang="zh-TW"/>
              <a:pPr/>
              <a:t>18</a:t>
            </a:fld>
            <a:endParaRPr lang="en-US" altLang="zh-TW"/>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3AFE91-5559-4779-953C-AA370372AE6B}" type="slidenum">
              <a:rPr lang="en-US" altLang="zh-TW"/>
              <a:pPr/>
              <a:t>19</a:t>
            </a:fld>
            <a:endParaRPr lang="en-US" altLang="zh-TW"/>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C7E93A-2FD7-4D77-B7C7-3D7045DA48D7}" type="slidenum">
              <a:rPr lang="en-US" altLang="zh-TW"/>
              <a:pPr/>
              <a:t>20</a:t>
            </a:fld>
            <a:endParaRPr lang="en-US" altLang="zh-TW"/>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063008-5274-46C9-8DD8-907555EB1768}" type="slidenum">
              <a:rPr lang="en-US" altLang="zh-TW"/>
              <a:pPr/>
              <a:t>21</a:t>
            </a:fld>
            <a:endParaRPr lang="en-US" altLang="zh-TW"/>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F7DC68-81B2-43F6-939F-572AC66B038E}" type="slidenum">
              <a:rPr lang="en-US" altLang="zh-TW"/>
              <a:pPr/>
              <a:t>22</a:t>
            </a:fld>
            <a:endParaRPr lang="en-US" altLang="zh-TW"/>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C133FC-609E-4E77-B0E7-920F949DD608}" type="slidenum">
              <a:rPr lang="en-US" altLang="zh-TW"/>
              <a:pPr/>
              <a:t>23</a:t>
            </a:fld>
            <a:endParaRPr lang="en-US" altLang="zh-TW"/>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9DC8B2-DAF1-4B9F-851D-455D436BA9B8}" type="slidenum">
              <a:rPr lang="en-US" altLang="zh-TW"/>
              <a:pPr/>
              <a:t>24</a:t>
            </a:fld>
            <a:endParaRPr lang="en-US" altLang="zh-TW"/>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598028-5549-4577-ADF9-A6D78EF8DCC8}" type="slidenum">
              <a:rPr lang="en-US" altLang="zh-TW"/>
              <a:pPr/>
              <a:t>25</a:t>
            </a:fld>
            <a:endParaRPr lang="en-US" altLang="zh-TW"/>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D2D7D2-3FD8-4D3B-B201-843C9776D060}" type="slidenum">
              <a:rPr lang="en-US" altLang="zh-TW"/>
              <a:pPr/>
              <a:t>26</a:t>
            </a:fld>
            <a:endParaRPr lang="en-US" altLang="zh-TW"/>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E07CF3-B527-4C99-8D30-4F14098048FC}" type="slidenum">
              <a:rPr lang="en-US" altLang="zh-TW"/>
              <a:pPr/>
              <a:t>27</a:t>
            </a:fld>
            <a:endParaRPr lang="en-US" altLang="zh-TW"/>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84E202-22BE-4D11-BDE1-A3545239D06D}" type="slidenum">
              <a:rPr lang="en-US" altLang="zh-TW"/>
              <a:pPr/>
              <a:t>28</a:t>
            </a:fld>
            <a:endParaRPr lang="en-US" altLang="zh-TW"/>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FE7201-D096-4EB4-822B-0723190D3F5D}" type="slidenum">
              <a:rPr lang="en-US" altLang="zh-TW"/>
              <a:pPr/>
              <a:t>29</a:t>
            </a:fld>
            <a:endParaRPr lang="en-US" altLang="zh-TW"/>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C3E4A1-EA0C-46D5-A795-F56CBD2377F2}" type="slidenum">
              <a:rPr lang="en-US" altLang="zh-TW"/>
              <a:pPr/>
              <a:t>30</a:t>
            </a:fld>
            <a:endParaRPr lang="en-US" altLang="zh-TW"/>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38BD1D-014B-4C99-9B5D-A18DB62E3494}" type="slidenum">
              <a:rPr lang="en-US" altLang="zh-TW"/>
              <a:pPr/>
              <a:t>31</a:t>
            </a:fld>
            <a:endParaRPr lang="en-US" altLang="zh-TW"/>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9DE62C-EB9E-465F-A69F-930DE2A0D221}" type="slidenum">
              <a:rPr lang="en-US" altLang="zh-TW"/>
              <a:pPr/>
              <a:t>32</a:t>
            </a:fld>
            <a:endParaRPr lang="en-US" altLang="zh-TW"/>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B81189-6D0B-4818-8ECD-5BC506A10D66}" type="slidenum">
              <a:rPr lang="en-US" altLang="zh-TW"/>
              <a:pPr/>
              <a:t>33</a:t>
            </a:fld>
            <a:endParaRPr lang="en-US" altLang="zh-TW"/>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82BD3D-C7E6-4DA6-A3E9-C8519B50EAB9}" type="slidenum">
              <a:rPr lang="en-US" altLang="zh-TW"/>
              <a:pPr/>
              <a:t>34</a:t>
            </a:fld>
            <a:endParaRPr lang="en-US" altLang="zh-TW"/>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DA9B16-C61F-48C8-99D1-7A31511B53CD}" type="slidenum">
              <a:rPr lang="en-US" altLang="zh-TW"/>
              <a:pPr/>
              <a:t>35</a:t>
            </a:fld>
            <a:endParaRPr lang="en-US" altLang="zh-TW"/>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0D0C03-A789-40A3-A6C7-E5AE56916BDF}" type="slidenum">
              <a:rPr lang="en-US" altLang="zh-TW"/>
              <a:pPr/>
              <a:t>36</a:t>
            </a:fld>
            <a:endParaRPr lang="en-US" altLang="zh-TW"/>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A9762F-44F6-4D4E-A71E-8445351620F4}" type="slidenum">
              <a:rPr lang="en-US" altLang="zh-TW"/>
              <a:pPr/>
              <a:t>37</a:t>
            </a:fld>
            <a:endParaRPr lang="en-US" altLang="zh-TW"/>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3F3993-9AAB-4F5B-8999-C812E2735913}" type="slidenum">
              <a:rPr lang="en-US" altLang="zh-TW"/>
              <a:pPr/>
              <a:t>38</a:t>
            </a:fld>
            <a:endParaRPr lang="en-US" altLang="zh-TW"/>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37E8C5-1859-43CA-B287-99054C782AA4}" type="slidenum">
              <a:rPr lang="en-US" altLang="zh-TW"/>
              <a:pPr/>
              <a:t>39</a:t>
            </a:fld>
            <a:endParaRPr lang="en-US" altLang="zh-TW"/>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2B4DCF-A219-4C3A-B15E-CD0A11CF5200}" type="slidenum">
              <a:rPr lang="en-US" altLang="zh-TW"/>
              <a:pPr/>
              <a:t>40</a:t>
            </a:fld>
            <a:endParaRPr lang="en-US" altLang="zh-TW"/>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5AACD9-66F2-4F5D-BBE7-97E49EB92C6B}" type="slidenum">
              <a:rPr lang="en-US" altLang="zh-TW"/>
              <a:pPr/>
              <a:t>41</a:t>
            </a:fld>
            <a:endParaRPr lang="en-US" altLang="zh-TW"/>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A64049-7E2A-466C-AC0C-51462C9A449E}" type="slidenum">
              <a:rPr lang="en-US" altLang="zh-TW"/>
              <a:pPr/>
              <a:t>42</a:t>
            </a:fld>
            <a:endParaRPr lang="en-US" altLang="zh-TW"/>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381232-5765-4BCA-9E6B-EBA0572D229B}" type="slidenum">
              <a:rPr lang="en-US" altLang="zh-TW"/>
              <a:pPr/>
              <a:t>43</a:t>
            </a:fld>
            <a:endParaRPr lang="en-US" altLang="zh-TW"/>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6506E0-B697-4BAA-92F1-D8C43CBD1740}" type="slidenum">
              <a:rPr lang="en-US" altLang="zh-TW"/>
              <a:pPr/>
              <a:t>44</a:t>
            </a:fld>
            <a:endParaRPr lang="en-US" altLang="zh-TW"/>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863F9F-D9E1-43C1-95D2-C3682D2F6128}" type="slidenum">
              <a:rPr lang="en-US" altLang="zh-TW"/>
              <a:pPr/>
              <a:t>45</a:t>
            </a:fld>
            <a:endParaRPr lang="en-US" altLang="zh-TW"/>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0F44F2-C3D2-4D56-A94E-42D2D7637ABB}" type="slidenum">
              <a:rPr lang="en-US" altLang="zh-TW"/>
              <a:pPr/>
              <a:t>46</a:t>
            </a:fld>
            <a:endParaRPr lang="en-US" altLang="zh-TW"/>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B63C1A-2247-4DC9-86D0-1531BB91B2E5}" type="slidenum">
              <a:rPr lang="en-US" altLang="zh-TW"/>
              <a:pPr/>
              <a:t>47</a:t>
            </a:fld>
            <a:endParaRPr lang="en-US" altLang="zh-TW"/>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C337F1-482C-46D3-9CED-0E8B83AB12D0}" type="slidenum">
              <a:rPr lang="en-US" altLang="zh-TW"/>
              <a:pPr/>
              <a:t>48</a:t>
            </a:fld>
            <a:endParaRPr lang="en-US" altLang="zh-TW"/>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EC9B8D-1135-43F7-AFF4-D7B0BF3A7A65}" type="slidenum">
              <a:rPr lang="en-US" altLang="zh-TW"/>
              <a:pPr/>
              <a:t>49</a:t>
            </a:fld>
            <a:endParaRPr lang="en-US" altLang="zh-TW"/>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0646A1-53C9-4916-89B1-19CC2269A6B6}" type="slidenum">
              <a:rPr lang="en-US" altLang="zh-TW"/>
              <a:pPr/>
              <a:t>50</a:t>
            </a:fld>
            <a:endParaRPr lang="en-US" altLang="zh-TW"/>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7AC233-7DD4-471D-B700-4C38B1AB2492}" type="slidenum">
              <a:rPr lang="en-US" altLang="zh-TW"/>
              <a:pPr/>
              <a:t>51</a:t>
            </a:fld>
            <a:endParaRPr lang="en-US" altLang="zh-TW"/>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7973B9-4958-431A-BC3D-8AA5DB867929}" type="slidenum">
              <a:rPr lang="en-US" altLang="zh-TW"/>
              <a:pPr/>
              <a:t>52</a:t>
            </a:fld>
            <a:endParaRPr lang="en-US" altLang="zh-TW"/>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FA7507-680E-44C7-A1AA-0993E86B11E3}" type="slidenum">
              <a:rPr lang="en-US" altLang="zh-TW"/>
              <a:pPr/>
              <a:t>53</a:t>
            </a:fld>
            <a:endParaRPr lang="en-US" altLang="zh-TW"/>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7E22CE-975A-41CA-885C-898AA70AB78C}" type="slidenum">
              <a:rPr lang="en-US" altLang="zh-TW"/>
              <a:pPr/>
              <a:t>54</a:t>
            </a:fld>
            <a:endParaRPr lang="en-US" altLang="zh-TW"/>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E53865-4E2D-4DBC-A193-9AC319B55073}" type="slidenum">
              <a:rPr lang="en-US" altLang="zh-TW"/>
              <a:pPr/>
              <a:t>55</a:t>
            </a:fld>
            <a:endParaRPr lang="en-US" altLang="zh-TW"/>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80BB26-29D7-4117-8746-C5767B929360}" type="slidenum">
              <a:rPr lang="en-US" altLang="zh-TW"/>
              <a:pPr/>
              <a:t>56</a:t>
            </a:fld>
            <a:endParaRPr lang="en-US" altLang="zh-TW"/>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1B003D-E370-4D82-8761-113E4804DD71}" type="slidenum">
              <a:rPr lang="en-US" altLang="zh-TW"/>
              <a:pPr/>
              <a:t>57</a:t>
            </a:fld>
            <a:endParaRPr lang="en-US" altLang="zh-TW"/>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7388FA-7813-4BF8-BC87-B9B130EF65C9}" type="slidenum">
              <a:rPr lang="en-US" altLang="zh-TW"/>
              <a:pPr/>
              <a:t>58</a:t>
            </a:fld>
            <a:endParaRPr lang="en-US" altLang="zh-TW"/>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9DA66-6633-4380-91D8-D7BCCB6B09F3}" type="slidenum">
              <a:rPr lang="en-US" altLang="zh-TW"/>
              <a:pPr/>
              <a:t>59</a:t>
            </a:fld>
            <a:endParaRPr lang="en-US" altLang="zh-TW"/>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F192E5-CF3F-4BA3-A93B-FAB4FB856F9C}" type="slidenum">
              <a:rPr lang="en-US" altLang="zh-TW"/>
              <a:pPr/>
              <a:t>60</a:t>
            </a:fld>
            <a:endParaRPr lang="en-US" altLang="zh-TW"/>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577718-4F65-4CB7-840E-6D6742DB8176}" type="slidenum">
              <a:rPr lang="en-US" altLang="zh-TW"/>
              <a:pPr/>
              <a:t>61</a:t>
            </a:fld>
            <a:endParaRPr lang="en-US" altLang="zh-TW"/>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D76AFC-DB35-4D37-8EB8-B43D60708EA8}" type="slidenum">
              <a:rPr lang="en-US" altLang="zh-TW"/>
              <a:pPr/>
              <a:t>62</a:t>
            </a:fld>
            <a:endParaRPr lang="en-US" altLang="zh-TW"/>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99B585-E4A5-49FA-AC69-33AA4BCCADF3}" type="slidenum">
              <a:rPr lang="en-US" altLang="zh-TW"/>
              <a:pPr/>
              <a:t>63</a:t>
            </a:fld>
            <a:endParaRPr lang="en-US" altLang="zh-TW"/>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zh-TW"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D967FF03-042F-4D7E-BAB3-32BC3C2D4FA2}" type="slidenum">
              <a:rPr lang="en-US" altLang="zh-TW"/>
              <a:pPr/>
              <a:t>‹#›</a:t>
            </a:fld>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E4BCCDF2-76AB-4AA0-A41D-FF80D39099EB}" type="slidenum">
              <a:rPr lang="en-US" altLang="zh-TW"/>
              <a:pPr/>
              <a:t>‹#›</a:t>
            </a:fld>
            <a:endParaRPr lang="en-US" altLang="zh-T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B6F3641B-C8D1-4726-80F6-AE8F24E9D328}" type="slidenum">
              <a:rPr lang="en-US" altLang="zh-TW"/>
              <a:pPr/>
              <a:t>‹#›</a:t>
            </a:fld>
            <a:endParaRPr lang="en-US" altLang="zh-T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709FCE43-A631-4C3D-8131-D92D12D83637}" type="slidenum">
              <a:rPr lang="en-US" altLang="zh-TW"/>
              <a:pPr/>
              <a:t>‹#›</a:t>
            </a:fld>
            <a:endParaRPr lang="en-US" altLang="zh-T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a:p>
        </p:txBody>
      </p:sp>
      <p:sp>
        <p:nvSpPr>
          <p:cNvPr id="8" name="頁尾版面配置區 7"/>
          <p:cNvSpPr>
            <a:spLocks noGrp="1"/>
          </p:cNvSpPr>
          <p:nvPr>
            <p:ph type="ftr" sz="quarter" idx="11"/>
          </p:nvPr>
        </p:nvSpPr>
        <p:spPr/>
        <p:txBody>
          <a:bodyPr/>
          <a:lstStyle>
            <a:lvl1pPr>
              <a:defRPr/>
            </a:lvl1pPr>
          </a:lstStyle>
          <a:p>
            <a:endParaRPr lang="en-US" altLang="zh-TW"/>
          </a:p>
        </p:txBody>
      </p:sp>
      <p:sp>
        <p:nvSpPr>
          <p:cNvPr id="9" name="投影片編號版面配置區 8"/>
          <p:cNvSpPr>
            <a:spLocks noGrp="1"/>
          </p:cNvSpPr>
          <p:nvPr>
            <p:ph type="sldNum" sz="quarter" idx="12"/>
          </p:nvPr>
        </p:nvSpPr>
        <p:spPr/>
        <p:txBody>
          <a:bodyPr/>
          <a:lstStyle>
            <a:lvl1pPr>
              <a:defRPr/>
            </a:lvl1pPr>
          </a:lstStyle>
          <a:p>
            <a:fld id="{9338EDE6-4684-4DEE-834E-F53EDA8C6D5A}" type="slidenum">
              <a:rPr lang="en-US" altLang="zh-TW"/>
              <a:pPr/>
              <a:t>‹#›</a:t>
            </a:fld>
            <a:endParaRPr lang="en-US" altLang="zh-T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a:p>
        </p:txBody>
      </p:sp>
      <p:sp>
        <p:nvSpPr>
          <p:cNvPr id="4" name="頁尾版面配置區 3"/>
          <p:cNvSpPr>
            <a:spLocks noGrp="1"/>
          </p:cNvSpPr>
          <p:nvPr>
            <p:ph type="ftr" sz="quarter" idx="11"/>
          </p:nvPr>
        </p:nvSpPr>
        <p:spPr/>
        <p:txBody>
          <a:bodyPr/>
          <a:lstStyle>
            <a:lvl1pPr>
              <a:defRPr/>
            </a:lvl1pPr>
          </a:lstStyle>
          <a:p>
            <a:endParaRPr lang="en-US" altLang="zh-TW"/>
          </a:p>
        </p:txBody>
      </p:sp>
      <p:sp>
        <p:nvSpPr>
          <p:cNvPr id="5" name="投影片編號版面配置區 4"/>
          <p:cNvSpPr>
            <a:spLocks noGrp="1"/>
          </p:cNvSpPr>
          <p:nvPr>
            <p:ph type="sldNum" sz="quarter" idx="12"/>
          </p:nvPr>
        </p:nvSpPr>
        <p:spPr/>
        <p:txBody>
          <a:bodyPr/>
          <a:lstStyle>
            <a:lvl1pPr>
              <a:defRPr/>
            </a:lvl1pPr>
          </a:lstStyle>
          <a:p>
            <a:fld id="{F5F026D8-9C9C-40EA-A3D0-8BA6267E1CA2}" type="slidenum">
              <a:rPr lang="en-US" altLang="zh-TW"/>
              <a:pPr/>
              <a:t>‹#›</a:t>
            </a:fld>
            <a:endParaRPr lang="en-US" altLang="zh-T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a:p>
        </p:txBody>
      </p:sp>
      <p:sp>
        <p:nvSpPr>
          <p:cNvPr id="3" name="頁尾版面配置區 2"/>
          <p:cNvSpPr>
            <a:spLocks noGrp="1"/>
          </p:cNvSpPr>
          <p:nvPr>
            <p:ph type="ftr" sz="quarter" idx="11"/>
          </p:nvPr>
        </p:nvSpPr>
        <p:spPr/>
        <p:txBody>
          <a:bodyPr/>
          <a:lstStyle>
            <a:lvl1pPr>
              <a:defRPr/>
            </a:lvl1pPr>
          </a:lstStyle>
          <a:p>
            <a:endParaRPr lang="en-US" altLang="zh-TW"/>
          </a:p>
        </p:txBody>
      </p:sp>
      <p:sp>
        <p:nvSpPr>
          <p:cNvPr id="4" name="投影片編號版面配置區 3"/>
          <p:cNvSpPr>
            <a:spLocks noGrp="1"/>
          </p:cNvSpPr>
          <p:nvPr>
            <p:ph type="sldNum" sz="quarter" idx="12"/>
          </p:nvPr>
        </p:nvSpPr>
        <p:spPr/>
        <p:txBody>
          <a:bodyPr/>
          <a:lstStyle>
            <a:lvl1pPr>
              <a:defRPr/>
            </a:lvl1pPr>
          </a:lstStyle>
          <a:p>
            <a:fld id="{40F53020-C9D8-41FC-A70A-1C18AC2DEE1F}" type="slidenum">
              <a:rPr lang="en-US" altLang="zh-TW"/>
              <a:pPr/>
              <a:t>‹#›</a:t>
            </a:fld>
            <a:endParaRPr lang="en-US" altLang="zh-T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E8D5578A-DB0E-4DC0-90A8-D64FF2FD5097}" type="slidenum">
              <a:rPr lang="en-US" altLang="zh-TW"/>
              <a:pPr/>
              <a:t>‹#›</a:t>
            </a:fld>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9D09E8E1-5AAA-4AFF-ADA3-2FBF9DF8F9C0}" type="slidenum">
              <a:rPr lang="en-US" altLang="zh-TW"/>
              <a:pPr/>
              <a:t>‹#›</a:t>
            </a:fld>
            <a:endParaRPr lang="en-US" altLang="zh-T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B1774A77-7E54-40DF-BAC2-173192437C40}" type="slidenum">
              <a:rPr lang="en-US" altLang="zh-TW"/>
              <a:pPr/>
              <a:t>‹#›</a:t>
            </a:fld>
            <a:endParaRPr lang="en-US" altLang="zh-T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2066EDCA-58E0-4373-BE89-FFE3FC9DBEDC}" type="slidenum">
              <a:rPr lang="en-US" altLang="zh-TW"/>
              <a:pPr/>
              <a:t>‹#›</a:t>
            </a:fld>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TW"/>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68C1BE4E-5FBF-4BF9-A334-BE6AAC1E1347}" type="slidenum">
              <a:rPr lang="en-US" altLang="zh-TW"/>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新細明體" pitchFamily="18" charset="-120"/>
        </a:defRPr>
      </a:lvl2pPr>
      <a:lvl3pPr algn="ctr" rtl="0" fontAlgn="base">
        <a:spcBef>
          <a:spcPct val="0"/>
        </a:spcBef>
        <a:spcAft>
          <a:spcPct val="0"/>
        </a:spcAft>
        <a:defRPr kumimoji="1" sz="4400">
          <a:solidFill>
            <a:schemeClr val="tx2"/>
          </a:solidFill>
          <a:latin typeface="Arial" charset="0"/>
          <a:ea typeface="新細明體" pitchFamily="18" charset="-120"/>
        </a:defRPr>
      </a:lvl3pPr>
      <a:lvl4pPr algn="ctr" rtl="0" fontAlgn="base">
        <a:spcBef>
          <a:spcPct val="0"/>
        </a:spcBef>
        <a:spcAft>
          <a:spcPct val="0"/>
        </a:spcAft>
        <a:defRPr kumimoji="1" sz="4400">
          <a:solidFill>
            <a:schemeClr val="tx2"/>
          </a:solidFill>
          <a:latin typeface="Arial" charset="0"/>
          <a:ea typeface="新細明體" pitchFamily="18" charset="-120"/>
        </a:defRPr>
      </a:lvl4pPr>
      <a:lvl5pPr algn="ctr" rtl="0" fontAlgn="base">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15.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9.wmf"/><Relationship Id="rId4" Type="http://schemas.openxmlformats.org/officeDocument/2006/relationships/oleObject" Target="../embeddings/oleObject6.bin"/><Relationship Id="rId9" Type="http://schemas.openxmlformats.org/officeDocument/2006/relationships/image" Target="../media/image12.wmf"/></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0.w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2.bin"/><Relationship Id="rId5" Type="http://schemas.openxmlformats.org/officeDocument/2006/relationships/image" Target="../media/image21.wmf"/><Relationship Id="rId4"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2.wmf"/><Relationship Id="rId4"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zh-TW"/>
              <a:t>Support Vector Machines</a:t>
            </a:r>
          </a:p>
        </p:txBody>
      </p:sp>
      <p:sp>
        <p:nvSpPr>
          <p:cNvPr id="2051" name="Rectangle 3"/>
          <p:cNvSpPr>
            <a:spLocks noGrp="1" noChangeArrowheads="1"/>
          </p:cNvSpPr>
          <p:nvPr>
            <p:ph type="subTitle" idx="1"/>
          </p:nvPr>
        </p:nvSpPr>
        <p:spPr/>
        <p:txBody>
          <a:bodyPr/>
          <a:lstStyle/>
          <a:p>
            <a:endParaRPr lang="zh-TW" altLang="zh-TW"/>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zh-TW"/>
              <a:t>Introduction</a:t>
            </a:r>
          </a:p>
        </p:txBody>
      </p:sp>
      <p:sp>
        <p:nvSpPr>
          <p:cNvPr id="116739" name="Rectangle 3"/>
          <p:cNvSpPr>
            <a:spLocks noGrp="1" noChangeArrowheads="1"/>
          </p:cNvSpPr>
          <p:nvPr>
            <p:ph type="body" idx="1"/>
          </p:nvPr>
        </p:nvSpPr>
        <p:spPr/>
        <p:txBody>
          <a:bodyPr/>
          <a:lstStyle/>
          <a:p>
            <a:r>
              <a:rPr lang="en-US" altLang="zh-TW"/>
              <a:t>A linear method in a high-dimensional feature space nonlinearly related to input space</a:t>
            </a:r>
          </a:p>
          <a:p>
            <a:r>
              <a:rPr lang="en-US" altLang="zh-TW"/>
              <a:t>It does not involve any computation in that high-dimensional space</a:t>
            </a:r>
          </a:p>
          <a:p>
            <a:pPr lvl="1"/>
            <a:r>
              <a:rPr lang="en-US" altLang="zh-TW"/>
              <a:t>By the use of kernels, all necessary computation are performed directly in input space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zh-TW"/>
              <a:t>Data Classification</a:t>
            </a:r>
          </a:p>
        </p:txBody>
      </p:sp>
      <p:sp>
        <p:nvSpPr>
          <p:cNvPr id="3075" name="Rectangle 3"/>
          <p:cNvSpPr>
            <a:spLocks noGrp="1" noChangeArrowheads="1"/>
          </p:cNvSpPr>
          <p:nvPr>
            <p:ph type="body" idx="1"/>
          </p:nvPr>
        </p:nvSpPr>
        <p:spPr/>
        <p:txBody>
          <a:bodyPr/>
          <a:lstStyle/>
          <a:p>
            <a:r>
              <a:rPr lang="en-US" altLang="zh-TW"/>
              <a:t>Two classes</a:t>
            </a:r>
          </a:p>
          <a:p>
            <a:pPr lvl="1"/>
            <a:r>
              <a:rPr lang="en-US" altLang="zh-TW"/>
              <a:t>Estimate a function </a:t>
            </a:r>
            <a:r>
              <a:rPr lang="en-US" altLang="zh-TW" i="1"/>
              <a:t>f</a:t>
            </a:r>
            <a:r>
              <a:rPr lang="en-US" altLang="zh-TW"/>
              <a:t>:</a:t>
            </a:r>
            <a:r>
              <a:rPr lang="en-US" altLang="zh-TW" i="1"/>
              <a:t>R</a:t>
            </a:r>
            <a:r>
              <a:rPr lang="en-US" altLang="zh-TW" i="1" baseline="30000"/>
              <a:t>N</a:t>
            </a:r>
            <a:r>
              <a:rPr lang="en-US" altLang="zh-TW">
                <a:sym typeface="Wingdings" pitchFamily="2" charset="2"/>
              </a:rPr>
              <a:t></a:t>
            </a:r>
            <a:r>
              <a:rPr lang="en-US" altLang="zh-TW"/>
              <a:t>{±1} </a:t>
            </a:r>
          </a:p>
          <a:p>
            <a:pPr lvl="1"/>
            <a:r>
              <a:rPr lang="en-US" altLang="zh-TW"/>
              <a:t>Using training data—that is, </a:t>
            </a:r>
            <a:r>
              <a:rPr lang="en-US" altLang="zh-TW" i="1"/>
              <a:t>N</a:t>
            </a:r>
            <a:r>
              <a:rPr lang="en-US" altLang="zh-TW"/>
              <a:t>-dimensional patterns </a:t>
            </a:r>
            <a:r>
              <a:rPr lang="en-US" altLang="zh-TW" b="1" i="1"/>
              <a:t>x</a:t>
            </a:r>
            <a:r>
              <a:rPr lang="en-US" altLang="zh-TW" i="1" baseline="-25000"/>
              <a:t>i</a:t>
            </a:r>
            <a:r>
              <a:rPr lang="en-US" altLang="zh-TW" i="1"/>
              <a:t> </a:t>
            </a:r>
            <a:r>
              <a:rPr lang="en-US" altLang="zh-TW"/>
              <a:t>and class labels </a:t>
            </a:r>
            <a:r>
              <a:rPr lang="en-US" altLang="zh-TW" i="1"/>
              <a:t>y</a:t>
            </a:r>
            <a:r>
              <a:rPr lang="en-US" altLang="zh-TW" i="1" baseline="-25000"/>
              <a:t>i</a:t>
            </a:r>
            <a:r>
              <a:rPr lang="en-US" altLang="zh-TW"/>
              <a:t>,</a:t>
            </a:r>
            <a:br>
              <a:rPr lang="en-US" altLang="zh-TW"/>
            </a:br>
            <a:r>
              <a:rPr lang="en-US" altLang="zh-TW"/>
              <a:t>(</a:t>
            </a:r>
            <a:r>
              <a:rPr lang="en-US" altLang="zh-TW" b="1" i="1"/>
              <a:t>x</a:t>
            </a:r>
            <a:r>
              <a:rPr lang="en-US" altLang="zh-TW" i="1" baseline="-25000"/>
              <a:t>1</a:t>
            </a:r>
            <a:r>
              <a:rPr lang="en-US" altLang="zh-TW"/>
              <a:t>,</a:t>
            </a:r>
            <a:r>
              <a:rPr lang="en-US" altLang="zh-TW" i="1"/>
              <a:t>y</a:t>
            </a:r>
            <a:r>
              <a:rPr lang="en-US" altLang="zh-TW" i="1" baseline="-25000"/>
              <a:t>1</a:t>
            </a:r>
            <a:r>
              <a:rPr lang="en-US" altLang="zh-TW"/>
              <a:t>),…,(</a:t>
            </a:r>
            <a:r>
              <a:rPr lang="en-US" altLang="zh-TW" b="1" i="1"/>
              <a:t>x</a:t>
            </a:r>
            <a:r>
              <a:rPr lang="en-US" altLang="zh-TW" i="1" baseline="-25000"/>
              <a:t>l</a:t>
            </a:r>
            <a:r>
              <a:rPr lang="en-US" altLang="zh-TW"/>
              <a:t>, </a:t>
            </a:r>
            <a:r>
              <a:rPr lang="en-US" altLang="zh-TW" i="1"/>
              <a:t>y</a:t>
            </a:r>
            <a:r>
              <a:rPr lang="en-US" altLang="zh-TW" i="1" baseline="-25000"/>
              <a:t>l</a:t>
            </a:r>
            <a:r>
              <a:rPr lang="en-US" altLang="zh-TW"/>
              <a:t>) ∈ </a:t>
            </a:r>
            <a:r>
              <a:rPr lang="en-US" altLang="zh-TW" i="1"/>
              <a:t>R</a:t>
            </a:r>
            <a:r>
              <a:rPr lang="en-US" altLang="zh-TW" i="1" baseline="30000"/>
              <a:t>N</a:t>
            </a:r>
            <a:r>
              <a:rPr lang="en-US" altLang="zh-TW"/>
              <a:t>× {±1} </a:t>
            </a:r>
          </a:p>
          <a:p>
            <a:pPr lvl="1"/>
            <a:r>
              <a:rPr lang="en-US" altLang="zh-TW"/>
              <a:t>To classify new examples (</a:t>
            </a:r>
            <a:r>
              <a:rPr lang="en-US" altLang="zh-TW" b="1" i="1"/>
              <a:t>x</a:t>
            </a:r>
            <a:r>
              <a:rPr lang="en-US" altLang="zh-TW"/>
              <a:t>,</a:t>
            </a:r>
            <a:r>
              <a:rPr lang="en-US" altLang="zh-TW" i="1"/>
              <a:t>y</a:t>
            </a:r>
            <a:r>
              <a:rPr lang="en-US" altLang="zh-TW"/>
              <a:t>)</a:t>
            </a:r>
          </a:p>
          <a:p>
            <a:endParaRPr lang="en-US" altLang="zh-TW" i="1" baseline="-25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TW"/>
              <a:t>Data Classification</a:t>
            </a:r>
          </a:p>
        </p:txBody>
      </p:sp>
      <p:sp>
        <p:nvSpPr>
          <p:cNvPr id="7171" name="Rectangle 3"/>
          <p:cNvSpPr>
            <a:spLocks noGrp="1" noChangeArrowheads="1"/>
          </p:cNvSpPr>
          <p:nvPr>
            <p:ph type="body" idx="1"/>
          </p:nvPr>
        </p:nvSpPr>
        <p:spPr/>
        <p:txBody>
          <a:bodyPr/>
          <a:lstStyle/>
          <a:p>
            <a:r>
              <a:rPr lang="en-US" altLang="zh-TW"/>
              <a:t>A hyperplane which separates all data</a:t>
            </a:r>
          </a:p>
          <a:p>
            <a:pPr lvl="1"/>
            <a:r>
              <a:rPr lang="en-US" altLang="zh-TW"/>
              <a:t>(</a:t>
            </a:r>
            <a:r>
              <a:rPr lang="en-US" altLang="zh-TW" b="1" i="1"/>
              <a:t>w</a:t>
            </a:r>
            <a:r>
              <a:rPr lang="en-US" altLang="zh-TW">
                <a:latin typeface="新細明體" pitchFamily="18" charset="-120"/>
              </a:rPr>
              <a:t>˙</a:t>
            </a:r>
            <a:r>
              <a:rPr lang="en-US" altLang="zh-TW" b="1" i="1"/>
              <a:t>x</a:t>
            </a:r>
            <a:r>
              <a:rPr lang="en-US" altLang="zh-TW"/>
              <a:t>) + </a:t>
            </a:r>
            <a:r>
              <a:rPr lang="en-US" altLang="zh-TW" i="1"/>
              <a:t>b </a:t>
            </a:r>
            <a:r>
              <a:rPr lang="en-US" altLang="zh-TW"/>
              <a:t>= 0 </a:t>
            </a:r>
          </a:p>
          <a:p>
            <a:pPr lvl="2"/>
            <a:r>
              <a:rPr lang="en-US" altLang="zh-TW" b="1" i="1"/>
              <a:t>w</a:t>
            </a:r>
            <a:r>
              <a:rPr lang="en-US" altLang="zh-TW" b="1"/>
              <a:t> </a:t>
            </a:r>
            <a:r>
              <a:rPr lang="en-US" altLang="zh-TW"/>
              <a:t>∈ </a:t>
            </a:r>
            <a:r>
              <a:rPr lang="en-US" altLang="zh-TW" i="1"/>
              <a:t>R</a:t>
            </a:r>
            <a:r>
              <a:rPr lang="en-US" altLang="zh-TW" i="1" baseline="30000"/>
              <a:t>N</a:t>
            </a:r>
            <a:r>
              <a:rPr lang="en-US" altLang="zh-TW"/>
              <a:t>, </a:t>
            </a:r>
            <a:r>
              <a:rPr lang="en-US" altLang="zh-TW" i="1"/>
              <a:t>b </a:t>
            </a:r>
            <a:r>
              <a:rPr lang="en-US" altLang="zh-TW"/>
              <a:t>∈ </a:t>
            </a:r>
            <a:r>
              <a:rPr lang="en-US" altLang="zh-TW" i="1"/>
              <a:t>R</a:t>
            </a:r>
            <a:endParaRPr lang="en-US" altLang="zh-TW"/>
          </a:p>
          <a:p>
            <a:r>
              <a:rPr lang="en-US" altLang="zh-TW"/>
              <a:t>Decision functions</a:t>
            </a:r>
          </a:p>
          <a:p>
            <a:pPr lvl="1"/>
            <a:r>
              <a:rPr lang="en-US" altLang="zh-TW" i="1"/>
              <a:t>f</a:t>
            </a:r>
            <a:r>
              <a:rPr lang="en-US" altLang="zh-TW"/>
              <a:t>(</a:t>
            </a:r>
            <a:r>
              <a:rPr lang="en-US" altLang="zh-TW" b="1" i="1"/>
              <a:t>x</a:t>
            </a:r>
            <a:r>
              <a:rPr lang="en-US" altLang="zh-TW"/>
              <a:t>) = sign((</a:t>
            </a:r>
            <a:r>
              <a:rPr lang="en-US" altLang="zh-TW" b="1" i="1"/>
              <a:t>w</a:t>
            </a:r>
            <a:r>
              <a:rPr lang="en-US" altLang="zh-TW">
                <a:latin typeface="新細明體" pitchFamily="18" charset="-120"/>
              </a:rPr>
              <a:t>˙</a:t>
            </a:r>
            <a:r>
              <a:rPr lang="en-US" altLang="zh-TW" b="1" i="1"/>
              <a:t>x</a:t>
            </a:r>
            <a:r>
              <a:rPr lang="en-US" altLang="zh-TW"/>
              <a:t>) + </a:t>
            </a:r>
            <a:r>
              <a:rPr lang="en-US" altLang="zh-TW" i="1"/>
              <a:t>b</a:t>
            </a:r>
            <a:r>
              <a:rPr lang="en-US" altLang="zh-TW"/>
              <a:t>)</a:t>
            </a:r>
          </a:p>
          <a:p>
            <a:pPr lvl="1"/>
            <a:r>
              <a:rPr lang="en-US" altLang="zh-TW" b="1" i="1"/>
              <a:t>w</a:t>
            </a:r>
            <a:r>
              <a:rPr lang="en-US" altLang="zh-TW"/>
              <a:t> and </a:t>
            </a:r>
            <a:r>
              <a:rPr lang="en-US" altLang="zh-TW" i="1"/>
              <a:t>b</a:t>
            </a:r>
            <a:r>
              <a:rPr lang="en-US" altLang="zh-TW"/>
              <a:t> : Need to know coefficients of a plane</a:t>
            </a:r>
          </a:p>
          <a:p>
            <a:pPr lvl="1"/>
            <a:r>
              <a:rPr lang="en-US" altLang="zh-TW"/>
              <a:t>Many possible choices of </a:t>
            </a:r>
            <a:r>
              <a:rPr lang="en-US" altLang="zh-TW" b="1" i="1"/>
              <a:t>w</a:t>
            </a:r>
            <a:r>
              <a:rPr lang="en-US" altLang="zh-TW"/>
              <a:t> and </a:t>
            </a:r>
            <a:r>
              <a:rPr lang="en-US" altLang="zh-TW" i="1"/>
              <a:t>b</a:t>
            </a:r>
          </a:p>
          <a:p>
            <a:pPr lvl="1"/>
            <a:endParaRPr lang="en-US" altLang="zh-TW"/>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TW"/>
              <a:t>Optimal Hyperplane</a:t>
            </a:r>
          </a:p>
        </p:txBody>
      </p:sp>
      <p:sp>
        <p:nvSpPr>
          <p:cNvPr id="9219" name="Rectangle 3"/>
          <p:cNvSpPr>
            <a:spLocks noGrp="1" noChangeArrowheads="1"/>
          </p:cNvSpPr>
          <p:nvPr>
            <p:ph type="body" idx="1"/>
          </p:nvPr>
        </p:nvSpPr>
        <p:spPr/>
        <p:txBody>
          <a:bodyPr/>
          <a:lstStyle/>
          <a:p>
            <a:r>
              <a:rPr lang="en-US" altLang="zh-TW"/>
              <a:t>The hyperplan with the </a:t>
            </a:r>
            <a:r>
              <a:rPr lang="en-US" altLang="zh-TW" i="1"/>
              <a:t>maximal margin</a:t>
            </a:r>
            <a:r>
              <a:rPr lang="en-US" altLang="zh-TW"/>
              <a:t> of separation between the two classes</a:t>
            </a:r>
          </a:p>
          <a:p>
            <a:endParaRPr lang="en-US" altLang="zh-TW"/>
          </a:p>
        </p:txBody>
      </p:sp>
      <p:pic>
        <p:nvPicPr>
          <p:cNvPr id="9220" name="Picture 4"/>
          <p:cNvPicPr>
            <a:picLocks noChangeAspect="1" noChangeArrowheads="1"/>
          </p:cNvPicPr>
          <p:nvPr/>
        </p:nvPicPr>
        <p:blipFill>
          <a:blip r:embed="rId3" cstate="print"/>
          <a:srcRect/>
          <a:stretch>
            <a:fillRect/>
          </a:stretch>
        </p:blipFill>
        <p:spPr bwMode="auto">
          <a:xfrm>
            <a:off x="1116013" y="2708275"/>
            <a:ext cx="7416800" cy="3992563"/>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TW"/>
              <a:t>Optimal Hyperplane</a:t>
            </a:r>
          </a:p>
        </p:txBody>
      </p:sp>
      <p:sp>
        <p:nvSpPr>
          <p:cNvPr id="10243" name="Rectangle 3"/>
          <p:cNvSpPr>
            <a:spLocks noGrp="1" noChangeArrowheads="1"/>
          </p:cNvSpPr>
          <p:nvPr>
            <p:ph type="body" idx="1"/>
          </p:nvPr>
        </p:nvSpPr>
        <p:spPr>
          <a:xfrm>
            <a:off x="457200" y="1600200"/>
            <a:ext cx="8229600" cy="4997450"/>
          </a:xfrm>
        </p:spPr>
        <p:txBody>
          <a:bodyPr/>
          <a:lstStyle/>
          <a:p>
            <a:pPr>
              <a:lnSpc>
                <a:spcPct val="80000"/>
              </a:lnSpc>
            </a:pPr>
            <a:r>
              <a:rPr lang="en-US" altLang="zh-TW" sz="2800"/>
              <a:t>The optimal hyperplane is orthogonal to the shortest line connecting the convex hulls of the two classes (dotted), and intersects it half way</a:t>
            </a:r>
          </a:p>
          <a:p>
            <a:pPr>
              <a:lnSpc>
                <a:spcPct val="80000"/>
              </a:lnSpc>
            </a:pPr>
            <a:r>
              <a:rPr lang="en-US" altLang="zh-TW" sz="2800"/>
              <a:t>There is a weight vector </a:t>
            </a:r>
            <a:r>
              <a:rPr lang="en-US" altLang="zh-TW" sz="2800" b="1"/>
              <a:t>w </a:t>
            </a:r>
            <a:r>
              <a:rPr lang="en-US" altLang="zh-TW" sz="2800"/>
              <a:t>and a threshold </a:t>
            </a:r>
            <a:r>
              <a:rPr lang="en-US" altLang="zh-TW" sz="2800" i="1"/>
              <a:t>b</a:t>
            </a:r>
            <a:r>
              <a:rPr lang="en-US" altLang="zh-TW" sz="2800"/>
              <a:t> such that   </a:t>
            </a:r>
            <a:r>
              <a:rPr lang="en-US" altLang="zh-TW" sz="2800" i="1"/>
              <a:t>y</a:t>
            </a:r>
            <a:r>
              <a:rPr lang="en-US" altLang="zh-TW" sz="2800" i="1" baseline="-25000"/>
              <a:t>i</a:t>
            </a:r>
            <a:r>
              <a:rPr lang="en-US" altLang="zh-TW" sz="2800"/>
              <a:t>((</a:t>
            </a:r>
            <a:r>
              <a:rPr lang="en-US" altLang="zh-TW" sz="2800" b="1" i="1"/>
              <a:t>w</a:t>
            </a:r>
            <a:r>
              <a:rPr lang="en-US" altLang="zh-TW" sz="2800" b="1"/>
              <a:t> </a:t>
            </a:r>
            <a:r>
              <a:rPr lang="en-US" altLang="zh-TW" sz="2800">
                <a:latin typeface="新細明體" pitchFamily="18" charset="-120"/>
              </a:rPr>
              <a:t>˙</a:t>
            </a:r>
            <a:r>
              <a:rPr lang="en-US" altLang="zh-TW" sz="2800"/>
              <a:t> </a:t>
            </a:r>
            <a:r>
              <a:rPr lang="en-US" altLang="zh-TW" sz="2800" b="1" i="1"/>
              <a:t>x</a:t>
            </a:r>
            <a:r>
              <a:rPr lang="en-US" altLang="zh-TW" sz="2800" baseline="-25000"/>
              <a:t>i</a:t>
            </a:r>
            <a:r>
              <a:rPr lang="en-US" altLang="zh-TW" sz="2800"/>
              <a:t>) + </a:t>
            </a:r>
            <a:r>
              <a:rPr lang="en-US" altLang="zh-TW" sz="2800" i="1"/>
              <a:t>b</a:t>
            </a:r>
            <a:r>
              <a:rPr lang="en-US" altLang="zh-TW" sz="2800"/>
              <a:t>) &gt; 0</a:t>
            </a:r>
          </a:p>
          <a:p>
            <a:pPr>
              <a:lnSpc>
                <a:spcPct val="80000"/>
              </a:lnSpc>
            </a:pPr>
            <a:r>
              <a:rPr lang="en-US" altLang="zh-TW" sz="2800"/>
              <a:t>Rescaling </a:t>
            </a:r>
            <a:r>
              <a:rPr lang="en-US" altLang="zh-TW" sz="2800" b="1" i="1"/>
              <a:t>w</a:t>
            </a:r>
            <a:r>
              <a:rPr lang="en-US" altLang="zh-TW" sz="2800" b="1"/>
              <a:t> </a:t>
            </a:r>
            <a:r>
              <a:rPr lang="en-US" altLang="zh-TW" sz="2800"/>
              <a:t>and </a:t>
            </a:r>
            <a:r>
              <a:rPr lang="en-US" altLang="zh-TW" sz="2800" i="1"/>
              <a:t>b</a:t>
            </a:r>
            <a:r>
              <a:rPr lang="en-US" altLang="zh-TW" sz="2800"/>
              <a:t> such that the point(s) closest to the hyperplane satisfy |(</a:t>
            </a:r>
            <a:r>
              <a:rPr lang="en-US" altLang="zh-TW" sz="2800" b="1" i="1"/>
              <a:t>w </a:t>
            </a:r>
            <a:r>
              <a:rPr lang="en-US" altLang="zh-TW" sz="2800">
                <a:latin typeface="新細明體" pitchFamily="18" charset="-120"/>
              </a:rPr>
              <a:t>˙</a:t>
            </a:r>
            <a:r>
              <a:rPr lang="en-US" altLang="zh-TW" sz="2800"/>
              <a:t> </a:t>
            </a:r>
            <a:r>
              <a:rPr lang="en-US" altLang="zh-TW" sz="2800" b="1" i="1"/>
              <a:t>x</a:t>
            </a:r>
            <a:r>
              <a:rPr lang="en-US" altLang="zh-TW" sz="2800" i="1" baseline="-25000"/>
              <a:t>i</a:t>
            </a:r>
            <a:r>
              <a:rPr lang="en-US" altLang="zh-TW" sz="2800"/>
              <a:t>) + </a:t>
            </a:r>
            <a:r>
              <a:rPr lang="en-US" altLang="zh-TW" sz="2800" i="1"/>
              <a:t>b</a:t>
            </a:r>
            <a:r>
              <a:rPr lang="en-US" altLang="zh-TW" sz="2800"/>
              <a:t>| = 1, we obtain a form (</a:t>
            </a:r>
            <a:r>
              <a:rPr lang="en-US" altLang="zh-TW" sz="2800" b="1" i="1"/>
              <a:t>w</a:t>
            </a:r>
            <a:r>
              <a:rPr lang="en-US" altLang="zh-TW" sz="2800"/>
              <a:t>,</a:t>
            </a:r>
            <a:r>
              <a:rPr lang="en-US" altLang="zh-TW" sz="2800" i="1"/>
              <a:t>b</a:t>
            </a:r>
            <a:r>
              <a:rPr lang="en-US" altLang="zh-TW" sz="2800"/>
              <a:t>) of the hyperplane with </a:t>
            </a:r>
            <a:r>
              <a:rPr lang="en-US" altLang="zh-TW" sz="2800" i="1"/>
              <a:t>y</a:t>
            </a:r>
            <a:r>
              <a:rPr lang="en-US" altLang="zh-TW" sz="2800" i="1" baseline="-25000"/>
              <a:t>i</a:t>
            </a:r>
            <a:r>
              <a:rPr lang="en-US" altLang="zh-TW" sz="2800"/>
              <a:t>((</a:t>
            </a:r>
            <a:r>
              <a:rPr lang="en-US" altLang="zh-TW" sz="2800" b="1" i="1"/>
              <a:t>w</a:t>
            </a:r>
            <a:r>
              <a:rPr lang="en-US" altLang="zh-TW" sz="2800">
                <a:latin typeface="新細明體" pitchFamily="18" charset="-120"/>
              </a:rPr>
              <a:t>˙</a:t>
            </a:r>
            <a:r>
              <a:rPr lang="en-US" altLang="zh-TW" sz="2800" i="1"/>
              <a:t>x</a:t>
            </a:r>
            <a:r>
              <a:rPr lang="en-US" altLang="zh-TW" sz="2800" i="1" baseline="-25000"/>
              <a:t>i</a:t>
            </a:r>
            <a:r>
              <a:rPr lang="en-US" altLang="zh-TW" sz="2800"/>
              <a:t>) + </a:t>
            </a:r>
            <a:r>
              <a:rPr lang="en-US" altLang="zh-TW" sz="2800" i="1"/>
              <a:t>b</a:t>
            </a:r>
            <a:r>
              <a:rPr lang="en-US" altLang="zh-TW" sz="2800"/>
              <a:t>) </a:t>
            </a:r>
            <a:r>
              <a:rPr lang="en-US" altLang="zh-TW" sz="2800">
                <a:cs typeface="Arial" charset="0"/>
              </a:rPr>
              <a:t>≥ </a:t>
            </a:r>
            <a:r>
              <a:rPr lang="en-US" altLang="zh-TW" sz="2800"/>
              <a:t>1</a:t>
            </a:r>
          </a:p>
          <a:p>
            <a:pPr>
              <a:lnSpc>
                <a:spcPct val="80000"/>
              </a:lnSpc>
            </a:pPr>
            <a:r>
              <a:rPr lang="en-US" altLang="zh-TW" sz="2800"/>
              <a:t>Note that the margin, measured perpendicularly to the hyperplane, equals 2/|| </a:t>
            </a:r>
            <a:r>
              <a:rPr lang="en-US" altLang="zh-TW" sz="2800" b="1"/>
              <a:t>w </a:t>
            </a:r>
            <a:r>
              <a:rPr lang="en-US" altLang="zh-TW" sz="2800"/>
              <a:t>||</a:t>
            </a:r>
          </a:p>
          <a:p>
            <a:pPr>
              <a:lnSpc>
                <a:spcPct val="80000"/>
              </a:lnSpc>
            </a:pPr>
            <a:r>
              <a:rPr lang="en-US" altLang="zh-TW" sz="2800"/>
              <a:t>To maximize the margin, we thus have to minimize |</a:t>
            </a:r>
            <a:r>
              <a:rPr lang="en-US" altLang="zh-TW" sz="2800" b="1" i="1"/>
              <a:t>w</a:t>
            </a:r>
            <a:r>
              <a:rPr lang="en-US" altLang="zh-TW" sz="2800"/>
              <a:t>| subject to </a:t>
            </a:r>
            <a:r>
              <a:rPr lang="en-US" altLang="zh-TW" sz="2800" i="1"/>
              <a:t>y</a:t>
            </a:r>
            <a:r>
              <a:rPr lang="en-US" altLang="zh-TW" sz="2800" i="1" baseline="-25000"/>
              <a:t>i</a:t>
            </a:r>
            <a:r>
              <a:rPr lang="en-US" altLang="zh-TW" sz="2800"/>
              <a:t>((</a:t>
            </a:r>
            <a:r>
              <a:rPr lang="en-US" altLang="zh-TW" sz="2800" b="1" i="1"/>
              <a:t>w</a:t>
            </a:r>
            <a:r>
              <a:rPr lang="en-US" altLang="zh-TW" sz="2800">
                <a:latin typeface="新細明體" pitchFamily="18" charset="-120"/>
              </a:rPr>
              <a:t>˙</a:t>
            </a:r>
            <a:r>
              <a:rPr lang="en-US" altLang="zh-TW" sz="2800" b="1" i="1"/>
              <a:t>x</a:t>
            </a:r>
            <a:r>
              <a:rPr lang="en-US" altLang="zh-TW" sz="2800" i="1" baseline="-25000"/>
              <a:t>i</a:t>
            </a:r>
            <a:r>
              <a:rPr lang="en-US" altLang="zh-TW" sz="2800"/>
              <a:t>) + </a:t>
            </a:r>
            <a:r>
              <a:rPr lang="en-US" altLang="zh-TW" sz="2800" i="1"/>
              <a:t>b</a:t>
            </a:r>
            <a:r>
              <a:rPr lang="en-US" altLang="zh-TW" sz="2800"/>
              <a:t>) </a:t>
            </a:r>
            <a:r>
              <a:rPr lang="en-US" altLang="zh-TW" sz="2800">
                <a:cs typeface="Arial" charset="0"/>
              </a:rPr>
              <a:t>≥</a:t>
            </a:r>
            <a:r>
              <a:rPr lang="en-US" altLang="zh-TW" sz="2800"/>
              <a:t>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TW"/>
              <a:t>Optimal Hyperplane</a:t>
            </a:r>
          </a:p>
        </p:txBody>
      </p:sp>
      <p:sp>
        <p:nvSpPr>
          <p:cNvPr id="13315" name="Rectangle 3"/>
          <p:cNvSpPr>
            <a:spLocks noGrp="1" noChangeArrowheads="1"/>
          </p:cNvSpPr>
          <p:nvPr>
            <p:ph type="body" idx="1"/>
          </p:nvPr>
        </p:nvSpPr>
        <p:spPr/>
        <p:txBody>
          <a:bodyPr/>
          <a:lstStyle/>
          <a:p>
            <a:r>
              <a:rPr lang="en-US" altLang="zh-TW"/>
              <a:t>Distance between </a:t>
            </a:r>
            <a:r>
              <a:rPr lang="en-US" altLang="zh-TW" b="1" i="1"/>
              <a:t>w</a:t>
            </a:r>
            <a:r>
              <a:rPr lang="en-US" altLang="zh-TW">
                <a:latin typeface="新細明體" pitchFamily="18" charset="-120"/>
              </a:rPr>
              <a:t>˙</a:t>
            </a:r>
            <a:r>
              <a:rPr lang="en-US" altLang="zh-TW" b="1" i="1"/>
              <a:t>x</a:t>
            </a:r>
            <a:r>
              <a:rPr lang="en-US" altLang="zh-TW"/>
              <a:t> + </a:t>
            </a:r>
            <a:r>
              <a:rPr lang="en-US" altLang="zh-TW" i="1"/>
              <a:t>b</a:t>
            </a:r>
            <a:r>
              <a:rPr lang="en-US" altLang="zh-TW"/>
              <a:t> = 1 and -1:</a:t>
            </a:r>
          </a:p>
          <a:p>
            <a:pPr lvl="1"/>
            <a:r>
              <a:rPr lang="en-US" altLang="zh-TW"/>
              <a:t>2 /|| </a:t>
            </a:r>
            <a:r>
              <a:rPr lang="en-US" altLang="zh-TW" b="1" i="1"/>
              <a:t>w</a:t>
            </a:r>
            <a:r>
              <a:rPr lang="en-US" altLang="zh-TW" b="1"/>
              <a:t> </a:t>
            </a:r>
            <a:r>
              <a:rPr lang="en-US" altLang="zh-TW"/>
              <a:t>|| = 2/(</a:t>
            </a:r>
            <a:r>
              <a:rPr lang="en-US" altLang="zh-TW" b="1" i="1"/>
              <a:t>w</a:t>
            </a:r>
            <a:r>
              <a:rPr lang="en-US" altLang="zh-TW" baseline="30000"/>
              <a:t>T</a:t>
            </a:r>
            <a:r>
              <a:rPr lang="en-US" altLang="zh-TW" b="1" i="1"/>
              <a:t>w</a:t>
            </a:r>
            <a:r>
              <a:rPr lang="en-US" altLang="zh-TW"/>
              <a:t>)</a:t>
            </a:r>
            <a:r>
              <a:rPr lang="en-US" altLang="zh-TW" baseline="30000"/>
              <a:t>1/2</a:t>
            </a:r>
          </a:p>
          <a:p>
            <a:r>
              <a:rPr lang="en-US" altLang="zh-TW"/>
              <a:t>max 2 /|| </a:t>
            </a:r>
            <a:r>
              <a:rPr lang="en-US" altLang="zh-TW" b="1" i="1"/>
              <a:t>w</a:t>
            </a:r>
            <a:r>
              <a:rPr lang="en-US" altLang="zh-TW" b="1"/>
              <a:t> </a:t>
            </a:r>
            <a:r>
              <a:rPr lang="en-US" altLang="zh-TW"/>
              <a:t>||</a:t>
            </a:r>
            <a:r>
              <a:rPr lang="en-US" altLang="zh-TW">
                <a:cs typeface="Arial" charset="0"/>
              </a:rPr>
              <a:t>≡</a:t>
            </a:r>
            <a:r>
              <a:rPr lang="en-US" altLang="zh-TW"/>
              <a:t> min </a:t>
            </a:r>
            <a:r>
              <a:rPr lang="en-US" altLang="zh-TW" b="1" i="1"/>
              <a:t>w</a:t>
            </a:r>
            <a:r>
              <a:rPr lang="en-US" altLang="zh-TW" baseline="30000"/>
              <a:t>T</a:t>
            </a:r>
            <a:r>
              <a:rPr lang="en-US" altLang="zh-TW" b="1" i="1"/>
              <a:t>w</a:t>
            </a:r>
            <a:r>
              <a:rPr lang="en-US" altLang="zh-TW"/>
              <a:t>/2</a:t>
            </a:r>
          </a:p>
          <a:p>
            <a:endParaRPr lang="en-US" altLang="zh-TW"/>
          </a:p>
        </p:txBody>
      </p:sp>
      <p:graphicFrame>
        <p:nvGraphicFramePr>
          <p:cNvPr id="13316" name="Object 4"/>
          <p:cNvGraphicFramePr>
            <a:graphicFrameLocks noGrp="1" noChangeAspect="1"/>
          </p:cNvGraphicFramePr>
          <p:nvPr>
            <p:ph sz="half" idx="4294967295"/>
          </p:nvPr>
        </p:nvGraphicFramePr>
        <p:xfrm>
          <a:off x="1908175" y="3500438"/>
          <a:ext cx="4392613" cy="2411412"/>
        </p:xfrm>
        <a:graphic>
          <a:graphicData uri="http://schemas.openxmlformats.org/presentationml/2006/ole">
            <mc:AlternateContent xmlns:mc="http://schemas.openxmlformats.org/markup-compatibility/2006">
              <mc:Choice xmlns:v="urn:schemas-microsoft-com:vml" Requires="v">
                <p:oleObj spid="_x0000_s13319" name="方程式" r:id="rId4" imgW="1688760" imgH="927000" progId="Equation.3">
                  <p:embed/>
                </p:oleObj>
              </mc:Choice>
              <mc:Fallback>
                <p:oleObj name="方程式" r:id="rId4" imgW="1688760" imgH="9270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3500438"/>
                        <a:ext cx="4392613" cy="2411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TW"/>
              <a:t>Optimal Hyperplane</a:t>
            </a:r>
          </a:p>
        </p:txBody>
      </p:sp>
      <p:sp>
        <p:nvSpPr>
          <p:cNvPr id="17411" name="Rectangle 3"/>
          <p:cNvSpPr>
            <a:spLocks noGrp="1" noChangeArrowheads="1"/>
          </p:cNvSpPr>
          <p:nvPr>
            <p:ph type="body" idx="1"/>
          </p:nvPr>
        </p:nvSpPr>
        <p:spPr/>
        <p:txBody>
          <a:bodyPr/>
          <a:lstStyle/>
          <a:p>
            <a:r>
              <a:rPr lang="en-US" altLang="zh-TW"/>
              <a:t>The optimal hyperplane can be uniquely constructed by solving a constrained quadratic optimization problem whose solution </a:t>
            </a:r>
            <a:r>
              <a:rPr lang="en-US" altLang="zh-TW" b="1" i="1"/>
              <a:t>w</a:t>
            </a:r>
            <a:r>
              <a:rPr lang="en-US" altLang="zh-TW" b="1"/>
              <a:t> </a:t>
            </a:r>
            <a:r>
              <a:rPr lang="en-US" altLang="zh-TW"/>
              <a:t>has an expansion</a:t>
            </a:r>
          </a:p>
          <a:p>
            <a:endParaRPr lang="en-US" altLang="zh-TW"/>
          </a:p>
          <a:p>
            <a:endParaRPr lang="en-US" altLang="zh-TW"/>
          </a:p>
          <a:p>
            <a:pPr lvl="1"/>
            <a:r>
              <a:rPr lang="en-US" altLang="zh-TW" b="1" i="1"/>
              <a:t>x</a:t>
            </a:r>
            <a:r>
              <a:rPr lang="en-US" altLang="zh-TW" i="1" baseline="-25000"/>
              <a:t>i</a:t>
            </a:r>
            <a:r>
              <a:rPr lang="en-US" altLang="zh-TW"/>
              <a:t>: training patterns that lie on the margin (support vectors)</a:t>
            </a:r>
          </a:p>
        </p:txBody>
      </p:sp>
      <p:graphicFrame>
        <p:nvGraphicFramePr>
          <p:cNvPr id="17412" name="Object 4"/>
          <p:cNvGraphicFramePr>
            <a:graphicFrameLocks noGrp="1" noChangeAspect="1"/>
          </p:cNvGraphicFramePr>
          <p:nvPr>
            <p:ph sz="half" idx="4294967295"/>
          </p:nvPr>
        </p:nvGraphicFramePr>
        <p:xfrm>
          <a:off x="2484438" y="3789363"/>
          <a:ext cx="1871662" cy="919162"/>
        </p:xfrm>
        <a:graphic>
          <a:graphicData uri="http://schemas.openxmlformats.org/presentationml/2006/ole">
            <mc:AlternateContent xmlns:mc="http://schemas.openxmlformats.org/markup-compatibility/2006">
              <mc:Choice xmlns:v="urn:schemas-microsoft-com:vml" Requires="v">
                <p:oleObj spid="_x0000_s17415" name="方程式" r:id="rId4" imgW="698400" imgH="342720" progId="Equation.3">
                  <p:embed/>
                </p:oleObj>
              </mc:Choice>
              <mc:Fallback>
                <p:oleObj name="方程式" r:id="rId4" imgW="698400" imgH="34272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3789363"/>
                        <a:ext cx="1871662" cy="91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TW"/>
              <a:t>Feature Spaces</a:t>
            </a:r>
          </a:p>
        </p:txBody>
      </p:sp>
      <p:sp>
        <p:nvSpPr>
          <p:cNvPr id="21507" name="Rectangle 3"/>
          <p:cNvSpPr>
            <a:spLocks noGrp="1" noChangeArrowheads="1"/>
          </p:cNvSpPr>
          <p:nvPr>
            <p:ph type="body" idx="1"/>
          </p:nvPr>
        </p:nvSpPr>
        <p:spPr>
          <a:xfrm>
            <a:off x="457200" y="1600200"/>
            <a:ext cx="8435975" cy="4997450"/>
          </a:xfrm>
        </p:spPr>
        <p:txBody>
          <a:bodyPr/>
          <a:lstStyle/>
          <a:p>
            <a:r>
              <a:rPr lang="en-US" altLang="zh-TW"/>
              <a:t>Data may not be linear separable</a:t>
            </a:r>
          </a:p>
          <a:p>
            <a:r>
              <a:rPr lang="en-US" altLang="zh-TW"/>
              <a:t>Non-separable case: allow training errors</a:t>
            </a:r>
          </a:p>
          <a:p>
            <a:endParaRPr lang="en-US" altLang="zh-TW"/>
          </a:p>
          <a:p>
            <a:endParaRPr lang="en-US" altLang="zh-TW"/>
          </a:p>
          <a:p>
            <a:endParaRPr lang="en-US" altLang="zh-TW"/>
          </a:p>
          <a:p>
            <a:endParaRPr lang="en-US" altLang="zh-TW"/>
          </a:p>
          <a:p>
            <a:pPr lvl="1"/>
            <a:r>
              <a:rPr lang="el-GR" altLang="zh-TW">
                <a:cs typeface="Arial" charset="0"/>
              </a:rPr>
              <a:t>ξ</a:t>
            </a:r>
            <a:r>
              <a:rPr lang="en-US" altLang="zh-TW" i="1" baseline="-25000"/>
              <a:t>i</a:t>
            </a:r>
            <a:r>
              <a:rPr lang="en-US" altLang="zh-TW"/>
              <a:t> &gt; 1, </a:t>
            </a:r>
            <a:r>
              <a:rPr lang="en-US" altLang="zh-TW" i="1"/>
              <a:t>x</a:t>
            </a:r>
            <a:r>
              <a:rPr lang="en-US" altLang="zh-TW" i="1" baseline="-25000"/>
              <a:t>i</a:t>
            </a:r>
            <a:r>
              <a:rPr lang="en-US" altLang="zh-TW"/>
              <a:t> not on the correct side of the separating plane</a:t>
            </a:r>
          </a:p>
          <a:p>
            <a:pPr lvl="1"/>
            <a:r>
              <a:rPr lang="en-US" altLang="zh-TW" i="1"/>
              <a:t>C</a:t>
            </a:r>
            <a:r>
              <a:rPr lang="en-US" altLang="zh-TW"/>
              <a:t>: large penalty parameter, most </a:t>
            </a:r>
            <a:r>
              <a:rPr lang="el-GR" altLang="zh-TW">
                <a:cs typeface="Arial" charset="0"/>
              </a:rPr>
              <a:t>ξ</a:t>
            </a:r>
            <a:r>
              <a:rPr lang="en-US" altLang="zh-TW" i="1" baseline="-25000"/>
              <a:t>i</a:t>
            </a:r>
            <a:r>
              <a:rPr lang="en-US" altLang="zh-TW"/>
              <a:t> are zero</a:t>
            </a:r>
          </a:p>
        </p:txBody>
      </p:sp>
      <p:pic>
        <p:nvPicPr>
          <p:cNvPr id="21511" name="Picture 7"/>
          <p:cNvPicPr>
            <a:picLocks noChangeAspect="1" noChangeArrowheads="1"/>
          </p:cNvPicPr>
          <p:nvPr/>
        </p:nvPicPr>
        <p:blipFill>
          <a:blip r:embed="rId3" cstate="print"/>
          <a:srcRect/>
          <a:stretch>
            <a:fillRect/>
          </a:stretch>
        </p:blipFill>
        <p:spPr bwMode="auto">
          <a:xfrm>
            <a:off x="2268538" y="2852738"/>
            <a:ext cx="4351337" cy="208915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TW"/>
              <a:t>Feature Spaces</a:t>
            </a:r>
          </a:p>
        </p:txBody>
      </p:sp>
      <p:sp>
        <p:nvSpPr>
          <p:cNvPr id="51203" name="Rectangle 3"/>
          <p:cNvSpPr>
            <a:spLocks noGrp="1" noChangeArrowheads="1"/>
          </p:cNvSpPr>
          <p:nvPr>
            <p:ph type="body" idx="1"/>
          </p:nvPr>
        </p:nvSpPr>
        <p:spPr>
          <a:xfrm>
            <a:off x="457200" y="1600200"/>
            <a:ext cx="8362950" cy="4525963"/>
          </a:xfrm>
        </p:spPr>
        <p:txBody>
          <a:bodyPr/>
          <a:lstStyle/>
          <a:p>
            <a:r>
              <a:rPr lang="en-US" altLang="zh-TW"/>
              <a:t>Nonlinear case: linear separable in other spaces ?</a:t>
            </a:r>
          </a:p>
          <a:p>
            <a:pPr lvl="1"/>
            <a:r>
              <a:rPr lang="en-US" altLang="zh-TW"/>
              <a:t>Nonlinearly map the data into a (higher) dimensional (maybe infinite) </a:t>
            </a:r>
            <a:r>
              <a:rPr lang="en-US" altLang="zh-TW" i="1"/>
              <a:t>feature space</a:t>
            </a:r>
          </a:p>
          <a:p>
            <a:pPr lvl="1"/>
            <a:endParaRPr lang="en-US" altLang="zh-TW"/>
          </a:p>
          <a:p>
            <a:pPr lvl="1"/>
            <a:r>
              <a:rPr lang="en-US" altLang="zh-TW"/>
              <a:t>Perform linear algorithm in the feature space </a:t>
            </a:r>
            <a:r>
              <a:rPr lang="en-US" altLang="zh-TW" i="1"/>
              <a:t>F</a:t>
            </a:r>
          </a:p>
          <a:p>
            <a:endParaRPr lang="en-US" altLang="zh-TW"/>
          </a:p>
        </p:txBody>
      </p:sp>
      <p:graphicFrame>
        <p:nvGraphicFramePr>
          <p:cNvPr id="51204" name="Object 4"/>
          <p:cNvGraphicFramePr>
            <a:graphicFrameLocks noChangeAspect="1"/>
          </p:cNvGraphicFramePr>
          <p:nvPr/>
        </p:nvGraphicFramePr>
        <p:xfrm>
          <a:off x="2484438" y="3573463"/>
          <a:ext cx="1943100" cy="501650"/>
        </p:xfrm>
        <a:graphic>
          <a:graphicData uri="http://schemas.openxmlformats.org/presentationml/2006/ole">
            <mc:AlternateContent xmlns:mc="http://schemas.openxmlformats.org/markup-compatibility/2006">
              <mc:Choice xmlns:v="urn:schemas-microsoft-com:vml" Requires="v">
                <p:oleObj spid="_x0000_s51207" name="方程式" r:id="rId4" imgW="787320" imgH="203040" progId="Equation.3">
                  <p:embed/>
                </p:oleObj>
              </mc:Choice>
              <mc:Fallback>
                <p:oleObj name="方程式" r:id="rId4" imgW="787320" imgH="2030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3573463"/>
                        <a:ext cx="194310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06" name="Picture 6"/>
          <p:cNvPicPr>
            <a:picLocks noChangeAspect="1" noChangeArrowheads="1"/>
          </p:cNvPicPr>
          <p:nvPr/>
        </p:nvPicPr>
        <p:blipFill>
          <a:blip r:embed="rId6" cstate="print"/>
          <a:srcRect/>
          <a:stretch>
            <a:fillRect/>
          </a:stretch>
        </p:blipFill>
        <p:spPr bwMode="auto">
          <a:xfrm>
            <a:off x="755650" y="4941888"/>
            <a:ext cx="8178800" cy="1557337"/>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TW"/>
              <a:t>Feature Spaces</a:t>
            </a:r>
          </a:p>
        </p:txBody>
      </p:sp>
      <p:sp>
        <p:nvSpPr>
          <p:cNvPr id="54275" name="Rectangle 3"/>
          <p:cNvSpPr>
            <a:spLocks noGrp="1" noChangeArrowheads="1"/>
          </p:cNvSpPr>
          <p:nvPr>
            <p:ph type="body" idx="1"/>
          </p:nvPr>
        </p:nvSpPr>
        <p:spPr/>
        <p:txBody>
          <a:bodyPr/>
          <a:lstStyle/>
          <a:p>
            <a:endParaRPr lang="zh-TW" altLang="zh-TW"/>
          </a:p>
        </p:txBody>
      </p:sp>
      <p:pic>
        <p:nvPicPr>
          <p:cNvPr id="54276" name="Picture 4"/>
          <p:cNvPicPr>
            <a:picLocks noChangeAspect="1" noChangeArrowheads="1"/>
          </p:cNvPicPr>
          <p:nvPr/>
        </p:nvPicPr>
        <p:blipFill>
          <a:blip r:embed="rId3" cstate="print"/>
          <a:srcRect/>
          <a:stretch>
            <a:fillRect/>
          </a:stretch>
        </p:blipFill>
        <p:spPr bwMode="auto">
          <a:xfrm>
            <a:off x="1908175" y="2205038"/>
            <a:ext cx="5184775" cy="332105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TW"/>
              <a:t>Feature Spaces</a:t>
            </a:r>
          </a:p>
        </p:txBody>
      </p:sp>
      <p:sp>
        <p:nvSpPr>
          <p:cNvPr id="56323" name="Rectangle 3"/>
          <p:cNvSpPr>
            <a:spLocks noGrp="1" noChangeArrowheads="1"/>
          </p:cNvSpPr>
          <p:nvPr>
            <p:ph type="body" idx="1"/>
          </p:nvPr>
        </p:nvSpPr>
        <p:spPr/>
        <p:txBody>
          <a:bodyPr/>
          <a:lstStyle/>
          <a:p>
            <a:r>
              <a:rPr lang="en-US" altLang="zh-TW" b="1"/>
              <a:t>w</a:t>
            </a:r>
            <a:r>
              <a:rPr lang="en-US" altLang="zh-TW"/>
              <a:t>: a vector in a high dimensional space </a:t>
            </a:r>
            <a:r>
              <a:rPr lang="en-US" altLang="zh-TW">
                <a:sym typeface="Wingdings" pitchFamily="2" charset="2"/>
              </a:rPr>
              <a:t> </a:t>
            </a:r>
            <a:r>
              <a:rPr lang="en-US" altLang="zh-TW"/>
              <a:t>maybe infinite variables</a:t>
            </a:r>
          </a:p>
          <a:p>
            <a:r>
              <a:rPr lang="en-US" altLang="zh-TW"/>
              <a:t>The dual problem</a:t>
            </a:r>
          </a:p>
          <a:p>
            <a:endParaRPr lang="en-US" altLang="zh-TW"/>
          </a:p>
        </p:txBody>
      </p:sp>
      <p:pic>
        <p:nvPicPr>
          <p:cNvPr id="56324" name="Picture 4"/>
          <p:cNvPicPr>
            <a:picLocks noChangeAspect="1" noChangeArrowheads="1"/>
          </p:cNvPicPr>
          <p:nvPr/>
        </p:nvPicPr>
        <p:blipFill>
          <a:blip r:embed="rId3" cstate="print"/>
          <a:srcRect/>
          <a:stretch>
            <a:fillRect/>
          </a:stretch>
        </p:blipFill>
        <p:spPr bwMode="auto">
          <a:xfrm>
            <a:off x="971550" y="3284538"/>
            <a:ext cx="6891338" cy="354012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TW"/>
              <a:t>Feature Spaces</a:t>
            </a:r>
          </a:p>
        </p:txBody>
      </p:sp>
      <p:sp>
        <p:nvSpPr>
          <p:cNvPr id="25603" name="Rectangle 3"/>
          <p:cNvSpPr>
            <a:spLocks noGrp="1" noChangeArrowheads="1"/>
          </p:cNvSpPr>
          <p:nvPr>
            <p:ph type="body" idx="1"/>
          </p:nvPr>
        </p:nvSpPr>
        <p:spPr/>
        <p:txBody>
          <a:bodyPr/>
          <a:lstStyle/>
          <a:p>
            <a:r>
              <a:rPr lang="en-US" altLang="zh-TW"/>
              <a:t>Dot product in feature space</a:t>
            </a:r>
          </a:p>
          <a:p>
            <a:endParaRPr lang="en-US" altLang="zh-TW"/>
          </a:p>
          <a:p>
            <a:endParaRPr lang="en-US" altLang="zh-TW"/>
          </a:p>
          <a:p>
            <a:pPr lvl="1"/>
            <a:r>
              <a:rPr lang="en-US" altLang="zh-TW"/>
              <a:t>if </a:t>
            </a:r>
            <a:r>
              <a:rPr lang="en-US" altLang="zh-TW" i="1"/>
              <a:t>F </a:t>
            </a:r>
            <a:r>
              <a:rPr lang="en-US" altLang="zh-TW"/>
              <a:t>is high-dimensional, the right-hand side will be very expensive to compute</a:t>
            </a:r>
          </a:p>
          <a:p>
            <a:pPr lvl="1"/>
            <a:r>
              <a:rPr lang="en-US" altLang="zh-TW"/>
              <a:t>In some cases, however, there is a simple </a:t>
            </a:r>
            <a:r>
              <a:rPr lang="en-US" altLang="zh-TW" i="1"/>
              <a:t>kernel k </a:t>
            </a:r>
            <a:r>
              <a:rPr lang="en-US" altLang="zh-TW"/>
              <a:t>that can be evaluated efficiently</a:t>
            </a:r>
          </a:p>
          <a:p>
            <a:pPr lvl="1"/>
            <a:endParaRPr lang="en-US" altLang="zh-TW"/>
          </a:p>
        </p:txBody>
      </p:sp>
      <p:graphicFrame>
        <p:nvGraphicFramePr>
          <p:cNvPr id="25604" name="Object 4"/>
          <p:cNvGraphicFramePr>
            <a:graphicFrameLocks noGrp="1" noChangeAspect="1"/>
          </p:cNvGraphicFramePr>
          <p:nvPr>
            <p:ph sz="half" idx="4294967295"/>
          </p:nvPr>
        </p:nvGraphicFramePr>
        <p:xfrm>
          <a:off x="1936750" y="2492375"/>
          <a:ext cx="3541713" cy="552450"/>
        </p:xfrm>
        <a:graphic>
          <a:graphicData uri="http://schemas.openxmlformats.org/presentationml/2006/ole">
            <mc:AlternateContent xmlns:mc="http://schemas.openxmlformats.org/markup-compatibility/2006">
              <mc:Choice xmlns:v="urn:schemas-microsoft-com:vml" Requires="v">
                <p:oleObj spid="_x0000_s25607" name="方程式" r:id="rId4" imgW="1384200" imgH="215640" progId="Equation.3">
                  <p:embed/>
                </p:oleObj>
              </mc:Choice>
              <mc:Fallback>
                <p:oleObj name="方程式" r:id="rId4" imgW="1384200" imgH="2156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0" y="2492375"/>
                        <a:ext cx="3541713"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TW"/>
              <a:t>Feature Spaces</a:t>
            </a:r>
          </a:p>
        </p:txBody>
      </p:sp>
      <p:sp>
        <p:nvSpPr>
          <p:cNvPr id="29699" name="Rectangle 3"/>
          <p:cNvSpPr>
            <a:spLocks noGrp="1" noChangeArrowheads="1"/>
          </p:cNvSpPr>
          <p:nvPr>
            <p:ph type="body" idx="1"/>
          </p:nvPr>
        </p:nvSpPr>
        <p:spPr>
          <a:xfrm>
            <a:off x="457200" y="1600200"/>
            <a:ext cx="8229600" cy="4997450"/>
          </a:xfrm>
        </p:spPr>
        <p:txBody>
          <a:bodyPr/>
          <a:lstStyle/>
          <a:p>
            <a:r>
              <a:rPr lang="en-US" altLang="zh-TW"/>
              <a:t>Polynomial kernel</a:t>
            </a:r>
          </a:p>
          <a:p>
            <a:pPr lvl="1"/>
            <a:r>
              <a:rPr lang="en-US" altLang="zh-TW" i="1"/>
              <a:t>k</a:t>
            </a:r>
            <a:r>
              <a:rPr lang="en-US" altLang="zh-TW"/>
              <a:t>(</a:t>
            </a:r>
            <a:r>
              <a:rPr lang="en-US" altLang="zh-TW" b="1"/>
              <a:t>x,y</a:t>
            </a:r>
            <a:r>
              <a:rPr lang="en-US" altLang="zh-TW"/>
              <a:t>)=(</a:t>
            </a:r>
            <a:r>
              <a:rPr lang="en-US" altLang="zh-TW" b="1"/>
              <a:t>x</a:t>
            </a:r>
            <a:r>
              <a:rPr lang="en-US" altLang="zh-TW">
                <a:latin typeface="新細明體" pitchFamily="18" charset="-120"/>
              </a:rPr>
              <a:t>˙</a:t>
            </a:r>
            <a:r>
              <a:rPr lang="en-US" altLang="zh-TW" b="1"/>
              <a:t>y</a:t>
            </a:r>
            <a:r>
              <a:rPr lang="en-US" altLang="zh-TW"/>
              <a:t>)</a:t>
            </a:r>
            <a:r>
              <a:rPr lang="en-US" altLang="zh-TW" i="1" baseline="30000"/>
              <a:t>d</a:t>
            </a:r>
          </a:p>
          <a:p>
            <a:r>
              <a:rPr lang="en-US" altLang="zh-TW" i="1"/>
              <a:t>d</a:t>
            </a:r>
            <a:r>
              <a:rPr lang="en-US" altLang="zh-TW"/>
              <a:t>=2</a:t>
            </a:r>
          </a:p>
          <a:p>
            <a:endParaRPr lang="en-US" altLang="zh-TW"/>
          </a:p>
          <a:p>
            <a:endParaRPr lang="en-US" altLang="zh-TW"/>
          </a:p>
          <a:p>
            <a:endParaRPr lang="en-US" altLang="zh-TW"/>
          </a:p>
          <a:p>
            <a:endParaRPr lang="en-US" altLang="zh-TW"/>
          </a:p>
          <a:p>
            <a:pPr lvl="1"/>
            <a:endParaRPr lang="el-GR" altLang="zh-TW">
              <a:cs typeface="Arial" charset="0"/>
            </a:endParaRPr>
          </a:p>
        </p:txBody>
      </p:sp>
      <p:pic>
        <p:nvPicPr>
          <p:cNvPr id="29700" name="Picture 4"/>
          <p:cNvPicPr>
            <a:picLocks noChangeAspect="1" noChangeArrowheads="1"/>
          </p:cNvPicPr>
          <p:nvPr/>
        </p:nvPicPr>
        <p:blipFill>
          <a:blip r:embed="rId4" cstate="print"/>
          <a:srcRect/>
          <a:stretch>
            <a:fillRect/>
          </a:stretch>
        </p:blipFill>
        <p:spPr bwMode="auto">
          <a:xfrm>
            <a:off x="2555875" y="2708275"/>
            <a:ext cx="3240088" cy="2882900"/>
          </a:xfrm>
          <a:prstGeom prst="rect">
            <a:avLst/>
          </a:prstGeom>
          <a:noFill/>
          <a:ln w="9525">
            <a:noFill/>
            <a:miter lim="800000"/>
            <a:headEnd/>
            <a:tailEnd/>
          </a:ln>
          <a:effectLst/>
        </p:spPr>
      </p:pic>
      <p:graphicFrame>
        <p:nvGraphicFramePr>
          <p:cNvPr id="29701" name="Object 5"/>
          <p:cNvGraphicFramePr>
            <a:graphicFrameLocks noGrp="1" noChangeAspect="1"/>
          </p:cNvGraphicFramePr>
          <p:nvPr>
            <p:ph sz="half" idx="4294967295"/>
          </p:nvPr>
        </p:nvGraphicFramePr>
        <p:xfrm>
          <a:off x="1547813" y="5805488"/>
          <a:ext cx="3743325" cy="646112"/>
        </p:xfrm>
        <a:graphic>
          <a:graphicData uri="http://schemas.openxmlformats.org/presentationml/2006/ole">
            <mc:AlternateContent xmlns:mc="http://schemas.openxmlformats.org/markup-compatibility/2006">
              <mc:Choice xmlns:v="urn:schemas-microsoft-com:vml" Requires="v">
                <p:oleObj spid="_x0000_s29704" name="方程式" r:id="rId5" imgW="1396800" imgH="241200" progId="Equation.3">
                  <p:embed/>
                </p:oleObj>
              </mc:Choice>
              <mc:Fallback>
                <p:oleObj name="方程式" r:id="rId5" imgW="1396800" imgH="2412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5805488"/>
                        <a:ext cx="3743325" cy="64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TW"/>
              <a:t>Kernel Trick</a:t>
            </a:r>
          </a:p>
        </p:txBody>
      </p:sp>
      <p:sp>
        <p:nvSpPr>
          <p:cNvPr id="33795" name="Rectangle 3"/>
          <p:cNvSpPr>
            <a:spLocks noGrp="1" noChangeArrowheads="1"/>
          </p:cNvSpPr>
          <p:nvPr>
            <p:ph type="body" idx="1"/>
          </p:nvPr>
        </p:nvSpPr>
        <p:spPr/>
        <p:txBody>
          <a:bodyPr/>
          <a:lstStyle/>
          <a:p>
            <a:r>
              <a:rPr lang="en-US" altLang="zh-TW"/>
              <a:t>Kernel:</a:t>
            </a:r>
          </a:p>
          <a:p>
            <a:r>
              <a:rPr lang="en-US" altLang="zh-TW"/>
              <a:t>No need to explicitly know </a:t>
            </a:r>
            <a:r>
              <a:rPr lang="el-GR" altLang="zh-TW">
                <a:cs typeface="Arial" charset="0"/>
              </a:rPr>
              <a:t>Φ</a:t>
            </a:r>
            <a:r>
              <a:rPr lang="en-US" altLang="zh-TW">
                <a:cs typeface="Arial" charset="0"/>
              </a:rPr>
              <a:t>(</a:t>
            </a:r>
            <a:r>
              <a:rPr lang="en-US" altLang="zh-TW" b="1">
                <a:cs typeface="Arial" charset="0"/>
              </a:rPr>
              <a:t>x</a:t>
            </a:r>
            <a:r>
              <a:rPr lang="en-US" altLang="zh-TW">
                <a:cs typeface="Arial" charset="0"/>
              </a:rPr>
              <a:t>)</a:t>
            </a:r>
            <a:endParaRPr lang="el-GR" altLang="zh-TW">
              <a:cs typeface="Arial" charset="0"/>
            </a:endParaRPr>
          </a:p>
          <a:p>
            <a:pPr lvl="1"/>
            <a:r>
              <a:rPr lang="en-US" altLang="zh-TW"/>
              <a:t>Polynomial kernel, </a:t>
            </a:r>
            <a:r>
              <a:rPr lang="en-US" altLang="zh-TW" i="1"/>
              <a:t>d</a:t>
            </a:r>
            <a:r>
              <a:rPr lang="en-US" altLang="zh-TW"/>
              <a:t>=2</a:t>
            </a:r>
          </a:p>
          <a:p>
            <a:pPr lvl="2"/>
            <a:r>
              <a:rPr lang="en-US" altLang="zh-TW" i="1"/>
              <a:t>k</a:t>
            </a:r>
            <a:r>
              <a:rPr lang="en-US" altLang="zh-TW"/>
              <a:t>(</a:t>
            </a:r>
            <a:r>
              <a:rPr lang="en-US" altLang="zh-TW" b="1"/>
              <a:t>x,y</a:t>
            </a:r>
            <a:r>
              <a:rPr lang="en-US" altLang="zh-TW"/>
              <a:t>)=(</a:t>
            </a:r>
            <a:r>
              <a:rPr lang="en-US" altLang="zh-TW" b="1"/>
              <a:t>x</a:t>
            </a:r>
            <a:r>
              <a:rPr lang="en-US" altLang="zh-TW">
                <a:latin typeface="新細明體" pitchFamily="18" charset="-120"/>
              </a:rPr>
              <a:t>˙</a:t>
            </a:r>
            <a:r>
              <a:rPr lang="en-US" altLang="zh-TW" b="1"/>
              <a:t>y</a:t>
            </a:r>
            <a:r>
              <a:rPr lang="en-US" altLang="zh-TW"/>
              <a:t>)</a:t>
            </a:r>
            <a:r>
              <a:rPr lang="en-US" altLang="zh-TW" i="1" baseline="30000"/>
              <a:t>2</a:t>
            </a:r>
            <a:endParaRPr lang="en-US" altLang="zh-TW"/>
          </a:p>
          <a:p>
            <a:pPr lvl="2"/>
            <a:r>
              <a:rPr lang="en-US" altLang="zh-TW"/>
              <a:t>Let </a:t>
            </a:r>
          </a:p>
          <a:p>
            <a:pPr lvl="2"/>
            <a:endParaRPr lang="en-US" altLang="zh-TW"/>
          </a:p>
          <a:p>
            <a:pPr lvl="2"/>
            <a:endParaRPr lang="en-US" altLang="zh-TW"/>
          </a:p>
        </p:txBody>
      </p:sp>
      <p:graphicFrame>
        <p:nvGraphicFramePr>
          <p:cNvPr id="33798" name="Object 6"/>
          <p:cNvGraphicFramePr>
            <a:graphicFrameLocks noChangeAspect="1"/>
          </p:cNvGraphicFramePr>
          <p:nvPr/>
        </p:nvGraphicFramePr>
        <p:xfrm>
          <a:off x="2339975" y="1628775"/>
          <a:ext cx="3541713" cy="552450"/>
        </p:xfrm>
        <a:graphic>
          <a:graphicData uri="http://schemas.openxmlformats.org/presentationml/2006/ole">
            <mc:AlternateContent xmlns:mc="http://schemas.openxmlformats.org/markup-compatibility/2006">
              <mc:Choice xmlns:v="urn:schemas-microsoft-com:vml" Requires="v">
                <p:oleObj spid="_x0000_s33812" name="方程式" r:id="rId4" imgW="1384200" imgH="215640" progId="Equation.3">
                  <p:embed/>
                </p:oleObj>
              </mc:Choice>
              <mc:Fallback>
                <p:oleObj name="方程式" r:id="rId4" imgW="1384200" imgH="21564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1628775"/>
                        <a:ext cx="3541713"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1" name="Object 9"/>
          <p:cNvGraphicFramePr>
            <a:graphicFrameLocks noChangeAspect="1"/>
          </p:cNvGraphicFramePr>
          <p:nvPr/>
        </p:nvGraphicFramePr>
        <p:xfrm>
          <a:off x="2268538" y="3716338"/>
          <a:ext cx="2951162" cy="509587"/>
        </p:xfrm>
        <a:graphic>
          <a:graphicData uri="http://schemas.openxmlformats.org/presentationml/2006/ole">
            <mc:AlternateContent xmlns:mc="http://schemas.openxmlformats.org/markup-compatibility/2006">
              <mc:Choice xmlns:v="urn:schemas-microsoft-com:vml" Requires="v">
                <p:oleObj spid="_x0000_s33813" name="方程式" r:id="rId6" imgW="1396800" imgH="241200" progId="Equation.3">
                  <p:embed/>
                </p:oleObj>
              </mc:Choice>
              <mc:Fallback>
                <p:oleObj name="方程式" r:id="rId6" imgW="1396800" imgH="241200" progId="Equation.3">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3716338"/>
                        <a:ext cx="2951162"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4" name="Object 12"/>
          <p:cNvGraphicFramePr>
            <a:graphicFrameLocks noGrp="1" noChangeAspect="1"/>
          </p:cNvGraphicFramePr>
          <p:nvPr>
            <p:ph sz="half" idx="4294967295"/>
          </p:nvPr>
        </p:nvGraphicFramePr>
        <p:xfrm>
          <a:off x="2268538" y="4364038"/>
          <a:ext cx="5856287" cy="1035050"/>
        </p:xfrm>
        <a:graphic>
          <a:graphicData uri="http://schemas.openxmlformats.org/presentationml/2006/ole">
            <mc:AlternateContent xmlns:mc="http://schemas.openxmlformats.org/markup-compatibility/2006">
              <mc:Choice xmlns:v="urn:schemas-microsoft-com:vml" Requires="v">
                <p:oleObj spid="_x0000_s33814" name="方程式" r:id="rId8" imgW="2869920" imgH="507960" progId="Equation.3">
                  <p:embed/>
                </p:oleObj>
              </mc:Choice>
              <mc:Fallback>
                <p:oleObj name="方程式" r:id="rId8" imgW="2869920" imgH="507960" progId="Equation.3">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4364038"/>
                        <a:ext cx="5856287"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zh-TW"/>
              <a:t>Kernel Trick</a:t>
            </a:r>
          </a:p>
        </p:txBody>
      </p:sp>
      <p:sp>
        <p:nvSpPr>
          <p:cNvPr id="58371" name="Rectangle 3"/>
          <p:cNvSpPr>
            <a:spLocks noGrp="1" noChangeArrowheads="1"/>
          </p:cNvSpPr>
          <p:nvPr>
            <p:ph type="body" idx="1"/>
          </p:nvPr>
        </p:nvSpPr>
        <p:spPr/>
        <p:txBody>
          <a:bodyPr/>
          <a:lstStyle/>
          <a:p>
            <a:r>
              <a:rPr lang="en-US" altLang="zh-TW"/>
              <a:t>At optimum</a:t>
            </a:r>
          </a:p>
          <a:p>
            <a:endParaRPr lang="en-US" altLang="zh-TW"/>
          </a:p>
          <a:p>
            <a:r>
              <a:rPr lang="en-US" altLang="zh-TW"/>
              <a:t>Decision function</a:t>
            </a:r>
          </a:p>
          <a:p>
            <a:endParaRPr lang="en-US" altLang="zh-TW"/>
          </a:p>
        </p:txBody>
      </p:sp>
      <p:pic>
        <p:nvPicPr>
          <p:cNvPr id="58372" name="Picture 4"/>
          <p:cNvPicPr>
            <a:picLocks noChangeAspect="1" noChangeArrowheads="1"/>
          </p:cNvPicPr>
          <p:nvPr/>
        </p:nvPicPr>
        <p:blipFill>
          <a:blip r:embed="rId3" cstate="print"/>
          <a:srcRect/>
          <a:stretch>
            <a:fillRect/>
          </a:stretch>
        </p:blipFill>
        <p:spPr bwMode="auto">
          <a:xfrm>
            <a:off x="2195513" y="2205038"/>
            <a:ext cx="2909887" cy="531812"/>
          </a:xfrm>
          <a:prstGeom prst="rect">
            <a:avLst/>
          </a:prstGeom>
          <a:noFill/>
          <a:ln w="9525">
            <a:noFill/>
            <a:miter lim="800000"/>
            <a:headEnd/>
            <a:tailEnd/>
          </a:ln>
          <a:effectLst/>
        </p:spPr>
      </p:pic>
      <p:pic>
        <p:nvPicPr>
          <p:cNvPr id="58373" name="Picture 5"/>
          <p:cNvPicPr>
            <a:picLocks noChangeAspect="1" noChangeArrowheads="1"/>
          </p:cNvPicPr>
          <p:nvPr/>
        </p:nvPicPr>
        <p:blipFill>
          <a:blip r:embed="rId4" cstate="print"/>
          <a:srcRect/>
          <a:stretch>
            <a:fillRect/>
          </a:stretch>
        </p:blipFill>
        <p:spPr bwMode="auto">
          <a:xfrm>
            <a:off x="2843213" y="3357563"/>
            <a:ext cx="3668712" cy="2743200"/>
          </a:xfrm>
          <a:prstGeom prst="rect">
            <a:avLst/>
          </a:prstGeom>
          <a:noFill/>
          <a:ln w="9525">
            <a:noFill/>
            <a:miter lim="800000"/>
            <a:headEnd/>
            <a:tailEnd/>
          </a:ln>
          <a:effectLst/>
        </p:spPr>
      </p:pic>
      <p:sp>
        <p:nvSpPr>
          <p:cNvPr id="58374" name="Text Box 6"/>
          <p:cNvSpPr txBox="1">
            <a:spLocks noChangeArrowheads="1"/>
          </p:cNvSpPr>
          <p:nvPr/>
        </p:nvSpPr>
        <p:spPr bwMode="auto">
          <a:xfrm>
            <a:off x="611188" y="6237288"/>
            <a:ext cx="2743200" cy="457200"/>
          </a:xfrm>
          <a:prstGeom prst="rect">
            <a:avLst/>
          </a:prstGeom>
          <a:noFill/>
          <a:ln w="9525">
            <a:noFill/>
            <a:miter lim="800000"/>
            <a:headEnd/>
            <a:tailEnd/>
          </a:ln>
          <a:effectLst/>
        </p:spPr>
        <p:txBody>
          <a:bodyPr wrap="none">
            <a:spAutoFit/>
          </a:bodyPr>
          <a:lstStyle/>
          <a:p>
            <a:r>
              <a:rPr lang="en-US" altLang="zh-TW" sz="2400"/>
              <a:t>No need to have </a:t>
            </a:r>
            <a:r>
              <a:rPr lang="en-US" altLang="zh-TW" sz="2400" b="1" i="1"/>
              <a:t>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zh-TW"/>
              <a:t>SVMs</a:t>
            </a:r>
          </a:p>
        </p:txBody>
      </p:sp>
      <p:sp>
        <p:nvSpPr>
          <p:cNvPr id="40963" name="Rectangle 3"/>
          <p:cNvSpPr>
            <a:spLocks noGrp="1" noChangeArrowheads="1"/>
          </p:cNvSpPr>
          <p:nvPr>
            <p:ph type="body" idx="1"/>
          </p:nvPr>
        </p:nvSpPr>
        <p:spPr/>
        <p:txBody>
          <a:bodyPr/>
          <a:lstStyle/>
          <a:p>
            <a:r>
              <a:rPr lang="en-US" altLang="zh-TW"/>
              <a:t>Decision function in feature space</a:t>
            </a:r>
          </a:p>
        </p:txBody>
      </p:sp>
      <p:graphicFrame>
        <p:nvGraphicFramePr>
          <p:cNvPr id="40966" name="Object 6"/>
          <p:cNvGraphicFramePr>
            <a:graphicFrameLocks noGrp="1" noChangeAspect="1"/>
          </p:cNvGraphicFramePr>
          <p:nvPr>
            <p:ph sz="half" idx="4294967295"/>
          </p:nvPr>
        </p:nvGraphicFramePr>
        <p:xfrm>
          <a:off x="1692275" y="2133600"/>
          <a:ext cx="4038600" cy="963613"/>
        </p:xfrm>
        <a:graphic>
          <a:graphicData uri="http://schemas.openxmlformats.org/presentationml/2006/ole">
            <mc:AlternateContent xmlns:mc="http://schemas.openxmlformats.org/markup-compatibility/2006">
              <mc:Choice xmlns:v="urn:schemas-microsoft-com:vml" Requires="v">
                <p:oleObj spid="_x0000_s40969" name="方程式" r:id="rId4" imgW="1917360" imgH="457200" progId="Equation.3">
                  <p:embed/>
                </p:oleObj>
              </mc:Choice>
              <mc:Fallback>
                <p:oleObj name="方程式" r:id="rId4" imgW="1917360" imgH="45720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133600"/>
                        <a:ext cx="4038600"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0968" name="Picture 8"/>
          <p:cNvPicPr>
            <a:picLocks noChangeAspect="1" noChangeArrowheads="1"/>
          </p:cNvPicPr>
          <p:nvPr/>
        </p:nvPicPr>
        <p:blipFill>
          <a:blip r:embed="rId6" cstate="print"/>
          <a:srcRect/>
          <a:stretch>
            <a:fillRect/>
          </a:stretch>
        </p:blipFill>
        <p:spPr bwMode="auto">
          <a:xfrm>
            <a:off x="1403350" y="3136900"/>
            <a:ext cx="6208713" cy="37211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TW"/>
              <a:t>SVMs</a:t>
            </a:r>
          </a:p>
        </p:txBody>
      </p:sp>
      <p:sp>
        <p:nvSpPr>
          <p:cNvPr id="60419" name="Rectangle 3"/>
          <p:cNvSpPr>
            <a:spLocks noGrp="1" noChangeArrowheads="1"/>
          </p:cNvSpPr>
          <p:nvPr>
            <p:ph type="body" idx="1"/>
          </p:nvPr>
        </p:nvSpPr>
        <p:spPr/>
        <p:txBody>
          <a:bodyPr/>
          <a:lstStyle/>
          <a:p>
            <a:r>
              <a:rPr lang="en-US" altLang="zh-TW"/>
              <a:t>Decision function</a:t>
            </a:r>
          </a:p>
          <a:p>
            <a:pPr lvl="1"/>
            <a:r>
              <a:rPr lang="en-US" altLang="zh-TW"/>
              <a:t>&gt; 0: 1st class (+), &lt; 0: 2nd class (-)</a:t>
            </a:r>
          </a:p>
          <a:p>
            <a:pPr lvl="1"/>
            <a:r>
              <a:rPr lang="en-US" altLang="zh-TW"/>
              <a:t>Only </a:t>
            </a:r>
            <a:r>
              <a:rPr lang="el-GR" altLang="zh-TW">
                <a:cs typeface="Arial" charset="0"/>
              </a:rPr>
              <a:t>Φ</a:t>
            </a:r>
            <a:r>
              <a:rPr lang="en-US" altLang="zh-TW"/>
              <a:t>(</a:t>
            </a:r>
            <a:r>
              <a:rPr lang="en-US" altLang="zh-TW" i="1"/>
              <a:t>x</a:t>
            </a:r>
            <a:r>
              <a:rPr lang="en-US" altLang="zh-TW" i="1" baseline="-25000"/>
              <a:t>i</a:t>
            </a:r>
            <a:r>
              <a:rPr lang="en-US" altLang="zh-TW"/>
              <a:t>) of </a:t>
            </a:r>
            <a:r>
              <a:rPr lang="el-GR" altLang="zh-TW">
                <a:cs typeface="Arial" charset="0"/>
              </a:rPr>
              <a:t>α</a:t>
            </a:r>
            <a:r>
              <a:rPr lang="en-US" altLang="zh-TW" i="1" baseline="-25000"/>
              <a:t>i</a:t>
            </a:r>
            <a:r>
              <a:rPr lang="en-US" altLang="zh-TW"/>
              <a:t> &gt; 0 used</a:t>
            </a:r>
          </a:p>
          <a:p>
            <a:pPr lvl="1"/>
            <a:r>
              <a:rPr lang="el-GR" altLang="zh-TW">
                <a:cs typeface="Arial" charset="0"/>
              </a:rPr>
              <a:t>α</a:t>
            </a:r>
            <a:r>
              <a:rPr lang="en-US" altLang="zh-TW" i="1" baseline="-25000"/>
              <a:t>i</a:t>
            </a:r>
            <a:r>
              <a:rPr lang="en-US" altLang="zh-TW"/>
              <a:t> &gt; 0 </a:t>
            </a:r>
            <a:r>
              <a:rPr lang="en-US" altLang="zh-TW">
                <a:sym typeface="Wingdings" pitchFamily="2" charset="2"/>
              </a:rPr>
              <a:t> </a:t>
            </a:r>
            <a:r>
              <a:rPr lang="en-US" altLang="zh-TW"/>
              <a:t>support vectors</a:t>
            </a:r>
          </a:p>
          <a:p>
            <a:pPr lvl="2"/>
            <a:r>
              <a:rPr lang="en-US" altLang="zh-TW"/>
              <a:t>There is one </a:t>
            </a:r>
            <a:r>
              <a:rPr lang="el-GR" altLang="zh-TW">
                <a:cs typeface="Arial" charset="0"/>
              </a:rPr>
              <a:t>α</a:t>
            </a:r>
            <a:r>
              <a:rPr lang="en-US" altLang="zh-TW" i="1" baseline="-25000"/>
              <a:t>i</a:t>
            </a:r>
            <a:r>
              <a:rPr lang="en-US" altLang="zh-TW" i="1"/>
              <a:t> </a:t>
            </a:r>
            <a:r>
              <a:rPr lang="en-US" altLang="zh-TW"/>
              <a:t>for each training example</a:t>
            </a:r>
          </a:p>
          <a:p>
            <a:pPr lvl="2"/>
            <a:r>
              <a:rPr lang="en-US" altLang="zh-TW"/>
              <a:t>Each </a:t>
            </a:r>
            <a:r>
              <a:rPr lang="el-GR" altLang="zh-TW">
                <a:cs typeface="Arial" charset="0"/>
              </a:rPr>
              <a:t>α</a:t>
            </a:r>
            <a:r>
              <a:rPr lang="en-US" altLang="zh-TW" i="1" baseline="-25000"/>
              <a:t>i</a:t>
            </a:r>
            <a:r>
              <a:rPr lang="en-US" altLang="zh-TW" i="1"/>
              <a:t> </a:t>
            </a:r>
            <a:r>
              <a:rPr lang="en-US" altLang="zh-TW"/>
              <a:t>determines how much each training example influences the SVM function</a:t>
            </a:r>
          </a:p>
          <a:p>
            <a:pPr lvl="2"/>
            <a:r>
              <a:rPr lang="en-US" altLang="zh-TW"/>
              <a:t>Most of the training examples do not affect the SVM function, so most of the </a:t>
            </a:r>
            <a:r>
              <a:rPr lang="el-GR" altLang="zh-TW">
                <a:cs typeface="Arial" charset="0"/>
              </a:rPr>
              <a:t>α</a:t>
            </a:r>
            <a:r>
              <a:rPr lang="en-US" altLang="zh-TW" i="1" baseline="-25000"/>
              <a:t>i</a:t>
            </a:r>
            <a:r>
              <a:rPr lang="en-US" altLang="zh-TW" i="1"/>
              <a:t> </a:t>
            </a:r>
            <a:r>
              <a:rPr lang="en-US" altLang="zh-TW"/>
              <a:t>are 0</a:t>
            </a:r>
          </a:p>
          <a:p>
            <a:pPr lvl="2"/>
            <a:endParaRPr lang="en-US" altLang="zh-TW"/>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endParaRPr lang="zh-TW" altLang="zh-TW"/>
          </a:p>
        </p:txBody>
      </p:sp>
      <p:sp>
        <p:nvSpPr>
          <p:cNvPr id="45059" name="Rectangle 3"/>
          <p:cNvSpPr>
            <a:spLocks noGrp="1" noChangeArrowheads="1"/>
          </p:cNvSpPr>
          <p:nvPr>
            <p:ph type="body" idx="1"/>
          </p:nvPr>
        </p:nvSpPr>
        <p:spPr/>
        <p:txBody>
          <a:bodyPr/>
          <a:lstStyle/>
          <a:p>
            <a:endParaRPr lang="zh-TW" altLang="zh-TW"/>
          </a:p>
        </p:txBody>
      </p:sp>
      <p:pic>
        <p:nvPicPr>
          <p:cNvPr id="45060" name="Picture 4"/>
          <p:cNvPicPr>
            <a:picLocks noChangeAspect="1" noChangeArrowheads="1"/>
          </p:cNvPicPr>
          <p:nvPr/>
        </p:nvPicPr>
        <p:blipFill>
          <a:blip r:embed="rId3" cstate="print"/>
          <a:srcRect/>
          <a:stretch>
            <a:fillRect/>
          </a:stretch>
        </p:blipFill>
        <p:spPr bwMode="auto">
          <a:xfrm>
            <a:off x="900113" y="765175"/>
            <a:ext cx="7315200" cy="575627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TW"/>
              <a:t>Multi-class Classification</a:t>
            </a:r>
          </a:p>
        </p:txBody>
      </p:sp>
      <p:sp>
        <p:nvSpPr>
          <p:cNvPr id="62467" name="Rectangle 3"/>
          <p:cNvSpPr>
            <a:spLocks noGrp="1" noChangeArrowheads="1"/>
          </p:cNvSpPr>
          <p:nvPr>
            <p:ph type="body" idx="1"/>
          </p:nvPr>
        </p:nvSpPr>
        <p:spPr/>
        <p:txBody>
          <a:bodyPr/>
          <a:lstStyle/>
          <a:p>
            <a:r>
              <a:rPr lang="en-US" altLang="zh-TW" i="1" dirty="0"/>
              <a:t>k</a:t>
            </a:r>
            <a:r>
              <a:rPr lang="en-US" altLang="zh-TW" dirty="0"/>
              <a:t> classes</a:t>
            </a:r>
          </a:p>
          <a:p>
            <a:r>
              <a:rPr lang="en-US" altLang="zh-TW" dirty="0"/>
              <a:t>One-against-all: Train </a:t>
            </a:r>
            <a:r>
              <a:rPr lang="en-US" altLang="zh-TW" i="1" dirty="0"/>
              <a:t>k</a:t>
            </a:r>
            <a:r>
              <a:rPr lang="en-US" altLang="zh-TW" dirty="0"/>
              <a:t> binary SVMs</a:t>
            </a:r>
          </a:p>
          <a:p>
            <a:pPr lvl="2">
              <a:buFontTx/>
              <a:buNone/>
            </a:pPr>
            <a:r>
              <a:rPr lang="en-US" altLang="zh-TW" dirty="0"/>
              <a:t>1st class vs. (2 </a:t>
            </a:r>
            <a:r>
              <a:rPr lang="en-US" altLang="zh-TW" dirty="0" smtClean="0">
                <a:cs typeface="Arial" charset="0"/>
              </a:rPr>
              <a:t>~</a:t>
            </a:r>
            <a:r>
              <a:rPr lang="en-US" altLang="zh-TW" dirty="0" smtClean="0"/>
              <a:t> </a:t>
            </a:r>
            <a:r>
              <a:rPr lang="en-US" altLang="zh-TW" dirty="0"/>
              <a:t>k)</a:t>
            </a:r>
            <a:r>
              <a:rPr lang="en-US" altLang="zh-TW" dirty="0" err="1"/>
              <a:t>th</a:t>
            </a:r>
            <a:r>
              <a:rPr lang="en-US" altLang="zh-TW" dirty="0"/>
              <a:t> class</a:t>
            </a:r>
          </a:p>
          <a:p>
            <a:pPr lvl="2">
              <a:buFontTx/>
              <a:buNone/>
            </a:pPr>
            <a:r>
              <a:rPr lang="en-US" altLang="zh-TW" dirty="0"/>
              <a:t>2nd class vs. (1, 3 </a:t>
            </a:r>
            <a:r>
              <a:rPr lang="en-US" altLang="zh-TW" dirty="0" smtClean="0">
                <a:cs typeface="Arial" charset="0"/>
              </a:rPr>
              <a:t>~</a:t>
            </a:r>
            <a:r>
              <a:rPr lang="en-US" altLang="zh-TW" dirty="0" smtClean="0"/>
              <a:t> </a:t>
            </a:r>
            <a:r>
              <a:rPr lang="en-US" altLang="zh-TW" dirty="0"/>
              <a:t>k)</a:t>
            </a:r>
            <a:r>
              <a:rPr lang="en-US" altLang="zh-TW" dirty="0" err="1"/>
              <a:t>th</a:t>
            </a:r>
            <a:r>
              <a:rPr lang="en-US" altLang="zh-TW" dirty="0"/>
              <a:t> class</a:t>
            </a:r>
          </a:p>
          <a:p>
            <a:pPr lvl="2">
              <a:buFontTx/>
              <a:buNone/>
            </a:pPr>
            <a:r>
              <a:rPr lang="en-US" altLang="zh-TW" dirty="0"/>
              <a:t>...</a:t>
            </a:r>
          </a:p>
          <a:p>
            <a:pPr lvl="1"/>
            <a:r>
              <a:rPr lang="en-US" altLang="zh-TW" i="1" dirty="0"/>
              <a:t>k</a:t>
            </a:r>
            <a:r>
              <a:rPr lang="en-US" altLang="zh-TW" dirty="0"/>
              <a:t> decision functions</a:t>
            </a:r>
          </a:p>
          <a:p>
            <a:endParaRPr lang="en-US" altLang="zh-TW" dirty="0"/>
          </a:p>
        </p:txBody>
      </p:sp>
      <p:pic>
        <p:nvPicPr>
          <p:cNvPr id="62468" name="Picture 4"/>
          <p:cNvPicPr>
            <a:picLocks noChangeAspect="1" noChangeArrowheads="1"/>
          </p:cNvPicPr>
          <p:nvPr/>
        </p:nvPicPr>
        <p:blipFill>
          <a:blip r:embed="rId3" cstate="print"/>
          <a:srcRect/>
          <a:stretch>
            <a:fillRect/>
          </a:stretch>
        </p:blipFill>
        <p:spPr bwMode="auto">
          <a:xfrm>
            <a:off x="4716463" y="4076700"/>
            <a:ext cx="2189162" cy="1898650"/>
          </a:xfrm>
          <a:prstGeom prst="rect">
            <a:avLst/>
          </a:prstGeom>
          <a:noFill/>
          <a:ln w="9525">
            <a:noFill/>
            <a:miter lim="800000"/>
            <a:headEnd/>
            <a:tailEnd/>
          </a:ln>
          <a:effectLst/>
        </p:spPr>
      </p:pic>
      <p:sp>
        <p:nvSpPr>
          <p:cNvPr id="62469" name="Text Box 5"/>
          <p:cNvSpPr txBox="1">
            <a:spLocks noChangeArrowheads="1"/>
          </p:cNvSpPr>
          <p:nvPr/>
        </p:nvSpPr>
        <p:spPr bwMode="auto">
          <a:xfrm>
            <a:off x="1474788" y="6237288"/>
            <a:ext cx="3767137" cy="396875"/>
          </a:xfrm>
          <a:prstGeom prst="rect">
            <a:avLst/>
          </a:prstGeom>
          <a:noFill/>
          <a:ln w="9525">
            <a:noFill/>
            <a:miter lim="800000"/>
            <a:headEnd/>
            <a:tailEnd/>
          </a:ln>
          <a:effectLst/>
        </p:spPr>
        <p:txBody>
          <a:bodyPr wrap="none">
            <a:spAutoFit/>
          </a:bodyPr>
          <a:lstStyle/>
          <a:p>
            <a:r>
              <a:rPr lang="en-US" altLang="zh-TW" sz="2000"/>
              <a:t>Select the index with the largest</a:t>
            </a:r>
          </a:p>
        </p:txBody>
      </p:sp>
      <p:pic>
        <p:nvPicPr>
          <p:cNvPr id="62470" name="Picture 6"/>
          <p:cNvPicPr>
            <a:picLocks noChangeAspect="1" noChangeArrowheads="1"/>
          </p:cNvPicPr>
          <p:nvPr/>
        </p:nvPicPr>
        <p:blipFill>
          <a:blip r:embed="rId4" cstate="print"/>
          <a:srcRect/>
          <a:stretch>
            <a:fillRect/>
          </a:stretch>
        </p:blipFill>
        <p:spPr bwMode="auto">
          <a:xfrm>
            <a:off x="5219700" y="6165850"/>
            <a:ext cx="2038350" cy="455613"/>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zh-TW"/>
              <a:t>Multi-class Classification</a:t>
            </a:r>
          </a:p>
        </p:txBody>
      </p:sp>
      <p:sp>
        <p:nvSpPr>
          <p:cNvPr id="64515" name="Rectangle 3"/>
          <p:cNvSpPr>
            <a:spLocks noGrp="1" noChangeArrowheads="1"/>
          </p:cNvSpPr>
          <p:nvPr>
            <p:ph type="body" idx="1"/>
          </p:nvPr>
        </p:nvSpPr>
        <p:spPr/>
        <p:txBody>
          <a:bodyPr/>
          <a:lstStyle/>
          <a:p>
            <a:r>
              <a:rPr lang="en-US" altLang="zh-TW"/>
              <a:t>One-against-one: train k(k - 1)/2 binary SVMs</a:t>
            </a:r>
          </a:p>
          <a:p>
            <a:pPr lvl="1"/>
            <a:r>
              <a:rPr lang="en-US" altLang="zh-TW"/>
              <a:t>(1, 2), (1, 3),…, (1, k), (2, 3), (2, 4),…, (k-1, k)</a:t>
            </a:r>
          </a:p>
          <a:p>
            <a:r>
              <a:rPr lang="en-US" altLang="zh-TW"/>
              <a:t>Select the one with the largest vote</a:t>
            </a:r>
          </a:p>
          <a:p>
            <a:endParaRPr lang="en-US" altLang="zh-TW"/>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ltLang="zh-TW"/>
              <a:t>Example: Text-Categorization</a:t>
            </a:r>
          </a:p>
        </p:txBody>
      </p:sp>
      <p:sp>
        <p:nvSpPr>
          <p:cNvPr id="66563" name="Rectangle 3"/>
          <p:cNvSpPr>
            <a:spLocks noGrp="1" noChangeArrowheads="1"/>
          </p:cNvSpPr>
          <p:nvPr>
            <p:ph type="body" idx="1"/>
          </p:nvPr>
        </p:nvSpPr>
        <p:spPr/>
        <p:txBody>
          <a:bodyPr/>
          <a:lstStyle/>
          <a:p>
            <a:r>
              <a:rPr lang="en-US" altLang="zh-TW" sz="2800"/>
              <a:t>Assign new items to one or more of a set of predefined categories on the basis of their textual content</a:t>
            </a:r>
          </a:p>
          <a:p>
            <a:r>
              <a:rPr lang="en-US" altLang="zh-TW" sz="2800"/>
              <a:t>Classifier</a:t>
            </a:r>
          </a:p>
          <a:p>
            <a:pPr lvl="1"/>
            <a:endParaRPr lang="en-US" altLang="zh-TW" sz="2400"/>
          </a:p>
          <a:p>
            <a:pPr lvl="1"/>
            <a:endParaRPr lang="en-US" altLang="zh-TW" sz="2400"/>
          </a:p>
          <a:p>
            <a:pPr lvl="1"/>
            <a:endParaRPr lang="en-US" altLang="zh-TW" sz="2400"/>
          </a:p>
          <a:p>
            <a:pPr lvl="1"/>
            <a:r>
              <a:rPr lang="en-US" altLang="zh-TW" sz="2400"/>
              <a:t>In the case of text classification, the attributes are words in the document and the classes are the categories of interest</a:t>
            </a:r>
          </a:p>
        </p:txBody>
      </p:sp>
      <p:graphicFrame>
        <p:nvGraphicFramePr>
          <p:cNvPr id="66564" name="Object 4"/>
          <p:cNvGraphicFramePr>
            <a:graphicFrameLocks noGrp="1" noChangeAspect="1"/>
          </p:cNvGraphicFramePr>
          <p:nvPr>
            <p:ph sz="half" idx="4294967295"/>
          </p:nvPr>
        </p:nvGraphicFramePr>
        <p:xfrm>
          <a:off x="1763713" y="3621088"/>
          <a:ext cx="4967287" cy="1103312"/>
        </p:xfrm>
        <a:graphic>
          <a:graphicData uri="http://schemas.openxmlformats.org/presentationml/2006/ole">
            <mc:AlternateContent xmlns:mc="http://schemas.openxmlformats.org/markup-compatibility/2006">
              <mc:Choice xmlns:v="urn:schemas-microsoft-com:vml" Requires="v">
                <p:oleObj spid="_x0000_s66567" name="方程式" r:id="rId4" imgW="2057400" imgH="457200" progId="Equation.3">
                  <p:embed/>
                </p:oleObj>
              </mc:Choice>
              <mc:Fallback>
                <p:oleObj name="方程式" r:id="rId4" imgW="2057400" imgH="4572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3621088"/>
                        <a:ext cx="4967287" cy="1103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zh-TW"/>
              <a:t>Example: Text-Categorization</a:t>
            </a:r>
          </a:p>
        </p:txBody>
      </p:sp>
      <p:sp>
        <p:nvSpPr>
          <p:cNvPr id="70659" name="Rectangle 3"/>
          <p:cNvSpPr>
            <a:spLocks noGrp="1" noChangeArrowheads="1"/>
          </p:cNvSpPr>
          <p:nvPr>
            <p:ph type="body" idx="1"/>
          </p:nvPr>
        </p:nvSpPr>
        <p:spPr>
          <a:xfrm>
            <a:off x="457200" y="1600200"/>
            <a:ext cx="8229600" cy="4924425"/>
          </a:xfrm>
        </p:spPr>
        <p:txBody>
          <a:bodyPr/>
          <a:lstStyle/>
          <a:p>
            <a:r>
              <a:rPr lang="en-US" altLang="zh-TW"/>
              <a:t>Example classifiers</a:t>
            </a:r>
          </a:p>
          <a:p>
            <a:pPr lvl="1"/>
            <a:r>
              <a:rPr lang="en-US" altLang="zh-TW"/>
              <a:t>if (interest AND rate) OR (quarterly), then confidence (“interest” category) = 0.9</a:t>
            </a:r>
          </a:p>
          <a:p>
            <a:pPr lvl="1"/>
            <a:r>
              <a:rPr lang="en-US" altLang="zh-TW"/>
              <a:t>confidence (“interest” category) = 0.3*interest + 0.4*rate + 0.7*quarterly</a:t>
            </a:r>
          </a:p>
          <a:p>
            <a:r>
              <a:rPr lang="en-US" altLang="zh-TW"/>
              <a:t>SVM</a:t>
            </a:r>
          </a:p>
          <a:p>
            <a:pPr lvl="1"/>
            <a:r>
              <a:rPr lang="en-US" altLang="zh-TW"/>
              <a:t>Linear SVM</a:t>
            </a:r>
          </a:p>
          <a:p>
            <a:pPr lvl="1"/>
            <a:r>
              <a:rPr lang="en-US" altLang="zh-TW"/>
              <a:t>Learn the vector of feature weights, </a:t>
            </a:r>
          </a:p>
          <a:p>
            <a:pPr lvl="1"/>
            <a:r>
              <a:rPr lang="en-US" altLang="zh-TW"/>
              <a:t> </a:t>
            </a:r>
          </a:p>
        </p:txBody>
      </p:sp>
      <p:graphicFrame>
        <p:nvGraphicFramePr>
          <p:cNvPr id="70660" name="Object 4"/>
          <p:cNvGraphicFramePr>
            <a:graphicFrameLocks noGrp="1" noChangeAspect="1"/>
          </p:cNvGraphicFramePr>
          <p:nvPr>
            <p:ph sz="half" idx="4294967295"/>
          </p:nvPr>
        </p:nvGraphicFramePr>
        <p:xfrm>
          <a:off x="6886575" y="5157788"/>
          <a:ext cx="447675" cy="522287"/>
        </p:xfrm>
        <a:graphic>
          <a:graphicData uri="http://schemas.openxmlformats.org/presentationml/2006/ole">
            <mc:AlternateContent xmlns:mc="http://schemas.openxmlformats.org/markup-compatibility/2006">
              <mc:Choice xmlns:v="urn:schemas-microsoft-com:vml" Requires="v">
                <p:oleObj spid="_x0000_s70667" name="方程式" r:id="rId4" imgW="152280" imgH="177480" progId="Equation.3">
                  <p:embed/>
                </p:oleObj>
              </mc:Choice>
              <mc:Fallback>
                <p:oleObj name="方程式" r:id="rId4" imgW="152280" imgH="17748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6575" y="5157788"/>
                        <a:ext cx="4476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2" name="Object 6"/>
          <p:cNvGraphicFramePr>
            <a:graphicFrameLocks noGrp="1" noChangeAspect="1"/>
          </p:cNvGraphicFramePr>
          <p:nvPr>
            <p:ph sz="half" idx="4294967295"/>
          </p:nvPr>
        </p:nvGraphicFramePr>
        <p:xfrm>
          <a:off x="1331913" y="5661025"/>
          <a:ext cx="1119187" cy="581025"/>
        </p:xfrm>
        <a:graphic>
          <a:graphicData uri="http://schemas.openxmlformats.org/presentationml/2006/ole">
            <mc:AlternateContent xmlns:mc="http://schemas.openxmlformats.org/markup-compatibility/2006">
              <mc:Choice xmlns:v="urn:schemas-microsoft-com:vml" Requires="v">
                <p:oleObj spid="_x0000_s70668" name="方程式" r:id="rId6" imgW="342720" imgH="177480" progId="Equation.3">
                  <p:embed/>
                </p:oleObj>
              </mc:Choice>
              <mc:Fallback>
                <p:oleObj name="方程式" r:id="rId6" imgW="342720" imgH="17748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5661025"/>
                        <a:ext cx="1119187"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zh-TW"/>
              <a:t>Example: Text-Categorization</a:t>
            </a:r>
          </a:p>
        </p:txBody>
      </p:sp>
      <p:sp>
        <p:nvSpPr>
          <p:cNvPr id="72707" name="Rectangle 3"/>
          <p:cNvSpPr>
            <a:spLocks noGrp="1" noChangeArrowheads="1"/>
          </p:cNvSpPr>
          <p:nvPr>
            <p:ph type="body" idx="1"/>
          </p:nvPr>
        </p:nvSpPr>
        <p:spPr>
          <a:xfrm>
            <a:off x="457200" y="1600200"/>
            <a:ext cx="8229600" cy="4852988"/>
          </a:xfrm>
        </p:spPr>
        <p:txBody>
          <a:bodyPr/>
          <a:lstStyle/>
          <a:p>
            <a:r>
              <a:rPr lang="en-US" altLang="zh-TW"/>
              <a:t>Each document is represented as a vector of words</a:t>
            </a:r>
          </a:p>
          <a:p>
            <a:pPr lvl="1"/>
            <a:r>
              <a:rPr lang="en-US" altLang="zh-TW"/>
              <a:t>Feature weight</a:t>
            </a:r>
          </a:p>
          <a:p>
            <a:pPr lvl="2"/>
            <a:r>
              <a:rPr lang="en-US" altLang="zh-TW"/>
              <a:t>IR: tf*idf</a:t>
            </a:r>
          </a:p>
          <a:p>
            <a:pPr lvl="2"/>
            <a:r>
              <a:rPr lang="en-US" altLang="zh-TW"/>
              <a:t>Text classification: binary</a:t>
            </a:r>
          </a:p>
          <a:p>
            <a:pPr lvl="1"/>
            <a:r>
              <a:rPr lang="en-US" altLang="zh-TW"/>
              <a:t>Feature selection</a:t>
            </a:r>
          </a:p>
          <a:p>
            <a:pPr lvl="2"/>
            <a:r>
              <a:rPr lang="en-US" altLang="zh-TW"/>
              <a:t>Remove features based on overall frequency counts</a:t>
            </a:r>
          </a:p>
          <a:p>
            <a:pPr lvl="2"/>
            <a:r>
              <a:rPr lang="en-US" altLang="zh-TW"/>
              <a:t>Select a small number of features based on their fit to categories (mutual information)</a:t>
            </a:r>
          </a:p>
          <a:p>
            <a:pPr lvl="2"/>
            <a:endParaRPr lang="en-US" altLang="zh-TW"/>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TW"/>
              <a:t>Example: Text-Categorization</a:t>
            </a:r>
          </a:p>
        </p:txBody>
      </p:sp>
      <p:sp>
        <p:nvSpPr>
          <p:cNvPr id="78851" name="Rectangle 3"/>
          <p:cNvSpPr>
            <a:spLocks noGrp="1" noChangeArrowheads="1"/>
          </p:cNvSpPr>
          <p:nvPr>
            <p:ph type="body" idx="1"/>
          </p:nvPr>
        </p:nvSpPr>
        <p:spPr>
          <a:xfrm>
            <a:off x="457200" y="1600200"/>
            <a:ext cx="8229600" cy="5068888"/>
          </a:xfrm>
        </p:spPr>
        <p:txBody>
          <a:bodyPr/>
          <a:lstStyle/>
          <a:p>
            <a:pPr>
              <a:lnSpc>
                <a:spcPct val="90000"/>
              </a:lnSpc>
            </a:pPr>
            <a:r>
              <a:rPr lang="en-US" altLang="zh-TW"/>
              <a:t>Experiment data</a:t>
            </a:r>
          </a:p>
          <a:p>
            <a:pPr lvl="1">
              <a:lnSpc>
                <a:spcPct val="90000"/>
              </a:lnSpc>
            </a:pPr>
            <a:r>
              <a:rPr lang="en-US" altLang="zh-TW"/>
              <a:t>Reuters</a:t>
            </a:r>
          </a:p>
          <a:p>
            <a:pPr lvl="2">
              <a:lnSpc>
                <a:spcPct val="90000"/>
              </a:lnSpc>
            </a:pPr>
            <a:r>
              <a:rPr lang="en-US" altLang="zh-TW"/>
              <a:t>12,902 stories</a:t>
            </a:r>
          </a:p>
          <a:p>
            <a:pPr lvl="3">
              <a:lnSpc>
                <a:spcPct val="90000"/>
              </a:lnSpc>
            </a:pPr>
            <a:r>
              <a:rPr lang="en-US" altLang="zh-TW"/>
              <a:t>Training: 75% (9,603 stories)</a:t>
            </a:r>
          </a:p>
          <a:p>
            <a:pPr lvl="3">
              <a:lnSpc>
                <a:spcPct val="90000"/>
              </a:lnSpc>
            </a:pPr>
            <a:r>
              <a:rPr lang="en-US" altLang="zh-TW"/>
              <a:t>Test: 25% (3,299 stories)</a:t>
            </a:r>
          </a:p>
          <a:p>
            <a:pPr lvl="2">
              <a:lnSpc>
                <a:spcPct val="90000"/>
              </a:lnSpc>
            </a:pPr>
            <a:r>
              <a:rPr lang="en-US" altLang="zh-TW"/>
              <a:t>118 categories</a:t>
            </a:r>
          </a:p>
          <a:p>
            <a:pPr lvl="3">
              <a:lnSpc>
                <a:spcPct val="90000"/>
              </a:lnSpc>
            </a:pPr>
            <a:r>
              <a:rPr lang="en-US" altLang="zh-TW"/>
              <a:t>When testing, one story can be assigned to more than one category</a:t>
            </a:r>
          </a:p>
          <a:p>
            <a:pPr lvl="1">
              <a:lnSpc>
                <a:spcPct val="90000"/>
              </a:lnSpc>
            </a:pPr>
            <a:r>
              <a:rPr lang="en-US" altLang="zh-TW"/>
              <a:t>Eliminating words that appear in only one document and then selecting the 300 words with highest mutual information with each category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ltLang="zh-TW"/>
              <a:t>Example: Text-Categorization</a:t>
            </a:r>
          </a:p>
        </p:txBody>
      </p:sp>
      <p:sp>
        <p:nvSpPr>
          <p:cNvPr id="80899" name="Rectangle 3"/>
          <p:cNvSpPr>
            <a:spLocks noGrp="1" noChangeArrowheads="1"/>
          </p:cNvSpPr>
          <p:nvPr>
            <p:ph type="body" idx="1"/>
          </p:nvPr>
        </p:nvSpPr>
        <p:spPr/>
        <p:txBody>
          <a:bodyPr/>
          <a:lstStyle/>
          <a:p>
            <a:r>
              <a:rPr lang="en-US" altLang="zh-TW"/>
              <a:t>SVM</a:t>
            </a:r>
          </a:p>
          <a:p>
            <a:pPr lvl="1"/>
            <a:r>
              <a:rPr lang="en-US" altLang="zh-TW"/>
              <a:t>One classifier for each category</a:t>
            </a:r>
          </a:p>
          <a:p>
            <a:pPr lvl="1"/>
            <a:r>
              <a:rPr lang="en-US" altLang="zh-TW"/>
              <a:t>Compute a score for a new document and a category (          )</a:t>
            </a:r>
          </a:p>
          <a:p>
            <a:pPr lvl="1"/>
            <a:r>
              <a:rPr lang="en-US" altLang="zh-TW"/>
              <a:t>If the score of the new document exceeding a learned threshold, the document is said to belong to the category</a:t>
            </a:r>
          </a:p>
          <a:p>
            <a:pPr lvl="1"/>
            <a:endParaRPr lang="en-US" altLang="zh-TW"/>
          </a:p>
        </p:txBody>
      </p:sp>
      <p:graphicFrame>
        <p:nvGraphicFramePr>
          <p:cNvPr id="80902" name="Object 6"/>
          <p:cNvGraphicFramePr>
            <a:graphicFrameLocks noChangeAspect="1"/>
          </p:cNvGraphicFramePr>
          <p:nvPr/>
        </p:nvGraphicFramePr>
        <p:xfrm>
          <a:off x="2843213" y="3141663"/>
          <a:ext cx="1008062" cy="523875"/>
        </p:xfrm>
        <a:graphic>
          <a:graphicData uri="http://schemas.openxmlformats.org/presentationml/2006/ole">
            <mc:AlternateContent xmlns:mc="http://schemas.openxmlformats.org/markup-compatibility/2006">
              <mc:Choice xmlns:v="urn:schemas-microsoft-com:vml" Requires="v">
                <p:oleObj spid="_x0000_s80905" name="方程式" r:id="rId4" imgW="342720" imgH="177480" progId="Equation.3">
                  <p:embed/>
                </p:oleObj>
              </mc:Choice>
              <mc:Fallback>
                <p:oleObj name="方程式" r:id="rId4" imgW="342720" imgH="17748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141663"/>
                        <a:ext cx="1008062"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zh-TW"/>
              <a:t>Example: Text-Categorization</a:t>
            </a:r>
          </a:p>
        </p:txBody>
      </p:sp>
      <p:sp>
        <p:nvSpPr>
          <p:cNvPr id="83971" name="Rectangle 3"/>
          <p:cNvSpPr>
            <a:spLocks noGrp="1" noChangeArrowheads="1"/>
          </p:cNvSpPr>
          <p:nvPr>
            <p:ph type="body" idx="1"/>
          </p:nvPr>
        </p:nvSpPr>
        <p:spPr/>
        <p:txBody>
          <a:bodyPr/>
          <a:lstStyle/>
          <a:p>
            <a:endParaRPr lang="zh-TW" altLang="zh-TW"/>
          </a:p>
        </p:txBody>
      </p:sp>
      <p:pic>
        <p:nvPicPr>
          <p:cNvPr id="83972" name="Picture 4"/>
          <p:cNvPicPr>
            <a:picLocks noChangeAspect="1" noChangeArrowheads="1"/>
          </p:cNvPicPr>
          <p:nvPr/>
        </p:nvPicPr>
        <p:blipFill>
          <a:blip r:embed="rId3" cstate="print"/>
          <a:srcRect/>
          <a:stretch>
            <a:fillRect/>
          </a:stretch>
        </p:blipFill>
        <p:spPr bwMode="auto">
          <a:xfrm>
            <a:off x="684213" y="1700213"/>
            <a:ext cx="7921625" cy="4632325"/>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TW"/>
              <a:t>Example: Text-Categorization</a:t>
            </a:r>
          </a:p>
        </p:txBody>
      </p:sp>
      <p:sp>
        <p:nvSpPr>
          <p:cNvPr id="84995" name="Rectangle 3"/>
          <p:cNvSpPr>
            <a:spLocks noGrp="1" noChangeArrowheads="1"/>
          </p:cNvSpPr>
          <p:nvPr>
            <p:ph type="body" idx="1"/>
          </p:nvPr>
        </p:nvSpPr>
        <p:spPr/>
        <p:txBody>
          <a:bodyPr/>
          <a:lstStyle/>
          <a:p>
            <a:r>
              <a:rPr lang="en-US" altLang="zh-TW"/>
              <a:t>Performance of category “grain”</a:t>
            </a:r>
          </a:p>
        </p:txBody>
      </p:sp>
      <p:pic>
        <p:nvPicPr>
          <p:cNvPr id="84996" name="Picture 4"/>
          <p:cNvPicPr>
            <a:picLocks noChangeAspect="1" noChangeArrowheads="1"/>
          </p:cNvPicPr>
          <p:nvPr/>
        </p:nvPicPr>
        <p:blipFill>
          <a:blip r:embed="rId3" cstate="print"/>
          <a:srcRect/>
          <a:stretch>
            <a:fillRect/>
          </a:stretch>
        </p:blipFill>
        <p:spPr bwMode="auto">
          <a:xfrm>
            <a:off x="1547813" y="2276475"/>
            <a:ext cx="6553200" cy="4113213"/>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TW"/>
              <a:t>Example: Face Detection</a:t>
            </a:r>
          </a:p>
        </p:txBody>
      </p:sp>
      <p:sp>
        <p:nvSpPr>
          <p:cNvPr id="88067" name="Rectangle 3"/>
          <p:cNvSpPr>
            <a:spLocks noGrp="1" noChangeArrowheads="1"/>
          </p:cNvSpPr>
          <p:nvPr>
            <p:ph type="body" idx="1"/>
          </p:nvPr>
        </p:nvSpPr>
        <p:spPr>
          <a:xfrm>
            <a:off x="457200" y="1600200"/>
            <a:ext cx="8229600" cy="4781550"/>
          </a:xfrm>
        </p:spPr>
        <p:txBody>
          <a:bodyPr/>
          <a:lstStyle/>
          <a:p>
            <a:r>
              <a:rPr lang="en-US" altLang="zh-TW" dirty="0"/>
              <a:t>Given as input an arbitrary image, determine whether there are any human faces in the image, and if there are, return an encoding of their location</a:t>
            </a:r>
          </a:p>
          <a:p>
            <a:r>
              <a:rPr lang="en-US" altLang="zh-TW" dirty="0"/>
              <a:t>Applications</a:t>
            </a:r>
          </a:p>
          <a:p>
            <a:pPr lvl="1"/>
            <a:r>
              <a:rPr lang="en-US" altLang="zh-TW" dirty="0"/>
              <a:t>Face recognition, human-computer interfaces, surveillance systems, and census systems</a:t>
            </a:r>
          </a:p>
          <a:p>
            <a:pPr lvl="1"/>
            <a:r>
              <a:rPr lang="en-US" altLang="zh-TW" dirty="0"/>
              <a:t>tumor anomalies in MRI scans and structural defects in manufactured parts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zh-TW"/>
              <a:t>Example: Face Detection</a:t>
            </a:r>
          </a:p>
        </p:txBody>
      </p:sp>
      <p:sp>
        <p:nvSpPr>
          <p:cNvPr id="90115" name="Rectangle 3"/>
          <p:cNvSpPr>
            <a:spLocks noGrp="1" noChangeArrowheads="1"/>
          </p:cNvSpPr>
          <p:nvPr>
            <p:ph type="body" idx="1"/>
          </p:nvPr>
        </p:nvSpPr>
        <p:spPr/>
        <p:txBody>
          <a:bodyPr/>
          <a:lstStyle/>
          <a:p>
            <a:r>
              <a:rPr lang="en-US" altLang="zh-TW"/>
              <a:t>It is a difficult task</a:t>
            </a:r>
          </a:p>
          <a:p>
            <a:pPr lvl="1"/>
            <a:r>
              <a:rPr lang="en-US" altLang="zh-TW"/>
              <a:t>Significant pattern variations</a:t>
            </a:r>
          </a:p>
          <a:p>
            <a:pPr lvl="2"/>
            <a:r>
              <a:rPr lang="en-US" altLang="zh-TW"/>
              <a:t>Facial appearance, expression, presence or absence of common structural features such as glasses or a moustache, and light-source distribution</a:t>
            </a:r>
          </a:p>
          <a:p>
            <a:r>
              <a:rPr lang="en-US" altLang="zh-TW"/>
              <a:t>Use a classification procedure that determines whether a given local image pattern is a face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zh-TW"/>
              <a:t>Example: Face Detection</a:t>
            </a:r>
          </a:p>
        </p:txBody>
      </p:sp>
      <p:sp>
        <p:nvSpPr>
          <p:cNvPr id="92163" name="Rectangle 3"/>
          <p:cNvSpPr>
            <a:spLocks noGrp="1" noChangeArrowheads="1"/>
          </p:cNvSpPr>
          <p:nvPr>
            <p:ph type="body" idx="1"/>
          </p:nvPr>
        </p:nvSpPr>
        <p:spPr/>
        <p:txBody>
          <a:bodyPr/>
          <a:lstStyle/>
          <a:p>
            <a:r>
              <a:rPr lang="en-US" altLang="zh-TW"/>
              <a:t>Divide the original image into overlapping subimages and classifying them using an SVM to determine the appropriate class—face or nonface</a:t>
            </a:r>
          </a:p>
          <a:p>
            <a:r>
              <a:rPr lang="en-US" altLang="zh-TW"/>
              <a:t>Train on a database of face and nonface 19x19 pixel patterns</a:t>
            </a:r>
          </a:p>
          <a:p>
            <a:pPr lvl="1"/>
            <a:r>
              <a:rPr lang="en-US" altLang="zh-TW"/>
              <a:t>Second-degree homogeneous polynomial kernel function and an upper bound </a:t>
            </a:r>
            <a:r>
              <a:rPr lang="en-US" altLang="zh-TW" i="1"/>
              <a:t>C </a:t>
            </a:r>
            <a:r>
              <a:rPr lang="en-US" altLang="zh-TW"/>
              <a:t>= 200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endParaRPr lang="zh-TW" altLang="zh-TW"/>
          </a:p>
        </p:txBody>
      </p:sp>
      <p:sp>
        <p:nvSpPr>
          <p:cNvPr id="94211" name="Rectangle 3"/>
          <p:cNvSpPr>
            <a:spLocks noGrp="1" noChangeArrowheads="1"/>
          </p:cNvSpPr>
          <p:nvPr>
            <p:ph type="body" idx="1"/>
          </p:nvPr>
        </p:nvSpPr>
        <p:spPr/>
        <p:txBody>
          <a:bodyPr/>
          <a:lstStyle/>
          <a:p>
            <a:endParaRPr lang="zh-TW" altLang="zh-TW"/>
          </a:p>
        </p:txBody>
      </p:sp>
      <p:pic>
        <p:nvPicPr>
          <p:cNvPr id="94212" name="Picture 4"/>
          <p:cNvPicPr>
            <a:picLocks noChangeAspect="1" noChangeArrowheads="1"/>
          </p:cNvPicPr>
          <p:nvPr/>
        </p:nvPicPr>
        <p:blipFill>
          <a:blip r:embed="rId3" cstate="print"/>
          <a:srcRect/>
          <a:stretch>
            <a:fillRect/>
          </a:stretch>
        </p:blipFill>
        <p:spPr bwMode="auto">
          <a:xfrm>
            <a:off x="1116013" y="192088"/>
            <a:ext cx="6550025" cy="6505575"/>
          </a:xfrm>
          <a:prstGeom prst="rect">
            <a:avLst/>
          </a:prstGeom>
          <a:noFill/>
          <a:ln w="9525">
            <a:noFill/>
            <a:miter lim="800000"/>
            <a:headEnd/>
            <a:tailEnd/>
          </a:ln>
          <a:effectLst/>
        </p:spPr>
      </p:pic>
      <p:sp>
        <p:nvSpPr>
          <p:cNvPr id="94213" name="Text Box 5"/>
          <p:cNvSpPr txBox="1">
            <a:spLocks noChangeArrowheads="1"/>
          </p:cNvSpPr>
          <p:nvPr/>
        </p:nvSpPr>
        <p:spPr bwMode="auto">
          <a:xfrm>
            <a:off x="1619250" y="6021388"/>
            <a:ext cx="806450" cy="366712"/>
          </a:xfrm>
          <a:prstGeom prst="rect">
            <a:avLst/>
          </a:prstGeom>
          <a:noFill/>
          <a:ln w="9525">
            <a:noFill/>
            <a:miter lim="800000"/>
            <a:headEnd/>
            <a:tailEnd/>
          </a:ln>
          <a:effectLst/>
        </p:spPr>
        <p:txBody>
          <a:bodyPr wrap="none">
            <a:spAutoFit/>
          </a:bodyPr>
          <a:lstStyle/>
          <a:p>
            <a:r>
              <a:rPr lang="en-US" altLang="zh-TW"/>
              <a:t>Faces</a:t>
            </a:r>
          </a:p>
        </p:txBody>
      </p:sp>
      <p:sp>
        <p:nvSpPr>
          <p:cNvPr id="94214" name="Text Box 6"/>
          <p:cNvSpPr txBox="1">
            <a:spLocks noChangeArrowheads="1"/>
          </p:cNvSpPr>
          <p:nvPr/>
        </p:nvSpPr>
        <p:spPr bwMode="auto">
          <a:xfrm>
            <a:off x="4767263" y="352425"/>
            <a:ext cx="1225550" cy="366713"/>
          </a:xfrm>
          <a:prstGeom prst="rect">
            <a:avLst/>
          </a:prstGeom>
          <a:noFill/>
          <a:ln w="9525">
            <a:noFill/>
            <a:miter lim="800000"/>
            <a:headEnd/>
            <a:tailEnd/>
          </a:ln>
          <a:effectLst/>
        </p:spPr>
        <p:txBody>
          <a:bodyPr wrap="none">
            <a:spAutoFit/>
          </a:bodyPr>
          <a:lstStyle/>
          <a:p>
            <a:r>
              <a:rPr lang="en-US" altLang="zh-TW"/>
              <a:t>Non-faces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zh-TW"/>
              <a:t>Example: Face Detection</a:t>
            </a:r>
          </a:p>
        </p:txBody>
      </p:sp>
      <p:sp>
        <p:nvSpPr>
          <p:cNvPr id="96259" name="Rectangle 3"/>
          <p:cNvSpPr>
            <a:spLocks noGrp="1" noChangeArrowheads="1"/>
          </p:cNvSpPr>
          <p:nvPr>
            <p:ph type="body" idx="1"/>
          </p:nvPr>
        </p:nvSpPr>
        <p:spPr>
          <a:xfrm>
            <a:off x="457200" y="1600200"/>
            <a:ext cx="8229600" cy="4924425"/>
          </a:xfrm>
        </p:spPr>
        <p:txBody>
          <a:bodyPr/>
          <a:lstStyle/>
          <a:p>
            <a:r>
              <a:rPr lang="en-US" altLang="zh-TW" dirty="0"/>
              <a:t>Preprocessing</a:t>
            </a:r>
          </a:p>
          <a:p>
            <a:pPr lvl="1"/>
            <a:r>
              <a:rPr lang="en-US" altLang="zh-TW" dirty="0"/>
              <a:t>Masking</a:t>
            </a:r>
          </a:p>
          <a:p>
            <a:pPr lvl="2"/>
            <a:r>
              <a:rPr lang="en-US" altLang="zh-TW" dirty="0"/>
              <a:t>A binary pixel mask removes some pixels close to the window-pattern boundary, allowing a reduction in the dimensionality of the input space from 19 x 19 = 361 to 283</a:t>
            </a:r>
          </a:p>
          <a:p>
            <a:pPr lvl="1"/>
            <a:r>
              <a:rPr lang="en-US" altLang="zh-TW" dirty="0"/>
              <a:t>Illumination gradient correction</a:t>
            </a:r>
          </a:p>
          <a:p>
            <a:pPr lvl="2"/>
            <a:r>
              <a:rPr lang="en-US" altLang="zh-TW" dirty="0"/>
              <a:t>The process subtracts a best-fit brightness plane from the unmasked window pixel values, allowing reduction of light and heavy shadows</a:t>
            </a:r>
          </a:p>
          <a:p>
            <a:pPr lvl="1"/>
            <a:r>
              <a:rPr lang="en-US" altLang="zh-TW" dirty="0"/>
              <a:t>Histogram equalization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TW"/>
              <a:t>Example: Face Detection</a:t>
            </a:r>
          </a:p>
        </p:txBody>
      </p:sp>
      <p:sp>
        <p:nvSpPr>
          <p:cNvPr id="100355" name="Rectangle 3"/>
          <p:cNvSpPr>
            <a:spLocks noGrp="1" noChangeArrowheads="1"/>
          </p:cNvSpPr>
          <p:nvPr>
            <p:ph type="body" idx="1"/>
          </p:nvPr>
        </p:nvSpPr>
        <p:spPr/>
        <p:txBody>
          <a:bodyPr/>
          <a:lstStyle/>
          <a:p>
            <a:r>
              <a:rPr lang="en-US" altLang="zh-TW" dirty="0"/>
              <a:t>Bootstrapping training</a:t>
            </a:r>
          </a:p>
          <a:p>
            <a:pPr lvl="1"/>
            <a:r>
              <a:rPr lang="en-US" altLang="zh-TW" dirty="0"/>
              <a:t>Once the process obtains a decision surface through training, it uses the runtime system over images that do not contain faces, storing misclassifications so that they can be used as negative examples in subsequent training phases</a:t>
            </a:r>
          </a:p>
          <a:p>
            <a:pPr lvl="2"/>
            <a:r>
              <a:rPr lang="en-US" altLang="zh-TW" dirty="0"/>
              <a:t>The </a:t>
            </a:r>
            <a:r>
              <a:rPr lang="en-US" altLang="zh-TW" dirty="0" err="1"/>
              <a:t>nonobject</a:t>
            </a:r>
            <a:r>
              <a:rPr lang="en-US" altLang="zh-TW" dirty="0"/>
              <a:t> class is broader and richer, and therefore needs more examples to get an accurate definition that separates it from the object class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TW"/>
              <a:t>Example: Face Detection</a:t>
            </a:r>
          </a:p>
        </p:txBody>
      </p:sp>
      <p:sp>
        <p:nvSpPr>
          <p:cNvPr id="102403" name="Rectangle 3"/>
          <p:cNvSpPr>
            <a:spLocks noGrp="1" noChangeArrowheads="1"/>
          </p:cNvSpPr>
          <p:nvPr>
            <p:ph type="body" idx="1"/>
          </p:nvPr>
        </p:nvSpPr>
        <p:spPr/>
        <p:txBody>
          <a:bodyPr/>
          <a:lstStyle/>
          <a:p>
            <a:r>
              <a:rPr lang="en-US" altLang="zh-TW"/>
              <a:t>Detection</a:t>
            </a:r>
          </a:p>
          <a:p>
            <a:pPr lvl="1"/>
            <a:r>
              <a:rPr lang="en-US" altLang="zh-TW"/>
              <a:t>Rescale the input image several times</a:t>
            </a:r>
          </a:p>
          <a:p>
            <a:pPr lvl="1"/>
            <a:r>
              <a:rPr lang="en-US" altLang="zh-TW"/>
              <a:t>Cut 19x19 window patterns out of the scaled image</a:t>
            </a:r>
          </a:p>
          <a:p>
            <a:pPr lvl="1"/>
            <a:r>
              <a:rPr lang="en-US" altLang="zh-TW"/>
              <a:t>Preprocess the window using masking, light correction and histogram equalization</a:t>
            </a:r>
          </a:p>
          <a:p>
            <a:pPr lvl="1"/>
            <a:r>
              <a:rPr lang="en-US" altLang="zh-TW"/>
              <a:t>Classify the pattern using the SVM</a:t>
            </a:r>
          </a:p>
          <a:p>
            <a:pPr lvl="1"/>
            <a:r>
              <a:rPr lang="en-US" altLang="zh-TW"/>
              <a:t>If the class corresponds to a face, draw a rectangle around the face in the output image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zh-TW"/>
              <a:t>Example: Face Detection</a:t>
            </a:r>
          </a:p>
        </p:txBody>
      </p:sp>
      <p:sp>
        <p:nvSpPr>
          <p:cNvPr id="104451" name="Rectangle 3"/>
          <p:cNvSpPr>
            <a:spLocks noGrp="1" noChangeArrowheads="1"/>
          </p:cNvSpPr>
          <p:nvPr>
            <p:ph type="body" idx="1"/>
          </p:nvPr>
        </p:nvSpPr>
        <p:spPr/>
        <p:txBody>
          <a:bodyPr/>
          <a:lstStyle/>
          <a:p>
            <a:endParaRPr lang="zh-TW" altLang="zh-TW"/>
          </a:p>
        </p:txBody>
      </p:sp>
      <p:pic>
        <p:nvPicPr>
          <p:cNvPr id="104452" name="Picture 4"/>
          <p:cNvPicPr>
            <a:picLocks noChangeAspect="1" noChangeArrowheads="1"/>
          </p:cNvPicPr>
          <p:nvPr/>
        </p:nvPicPr>
        <p:blipFill>
          <a:blip r:embed="rId3" cstate="print"/>
          <a:srcRect/>
          <a:stretch>
            <a:fillRect/>
          </a:stretch>
        </p:blipFill>
        <p:spPr bwMode="auto">
          <a:xfrm>
            <a:off x="395288" y="1773238"/>
            <a:ext cx="8353425" cy="4633912"/>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ltLang="zh-TW"/>
              <a:t>Example: Face Detection</a:t>
            </a:r>
          </a:p>
        </p:txBody>
      </p:sp>
      <p:sp>
        <p:nvSpPr>
          <p:cNvPr id="98307" name="Rectangle 3"/>
          <p:cNvSpPr>
            <a:spLocks noGrp="1" noChangeArrowheads="1"/>
          </p:cNvSpPr>
          <p:nvPr>
            <p:ph type="body" idx="1"/>
          </p:nvPr>
        </p:nvSpPr>
        <p:spPr/>
        <p:txBody>
          <a:bodyPr/>
          <a:lstStyle/>
          <a:p>
            <a:r>
              <a:rPr lang="en-US" altLang="zh-TW" dirty="0"/>
              <a:t>Test data</a:t>
            </a:r>
          </a:p>
          <a:p>
            <a:pPr lvl="1"/>
            <a:r>
              <a:rPr lang="en-US" altLang="zh-TW" dirty="0"/>
              <a:t>Set A</a:t>
            </a:r>
          </a:p>
          <a:p>
            <a:pPr lvl="2"/>
            <a:r>
              <a:rPr lang="en-US" altLang="zh-TW" dirty="0"/>
              <a:t>313 high quality images with the same number of faces</a:t>
            </a:r>
          </a:p>
          <a:p>
            <a:pPr lvl="2"/>
            <a:r>
              <a:rPr lang="en-US" altLang="zh-TW" dirty="0"/>
              <a:t>4,669,960 pattern windows</a:t>
            </a:r>
          </a:p>
          <a:p>
            <a:pPr lvl="1"/>
            <a:r>
              <a:rPr lang="en-US" altLang="zh-TW" dirty="0"/>
              <a:t>Set B</a:t>
            </a:r>
          </a:p>
          <a:p>
            <a:pPr lvl="2"/>
            <a:r>
              <a:rPr lang="en-US" altLang="zh-TW" dirty="0"/>
              <a:t>23 images of mixed quality, with a total of 155 faces</a:t>
            </a:r>
          </a:p>
          <a:p>
            <a:pPr lvl="2"/>
            <a:r>
              <a:rPr lang="en-US" altLang="zh-TW" dirty="0"/>
              <a:t>5,383,682 pattern windows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zh-TW"/>
              <a:t>Example: Face Detection</a:t>
            </a:r>
          </a:p>
        </p:txBody>
      </p:sp>
      <p:sp>
        <p:nvSpPr>
          <p:cNvPr id="106499" name="Rectangle 3"/>
          <p:cNvSpPr>
            <a:spLocks noGrp="1" noChangeArrowheads="1"/>
          </p:cNvSpPr>
          <p:nvPr>
            <p:ph type="body" idx="1"/>
          </p:nvPr>
        </p:nvSpPr>
        <p:spPr/>
        <p:txBody>
          <a:bodyPr/>
          <a:lstStyle/>
          <a:p>
            <a:endParaRPr lang="zh-TW" altLang="zh-TW"/>
          </a:p>
        </p:txBody>
      </p:sp>
      <p:pic>
        <p:nvPicPr>
          <p:cNvPr id="106502" name="Picture 6"/>
          <p:cNvPicPr>
            <a:picLocks noChangeAspect="1" noChangeArrowheads="1"/>
          </p:cNvPicPr>
          <p:nvPr/>
        </p:nvPicPr>
        <p:blipFill>
          <a:blip r:embed="rId3" cstate="print"/>
          <a:srcRect/>
          <a:stretch>
            <a:fillRect/>
          </a:stretch>
        </p:blipFill>
        <p:spPr bwMode="auto">
          <a:xfrm>
            <a:off x="6227763" y="3141663"/>
            <a:ext cx="2749550" cy="3430587"/>
          </a:xfrm>
          <a:prstGeom prst="rect">
            <a:avLst/>
          </a:prstGeom>
          <a:noFill/>
        </p:spPr>
      </p:pic>
      <p:pic>
        <p:nvPicPr>
          <p:cNvPr id="106503" name="Picture 7"/>
          <p:cNvPicPr>
            <a:picLocks noChangeAspect="1" noChangeArrowheads="1"/>
          </p:cNvPicPr>
          <p:nvPr/>
        </p:nvPicPr>
        <p:blipFill>
          <a:blip r:embed="rId4" cstate="print"/>
          <a:srcRect/>
          <a:stretch>
            <a:fillRect/>
          </a:stretch>
        </p:blipFill>
        <p:spPr bwMode="auto">
          <a:xfrm>
            <a:off x="395288" y="1557338"/>
            <a:ext cx="4537075" cy="2808287"/>
          </a:xfrm>
          <a:prstGeom prst="rect">
            <a:avLst/>
          </a:prstGeom>
          <a:noFill/>
          <a:ln w="9525">
            <a:noFill/>
            <a:miter lim="800000"/>
            <a:headEnd/>
            <a:tailEnd/>
          </a:ln>
          <a:effectLst/>
        </p:spPr>
      </p:pic>
      <p:pic>
        <p:nvPicPr>
          <p:cNvPr id="106504" name="Picture 8"/>
          <p:cNvPicPr>
            <a:picLocks noChangeAspect="1" noChangeArrowheads="1"/>
          </p:cNvPicPr>
          <p:nvPr/>
        </p:nvPicPr>
        <p:blipFill>
          <a:blip r:embed="rId5" cstate="print"/>
          <a:srcRect/>
          <a:stretch>
            <a:fillRect/>
          </a:stretch>
        </p:blipFill>
        <p:spPr bwMode="auto">
          <a:xfrm>
            <a:off x="395288" y="4581525"/>
            <a:ext cx="2735262" cy="2035175"/>
          </a:xfrm>
          <a:prstGeom prst="rect">
            <a:avLst/>
          </a:prstGeom>
          <a:noFill/>
        </p:spPr>
      </p:pic>
      <p:pic>
        <p:nvPicPr>
          <p:cNvPr id="106505" name="Picture 9"/>
          <p:cNvPicPr>
            <a:picLocks noChangeAspect="1" noChangeArrowheads="1"/>
          </p:cNvPicPr>
          <p:nvPr/>
        </p:nvPicPr>
        <p:blipFill>
          <a:blip r:embed="rId6" cstate="print"/>
          <a:srcRect/>
          <a:stretch>
            <a:fillRect/>
          </a:stretch>
        </p:blipFill>
        <p:spPr bwMode="auto">
          <a:xfrm>
            <a:off x="3348038" y="4581525"/>
            <a:ext cx="2732087" cy="1973263"/>
          </a:xfrm>
          <a:prstGeom prst="rect">
            <a:avLst/>
          </a:prstGeom>
          <a:noFill/>
        </p:spPr>
      </p:pic>
      <p:sp>
        <p:nvSpPr>
          <p:cNvPr id="106506" name="Text Box 10"/>
          <p:cNvSpPr txBox="1">
            <a:spLocks noChangeArrowheads="1"/>
          </p:cNvSpPr>
          <p:nvPr/>
        </p:nvSpPr>
        <p:spPr bwMode="auto">
          <a:xfrm>
            <a:off x="5292725" y="1557338"/>
            <a:ext cx="3600450" cy="915987"/>
          </a:xfrm>
          <a:prstGeom prst="rect">
            <a:avLst/>
          </a:prstGeom>
          <a:noFill/>
          <a:ln w="9525">
            <a:noFill/>
            <a:miter lim="800000"/>
            <a:headEnd/>
            <a:tailEnd/>
          </a:ln>
          <a:effectLst/>
        </p:spPr>
        <p:txBody>
          <a:bodyPr>
            <a:spAutoFit/>
          </a:bodyPr>
          <a:lstStyle/>
          <a:p>
            <a:r>
              <a:rPr lang="en-US" altLang="zh-TW"/>
              <a:t>Spends approximately 6 seconds (SparcStation 20) on a 320x240 pixels gray-level image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ltLang="zh-TW"/>
              <a:t>Example: Face Detection</a:t>
            </a:r>
          </a:p>
        </p:txBody>
      </p:sp>
      <p:sp>
        <p:nvSpPr>
          <p:cNvPr id="108547" name="Rectangle 3"/>
          <p:cNvSpPr>
            <a:spLocks noGrp="1" noChangeArrowheads="1"/>
          </p:cNvSpPr>
          <p:nvPr>
            <p:ph type="body" idx="1"/>
          </p:nvPr>
        </p:nvSpPr>
        <p:spPr/>
        <p:txBody>
          <a:bodyPr/>
          <a:lstStyle/>
          <a:p>
            <a:r>
              <a:rPr lang="en-US" altLang="zh-TW"/>
              <a:t>Extension to a real-time system</a:t>
            </a:r>
          </a:p>
          <a:p>
            <a:pPr lvl="1"/>
            <a:r>
              <a:rPr lang="en-US" altLang="zh-TW"/>
              <a:t>Port the C code developed on the Sun environment to a Windows NT Pentium 200-MHz computer and added a Matrox RGB frame grabber and a Hitachi three-chip color camera</a:t>
            </a:r>
          </a:p>
          <a:p>
            <a:pPr lvl="1"/>
            <a:r>
              <a:rPr lang="en-US" altLang="zh-TW"/>
              <a:t>Collect several color images with faces, from which extract areas with skin and non-skin pixels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en-US" altLang="zh-TW"/>
              <a:t>Example: Face Detection</a:t>
            </a:r>
          </a:p>
        </p:txBody>
      </p:sp>
      <p:sp>
        <p:nvSpPr>
          <p:cNvPr id="110595" name="Rectangle 3"/>
          <p:cNvSpPr>
            <a:spLocks noGrp="1" noChangeArrowheads="1"/>
          </p:cNvSpPr>
          <p:nvPr>
            <p:ph type="body" idx="1"/>
          </p:nvPr>
        </p:nvSpPr>
        <p:spPr/>
        <p:txBody>
          <a:bodyPr/>
          <a:lstStyle/>
          <a:p>
            <a:pPr lvl="1"/>
            <a:r>
              <a:rPr lang="en-US" altLang="zh-TW"/>
              <a:t>Train a SVM classifier using the skin and non-skin data. The input variables are normalized green and red values—g/(r+g+b) and r/(r+g+b)</a:t>
            </a:r>
          </a:p>
          <a:p>
            <a:pPr lvl="1"/>
            <a:endParaRPr lang="en-US" altLang="zh-TW"/>
          </a:p>
        </p:txBody>
      </p:sp>
      <p:pic>
        <p:nvPicPr>
          <p:cNvPr id="110597" name="Picture 5"/>
          <p:cNvPicPr>
            <a:picLocks noChangeAspect="1" noChangeArrowheads="1"/>
          </p:cNvPicPr>
          <p:nvPr/>
        </p:nvPicPr>
        <p:blipFill>
          <a:blip r:embed="rId3" cstate="print"/>
          <a:srcRect/>
          <a:stretch>
            <a:fillRect/>
          </a:stretch>
        </p:blipFill>
        <p:spPr bwMode="auto">
          <a:xfrm>
            <a:off x="1187450" y="3357563"/>
            <a:ext cx="3455988" cy="2590800"/>
          </a:xfrm>
          <a:prstGeom prst="rect">
            <a:avLst/>
          </a:prstGeom>
          <a:noFill/>
        </p:spPr>
      </p:pic>
      <p:pic>
        <p:nvPicPr>
          <p:cNvPr id="110598" name="Picture 6"/>
          <p:cNvPicPr>
            <a:picLocks noChangeAspect="1" noChangeArrowheads="1"/>
          </p:cNvPicPr>
          <p:nvPr/>
        </p:nvPicPr>
        <p:blipFill>
          <a:blip r:embed="rId4" cstate="print"/>
          <a:srcRect/>
          <a:stretch>
            <a:fillRect/>
          </a:stretch>
        </p:blipFill>
        <p:spPr bwMode="auto">
          <a:xfrm>
            <a:off x="5003800" y="3213100"/>
            <a:ext cx="3311525" cy="2747963"/>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ltLang="zh-TW"/>
              <a:t>Example: Face Detection</a:t>
            </a:r>
          </a:p>
        </p:txBody>
      </p:sp>
      <p:sp>
        <p:nvSpPr>
          <p:cNvPr id="112643" name="Rectangle 3"/>
          <p:cNvSpPr>
            <a:spLocks noGrp="1" noChangeArrowheads="1"/>
          </p:cNvSpPr>
          <p:nvPr>
            <p:ph type="body" idx="1"/>
          </p:nvPr>
        </p:nvSpPr>
        <p:spPr>
          <a:xfrm>
            <a:off x="457200" y="1600200"/>
            <a:ext cx="8229600" cy="5141913"/>
          </a:xfrm>
        </p:spPr>
        <p:txBody>
          <a:bodyPr/>
          <a:lstStyle/>
          <a:p>
            <a:pPr lvl="1"/>
            <a:r>
              <a:rPr lang="en-US" altLang="zh-TW"/>
              <a:t>Code a very primitive motion detector based on thresholded frame differencing to identify areas of movement and use them as the focus of attention</a:t>
            </a:r>
          </a:p>
          <a:p>
            <a:pPr lvl="1"/>
            <a:r>
              <a:rPr lang="en-US" altLang="zh-TW"/>
              <a:t>Hierarchical system</a:t>
            </a:r>
          </a:p>
          <a:p>
            <a:pPr lvl="2"/>
            <a:r>
              <a:rPr lang="en-US" altLang="zh-TW"/>
              <a:t>Motion-detection</a:t>
            </a:r>
          </a:p>
          <a:p>
            <a:pPr lvl="2"/>
            <a:r>
              <a:rPr lang="en-US" altLang="zh-TW"/>
              <a:t>SVM skin-detection</a:t>
            </a:r>
          </a:p>
          <a:p>
            <a:pPr lvl="2"/>
            <a:r>
              <a:rPr lang="en-US" altLang="zh-TW"/>
              <a:t>Face/non-face SVM classifier over the gray-level version of the candidate locations</a:t>
            </a:r>
          </a:p>
          <a:p>
            <a:pPr lvl="1"/>
            <a:r>
              <a:rPr lang="en-US" altLang="zh-TW"/>
              <a:t>The whole system achieves rates of 4 to 5 frames per second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ltLang="zh-TW"/>
              <a:t>Example: Face Detection</a:t>
            </a:r>
          </a:p>
        </p:txBody>
      </p:sp>
      <p:sp>
        <p:nvSpPr>
          <p:cNvPr id="114691" name="Rectangle 3"/>
          <p:cNvSpPr>
            <a:spLocks noGrp="1" noChangeArrowheads="1"/>
          </p:cNvSpPr>
          <p:nvPr>
            <p:ph type="body" idx="1"/>
          </p:nvPr>
        </p:nvSpPr>
        <p:spPr/>
        <p:txBody>
          <a:bodyPr/>
          <a:lstStyle/>
          <a:p>
            <a:r>
              <a:rPr lang="en-US" altLang="zh-TW"/>
              <a:t>Face detection on the PC-based Color Real-Time system</a:t>
            </a:r>
          </a:p>
          <a:p>
            <a:endParaRPr lang="en-US" altLang="zh-TW"/>
          </a:p>
        </p:txBody>
      </p:sp>
      <p:pic>
        <p:nvPicPr>
          <p:cNvPr id="114692" name="Picture 4"/>
          <p:cNvPicPr>
            <a:picLocks noChangeAspect="1" noChangeArrowheads="1"/>
          </p:cNvPicPr>
          <p:nvPr/>
        </p:nvPicPr>
        <p:blipFill>
          <a:blip r:embed="rId3" cstate="print"/>
          <a:srcRect/>
          <a:stretch>
            <a:fillRect/>
          </a:stretch>
        </p:blipFill>
        <p:spPr bwMode="auto">
          <a:xfrm>
            <a:off x="538163" y="2955925"/>
            <a:ext cx="3960812" cy="2946400"/>
          </a:xfrm>
          <a:prstGeom prst="rect">
            <a:avLst/>
          </a:prstGeom>
          <a:noFill/>
        </p:spPr>
      </p:pic>
      <p:pic>
        <p:nvPicPr>
          <p:cNvPr id="114693" name="Picture 5"/>
          <p:cNvPicPr>
            <a:picLocks noChangeAspect="1" noChangeArrowheads="1"/>
          </p:cNvPicPr>
          <p:nvPr/>
        </p:nvPicPr>
        <p:blipFill>
          <a:blip r:embed="rId4" cstate="print"/>
          <a:srcRect/>
          <a:stretch>
            <a:fillRect/>
          </a:stretch>
        </p:blipFill>
        <p:spPr bwMode="auto">
          <a:xfrm>
            <a:off x="4643438" y="2997200"/>
            <a:ext cx="3887787" cy="2905125"/>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altLang="zh-TW"/>
              <a:t>A Practical Guide to SVM</a:t>
            </a:r>
          </a:p>
        </p:txBody>
      </p:sp>
      <p:sp>
        <p:nvSpPr>
          <p:cNvPr id="118787" name="Rectangle 3"/>
          <p:cNvSpPr>
            <a:spLocks noGrp="1" noChangeArrowheads="1"/>
          </p:cNvSpPr>
          <p:nvPr>
            <p:ph type="body" idx="1"/>
          </p:nvPr>
        </p:nvSpPr>
        <p:spPr/>
        <p:txBody>
          <a:bodyPr/>
          <a:lstStyle/>
          <a:p>
            <a:r>
              <a:rPr lang="en-US" altLang="zh-TW"/>
              <a:t>Users who are not familiar with SVM often get unsatisfactory results at first</a:t>
            </a:r>
          </a:p>
          <a:p>
            <a:r>
              <a:rPr lang="en-US" altLang="zh-TW"/>
              <a:t>A “cookbook” approach which usually gives reasonable results</a:t>
            </a:r>
          </a:p>
          <a:p>
            <a:r>
              <a:rPr lang="en-US" altLang="zh-TW"/>
              <a:t>Common used kernels</a:t>
            </a:r>
          </a:p>
        </p:txBody>
      </p:sp>
      <p:pic>
        <p:nvPicPr>
          <p:cNvPr id="118788" name="Picture 4"/>
          <p:cNvPicPr>
            <a:picLocks noChangeAspect="1" noChangeArrowheads="1"/>
          </p:cNvPicPr>
          <p:nvPr/>
        </p:nvPicPr>
        <p:blipFill>
          <a:blip r:embed="rId3" cstate="print"/>
          <a:srcRect/>
          <a:stretch>
            <a:fillRect/>
          </a:stretch>
        </p:blipFill>
        <p:spPr bwMode="auto">
          <a:xfrm>
            <a:off x="900113" y="4365625"/>
            <a:ext cx="8064500" cy="23241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TW"/>
              <a:t>Real-World Examples</a:t>
            </a:r>
          </a:p>
        </p:txBody>
      </p:sp>
      <p:sp>
        <p:nvSpPr>
          <p:cNvPr id="120835" name="Rectangle 3"/>
          <p:cNvSpPr>
            <a:spLocks noGrp="1" noChangeArrowheads="1"/>
          </p:cNvSpPr>
          <p:nvPr>
            <p:ph type="body" idx="1"/>
          </p:nvPr>
        </p:nvSpPr>
        <p:spPr/>
        <p:txBody>
          <a:bodyPr/>
          <a:lstStyle/>
          <a:p>
            <a:endParaRPr lang="zh-TW" altLang="zh-TW"/>
          </a:p>
        </p:txBody>
      </p:sp>
      <p:pic>
        <p:nvPicPr>
          <p:cNvPr id="120836" name="Picture 4"/>
          <p:cNvPicPr>
            <a:picLocks noChangeAspect="1" noChangeArrowheads="1"/>
          </p:cNvPicPr>
          <p:nvPr/>
        </p:nvPicPr>
        <p:blipFill>
          <a:blip r:embed="rId3" cstate="print"/>
          <a:srcRect/>
          <a:stretch>
            <a:fillRect/>
          </a:stretch>
        </p:blipFill>
        <p:spPr bwMode="auto">
          <a:xfrm>
            <a:off x="250825" y="2133600"/>
            <a:ext cx="8712200" cy="25273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ltLang="zh-TW"/>
              <a:t>Beginner’s Procedure</a:t>
            </a:r>
          </a:p>
        </p:txBody>
      </p:sp>
      <p:sp>
        <p:nvSpPr>
          <p:cNvPr id="121859" name="Rectangle 3"/>
          <p:cNvSpPr>
            <a:spLocks noGrp="1" noChangeArrowheads="1"/>
          </p:cNvSpPr>
          <p:nvPr>
            <p:ph type="body" idx="1"/>
          </p:nvPr>
        </p:nvSpPr>
        <p:spPr/>
        <p:txBody>
          <a:bodyPr/>
          <a:lstStyle/>
          <a:p>
            <a:r>
              <a:rPr lang="en-US" altLang="zh-TW"/>
              <a:t>Transform data to the format of an SVM software</a:t>
            </a:r>
          </a:p>
          <a:p>
            <a:r>
              <a:rPr lang="en-US" altLang="zh-TW"/>
              <a:t>Randomly try a few kernels and parameters</a:t>
            </a:r>
          </a:p>
          <a:p>
            <a:r>
              <a:rPr lang="en-US" altLang="zh-TW"/>
              <a:t>Test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ltLang="zh-TW"/>
              <a:t>The Proposed Procedure</a:t>
            </a:r>
          </a:p>
        </p:txBody>
      </p:sp>
      <p:sp>
        <p:nvSpPr>
          <p:cNvPr id="124931" name="Rectangle 3"/>
          <p:cNvSpPr>
            <a:spLocks noGrp="1" noChangeArrowheads="1"/>
          </p:cNvSpPr>
          <p:nvPr>
            <p:ph type="body" idx="1"/>
          </p:nvPr>
        </p:nvSpPr>
        <p:spPr/>
        <p:txBody>
          <a:bodyPr/>
          <a:lstStyle/>
          <a:p>
            <a:pPr>
              <a:lnSpc>
                <a:spcPct val="90000"/>
              </a:lnSpc>
            </a:pPr>
            <a:r>
              <a:rPr lang="en-US" altLang="zh-TW"/>
              <a:t>Transform data to the format of an SVM software</a:t>
            </a:r>
          </a:p>
          <a:p>
            <a:pPr>
              <a:lnSpc>
                <a:spcPct val="90000"/>
              </a:lnSpc>
            </a:pPr>
            <a:r>
              <a:rPr lang="en-US" altLang="zh-TW"/>
              <a:t>Conduct simple scaling on the data</a:t>
            </a:r>
          </a:p>
          <a:p>
            <a:pPr>
              <a:lnSpc>
                <a:spcPct val="90000"/>
              </a:lnSpc>
            </a:pPr>
            <a:r>
              <a:rPr lang="en-US" altLang="zh-TW"/>
              <a:t>Consider the RBF kernel</a:t>
            </a:r>
          </a:p>
          <a:p>
            <a:pPr>
              <a:lnSpc>
                <a:spcPct val="90000"/>
              </a:lnSpc>
            </a:pPr>
            <a:r>
              <a:rPr lang="en-US" altLang="zh-TW"/>
              <a:t>Use cross-validation to find the best parameter C and </a:t>
            </a:r>
            <a:r>
              <a:rPr lang="el-GR" altLang="zh-TW">
                <a:cs typeface="Arial" charset="0"/>
              </a:rPr>
              <a:t>γ</a:t>
            </a:r>
          </a:p>
          <a:p>
            <a:pPr>
              <a:lnSpc>
                <a:spcPct val="90000"/>
              </a:lnSpc>
            </a:pPr>
            <a:r>
              <a:rPr lang="en-US" altLang="zh-TW"/>
              <a:t>Use the best parameter C and </a:t>
            </a:r>
            <a:r>
              <a:rPr lang="el-GR" altLang="zh-TW">
                <a:cs typeface="Arial" charset="0"/>
              </a:rPr>
              <a:t>γ</a:t>
            </a:r>
            <a:r>
              <a:rPr lang="en-US" altLang="zh-TW"/>
              <a:t> to train the whole training set</a:t>
            </a:r>
          </a:p>
          <a:p>
            <a:pPr>
              <a:lnSpc>
                <a:spcPct val="90000"/>
              </a:lnSpc>
            </a:pPr>
            <a:r>
              <a:rPr lang="en-US" altLang="zh-TW"/>
              <a:t>Test</a:t>
            </a:r>
          </a:p>
        </p:txBody>
      </p:sp>
      <p:pic>
        <p:nvPicPr>
          <p:cNvPr id="124932" name="Picture 4"/>
          <p:cNvPicPr>
            <a:picLocks noChangeAspect="1" noChangeArrowheads="1"/>
          </p:cNvPicPr>
          <p:nvPr/>
        </p:nvPicPr>
        <p:blipFill>
          <a:blip r:embed="rId3" cstate="print"/>
          <a:srcRect/>
          <a:stretch>
            <a:fillRect/>
          </a:stretch>
        </p:blipFill>
        <p:spPr bwMode="auto">
          <a:xfrm>
            <a:off x="5435600" y="3141663"/>
            <a:ext cx="2808288" cy="49847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ltLang="zh-TW"/>
              <a:t>Data Preprocessing</a:t>
            </a:r>
          </a:p>
        </p:txBody>
      </p:sp>
      <p:sp>
        <p:nvSpPr>
          <p:cNvPr id="126979" name="Rectangle 3"/>
          <p:cNvSpPr>
            <a:spLocks noGrp="1" noChangeArrowheads="1"/>
          </p:cNvSpPr>
          <p:nvPr>
            <p:ph type="body" idx="1"/>
          </p:nvPr>
        </p:nvSpPr>
        <p:spPr>
          <a:xfrm>
            <a:off x="457200" y="1600200"/>
            <a:ext cx="8229600" cy="5257800"/>
          </a:xfrm>
        </p:spPr>
        <p:txBody>
          <a:bodyPr/>
          <a:lstStyle/>
          <a:p>
            <a:pPr>
              <a:lnSpc>
                <a:spcPct val="90000"/>
              </a:lnSpc>
            </a:pPr>
            <a:r>
              <a:rPr lang="en-US" altLang="zh-TW"/>
              <a:t>Convert categorical attributes into numeric data</a:t>
            </a:r>
          </a:p>
          <a:p>
            <a:pPr lvl="1">
              <a:lnSpc>
                <a:spcPct val="90000"/>
              </a:lnSpc>
            </a:pPr>
            <a:r>
              <a:rPr lang="en-US" altLang="zh-TW"/>
              <a:t>Using m numbers to represent an m-category attribute</a:t>
            </a:r>
          </a:p>
          <a:p>
            <a:pPr lvl="1">
              <a:lnSpc>
                <a:spcPct val="90000"/>
              </a:lnSpc>
            </a:pPr>
            <a:r>
              <a:rPr lang="en-US" altLang="zh-TW"/>
              <a:t>Only one of the m numbers is one, and others are zero</a:t>
            </a:r>
          </a:p>
          <a:p>
            <a:pPr lvl="2">
              <a:lnSpc>
                <a:spcPct val="90000"/>
              </a:lnSpc>
            </a:pPr>
            <a:r>
              <a:rPr lang="en-US" altLang="zh-TW"/>
              <a:t>A three-category attribute {red, green, blue} can be represented as (0,0,1), (0,1,0), and (1,0,0)</a:t>
            </a:r>
          </a:p>
          <a:p>
            <a:pPr lvl="1">
              <a:lnSpc>
                <a:spcPct val="90000"/>
              </a:lnSpc>
            </a:pPr>
            <a:r>
              <a:rPr lang="en-US" altLang="zh-TW"/>
              <a:t>if the number of values in an attribute is not too many, this coding might be more stable than using a single number to represent a categorical attribute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ltLang="zh-TW"/>
              <a:t>Data Preprocessing</a:t>
            </a:r>
          </a:p>
        </p:txBody>
      </p:sp>
      <p:sp>
        <p:nvSpPr>
          <p:cNvPr id="129027" name="Rectangle 3"/>
          <p:cNvSpPr>
            <a:spLocks noGrp="1" noChangeArrowheads="1"/>
          </p:cNvSpPr>
          <p:nvPr>
            <p:ph type="body" idx="1"/>
          </p:nvPr>
        </p:nvSpPr>
        <p:spPr/>
        <p:txBody>
          <a:bodyPr/>
          <a:lstStyle/>
          <a:p>
            <a:r>
              <a:rPr lang="en-US" altLang="zh-TW"/>
              <a:t>Scaling</a:t>
            </a:r>
          </a:p>
          <a:p>
            <a:pPr lvl="1"/>
            <a:r>
              <a:rPr lang="en-US" altLang="zh-TW"/>
              <a:t>Avoid attributes in greater numeric ranges dominate those in smaller numeric ranges</a:t>
            </a:r>
          </a:p>
          <a:p>
            <a:pPr lvl="1"/>
            <a:r>
              <a:rPr lang="en-US" altLang="zh-TW"/>
              <a:t>Avoid numerical difficulties during the calculation</a:t>
            </a:r>
          </a:p>
          <a:p>
            <a:pPr lvl="1"/>
            <a:r>
              <a:rPr lang="en-US" altLang="zh-TW"/>
              <a:t>Linearly scaling each attribute to the range [−1, +1] or [0, 1]</a:t>
            </a:r>
          </a:p>
          <a:p>
            <a:pPr lvl="1"/>
            <a:r>
              <a:rPr lang="en-US" altLang="zh-TW"/>
              <a:t>Use the same method to scale testing data before testing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zh-TW"/>
              <a:t>Data Preprocessing</a:t>
            </a:r>
          </a:p>
        </p:txBody>
      </p:sp>
      <p:sp>
        <p:nvSpPr>
          <p:cNvPr id="131075" name="Rectangle 3"/>
          <p:cNvSpPr>
            <a:spLocks noGrp="1" noChangeArrowheads="1"/>
          </p:cNvSpPr>
          <p:nvPr>
            <p:ph type="body" idx="1"/>
          </p:nvPr>
        </p:nvSpPr>
        <p:spPr>
          <a:xfrm>
            <a:off x="457200" y="1600200"/>
            <a:ext cx="8291513" cy="4525963"/>
          </a:xfrm>
        </p:spPr>
        <p:txBody>
          <a:bodyPr/>
          <a:lstStyle/>
          <a:p>
            <a:pPr lvl="1"/>
            <a:r>
              <a:rPr lang="en-US" altLang="zh-TW"/>
              <a:t>Example</a:t>
            </a:r>
          </a:p>
          <a:p>
            <a:pPr lvl="2"/>
            <a:r>
              <a:rPr lang="en-US" altLang="zh-TW"/>
              <a:t>Scale the first attribute of training data from </a:t>
            </a:r>
            <a:br>
              <a:rPr lang="en-US" altLang="zh-TW"/>
            </a:br>
            <a:r>
              <a:rPr lang="en-US" altLang="zh-TW"/>
              <a:t>[-10,+10] to [-1, +1]</a:t>
            </a:r>
          </a:p>
          <a:p>
            <a:pPr lvl="2"/>
            <a:r>
              <a:rPr lang="en-US" altLang="zh-TW"/>
              <a:t>If the first attribute of testing data is lying in the range [-11, +8], we must scale the testing data to </a:t>
            </a:r>
            <a:br>
              <a:rPr lang="en-US" altLang="zh-TW"/>
            </a:br>
            <a:r>
              <a:rPr lang="en-US" altLang="zh-TW"/>
              <a:t>[-1.1, +0.8]</a:t>
            </a:r>
          </a:p>
          <a:p>
            <a:pPr lvl="2"/>
            <a:endParaRPr lang="en-US" altLang="zh-TW"/>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ltLang="zh-TW"/>
              <a:t>Model Selection</a:t>
            </a:r>
          </a:p>
        </p:txBody>
      </p:sp>
      <p:sp>
        <p:nvSpPr>
          <p:cNvPr id="133123" name="Rectangle 3"/>
          <p:cNvSpPr>
            <a:spLocks noGrp="1" noChangeArrowheads="1"/>
          </p:cNvSpPr>
          <p:nvPr>
            <p:ph type="body" idx="1"/>
          </p:nvPr>
        </p:nvSpPr>
        <p:spPr/>
        <p:txBody>
          <a:bodyPr/>
          <a:lstStyle/>
          <a:p>
            <a:r>
              <a:rPr lang="en-US" altLang="zh-TW"/>
              <a:t>Use a kernel to determine the penalty parameter </a:t>
            </a:r>
            <a:r>
              <a:rPr lang="en-US" altLang="zh-TW" i="1"/>
              <a:t>C</a:t>
            </a:r>
            <a:r>
              <a:rPr lang="en-US" altLang="zh-TW"/>
              <a:t> and kernel parameters (</a:t>
            </a:r>
            <a:r>
              <a:rPr lang="el-GR" altLang="zh-TW">
                <a:cs typeface="Arial" charset="0"/>
              </a:rPr>
              <a:t>γ</a:t>
            </a:r>
            <a:r>
              <a:rPr lang="en-US" altLang="zh-TW">
                <a:cs typeface="Arial" charset="0"/>
              </a:rPr>
              <a:t>,</a:t>
            </a:r>
            <a:r>
              <a:rPr lang="en-US" altLang="zh-TW" i="1">
                <a:cs typeface="Arial" charset="0"/>
              </a:rPr>
              <a:t>r</a:t>
            </a:r>
            <a:r>
              <a:rPr lang="en-US" altLang="zh-TW">
                <a:cs typeface="Arial" charset="0"/>
              </a:rPr>
              <a:t>,</a:t>
            </a:r>
            <a:r>
              <a:rPr lang="en-US" altLang="zh-TW" i="1">
                <a:cs typeface="Arial" charset="0"/>
              </a:rPr>
              <a:t>d</a:t>
            </a:r>
            <a:r>
              <a:rPr lang="en-US" altLang="zh-TW"/>
              <a:t>) </a:t>
            </a:r>
          </a:p>
          <a:p>
            <a:r>
              <a:rPr lang="en-US" altLang="zh-TW"/>
              <a:t>In general RBF is a reasonable first choice</a:t>
            </a:r>
          </a:p>
          <a:p>
            <a:pPr lvl="1"/>
            <a:r>
              <a:rPr lang="en-US" altLang="zh-TW"/>
              <a:t>Nonlinearly maps samples into a higher dimensional space</a:t>
            </a:r>
          </a:p>
          <a:p>
            <a:pPr lvl="1"/>
            <a:r>
              <a:rPr lang="en-US" altLang="zh-TW"/>
              <a:t>Has fewer number of hyperparameters</a:t>
            </a:r>
          </a:p>
          <a:p>
            <a:pPr lvl="1"/>
            <a:r>
              <a:rPr lang="en-US" altLang="zh-TW"/>
              <a:t>Has less numerical difficulties</a:t>
            </a:r>
          </a:p>
          <a:p>
            <a:pPr lvl="2"/>
            <a:r>
              <a:rPr lang="en-US" altLang="zh-TW"/>
              <a:t>0 &lt; </a:t>
            </a:r>
            <a:r>
              <a:rPr lang="en-US" altLang="zh-TW" i="1"/>
              <a:t>K</a:t>
            </a:r>
            <a:r>
              <a:rPr lang="en-US" altLang="zh-TW" i="1" baseline="-25000"/>
              <a:t>ij</a:t>
            </a:r>
            <a:r>
              <a:rPr lang="en-US" altLang="zh-TW"/>
              <a:t> </a:t>
            </a:r>
            <a:r>
              <a:rPr lang="en-US" altLang="zh-TW">
                <a:cs typeface="Arial" charset="0"/>
              </a:rPr>
              <a:t>≤</a:t>
            </a:r>
            <a:r>
              <a:rPr lang="en-US" altLang="zh-TW"/>
              <a:t> 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zh-TW"/>
              <a:t>Cross-Validation</a:t>
            </a:r>
          </a:p>
        </p:txBody>
      </p:sp>
      <p:sp>
        <p:nvSpPr>
          <p:cNvPr id="135171" name="Rectangle 3"/>
          <p:cNvSpPr>
            <a:spLocks noGrp="1" noChangeArrowheads="1"/>
          </p:cNvSpPr>
          <p:nvPr>
            <p:ph type="body" idx="1"/>
          </p:nvPr>
        </p:nvSpPr>
        <p:spPr/>
        <p:txBody>
          <a:bodyPr/>
          <a:lstStyle/>
          <a:p>
            <a:r>
              <a:rPr lang="en-US" altLang="zh-TW"/>
              <a:t>Identify good (C,</a:t>
            </a:r>
            <a:r>
              <a:rPr lang="el-GR" altLang="zh-TW">
                <a:cs typeface="Arial" charset="0"/>
              </a:rPr>
              <a:t>γ</a:t>
            </a:r>
            <a:r>
              <a:rPr lang="en-US" altLang="zh-TW"/>
              <a:t>) so that the classifier can accurately predict unknown data</a:t>
            </a:r>
          </a:p>
          <a:p>
            <a:r>
              <a:rPr lang="en-US" altLang="zh-TW" i="1"/>
              <a:t>v</a:t>
            </a:r>
            <a:r>
              <a:rPr lang="en-US" altLang="zh-TW"/>
              <a:t>-fold cross-validation</a:t>
            </a:r>
          </a:p>
          <a:p>
            <a:pPr lvl="1"/>
            <a:r>
              <a:rPr lang="en-US" altLang="zh-TW"/>
              <a:t>First divide the training set into </a:t>
            </a:r>
            <a:r>
              <a:rPr lang="en-US" altLang="zh-TW" i="1"/>
              <a:t>v</a:t>
            </a:r>
            <a:r>
              <a:rPr lang="en-US" altLang="zh-TW"/>
              <a:t> subsets of equal size</a:t>
            </a:r>
          </a:p>
          <a:p>
            <a:pPr lvl="1"/>
            <a:r>
              <a:rPr lang="en-US" altLang="zh-TW"/>
              <a:t>Sequentially one subset is tested using the classifier trained on the remaining </a:t>
            </a:r>
            <a:r>
              <a:rPr lang="en-US" altLang="zh-TW" i="1"/>
              <a:t>v</a:t>
            </a:r>
            <a:r>
              <a:rPr lang="en-US" altLang="zh-TW"/>
              <a:t> − 1 subsets</a:t>
            </a:r>
          </a:p>
          <a:p>
            <a:endParaRPr lang="en-US" altLang="zh-TW"/>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TW"/>
              <a:t>Cross-Validation</a:t>
            </a:r>
          </a:p>
        </p:txBody>
      </p:sp>
      <p:sp>
        <p:nvSpPr>
          <p:cNvPr id="137219" name="Rectangle 3"/>
          <p:cNvSpPr>
            <a:spLocks noGrp="1" noChangeArrowheads="1"/>
          </p:cNvSpPr>
          <p:nvPr>
            <p:ph type="body" idx="1"/>
          </p:nvPr>
        </p:nvSpPr>
        <p:spPr/>
        <p:txBody>
          <a:bodyPr/>
          <a:lstStyle/>
          <a:p>
            <a:r>
              <a:rPr lang="en-US" altLang="zh-TW"/>
              <a:t>Prevent the overfitting problem</a:t>
            </a:r>
          </a:p>
          <a:p>
            <a:endParaRPr lang="en-US" altLang="zh-TW"/>
          </a:p>
        </p:txBody>
      </p:sp>
      <p:pic>
        <p:nvPicPr>
          <p:cNvPr id="137220" name="Picture 4"/>
          <p:cNvPicPr>
            <a:picLocks noChangeAspect="1" noChangeArrowheads="1"/>
          </p:cNvPicPr>
          <p:nvPr/>
        </p:nvPicPr>
        <p:blipFill>
          <a:blip r:embed="rId3" cstate="print"/>
          <a:srcRect/>
          <a:stretch>
            <a:fillRect/>
          </a:stretch>
        </p:blipFill>
        <p:spPr bwMode="auto">
          <a:xfrm>
            <a:off x="417513" y="2349500"/>
            <a:ext cx="8331200" cy="4138613"/>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zh-TW"/>
              <a:t>Cross-Validation</a:t>
            </a:r>
          </a:p>
        </p:txBody>
      </p:sp>
      <p:sp>
        <p:nvSpPr>
          <p:cNvPr id="138243" name="Rectangle 3"/>
          <p:cNvSpPr>
            <a:spLocks noGrp="1" noChangeArrowheads="1"/>
          </p:cNvSpPr>
          <p:nvPr>
            <p:ph type="body" idx="1"/>
          </p:nvPr>
        </p:nvSpPr>
        <p:spPr/>
        <p:txBody>
          <a:bodyPr/>
          <a:lstStyle/>
          <a:p>
            <a:endParaRPr lang="zh-TW" altLang="zh-TW"/>
          </a:p>
        </p:txBody>
      </p:sp>
      <p:pic>
        <p:nvPicPr>
          <p:cNvPr id="138244" name="Picture 4"/>
          <p:cNvPicPr>
            <a:picLocks noChangeAspect="1" noChangeArrowheads="1"/>
          </p:cNvPicPr>
          <p:nvPr/>
        </p:nvPicPr>
        <p:blipFill>
          <a:blip r:embed="rId3" cstate="print"/>
          <a:srcRect/>
          <a:stretch>
            <a:fillRect/>
          </a:stretch>
        </p:blipFill>
        <p:spPr bwMode="auto">
          <a:xfrm>
            <a:off x="468313" y="1916113"/>
            <a:ext cx="8216900" cy="4195762"/>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zh-TW"/>
              <a:t>Grid-Search</a:t>
            </a:r>
          </a:p>
        </p:txBody>
      </p:sp>
      <p:sp>
        <p:nvSpPr>
          <p:cNvPr id="141315" name="Rectangle 3"/>
          <p:cNvSpPr>
            <a:spLocks noGrp="1" noChangeArrowheads="1"/>
          </p:cNvSpPr>
          <p:nvPr>
            <p:ph type="body" idx="1"/>
          </p:nvPr>
        </p:nvSpPr>
        <p:spPr/>
        <p:txBody>
          <a:bodyPr/>
          <a:lstStyle/>
          <a:p>
            <a:r>
              <a:rPr lang="en-US" altLang="zh-TW" dirty="0"/>
              <a:t>Basically pairs of (C,</a:t>
            </a:r>
            <a:r>
              <a:rPr lang="el-GR" altLang="zh-TW" dirty="0">
                <a:cs typeface="Arial" charset="0"/>
              </a:rPr>
              <a:t>γ</a:t>
            </a:r>
            <a:r>
              <a:rPr lang="en-US" altLang="zh-TW" dirty="0"/>
              <a:t>) are tried and the one with the best cross-validation accuracy is picked</a:t>
            </a:r>
          </a:p>
          <a:p>
            <a:r>
              <a:rPr lang="en-US" altLang="zh-TW" dirty="0"/>
              <a:t>Trying exponentially growing sequences of C and </a:t>
            </a:r>
            <a:r>
              <a:rPr lang="el-GR" altLang="zh-TW" dirty="0" smtClean="0">
                <a:cs typeface="Arial" charset="0"/>
              </a:rPr>
              <a:t>γ</a:t>
            </a:r>
            <a:r>
              <a:rPr lang="en-US" altLang="zh-TW" dirty="0" smtClean="0"/>
              <a:t> </a:t>
            </a:r>
            <a:r>
              <a:rPr lang="en-US" altLang="zh-TW" dirty="0"/>
              <a:t>is a practical method to identify good parameters</a:t>
            </a:r>
          </a:p>
          <a:p>
            <a:pPr lvl="1"/>
            <a:r>
              <a:rPr lang="en-US" altLang="zh-TW" i="1" dirty="0"/>
              <a:t>C</a:t>
            </a:r>
            <a:r>
              <a:rPr lang="en-US" altLang="zh-TW" dirty="0"/>
              <a:t> = 2</a:t>
            </a:r>
            <a:r>
              <a:rPr lang="en-US" altLang="zh-TW" baseline="30000" dirty="0"/>
              <a:t>−5</a:t>
            </a:r>
            <a:r>
              <a:rPr lang="en-US" altLang="zh-TW" dirty="0"/>
              <a:t>, 2</a:t>
            </a:r>
            <a:r>
              <a:rPr lang="en-US" altLang="zh-TW" baseline="30000" dirty="0"/>
              <a:t>−3</a:t>
            </a:r>
            <a:r>
              <a:rPr lang="en-US" altLang="zh-TW" dirty="0"/>
              <a:t>, . . . , 2</a:t>
            </a:r>
            <a:r>
              <a:rPr lang="en-US" altLang="zh-TW" baseline="30000" dirty="0"/>
              <a:t>15</a:t>
            </a:r>
            <a:r>
              <a:rPr lang="en-US" altLang="zh-TW" dirty="0"/>
              <a:t>; </a:t>
            </a:r>
            <a:r>
              <a:rPr lang="el-GR" altLang="zh-TW" dirty="0">
                <a:cs typeface="Arial" charset="0"/>
              </a:rPr>
              <a:t>γ</a:t>
            </a:r>
            <a:r>
              <a:rPr lang="en-US" altLang="zh-TW" dirty="0"/>
              <a:t> = 2</a:t>
            </a:r>
            <a:r>
              <a:rPr lang="en-US" altLang="zh-TW" baseline="30000" dirty="0"/>
              <a:t>−15</a:t>
            </a:r>
            <a:r>
              <a:rPr lang="en-US" altLang="zh-TW" dirty="0"/>
              <a:t>, 2</a:t>
            </a:r>
            <a:r>
              <a:rPr lang="en-US" altLang="zh-TW" baseline="30000" dirty="0"/>
              <a:t>−13</a:t>
            </a:r>
            <a:r>
              <a:rPr lang="en-US" altLang="zh-TW" dirty="0"/>
              <a:t>, . . . , 2</a:t>
            </a:r>
            <a:r>
              <a:rPr lang="en-US" altLang="zh-TW" baseline="30000" dirty="0"/>
              <a:t>3</a:t>
            </a:r>
          </a:p>
          <a:p>
            <a:pPr lvl="1"/>
            <a:endParaRPr lang="en-US" altLang="zh-TW"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zh-TW"/>
              <a:t>Grid-Search</a:t>
            </a:r>
          </a:p>
        </p:txBody>
      </p:sp>
      <p:sp>
        <p:nvSpPr>
          <p:cNvPr id="143363" name="Rectangle 3"/>
          <p:cNvSpPr>
            <a:spLocks noGrp="1" noChangeArrowheads="1"/>
          </p:cNvSpPr>
          <p:nvPr>
            <p:ph type="body" idx="1"/>
          </p:nvPr>
        </p:nvSpPr>
        <p:spPr/>
        <p:txBody>
          <a:bodyPr/>
          <a:lstStyle/>
          <a:p>
            <a:pPr>
              <a:lnSpc>
                <a:spcPct val="90000"/>
              </a:lnSpc>
            </a:pPr>
            <a:r>
              <a:rPr lang="en-US" altLang="zh-TW"/>
              <a:t>Why grid-search?</a:t>
            </a:r>
          </a:p>
          <a:p>
            <a:pPr lvl="1">
              <a:lnSpc>
                <a:spcPct val="90000"/>
              </a:lnSpc>
            </a:pPr>
            <a:r>
              <a:rPr lang="en-US" altLang="zh-TW"/>
              <a:t>Feel safe</a:t>
            </a:r>
          </a:p>
          <a:p>
            <a:pPr lvl="1">
              <a:lnSpc>
                <a:spcPct val="90000"/>
              </a:lnSpc>
            </a:pPr>
            <a:r>
              <a:rPr lang="en-US" altLang="zh-TW"/>
              <a:t>The computational time is not much more than that by advanced methods since there are only two parameters</a:t>
            </a:r>
          </a:p>
          <a:p>
            <a:pPr lvl="1">
              <a:lnSpc>
                <a:spcPct val="90000"/>
              </a:lnSpc>
            </a:pPr>
            <a:r>
              <a:rPr lang="en-US" altLang="zh-TW"/>
              <a:t>The grid-search can be easily parallelized</a:t>
            </a:r>
          </a:p>
          <a:p>
            <a:pPr>
              <a:lnSpc>
                <a:spcPct val="90000"/>
              </a:lnSpc>
            </a:pPr>
            <a:r>
              <a:rPr lang="en-US" altLang="zh-TW"/>
              <a:t>Use a coarse grid first. After identifying a “better” region on the grid, a finer grid search on that region can be conducted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2" name="Picture 4"/>
          <p:cNvPicPr>
            <a:picLocks noChangeAspect="1" noChangeArrowheads="1"/>
          </p:cNvPicPr>
          <p:nvPr/>
        </p:nvPicPr>
        <p:blipFill>
          <a:blip r:embed="rId3" cstate="print"/>
          <a:srcRect/>
          <a:stretch>
            <a:fillRect/>
          </a:stretch>
        </p:blipFill>
        <p:spPr bwMode="auto">
          <a:xfrm>
            <a:off x="2232025" y="2165350"/>
            <a:ext cx="5580063" cy="4648200"/>
          </a:xfrm>
          <a:prstGeom prst="rect">
            <a:avLst/>
          </a:prstGeom>
          <a:noFill/>
          <a:ln w="9525">
            <a:noFill/>
            <a:miter lim="800000"/>
            <a:headEnd/>
            <a:tailEnd/>
          </a:ln>
          <a:effectLst/>
        </p:spPr>
      </p:pic>
      <p:sp>
        <p:nvSpPr>
          <p:cNvPr id="145410" name="Rectangle 2"/>
          <p:cNvSpPr>
            <a:spLocks noGrp="1" noChangeArrowheads="1"/>
          </p:cNvSpPr>
          <p:nvPr>
            <p:ph type="title"/>
          </p:nvPr>
        </p:nvSpPr>
        <p:spPr/>
        <p:txBody>
          <a:bodyPr/>
          <a:lstStyle/>
          <a:p>
            <a:r>
              <a:rPr lang="en-US" altLang="zh-TW"/>
              <a:t>Grid-Search</a:t>
            </a:r>
          </a:p>
        </p:txBody>
      </p:sp>
      <p:sp>
        <p:nvSpPr>
          <p:cNvPr id="145411" name="Rectangle 3"/>
          <p:cNvSpPr>
            <a:spLocks noGrp="1" noChangeArrowheads="1"/>
          </p:cNvSpPr>
          <p:nvPr>
            <p:ph type="body" idx="1"/>
          </p:nvPr>
        </p:nvSpPr>
        <p:spPr/>
        <p:txBody>
          <a:bodyPr/>
          <a:lstStyle/>
          <a:p>
            <a:r>
              <a:rPr lang="en-US" altLang="zh-TW"/>
              <a:t>Best (C,</a:t>
            </a:r>
            <a:r>
              <a:rPr lang="el-GR" altLang="zh-TW">
                <a:cs typeface="Arial" charset="0"/>
              </a:rPr>
              <a:t>γ</a:t>
            </a:r>
            <a:r>
              <a:rPr lang="en-US" altLang="zh-TW"/>
              <a:t>) is (2</a:t>
            </a:r>
            <a:r>
              <a:rPr lang="en-US" altLang="zh-TW" baseline="30000"/>
              <a:t>3</a:t>
            </a:r>
            <a:r>
              <a:rPr lang="en-US" altLang="zh-TW"/>
              <a:t>, 2</a:t>
            </a:r>
            <a:r>
              <a:rPr lang="en-US" altLang="zh-TW" baseline="30000"/>
              <a:t>−5</a:t>
            </a:r>
            <a:r>
              <a:rPr lang="en-US" altLang="zh-TW"/>
              <a:t>), 77.5%</a:t>
            </a:r>
          </a:p>
          <a:p>
            <a:endParaRPr lang="en-US" altLang="zh-TW"/>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ltLang="zh-TW"/>
              <a:t>Grid-Search</a:t>
            </a:r>
          </a:p>
        </p:txBody>
      </p:sp>
      <p:sp>
        <p:nvSpPr>
          <p:cNvPr id="147459" name="Rectangle 3"/>
          <p:cNvSpPr>
            <a:spLocks noGrp="1" noChangeArrowheads="1"/>
          </p:cNvSpPr>
          <p:nvPr>
            <p:ph type="body" idx="1"/>
          </p:nvPr>
        </p:nvSpPr>
        <p:spPr/>
        <p:txBody>
          <a:bodyPr/>
          <a:lstStyle/>
          <a:p>
            <a:r>
              <a:rPr lang="en-US" altLang="zh-TW"/>
              <a:t>Best (C,</a:t>
            </a:r>
            <a:r>
              <a:rPr lang="el-GR" altLang="zh-TW">
                <a:cs typeface="Arial" charset="0"/>
              </a:rPr>
              <a:t>γ</a:t>
            </a:r>
            <a:r>
              <a:rPr lang="en-US" altLang="zh-TW"/>
              <a:t>) is (2</a:t>
            </a:r>
            <a:r>
              <a:rPr lang="en-US" altLang="zh-TW" baseline="30000"/>
              <a:t>3.25</a:t>
            </a:r>
            <a:r>
              <a:rPr lang="en-US" altLang="zh-TW"/>
              <a:t>, 2</a:t>
            </a:r>
            <a:r>
              <a:rPr lang="en-US" altLang="zh-TW" baseline="30000"/>
              <a:t>−5.25</a:t>
            </a:r>
            <a:r>
              <a:rPr lang="en-US" altLang="zh-TW"/>
              <a:t>), 77.6%</a:t>
            </a:r>
          </a:p>
        </p:txBody>
      </p:sp>
      <p:pic>
        <p:nvPicPr>
          <p:cNvPr id="147460" name="Picture 4"/>
          <p:cNvPicPr>
            <a:picLocks noChangeAspect="1" noChangeArrowheads="1"/>
          </p:cNvPicPr>
          <p:nvPr/>
        </p:nvPicPr>
        <p:blipFill>
          <a:blip r:embed="rId3" cstate="print"/>
          <a:srcRect/>
          <a:stretch>
            <a:fillRect/>
          </a:stretch>
        </p:blipFill>
        <p:spPr bwMode="auto">
          <a:xfrm>
            <a:off x="2484438" y="2244725"/>
            <a:ext cx="5451475" cy="461327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ltLang="zh-TW"/>
              <a:t>Grid-Search</a:t>
            </a:r>
          </a:p>
        </p:txBody>
      </p:sp>
      <p:sp>
        <p:nvSpPr>
          <p:cNvPr id="149507" name="Rectangle 3"/>
          <p:cNvSpPr>
            <a:spLocks noGrp="1" noChangeArrowheads="1"/>
          </p:cNvSpPr>
          <p:nvPr>
            <p:ph type="body" idx="1"/>
          </p:nvPr>
        </p:nvSpPr>
        <p:spPr/>
        <p:txBody>
          <a:bodyPr/>
          <a:lstStyle/>
          <a:p>
            <a:r>
              <a:rPr lang="en-US" altLang="zh-TW" dirty="0"/>
              <a:t>After the best (C,</a:t>
            </a:r>
            <a:r>
              <a:rPr lang="el-GR" altLang="zh-TW" dirty="0">
                <a:cs typeface="Arial" charset="0"/>
              </a:rPr>
              <a:t>γ</a:t>
            </a:r>
            <a:r>
              <a:rPr lang="en-US" altLang="zh-TW" dirty="0"/>
              <a:t>) is found, the whole training set is trained again to generate the final classifier</a:t>
            </a:r>
          </a:p>
          <a:p>
            <a:r>
              <a:rPr lang="en-US" altLang="zh-TW" dirty="0"/>
              <a:t>For very large data sets</a:t>
            </a:r>
          </a:p>
          <a:p>
            <a:pPr lvl="1"/>
            <a:r>
              <a:rPr lang="en-US" altLang="zh-TW" dirty="0"/>
              <a:t>Randomly choose a subset of the data set</a:t>
            </a:r>
          </a:p>
          <a:p>
            <a:pPr lvl="1"/>
            <a:r>
              <a:rPr lang="en-US" altLang="zh-TW" dirty="0"/>
              <a:t>Conduct grid-search on them</a:t>
            </a:r>
          </a:p>
          <a:p>
            <a:pPr lvl="1"/>
            <a:r>
              <a:rPr lang="en-US" altLang="zh-TW" dirty="0"/>
              <a:t>Then do a better-region-only grid-search on the complete data set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ltLang="zh-TW"/>
              <a:t>Discussion</a:t>
            </a:r>
          </a:p>
        </p:txBody>
      </p:sp>
      <p:sp>
        <p:nvSpPr>
          <p:cNvPr id="151555" name="Rectangle 3"/>
          <p:cNvSpPr>
            <a:spLocks noGrp="1" noChangeArrowheads="1"/>
          </p:cNvSpPr>
          <p:nvPr>
            <p:ph type="body" idx="1"/>
          </p:nvPr>
        </p:nvSpPr>
        <p:spPr/>
        <p:txBody>
          <a:bodyPr/>
          <a:lstStyle/>
          <a:p>
            <a:r>
              <a:rPr lang="en-US" altLang="zh-TW"/>
              <a:t>In some situations, the procedure is not good enough, so other techniques such as feature selection may be needed</a:t>
            </a:r>
          </a:p>
          <a:p>
            <a:r>
              <a:rPr lang="en-US" altLang="zh-TW"/>
              <a:t>The procedure works well for data which do not have many features</a:t>
            </a:r>
          </a:p>
          <a:p>
            <a:r>
              <a:rPr lang="en-US" altLang="zh-TW"/>
              <a:t>If there are thousands of attributes, there may be a need to choose a subset of them before giving the data to SVM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ltLang="zh-TW"/>
              <a:t>Example</a:t>
            </a:r>
          </a:p>
        </p:txBody>
      </p:sp>
      <p:sp>
        <p:nvSpPr>
          <p:cNvPr id="153603" name="Rectangle 3"/>
          <p:cNvSpPr>
            <a:spLocks noGrp="1" noChangeArrowheads="1"/>
          </p:cNvSpPr>
          <p:nvPr>
            <p:ph type="body" idx="1"/>
          </p:nvPr>
        </p:nvSpPr>
        <p:spPr>
          <a:xfrm>
            <a:off x="457200" y="1600200"/>
            <a:ext cx="8229600" cy="5068888"/>
          </a:xfrm>
        </p:spPr>
        <p:txBody>
          <a:bodyPr/>
          <a:lstStyle/>
          <a:p>
            <a:r>
              <a:rPr lang="en-US" altLang="zh-TW" sz="2800"/>
              <a:t>Use LIBSVM</a:t>
            </a:r>
          </a:p>
          <a:p>
            <a:r>
              <a:rPr lang="en-US" altLang="zh-TW" sz="2800"/>
              <a:t>Astroparticle Physics</a:t>
            </a:r>
          </a:p>
          <a:p>
            <a:pPr lvl="1"/>
            <a:r>
              <a:rPr lang="en-US" altLang="zh-TW" sz="2400"/>
              <a:t>Original sets with default parameters</a:t>
            </a:r>
          </a:p>
          <a:p>
            <a:pPr lvl="2"/>
            <a:r>
              <a:rPr lang="en-US" altLang="zh-TW" sz="2000"/>
              <a:t>$./svm-train train.1</a:t>
            </a:r>
          </a:p>
          <a:p>
            <a:pPr lvl="2"/>
            <a:r>
              <a:rPr lang="en-US" altLang="zh-TW" sz="2000"/>
              <a:t>$./svm-predict test.1 train.1.model test.1.predict</a:t>
            </a:r>
          </a:p>
          <a:p>
            <a:pPr lvl="2">
              <a:buFontTx/>
              <a:buNone/>
            </a:pPr>
            <a:r>
              <a:rPr lang="en-US" altLang="zh-TW" sz="2000">
                <a:sym typeface="Wingdings" pitchFamily="2" charset="2"/>
              </a:rPr>
              <a:t> </a:t>
            </a:r>
            <a:r>
              <a:rPr lang="en-US" altLang="zh-TW" sz="2000"/>
              <a:t>Accuracy = 66.925%</a:t>
            </a:r>
          </a:p>
          <a:p>
            <a:pPr lvl="1"/>
            <a:r>
              <a:rPr lang="en-US" altLang="zh-TW" sz="2400"/>
              <a:t>Scaled sets with default parameters</a:t>
            </a:r>
          </a:p>
          <a:p>
            <a:pPr lvl="2"/>
            <a:r>
              <a:rPr lang="en-US" altLang="zh-TW" sz="2000"/>
              <a:t>$./svm-scale -l -1 -u 1 -s range1 train.1 &gt; train.1.scale</a:t>
            </a:r>
          </a:p>
          <a:p>
            <a:pPr lvl="2"/>
            <a:r>
              <a:rPr lang="en-US" altLang="zh-TW" sz="2000"/>
              <a:t>$./svm-scale -r range1 test.1 &gt; test.1.scale</a:t>
            </a:r>
          </a:p>
          <a:p>
            <a:pPr lvl="2"/>
            <a:r>
              <a:rPr lang="en-US" altLang="zh-TW" sz="2000"/>
              <a:t>$./svm-train train.1.scale</a:t>
            </a:r>
          </a:p>
          <a:p>
            <a:pPr lvl="2"/>
            <a:r>
              <a:rPr lang="en-US" altLang="zh-TW" sz="2000"/>
              <a:t>$./svm-predict test.1.scale train.1.scale.model test.1.predict</a:t>
            </a:r>
          </a:p>
          <a:p>
            <a:pPr lvl="2">
              <a:buFontTx/>
              <a:buNone/>
            </a:pPr>
            <a:r>
              <a:rPr lang="en-US" altLang="zh-TW" sz="2000">
                <a:sym typeface="Wingdings" pitchFamily="2" charset="2"/>
              </a:rPr>
              <a:t></a:t>
            </a:r>
            <a:r>
              <a:rPr lang="en-US" altLang="zh-TW" sz="2000"/>
              <a:t>Accuracy = 96.15%</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US" altLang="zh-TW"/>
              <a:t>Example</a:t>
            </a:r>
          </a:p>
        </p:txBody>
      </p:sp>
      <p:sp>
        <p:nvSpPr>
          <p:cNvPr id="155651" name="Rectangle 3"/>
          <p:cNvSpPr>
            <a:spLocks noGrp="1" noChangeArrowheads="1"/>
          </p:cNvSpPr>
          <p:nvPr>
            <p:ph type="body" idx="1"/>
          </p:nvPr>
        </p:nvSpPr>
        <p:spPr/>
        <p:txBody>
          <a:bodyPr/>
          <a:lstStyle/>
          <a:p>
            <a:pPr lvl="1"/>
            <a:r>
              <a:rPr lang="en-US" altLang="zh-TW" dirty="0"/>
              <a:t>Scaled sets with parameter selection</a:t>
            </a:r>
          </a:p>
          <a:p>
            <a:pPr lvl="2"/>
            <a:r>
              <a:rPr lang="en-US" altLang="zh-TW" dirty="0"/>
              <a:t>$python grid.py train.1.scale</a:t>
            </a:r>
          </a:p>
          <a:p>
            <a:pPr lvl="2">
              <a:buFontTx/>
              <a:buNone/>
            </a:pPr>
            <a:r>
              <a:rPr lang="en-US" altLang="zh-TW" dirty="0"/>
              <a:t>· · ·</a:t>
            </a:r>
          </a:p>
          <a:p>
            <a:pPr lvl="2"/>
            <a:r>
              <a:rPr lang="en-US" altLang="zh-TW" dirty="0"/>
              <a:t>2.0 2.0 96.8922</a:t>
            </a:r>
          </a:p>
          <a:p>
            <a:pPr lvl="2"/>
            <a:r>
              <a:rPr lang="en-US" altLang="zh-TW" dirty="0"/>
              <a:t>(Best C=2.0, </a:t>
            </a:r>
            <a:r>
              <a:rPr lang="el-GR" altLang="zh-TW" dirty="0">
                <a:cs typeface="Arial" charset="0"/>
              </a:rPr>
              <a:t>γ </a:t>
            </a:r>
            <a:r>
              <a:rPr lang="en-US" altLang="zh-TW" dirty="0" smtClean="0"/>
              <a:t>=</a:t>
            </a:r>
            <a:r>
              <a:rPr lang="en-US" altLang="zh-TW" dirty="0"/>
              <a:t>2.0 with five-fold cross-validation rate=96.8922%)</a:t>
            </a:r>
          </a:p>
          <a:p>
            <a:pPr lvl="2"/>
            <a:r>
              <a:rPr lang="en-US" altLang="zh-TW" dirty="0"/>
              <a:t>$./</a:t>
            </a:r>
            <a:r>
              <a:rPr lang="en-US" altLang="zh-TW" dirty="0" err="1"/>
              <a:t>svm</a:t>
            </a:r>
            <a:r>
              <a:rPr lang="en-US" altLang="zh-TW" dirty="0"/>
              <a:t>-train -c 2 -g 2 train.1.scale</a:t>
            </a:r>
          </a:p>
          <a:p>
            <a:pPr lvl="2"/>
            <a:r>
              <a:rPr lang="en-US" altLang="zh-TW" dirty="0"/>
              <a:t>$./</a:t>
            </a:r>
            <a:r>
              <a:rPr lang="en-US" altLang="zh-TW" dirty="0" err="1"/>
              <a:t>svm</a:t>
            </a:r>
            <a:r>
              <a:rPr lang="en-US" altLang="zh-TW" dirty="0"/>
              <a:t>-predict test.1.scale train.1.scale.model test.1.predict</a:t>
            </a:r>
          </a:p>
          <a:p>
            <a:pPr lvl="2">
              <a:buFontTx/>
              <a:buNone/>
            </a:pPr>
            <a:r>
              <a:rPr lang="en-US" altLang="zh-TW" dirty="0">
                <a:sym typeface="Wingdings" pitchFamily="2" charset="2"/>
              </a:rPr>
              <a:t></a:t>
            </a:r>
            <a:r>
              <a:rPr lang="en-US" altLang="zh-TW" dirty="0"/>
              <a:t> Accuracy = 96.875%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altLang="zh-TW"/>
              <a:t>Example</a:t>
            </a:r>
          </a:p>
        </p:txBody>
      </p:sp>
      <p:sp>
        <p:nvSpPr>
          <p:cNvPr id="157699" name="Rectangle 3"/>
          <p:cNvSpPr>
            <a:spLocks noGrp="1" noChangeArrowheads="1"/>
          </p:cNvSpPr>
          <p:nvPr>
            <p:ph type="body" idx="1"/>
          </p:nvPr>
        </p:nvSpPr>
        <p:spPr/>
        <p:txBody>
          <a:bodyPr/>
          <a:lstStyle/>
          <a:p>
            <a:r>
              <a:rPr lang="en-US" altLang="zh-TW"/>
              <a:t>Bioinformatics</a:t>
            </a:r>
          </a:p>
          <a:p>
            <a:pPr lvl="1"/>
            <a:r>
              <a:rPr lang="en-US" altLang="zh-TW"/>
              <a:t>Original sets with default parameters</a:t>
            </a:r>
          </a:p>
          <a:p>
            <a:pPr lvl="2"/>
            <a:r>
              <a:rPr lang="en-US" altLang="zh-TW"/>
              <a:t>$./svm-train -v 5 train.2</a:t>
            </a:r>
          </a:p>
          <a:p>
            <a:pPr lvl="2">
              <a:buFontTx/>
              <a:buNone/>
            </a:pPr>
            <a:r>
              <a:rPr lang="en-US" altLang="zh-TW">
                <a:sym typeface="Wingdings" pitchFamily="2" charset="2"/>
              </a:rPr>
              <a:t></a:t>
            </a:r>
            <a:r>
              <a:rPr lang="en-US" altLang="zh-TW"/>
              <a:t>Cross Validation Accuracy = 56.5217%</a:t>
            </a:r>
          </a:p>
          <a:p>
            <a:pPr lvl="1"/>
            <a:r>
              <a:rPr lang="en-US" altLang="zh-TW"/>
              <a:t>Scaled sets with default parameters</a:t>
            </a:r>
          </a:p>
          <a:p>
            <a:pPr lvl="2"/>
            <a:r>
              <a:rPr lang="en-US" altLang="zh-TW"/>
              <a:t>$./svm-scale -l -1 -u 1 train.2 &gt; train.2.scale</a:t>
            </a:r>
          </a:p>
          <a:p>
            <a:pPr lvl="2"/>
            <a:r>
              <a:rPr lang="en-US" altLang="zh-TW"/>
              <a:t>$./svm-train -v 5 train.2.scale</a:t>
            </a:r>
          </a:p>
          <a:p>
            <a:pPr lvl="2">
              <a:buFontTx/>
              <a:buNone/>
            </a:pPr>
            <a:r>
              <a:rPr lang="en-US" altLang="zh-TW">
                <a:sym typeface="Wingdings" pitchFamily="2" charset="2"/>
              </a:rPr>
              <a:t></a:t>
            </a:r>
            <a:r>
              <a:rPr lang="en-US" altLang="zh-TW"/>
              <a:t> Cross Validation Accuracy = 78.5166%</a:t>
            </a:r>
          </a:p>
          <a:p>
            <a:pPr lvl="1"/>
            <a:endParaRPr lang="en-US" altLang="zh-TW"/>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altLang="zh-TW"/>
              <a:t>Example</a:t>
            </a:r>
          </a:p>
        </p:txBody>
      </p:sp>
      <p:sp>
        <p:nvSpPr>
          <p:cNvPr id="159747" name="Rectangle 3"/>
          <p:cNvSpPr>
            <a:spLocks noGrp="1" noChangeArrowheads="1"/>
          </p:cNvSpPr>
          <p:nvPr>
            <p:ph type="body" idx="1"/>
          </p:nvPr>
        </p:nvSpPr>
        <p:spPr/>
        <p:txBody>
          <a:bodyPr/>
          <a:lstStyle/>
          <a:p>
            <a:pPr lvl="1"/>
            <a:r>
              <a:rPr lang="en-US" altLang="zh-TW"/>
              <a:t>Scaled sets with parameter selection</a:t>
            </a:r>
          </a:p>
          <a:p>
            <a:pPr lvl="2"/>
            <a:r>
              <a:rPr lang="en-US" altLang="zh-TW"/>
              <a:t>$python grid.py train.2.scale</a:t>
            </a:r>
          </a:p>
          <a:p>
            <a:pPr lvl="2">
              <a:buFontTx/>
              <a:buNone/>
            </a:pPr>
            <a:r>
              <a:rPr lang="en-US" altLang="zh-TW"/>
              <a:t>· · ·</a:t>
            </a:r>
          </a:p>
          <a:p>
            <a:pPr lvl="2"/>
            <a:r>
              <a:rPr lang="en-US" altLang="zh-TW"/>
              <a:t>2.0 0.5 85.1662</a:t>
            </a:r>
          </a:p>
          <a:p>
            <a:pPr lvl="2">
              <a:buFontTx/>
              <a:buNone/>
            </a:pPr>
            <a:r>
              <a:rPr lang="en-US" altLang="zh-TW">
                <a:sym typeface="Wingdings" pitchFamily="2" charset="2"/>
              </a:rPr>
              <a:t></a:t>
            </a:r>
            <a:r>
              <a:rPr lang="en-US" altLang="zh-TW"/>
              <a:t> Cross Validation Accuracy = 85.1662%</a:t>
            </a:r>
          </a:p>
          <a:p>
            <a:pPr lvl="2"/>
            <a:r>
              <a:rPr lang="en-US" altLang="zh-TW"/>
              <a:t>(Best C=2.0, =0.5 with five fold cross-validation rate=85.1662%)</a:t>
            </a:r>
          </a:p>
          <a:p>
            <a:pPr lvl="1"/>
            <a:endParaRPr lang="en-US" altLang="zh-TW"/>
          </a:p>
        </p:txBody>
      </p:sp>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1736</TotalTime>
  <Words>2360</Words>
  <Application>Microsoft Office PowerPoint</Application>
  <PresentationFormat>如螢幕大小 (4:3)</PresentationFormat>
  <Paragraphs>371</Paragraphs>
  <Slides>63</Slides>
  <Notes>63</Notes>
  <HiddenSlides>0</HiddenSlides>
  <MMClips>0</MMClips>
  <ScaleCrop>false</ScaleCrop>
  <HeadingPairs>
    <vt:vector size="8" baseType="variant">
      <vt:variant>
        <vt:lpstr>使用字型</vt:lpstr>
      </vt:variant>
      <vt:variant>
        <vt:i4>3</vt:i4>
      </vt:variant>
      <vt:variant>
        <vt:lpstr>佈景主題</vt:lpstr>
      </vt:variant>
      <vt:variant>
        <vt:i4>1</vt:i4>
      </vt:variant>
      <vt:variant>
        <vt:lpstr>內嵌 OLE 伺服程式</vt:lpstr>
      </vt:variant>
      <vt:variant>
        <vt:i4>1</vt:i4>
      </vt:variant>
      <vt:variant>
        <vt:lpstr>投影片標題</vt:lpstr>
      </vt:variant>
      <vt:variant>
        <vt:i4>63</vt:i4>
      </vt:variant>
    </vt:vector>
  </HeadingPairs>
  <TitlesOfParts>
    <vt:vector size="68" baseType="lpstr">
      <vt:lpstr>新細明體</vt:lpstr>
      <vt:lpstr>Arial</vt:lpstr>
      <vt:lpstr>Wingdings</vt:lpstr>
      <vt:lpstr>預設簡報設計</vt:lpstr>
      <vt:lpstr>方程式</vt:lpstr>
      <vt:lpstr>Support Vector Machines</vt:lpstr>
      <vt:lpstr>Introduction</vt:lpstr>
      <vt:lpstr>Data Classification</vt:lpstr>
      <vt:lpstr>Data Classification</vt:lpstr>
      <vt:lpstr>Optimal Hyperplane</vt:lpstr>
      <vt:lpstr>Optimal Hyperplane</vt:lpstr>
      <vt:lpstr>Optimal Hyperplane</vt:lpstr>
      <vt:lpstr>Optimal Hyperplane</vt:lpstr>
      <vt:lpstr>Feature Spaces</vt:lpstr>
      <vt:lpstr>Feature Spaces</vt:lpstr>
      <vt:lpstr>Feature Spaces</vt:lpstr>
      <vt:lpstr>Feature Spaces</vt:lpstr>
      <vt:lpstr>Feature Spaces</vt:lpstr>
      <vt:lpstr>Feature Spaces</vt:lpstr>
      <vt:lpstr>Kernel Trick</vt:lpstr>
      <vt:lpstr>Kernel Trick</vt:lpstr>
      <vt:lpstr>SVMs</vt:lpstr>
      <vt:lpstr>SVMs</vt:lpstr>
      <vt:lpstr>PowerPoint 簡報</vt:lpstr>
      <vt:lpstr>Multi-class Classification</vt:lpstr>
      <vt:lpstr>Multi-class Classification</vt:lpstr>
      <vt:lpstr>Example: Text-Categorization</vt:lpstr>
      <vt:lpstr>Example: Text-Categorization</vt:lpstr>
      <vt:lpstr>Example: Text-Categorization</vt:lpstr>
      <vt:lpstr>Example: Text-Categorization</vt:lpstr>
      <vt:lpstr>Example: Text-Categorization</vt:lpstr>
      <vt:lpstr>Example: Text-Categorization</vt:lpstr>
      <vt:lpstr>Example: Text-Categorization</vt:lpstr>
      <vt:lpstr>Example: Face Detection</vt:lpstr>
      <vt:lpstr>Example: Face Detection</vt:lpstr>
      <vt:lpstr>Example: Face Detection</vt:lpstr>
      <vt:lpstr>PowerPoint 簡報</vt:lpstr>
      <vt:lpstr>Example: Face Detection</vt:lpstr>
      <vt:lpstr>Example: Face Detection</vt:lpstr>
      <vt:lpstr>Example: Face Detection</vt:lpstr>
      <vt:lpstr>Example: Face Detection</vt:lpstr>
      <vt:lpstr>Example: Face Detection</vt:lpstr>
      <vt:lpstr>Example: Face Detection</vt:lpstr>
      <vt:lpstr>Example: Face Detection</vt:lpstr>
      <vt:lpstr>Example: Face Detection</vt:lpstr>
      <vt:lpstr>Example: Face Detection</vt:lpstr>
      <vt:lpstr>Example: Face Detection</vt:lpstr>
      <vt:lpstr>A Practical Guide to SVM</vt:lpstr>
      <vt:lpstr>Real-World Examples</vt:lpstr>
      <vt:lpstr>Beginner’s Procedure</vt:lpstr>
      <vt:lpstr>The Proposed Procedure</vt:lpstr>
      <vt:lpstr>Data Preprocessing</vt:lpstr>
      <vt:lpstr>Data Preprocessing</vt:lpstr>
      <vt:lpstr>Data Preprocessing</vt:lpstr>
      <vt:lpstr>Model Selection</vt:lpstr>
      <vt:lpstr>Cross-Validation</vt:lpstr>
      <vt:lpstr>Cross-Validation</vt:lpstr>
      <vt:lpstr>Cross-Validation</vt:lpstr>
      <vt:lpstr>Grid-Search</vt:lpstr>
      <vt:lpstr>Grid-Search</vt:lpstr>
      <vt:lpstr>Grid-Search</vt:lpstr>
      <vt:lpstr>Grid-Search</vt:lpstr>
      <vt:lpstr>Grid-Search</vt:lpstr>
      <vt:lpstr>Discussion</vt:lpstr>
      <vt:lpstr>Example</vt:lpstr>
      <vt:lpstr>Example</vt:lpstr>
      <vt:lpstr>Example</vt:lpstr>
      <vt:lpstr>Example</vt:lpstr>
    </vt:vector>
  </TitlesOfParts>
  <Company>TCU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Machines</dc:title>
  <dc:creator>denislin</dc:creator>
  <cp:lastModifiedBy>denislin</cp:lastModifiedBy>
  <cp:revision>117</cp:revision>
  <dcterms:created xsi:type="dcterms:W3CDTF">2005-12-17T07:28:39Z</dcterms:created>
  <dcterms:modified xsi:type="dcterms:W3CDTF">2019-09-30T12:57:09Z</dcterms:modified>
</cp:coreProperties>
</file>