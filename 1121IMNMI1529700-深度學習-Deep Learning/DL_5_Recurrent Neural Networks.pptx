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85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4" r:id="rId24"/>
    <p:sldId id="277" r:id="rId25"/>
    <p:sldId id="293" r:id="rId26"/>
    <p:sldId id="279" r:id="rId27"/>
    <p:sldId id="295" r:id="rId28"/>
    <p:sldId id="281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4E778-9C34-4F99-AF59-61ADB3AE7B30}" type="datetimeFigureOut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106E-2C50-4676-9D42-2DD84223E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1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559DEC2-97E9-451A-B8B9-34DFB814D020}" type="slidenum">
              <a:rPr lang="en-US" altLang="zh-TW"/>
              <a:pPr eaLnBrk="1" hangingPunct="1"/>
              <a:t>2</a:t>
            </a:fld>
            <a:endParaRPr lang="en-US" altLang="zh-TW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42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https://catalog.ldc.upenn.edu/docs/LDC93S4B/corpus.html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368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General idea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83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Normal neuron</a:t>
            </a:r>
          </a:p>
          <a:p>
            <a:r>
              <a:rPr lang="en-US" altLang="zh-TW" dirty="0"/>
              <a:t>1</a:t>
            </a:r>
            <a:r>
              <a:rPr lang="en-US" altLang="zh-TW" baseline="0" dirty="0"/>
              <a:t> input, 1 output</a:t>
            </a:r>
          </a:p>
          <a:p>
            <a:endParaRPr lang="en-US" altLang="zh-TW" baseline="0" dirty="0"/>
          </a:p>
          <a:p>
            <a:r>
              <a:rPr lang="en-US" altLang="zh-TW" baseline="0" dirty="0"/>
              <a:t>This one</a:t>
            </a:r>
          </a:p>
          <a:p>
            <a:r>
              <a:rPr lang="en-US" altLang="zh-TW" baseline="0" dirty="0"/>
              <a:t>4 input, 1 output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27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46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Identiy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 is vector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29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Identiy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 is vector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305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Identiy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 is vector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62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280B-F5D7-4231-B133-41EA57DD1C16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0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E3D5-112B-4A1F-8F85-35A03741C41C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06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5A02-BAB3-4A1D-8D79-2C552D179237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85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F91A9-9097-4BCC-B8D9-B2DB28B05567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21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D5169-CB63-444A-B901-7C9DABEBBED5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00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C6BB4-8D34-47D6-9F40-EAFB3F3A6C3F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630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48755-39C8-42E1-8471-D8ED05979007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9593-E5AA-4BFC-BF07-43EBDBBD32F1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63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155D-9559-4A2C-9BEA-A20E7CCB36C2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10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0F8-745D-4CE3-95D9-DCAD134DCEA1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05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9F558-6B8D-44A2-B23A-B58D8EF3ADA8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57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F32C1-3CDC-48F3-AD83-31321036C998}" type="datetime1">
              <a:rPr lang="zh-TW" altLang="en-US" smtClean="0"/>
              <a:t>2022/12/12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71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NUL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24.png"/><Relationship Id="rId12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introduction-to-rnns-sequence-to-sequence-language-translation-and-attention-fc43ef2cc3fd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80912217_Finding_Function_in_Form_Compositional_Character_Models_for_Open_Vocabulary_Word_Representation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nassrib/jena-climate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mtClean="0"/>
              <a:t>Recurrent Neural Networks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7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Recurrent </a:t>
            </a:r>
            <a:r>
              <a:rPr lang="en-US" altLang="zh-TW" dirty="0"/>
              <a:t>Neural </a:t>
            </a:r>
            <a:r>
              <a:rPr lang="en-US" altLang="zh-TW" dirty="0" smtClean="0"/>
              <a:t>Networks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Use the outputs of network units at time </a:t>
            </a:r>
            <a:r>
              <a:rPr lang="en-US" altLang="zh-TW" i="1" smtClean="0"/>
              <a:t>t</a:t>
            </a:r>
            <a:r>
              <a:rPr lang="en-US" altLang="zh-TW" smtClean="0"/>
              <a:t> as the input to other units at time </a:t>
            </a:r>
            <a:r>
              <a:rPr lang="en-US" altLang="zh-TW" i="1" smtClean="0"/>
              <a:t>t</a:t>
            </a:r>
            <a:r>
              <a:rPr lang="en-US" altLang="zh-TW" smtClean="0"/>
              <a:t>+1</a:t>
            </a:r>
          </a:p>
        </p:txBody>
      </p:sp>
      <p:pic>
        <p:nvPicPr>
          <p:cNvPr id="5427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2662239"/>
            <a:ext cx="4033837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2636839"/>
            <a:ext cx="29845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85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tanh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ReL</m:t>
                    </m:r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://www.wildml.com/wp-content/uploads/2015/09/rn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9" y="3356992"/>
            <a:ext cx="7572375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666"/>
            <a:ext cx="3802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TW" altLang="zh-TW"/>
              <a:t>  </a:t>
            </a:r>
            <a:r>
              <a:rPr lang="zh-TW" altLang="zh-TW" sz="1000">
                <a:solidFill>
                  <a:srgbClr val="333333"/>
                </a:solidFill>
                <a:ea typeface="Libre Franklin"/>
              </a:rPr>
              <a:t>.</a:t>
            </a:r>
            <a:r>
              <a:rPr lang="zh-TW" altLang="zh-TW" sz="900"/>
              <a:t> </a:t>
            </a:r>
            <a:endParaRPr lang="zh-TW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47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RNN</a:t>
            </a:r>
            <a:r>
              <a:rPr lang="zh-TW" altLang="en-US" dirty="0" smtClean="0"/>
              <a:t> </a:t>
            </a:r>
            <a:r>
              <a:rPr lang="en-US" altLang="zh-TW" dirty="0" smtClean="0"/>
              <a:t>Example </a:t>
            </a:r>
            <a:r>
              <a:rPr lang="en-US" altLang="zh-TW" dirty="0"/>
              <a:t>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Slot Filling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29694" y="2710171"/>
            <a:ext cx="6509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2400" dirty="0"/>
              <a:t>I would like to arrive </a:t>
            </a:r>
            <a:r>
              <a:rPr lang="en-US" altLang="zh-TW" sz="2400" dirty="0">
                <a:solidFill>
                  <a:srgbClr val="FF0000"/>
                </a:solidFill>
              </a:rPr>
              <a:t>Taipei </a:t>
            </a:r>
            <a:r>
              <a:rPr lang="en-US" altLang="zh-TW" sz="2400" dirty="0"/>
              <a:t>on </a:t>
            </a:r>
            <a:r>
              <a:rPr lang="en-US" altLang="zh-TW" sz="2400" dirty="0">
                <a:solidFill>
                  <a:srgbClr val="0000FF"/>
                </a:solidFill>
              </a:rPr>
              <a:t>November 2</a:t>
            </a:r>
            <a:r>
              <a:rPr lang="en-US" altLang="zh-TW" sz="2400" baseline="30000" dirty="0">
                <a:solidFill>
                  <a:srgbClr val="0000FF"/>
                </a:solidFill>
              </a:rPr>
              <a:t>nd</a:t>
            </a:r>
            <a:r>
              <a:rPr lang="en-US" altLang="zh-TW" sz="2400" dirty="0">
                <a:solidFill>
                  <a:srgbClr val="CC0099"/>
                </a:solidFill>
              </a:rPr>
              <a:t>.</a:t>
            </a:r>
            <a:r>
              <a:rPr lang="en-US" altLang="zh-TW" sz="2400" dirty="0"/>
              <a:t> </a:t>
            </a:r>
            <a:endParaRPr lang="en-US" altLang="zh-TW" sz="2400" dirty="0">
              <a:solidFill>
                <a:srgbClr val="FFC000"/>
              </a:solidFill>
            </a:endParaRPr>
          </a:p>
        </p:txBody>
      </p:sp>
      <p:pic>
        <p:nvPicPr>
          <p:cNvPr id="7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653" y="3239559"/>
            <a:ext cx="497114" cy="76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圓角矩形圖說文字 5"/>
          <p:cNvSpPr/>
          <p:nvPr/>
        </p:nvSpPr>
        <p:spPr>
          <a:xfrm>
            <a:off x="3838121" y="2679522"/>
            <a:ext cx="5892800" cy="511860"/>
          </a:xfrm>
          <a:prstGeom prst="wedgeRoundRectCallout">
            <a:avLst>
              <a:gd name="adj1" fmla="val -50882"/>
              <a:gd name="adj2" fmla="val 10503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327647" y="3957127"/>
            <a:ext cx="3142343" cy="6091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ticket booking system</a:t>
            </a:r>
            <a:endParaRPr lang="zh-TW" altLang="en-US" sz="2400" dirty="0"/>
          </a:p>
        </p:txBody>
      </p:sp>
      <p:sp>
        <p:nvSpPr>
          <p:cNvPr id="10" name="向下箭號 9"/>
          <p:cNvSpPr/>
          <p:nvPr/>
        </p:nvSpPr>
        <p:spPr>
          <a:xfrm>
            <a:off x="6620781" y="3390890"/>
            <a:ext cx="556079" cy="4953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6620781" y="4701183"/>
            <a:ext cx="556079" cy="49530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900837" y="5331420"/>
            <a:ext cx="199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Destination: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900837" y="5850235"/>
            <a:ext cx="199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time of arrival: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180940" y="5331420"/>
            <a:ext cx="1061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Taipei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192604" y="5850235"/>
            <a:ext cx="3157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November 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</a:t>
            </a:r>
            <a:endParaRPr lang="zh-TW" altLang="en-US" sz="24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3565767" y="5235376"/>
            <a:ext cx="1335070" cy="1115416"/>
            <a:chOff x="2041767" y="5235376"/>
            <a:chExt cx="1335070" cy="1115416"/>
          </a:xfrm>
        </p:grpSpPr>
        <p:sp>
          <p:nvSpPr>
            <p:cNvPr id="4" name="文字方塊 3"/>
            <p:cNvSpPr txBox="1"/>
            <p:nvPr/>
          </p:nvSpPr>
          <p:spPr>
            <a:xfrm>
              <a:off x="2041767" y="5524129"/>
              <a:ext cx="8987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Slot</a:t>
              </a:r>
              <a:endParaRPr lang="zh-TW" altLang="en-US" sz="2800" dirty="0"/>
            </a:p>
          </p:txBody>
        </p:sp>
        <p:sp>
          <p:nvSpPr>
            <p:cNvPr id="9" name="左大括弧 8"/>
            <p:cNvSpPr/>
            <p:nvPr/>
          </p:nvSpPr>
          <p:spPr>
            <a:xfrm>
              <a:off x="2938072" y="5235376"/>
              <a:ext cx="438765" cy="1115416"/>
            </a:xfrm>
            <a:prstGeom prst="leftBrace">
              <a:avLst>
                <a:gd name="adj1" fmla="val 35665"/>
                <a:gd name="adj2" fmla="val 5000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10" grpId="0" animBg="1"/>
      <p:bldP spid="12" grpId="0" animBg="1"/>
      <p:bldP spid="11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2839227" y="4829867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2858276" y="3681656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2839227" y="2560297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5609325" y="4815460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5628374" y="3701755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4085443" y="3657437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5628374" y="2567831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8426115" y="4821678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8445164" y="3707973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6902233" y="3701755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8468117" y="2586783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向上箭號 70"/>
          <p:cNvSpPr/>
          <p:nvPr/>
        </p:nvSpPr>
        <p:spPr>
          <a:xfrm>
            <a:off x="3183429" y="4178579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向上箭號 73"/>
          <p:cNvSpPr/>
          <p:nvPr/>
        </p:nvSpPr>
        <p:spPr>
          <a:xfrm>
            <a:off x="3183430" y="3034995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4208307" y="3082637"/>
            <a:ext cx="104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store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8" name="手繪多邊形 77"/>
          <p:cNvSpPr/>
          <p:nvPr/>
        </p:nvSpPr>
        <p:spPr>
          <a:xfrm flipH="1">
            <a:off x="3919227" y="3426306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/>
          <p:cNvSpPr txBox="1"/>
          <p:nvPr/>
        </p:nvSpPr>
        <p:spPr>
          <a:xfrm>
            <a:off x="6975296" y="3082637"/>
            <a:ext cx="104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store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973555" y="4804953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714588" y="481546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8554331" y="4811944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2922980" y="2546394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5734837" y="252758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8598543" y="2551842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87" name="向上箭號 86"/>
          <p:cNvSpPr/>
          <p:nvPr/>
        </p:nvSpPr>
        <p:spPr>
          <a:xfrm>
            <a:off x="5978444" y="4205408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向上箭號 87"/>
          <p:cNvSpPr/>
          <p:nvPr/>
        </p:nvSpPr>
        <p:spPr>
          <a:xfrm>
            <a:off x="5978445" y="3061824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向上箭號 88"/>
          <p:cNvSpPr/>
          <p:nvPr/>
        </p:nvSpPr>
        <p:spPr>
          <a:xfrm>
            <a:off x="8796159" y="4209475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向上箭號 89"/>
          <p:cNvSpPr/>
          <p:nvPr/>
        </p:nvSpPr>
        <p:spPr>
          <a:xfrm>
            <a:off x="8796160" y="3065891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弧形箭號 (上彎) 44"/>
          <p:cNvSpPr/>
          <p:nvPr/>
        </p:nvSpPr>
        <p:spPr>
          <a:xfrm>
            <a:off x="4640648" y="4133263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6" name="弧形箭號 (上彎) 45"/>
          <p:cNvSpPr/>
          <p:nvPr/>
        </p:nvSpPr>
        <p:spPr>
          <a:xfrm>
            <a:off x="7374329" y="4138525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9" name="手繪多邊形 48"/>
          <p:cNvSpPr/>
          <p:nvPr/>
        </p:nvSpPr>
        <p:spPr>
          <a:xfrm flipH="1">
            <a:off x="6682013" y="3419344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3278068" y="330664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4270025" y="3636574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7039671" y="367447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6210213" y="3326570"/>
            <a:ext cx="57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9041054" y="3318188"/>
            <a:ext cx="57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3570105" y="997810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The same network is used again and again.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452589" y="5896187"/>
            <a:ext cx="5588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2400" dirty="0"/>
              <a:t>arrive     </a:t>
            </a:r>
            <a:r>
              <a:rPr lang="en-US" altLang="zh-TW" sz="2400" dirty="0">
                <a:solidFill>
                  <a:srgbClr val="FF0000"/>
                </a:solidFill>
              </a:rPr>
              <a:t>Taipei     </a:t>
            </a:r>
            <a:r>
              <a:rPr lang="en-US" altLang="zh-TW" sz="2400" dirty="0"/>
              <a:t>on     </a:t>
            </a:r>
            <a:r>
              <a:rPr lang="en-US" altLang="zh-TW" sz="2400" dirty="0">
                <a:solidFill>
                  <a:srgbClr val="0000FF"/>
                </a:solidFill>
              </a:rPr>
              <a:t>November     2</a:t>
            </a:r>
            <a:r>
              <a:rPr lang="en-US" altLang="zh-TW" sz="2400" baseline="30000" dirty="0">
                <a:solidFill>
                  <a:srgbClr val="0000FF"/>
                </a:solidFill>
              </a:rPr>
              <a:t>nd</a:t>
            </a:r>
            <a:r>
              <a:rPr lang="en-US" altLang="zh-TW" sz="2400" dirty="0"/>
              <a:t> </a:t>
            </a:r>
            <a:endParaRPr lang="en-US" altLang="zh-TW" sz="2400" dirty="0">
              <a:solidFill>
                <a:srgbClr val="FFC000"/>
              </a:solidFill>
            </a:endParaRPr>
          </a:p>
        </p:txBody>
      </p:sp>
      <p:pic>
        <p:nvPicPr>
          <p:cNvPr id="55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19" y="5875281"/>
            <a:ext cx="497114" cy="76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圓角矩形圖說文字 69"/>
          <p:cNvSpPr/>
          <p:nvPr/>
        </p:nvSpPr>
        <p:spPr>
          <a:xfrm>
            <a:off x="3720915" y="5875281"/>
            <a:ext cx="5320139" cy="51186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>
            <a:endCxn id="6" idx="2"/>
          </p:cNvCxnSpPr>
          <p:nvPr/>
        </p:nvCxnSpPr>
        <p:spPr>
          <a:xfrm flipH="1" flipV="1">
            <a:off x="3427342" y="5266617"/>
            <a:ext cx="878655" cy="7858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5327819" y="5243927"/>
            <a:ext cx="783706" cy="7940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6292388" y="5283444"/>
            <a:ext cx="2503770" cy="74950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094295" y="1620388"/>
            <a:ext cx="2697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Probability of “arrive” in each slot</a:t>
            </a:r>
            <a:endParaRPr lang="zh-TW" altLang="en-US" sz="24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4996185" y="1611898"/>
            <a:ext cx="2697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Probability of “</a:t>
            </a:r>
            <a:r>
              <a:rPr lang="en-US" altLang="zh-TW" sz="2400" dirty="0">
                <a:solidFill>
                  <a:srgbClr val="FF0000"/>
                </a:solidFill>
              </a:rPr>
              <a:t>Taipei</a:t>
            </a:r>
            <a:r>
              <a:rPr lang="en-US" altLang="zh-TW" sz="2400" dirty="0"/>
              <a:t>” in each slot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7911886" y="1622336"/>
            <a:ext cx="2331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Probability of “on” in each slot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19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1" grpId="0" animBg="1"/>
      <p:bldP spid="57" grpId="0" animBg="1"/>
      <p:bldP spid="59" grpId="0" animBg="1"/>
      <p:bldP spid="60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4" grpId="0" animBg="1"/>
      <p:bldP spid="3" grpId="0"/>
      <p:bldP spid="78" grpId="0" animBg="1"/>
      <p:bldP spid="79" grpId="0"/>
      <p:bldP spid="6" grpId="0"/>
      <p:bldP spid="81" grpId="0"/>
      <p:bldP spid="82" grpId="0"/>
      <p:bldP spid="83" grpId="0"/>
      <p:bldP spid="84" grpId="0"/>
      <p:bldP spid="85" grpId="0"/>
      <p:bldP spid="87" grpId="0" animBg="1"/>
      <p:bldP spid="88" grpId="0" animBg="1"/>
      <p:bldP spid="89" grpId="0" animBg="1"/>
      <p:bldP spid="90" grpId="0" animBg="1"/>
      <p:bldP spid="45" grpId="0" animBg="1"/>
      <p:bldP spid="46" grpId="0" animBg="1"/>
      <p:bldP spid="49" grpId="0" animBg="1"/>
      <p:bldP spid="56" grpId="0"/>
      <p:bldP spid="58" grpId="0"/>
      <p:bldP spid="61" grpId="0"/>
      <p:bldP spid="62" grpId="0"/>
      <p:bldP spid="63" grpId="0"/>
      <p:bldP spid="64" grpId="0"/>
      <p:bldP spid="52" grpId="0"/>
      <p:bldP spid="70" grpId="0" animBg="1"/>
      <p:bldP spid="10" grpId="0"/>
      <p:bldP spid="75" grpId="0"/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27483" y="2814908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 course it can be deep …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49478" y="5627724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370988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632707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16132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上箭號 8"/>
          <p:cNvSpPr/>
          <p:nvPr/>
        </p:nvSpPr>
        <p:spPr>
          <a:xfrm>
            <a:off x="3696141" y="5185057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上箭號 9"/>
          <p:cNvSpPr/>
          <p:nvPr/>
        </p:nvSpPr>
        <p:spPr>
          <a:xfrm>
            <a:off x="5967127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2383202" y="4777251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4610795" y="47833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567542" y="466645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838528" y="4635213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96901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880326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上箭號 16"/>
          <p:cNvSpPr/>
          <p:nvPr/>
        </p:nvSpPr>
        <p:spPr>
          <a:xfrm>
            <a:off x="8231321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6874989" y="47833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右箭號 18"/>
          <p:cNvSpPr/>
          <p:nvPr/>
        </p:nvSpPr>
        <p:spPr>
          <a:xfrm>
            <a:off x="9015452" y="4777251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3460664" y="557560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x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755221" y="559012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049778" y="558735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23" name="矩形 22"/>
          <p:cNvSpPr/>
          <p:nvPr/>
        </p:nvSpPr>
        <p:spPr>
          <a:xfrm>
            <a:off x="3349478" y="3866449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上箭號 23"/>
          <p:cNvSpPr/>
          <p:nvPr/>
        </p:nvSpPr>
        <p:spPr>
          <a:xfrm>
            <a:off x="3674631" y="4268122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右箭號 24"/>
          <p:cNvSpPr/>
          <p:nvPr/>
        </p:nvSpPr>
        <p:spPr>
          <a:xfrm>
            <a:off x="2361692" y="3860316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1546032" y="374952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 rot="5400000">
            <a:off x="3512364" y="3261946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28" name="向上箭號 27"/>
          <p:cNvSpPr/>
          <p:nvPr/>
        </p:nvSpPr>
        <p:spPr>
          <a:xfrm>
            <a:off x="3674630" y="2329933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327967" y="1928302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435692" y="1877449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sp>
        <p:nvSpPr>
          <p:cNvPr id="32" name="向右箭號 31"/>
          <p:cNvSpPr/>
          <p:nvPr/>
        </p:nvSpPr>
        <p:spPr>
          <a:xfrm>
            <a:off x="2339697" y="2808775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1524037" y="2697979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598017" y="280877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620012" y="3860315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上箭號 35"/>
          <p:cNvSpPr/>
          <p:nvPr/>
        </p:nvSpPr>
        <p:spPr>
          <a:xfrm>
            <a:off x="5945165" y="4261988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右箭號 36"/>
          <p:cNvSpPr/>
          <p:nvPr/>
        </p:nvSpPr>
        <p:spPr>
          <a:xfrm>
            <a:off x="4632226" y="3854182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 rot="5400000">
            <a:off x="5782898" y="3255812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39" name="向上箭號 38"/>
          <p:cNvSpPr/>
          <p:nvPr/>
        </p:nvSpPr>
        <p:spPr>
          <a:xfrm>
            <a:off x="5945164" y="2323799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5598501" y="1922168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5706226" y="187131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t+1</a:t>
            </a:r>
            <a:endParaRPr lang="zh-TW" altLang="en-US" sz="2400" baseline="30000" dirty="0"/>
          </a:p>
        </p:txBody>
      </p:sp>
      <p:sp>
        <p:nvSpPr>
          <p:cNvPr id="42" name="向右箭號 41"/>
          <p:cNvSpPr/>
          <p:nvPr/>
        </p:nvSpPr>
        <p:spPr>
          <a:xfrm>
            <a:off x="4610231" y="2802641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/>
          <p:cNvSpPr/>
          <p:nvPr/>
        </p:nvSpPr>
        <p:spPr>
          <a:xfrm>
            <a:off x="7827044" y="2802640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7849039" y="3854181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向上箭號 44"/>
          <p:cNvSpPr/>
          <p:nvPr/>
        </p:nvSpPr>
        <p:spPr>
          <a:xfrm>
            <a:off x="8174192" y="4255854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向右箭號 45"/>
          <p:cNvSpPr/>
          <p:nvPr/>
        </p:nvSpPr>
        <p:spPr>
          <a:xfrm>
            <a:off x="6861253" y="3848048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8011925" y="3249678"/>
            <a:ext cx="8907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accent4"/>
                </a:solidFill>
              </a:rPr>
              <a:t>……</a:t>
            </a:r>
            <a:endParaRPr lang="zh-TW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48" name="向上箭號 47"/>
          <p:cNvSpPr/>
          <p:nvPr/>
        </p:nvSpPr>
        <p:spPr>
          <a:xfrm>
            <a:off x="8174191" y="2317665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7827528" y="1916034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7935253" y="1865181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y</a:t>
            </a:r>
            <a:r>
              <a:rPr lang="en-US" altLang="zh-TW" sz="2400" baseline="30000" dirty="0"/>
              <a:t>t+2</a:t>
            </a:r>
            <a:endParaRPr lang="zh-TW" altLang="en-US" sz="2400" baseline="30000" dirty="0"/>
          </a:p>
        </p:txBody>
      </p:sp>
      <p:sp>
        <p:nvSpPr>
          <p:cNvPr id="51" name="向右箭號 50"/>
          <p:cNvSpPr/>
          <p:nvPr/>
        </p:nvSpPr>
        <p:spPr>
          <a:xfrm>
            <a:off x="6839258" y="2796507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9817712" y="368175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3" name="向右箭號 52"/>
          <p:cNvSpPr/>
          <p:nvPr/>
        </p:nvSpPr>
        <p:spPr>
          <a:xfrm>
            <a:off x="8994636" y="3823788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9838528" y="263091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5" name="向右箭號 54"/>
          <p:cNvSpPr/>
          <p:nvPr/>
        </p:nvSpPr>
        <p:spPr>
          <a:xfrm>
            <a:off x="9015452" y="2772953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63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流程圖: 磁碟 24"/>
          <p:cNvSpPr/>
          <p:nvPr/>
        </p:nvSpPr>
        <p:spPr>
          <a:xfrm>
            <a:off x="4422408" y="3286343"/>
            <a:ext cx="1725840" cy="115631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Memory</a:t>
            </a:r>
          </a:p>
          <a:p>
            <a:pPr algn="ctr"/>
            <a:r>
              <a:rPr lang="en-US" altLang="zh-TW" sz="2400" dirty="0"/>
              <a:t>Cell</a:t>
            </a:r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Long Short-term Memory (LSTM)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64662" y="5153705"/>
            <a:ext cx="2656936" cy="5693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Input Gate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3964662" y="2202073"/>
            <a:ext cx="2656936" cy="5693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Output Gate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601163" y="5022877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input gate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601163" y="2071245"/>
            <a:ext cx="2255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output gate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6785629" y="3457829"/>
            <a:ext cx="1323953" cy="8398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Forget Gate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579246" y="3462278"/>
            <a:ext cx="20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Signal control the forget gate</a:t>
            </a:r>
            <a:endParaRPr lang="zh-TW" altLang="en-US" sz="24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3453923" y="2486742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3453923" y="5438374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5297566" y="5665610"/>
            <a:ext cx="0" cy="6146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5309618" y="4442656"/>
            <a:ext cx="0" cy="7167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5285328" y="1693204"/>
            <a:ext cx="0" cy="5088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5440573" y="2985789"/>
            <a:ext cx="1927823" cy="447525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手繪多邊形 30"/>
          <p:cNvSpPr/>
          <p:nvPr/>
        </p:nvSpPr>
        <p:spPr>
          <a:xfrm rot="21317573" flipH="1" flipV="1">
            <a:off x="5457706" y="4357868"/>
            <a:ext cx="1915945" cy="496296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511340" y="6326522"/>
            <a:ext cx="36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Other part of the network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453923" y="1317689"/>
            <a:ext cx="36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Other part of the network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5279996" y="2741088"/>
            <a:ext cx="0" cy="7167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1545915" y="2902241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545915" y="5726515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529018" y="4249030"/>
            <a:ext cx="194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(Other part of the network)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961687" y="2162730"/>
            <a:ext cx="4156798" cy="36162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6894530" y="5142390"/>
            <a:ext cx="115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 dirty="0">
                <a:solidFill>
                  <a:srgbClr val="FF0000"/>
                </a:solidFill>
              </a:rPr>
              <a:t>LSTM</a:t>
            </a:r>
            <a:endParaRPr lang="zh-TW" altLang="en-US" sz="2800" b="1" i="1" u="sng" dirty="0">
              <a:solidFill>
                <a:srgbClr val="FF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437787" y="1560457"/>
            <a:ext cx="2893544" cy="14821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Special Neuron:</a:t>
            </a:r>
          </a:p>
          <a:p>
            <a:pPr algn="ctr"/>
            <a:r>
              <a:rPr lang="en-US" altLang="zh-TW" sz="2800" dirty="0"/>
              <a:t>4 inputs, </a:t>
            </a:r>
          </a:p>
          <a:p>
            <a:pPr algn="ctr"/>
            <a:r>
              <a:rPr lang="en-US" altLang="zh-TW" sz="2800" dirty="0"/>
              <a:t>1 output</a:t>
            </a:r>
            <a:endParaRPr lang="zh-TW" altLang="en-US" sz="2800" dirty="0"/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8078404" y="3877392"/>
            <a:ext cx="469664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88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  <p:bldP spid="10" grpId="0"/>
      <p:bldP spid="11" grpId="0" animBg="1"/>
      <p:bldP spid="12" grpId="0"/>
      <p:bldP spid="29" grpId="0" animBg="1"/>
      <p:bldP spid="31" grpId="0" animBg="1"/>
      <p:bldP spid="30" grpId="0"/>
      <p:bldP spid="34" grpId="0"/>
      <p:bldP spid="37" grpId="0"/>
      <p:bldP spid="38" grpId="0"/>
      <p:bldP spid="39" grpId="0"/>
      <p:bldP spid="51" grpId="0" animBg="1"/>
      <p:bldP spid="56" grpId="0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417639"/>
            <a:ext cx="8930706" cy="4460081"/>
          </a:xfr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05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41" y="412978"/>
            <a:ext cx="4817110" cy="6325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768111" y="6368720"/>
                <a:ext cx="2232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111" y="6368720"/>
                <a:ext cx="223266" cy="369332"/>
              </a:xfrm>
              <a:prstGeom prst="rect">
                <a:avLst/>
              </a:prstGeom>
              <a:blipFill>
                <a:blip r:embed="rId4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965056" y="4501820"/>
                <a:ext cx="3095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056" y="4501820"/>
                <a:ext cx="309507" cy="369332"/>
              </a:xfrm>
              <a:prstGeom prst="rect">
                <a:avLst/>
              </a:prstGeom>
              <a:blipFill>
                <a:blip r:embed="rId5"/>
                <a:stretch>
                  <a:fillRect l="-11765" r="-7843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7025872" y="3361226"/>
                <a:ext cx="345287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872" y="3361226"/>
                <a:ext cx="345287" cy="398955"/>
              </a:xfrm>
              <a:prstGeom prst="rect">
                <a:avLst/>
              </a:prstGeom>
              <a:blipFill>
                <a:blip r:embed="rId6"/>
                <a:stretch>
                  <a:fillRect l="-12500" r="-1607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974664" y="952448"/>
                <a:ext cx="3612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664" y="952448"/>
                <a:ext cx="361253" cy="369332"/>
              </a:xfrm>
              <a:prstGeom prst="rect">
                <a:avLst/>
              </a:prstGeom>
              <a:blipFill>
                <a:blip r:embed="rId7"/>
                <a:stretch>
                  <a:fillRect l="-11864" r="-1695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743254" y="5148800"/>
                <a:ext cx="671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254" y="5148800"/>
                <a:ext cx="671530" cy="369332"/>
              </a:xfrm>
              <a:prstGeom prst="rect">
                <a:avLst/>
              </a:prstGeom>
              <a:blipFill>
                <a:blip r:embed="rId8"/>
                <a:stretch>
                  <a:fillRect l="-10909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490491" y="4317154"/>
                <a:ext cx="743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491" y="4317154"/>
                <a:ext cx="743922" cy="369332"/>
              </a:xfrm>
              <a:prstGeom prst="rect">
                <a:avLst/>
              </a:prstGeom>
              <a:blipFill>
                <a:blip r:embed="rId9"/>
                <a:stretch>
                  <a:fillRect l="-14754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4695558" y="4665903"/>
            <a:ext cx="136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multiply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765677" y="952449"/>
            <a:ext cx="136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multiply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751130" y="1220875"/>
            <a:ext cx="3877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Activation function f is usually a sigmoid function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7021562" y="2125895"/>
            <a:ext cx="2874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Between 0 and 1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21561" y="2656216"/>
            <a:ext cx="392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Mimic open and close gate</a:t>
            </a:r>
            <a:endParaRPr lang="zh-TW" altLang="en-US" sz="2400" dirty="0"/>
          </a:p>
        </p:txBody>
      </p:sp>
      <p:sp>
        <p:nvSpPr>
          <p:cNvPr id="24" name="流程圖: 磁碟 23"/>
          <p:cNvSpPr/>
          <p:nvPr/>
        </p:nvSpPr>
        <p:spPr>
          <a:xfrm>
            <a:off x="4360943" y="3203643"/>
            <a:ext cx="622258" cy="648057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6639954" y="4035572"/>
                <a:ext cx="3772123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54" y="4035572"/>
                <a:ext cx="3772123" cy="4962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4489456" y="3401762"/>
            <a:ext cx="365233" cy="36523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739031" y="1682539"/>
                <a:ext cx="7501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031" y="1682539"/>
                <a:ext cx="750142" cy="369332"/>
              </a:xfrm>
              <a:prstGeom prst="rect">
                <a:avLst/>
              </a:prstGeom>
              <a:blipFill>
                <a:blip r:embed="rId11"/>
                <a:stretch>
                  <a:fillRect l="-9756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490491" y="1552343"/>
                <a:ext cx="7956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491" y="1552343"/>
                <a:ext cx="795666" cy="369332"/>
              </a:xfrm>
              <a:prstGeom prst="rect">
                <a:avLst/>
              </a:prstGeom>
              <a:blipFill>
                <a:blip r:embed="rId12"/>
                <a:stretch>
                  <a:fillRect l="-13846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862735" y="332873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35" y="332873"/>
                <a:ext cx="247952" cy="369332"/>
              </a:xfrm>
              <a:prstGeom prst="rect">
                <a:avLst/>
              </a:prstGeom>
              <a:blipFill>
                <a:blip r:embed="rId1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5110688" y="351079"/>
                <a:ext cx="1791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88" y="351079"/>
                <a:ext cx="1791581" cy="369332"/>
              </a:xfrm>
              <a:prstGeom prst="rect">
                <a:avLst/>
              </a:prstGeom>
              <a:blipFill>
                <a:blip r:embed="rId14"/>
                <a:stretch>
                  <a:fillRect l="-1361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706961" y="4292179"/>
                <a:ext cx="13465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961" y="4292179"/>
                <a:ext cx="1346522" cy="369332"/>
              </a:xfrm>
              <a:prstGeom prst="rect">
                <a:avLst/>
              </a:prstGeom>
              <a:blipFill>
                <a:blip r:embed="rId15"/>
                <a:stretch>
                  <a:fillRect l="-4977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3881" y="2594424"/>
            <a:ext cx="1057275" cy="228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流程圖: 磁碟 32"/>
              <p:cNvSpPr/>
              <p:nvPr/>
            </p:nvSpPr>
            <p:spPr>
              <a:xfrm>
                <a:off x="4368833" y="3214259"/>
                <a:ext cx="622258" cy="648057"/>
              </a:xfrm>
              <a:prstGeom prst="flowChartMagneticDisk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流程圖: 磁碟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33" y="3214259"/>
                <a:ext cx="622258" cy="648057"/>
              </a:xfrm>
              <a:prstGeom prst="flowChartMagneticDisk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168788" y="2995296"/>
            <a:ext cx="1133965" cy="24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499397" y="2842731"/>
                <a:ext cx="80073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397" y="2842731"/>
                <a:ext cx="800732" cy="42537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5060119" y="3750864"/>
                <a:ext cx="941796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119" y="3750864"/>
                <a:ext cx="941796" cy="42537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5060119" y="2873916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119" y="2873916"/>
                <a:ext cx="219740" cy="369332"/>
              </a:xfrm>
              <a:prstGeom prst="rect">
                <a:avLst/>
              </a:prstGeom>
              <a:blipFill>
                <a:blip r:embed="rId20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20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9" grpId="0"/>
      <p:bldP spid="30" grpId="0"/>
      <p:bldP spid="32" grpId="0"/>
      <p:bldP spid="27" grpId="0"/>
      <p:bldP spid="31" grpId="0"/>
      <p:bldP spid="33" grpId="0" animBg="1"/>
      <p:bldP spid="18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14" name="群組 113"/>
          <p:cNvGrpSpPr/>
          <p:nvPr/>
        </p:nvGrpSpPr>
        <p:grpSpPr>
          <a:xfrm>
            <a:off x="1489667" y="2117510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7" name="圖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123" y="1397245"/>
            <a:ext cx="1800290" cy="2363859"/>
          </a:xfrm>
          <a:prstGeom prst="rect">
            <a:avLst/>
          </a:prstGeom>
        </p:spPr>
      </p:pic>
      <p:pic>
        <p:nvPicPr>
          <p:cNvPr id="128" name="圖片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413" y="1397244"/>
            <a:ext cx="1800290" cy="2363859"/>
          </a:xfrm>
          <a:prstGeom prst="rect">
            <a:avLst/>
          </a:prstGeom>
        </p:spPr>
      </p:pic>
      <p:pic>
        <p:nvPicPr>
          <p:cNvPr id="129" name="圖片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060" y="1397244"/>
            <a:ext cx="1800290" cy="236385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7231923" y="2271117"/>
            <a:ext cx="965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4364917" y="2404833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矩形 129"/>
          <p:cNvSpPr/>
          <p:nvPr/>
        </p:nvSpPr>
        <p:spPr>
          <a:xfrm>
            <a:off x="6165207" y="2404833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/>
          <p:cNvSpPr/>
          <p:nvPr/>
        </p:nvSpPr>
        <p:spPr>
          <a:xfrm>
            <a:off x="9021091" y="2423995"/>
            <a:ext cx="329515" cy="310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668702" y="2625623"/>
            <a:ext cx="114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vector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132" name="群組 131"/>
          <p:cNvGrpSpPr/>
          <p:nvPr/>
        </p:nvGrpSpPr>
        <p:grpSpPr>
          <a:xfrm>
            <a:off x="3721222" y="5873237"/>
            <a:ext cx="907572" cy="461665"/>
            <a:chOff x="4765592" y="6396335"/>
            <a:chExt cx="907572" cy="461665"/>
          </a:xfrm>
        </p:grpSpPr>
        <p:sp>
          <p:nvSpPr>
            <p:cNvPr id="137" name="矩形 136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4161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41" name="矩形 140"/>
          <p:cNvSpPr/>
          <p:nvPr/>
        </p:nvSpPr>
        <p:spPr>
          <a:xfrm>
            <a:off x="3268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sp>
        <p:nvSpPr>
          <p:cNvPr id="143" name="矩形 142"/>
          <p:cNvSpPr/>
          <p:nvPr/>
        </p:nvSpPr>
        <p:spPr>
          <a:xfrm>
            <a:off x="2383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45" name="矩形 144"/>
          <p:cNvSpPr/>
          <p:nvPr/>
        </p:nvSpPr>
        <p:spPr>
          <a:xfrm>
            <a:off x="5045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sp>
        <p:nvSpPr>
          <p:cNvPr id="146" name="向下箭號 145"/>
          <p:cNvSpPr/>
          <p:nvPr/>
        </p:nvSpPr>
        <p:spPr>
          <a:xfrm rot="2610135" flipV="1">
            <a:off x="4936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向下箭號 146"/>
          <p:cNvSpPr/>
          <p:nvPr/>
        </p:nvSpPr>
        <p:spPr>
          <a:xfrm rot="19634133" flipV="1">
            <a:off x="3546419" y="5197307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向下箭號 147"/>
          <p:cNvSpPr/>
          <p:nvPr/>
        </p:nvSpPr>
        <p:spPr>
          <a:xfrm rot="1779305" flipV="1">
            <a:off x="4238297" y="5202696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向下箭號 149"/>
          <p:cNvSpPr/>
          <p:nvPr/>
        </p:nvSpPr>
        <p:spPr>
          <a:xfrm rot="18851723" flipV="1">
            <a:off x="2772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文字方塊 150"/>
          <p:cNvSpPr txBox="1"/>
          <p:nvPr/>
        </p:nvSpPr>
        <p:spPr>
          <a:xfrm>
            <a:off x="5736661" y="4719303"/>
            <a:ext cx="184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4 vectors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cxnSp>
        <p:nvCxnSpPr>
          <p:cNvPr id="10" name="直線單箭頭接點 9"/>
          <p:cNvCxnSpPr>
            <a:endCxn id="127" idx="2"/>
          </p:cNvCxnSpPr>
          <p:nvPr/>
        </p:nvCxnSpPr>
        <p:spPr>
          <a:xfrm flipH="1" flipV="1">
            <a:off x="4490268" y="3761103"/>
            <a:ext cx="8476" cy="100947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endCxn id="128" idx="2"/>
          </p:cNvCxnSpPr>
          <p:nvPr/>
        </p:nvCxnSpPr>
        <p:spPr>
          <a:xfrm flipV="1">
            <a:off x="4481406" y="3761103"/>
            <a:ext cx="1809152" cy="10013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stCxn id="140" idx="0"/>
            <a:endCxn id="129" idx="2"/>
          </p:cNvCxnSpPr>
          <p:nvPr/>
        </p:nvCxnSpPr>
        <p:spPr>
          <a:xfrm flipV="1">
            <a:off x="4521175" y="3761103"/>
            <a:ext cx="4618030" cy="97303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V="1">
            <a:off x="3616793" y="2936822"/>
            <a:ext cx="11537" cy="178979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 flipV="1">
            <a:off x="3594168" y="3002755"/>
            <a:ext cx="1865920" cy="173138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 flipV="1">
            <a:off x="3590123" y="3049202"/>
            <a:ext cx="4744252" cy="17057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33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0" grpId="0" animBg="1"/>
      <p:bldP spid="131" grpId="0" animBg="1"/>
      <p:bldP spid="8" grpId="0"/>
      <p:bldP spid="140" grpId="0" animBg="1"/>
      <p:bldP spid="141" grpId="0" animBg="1"/>
      <p:bldP spid="143" grpId="0" animBg="1"/>
      <p:bldP spid="145" grpId="0" animBg="1"/>
      <p:bldP spid="146" grpId="0" animBg="1"/>
      <p:bldP spid="147" grpId="0" animBg="1"/>
      <p:bldP spid="148" grpId="0" animBg="1"/>
      <p:bldP spid="150" grpId="0" animBg="1"/>
      <p:bldP spid="1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3721222" y="5873237"/>
            <a:ext cx="907572" cy="461665"/>
            <a:chOff x="4765592" y="6396335"/>
            <a:chExt cx="907572" cy="461665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4161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46" name="矩形 45"/>
          <p:cNvSpPr/>
          <p:nvPr/>
        </p:nvSpPr>
        <p:spPr>
          <a:xfrm>
            <a:off x="3268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3963114" y="3723923"/>
            <a:ext cx="438150" cy="438150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2383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5045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2524794" y="2751799"/>
            <a:ext cx="438150" cy="438150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3942100" y="2738582"/>
            <a:ext cx="438150" cy="438150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9565" r="-19565" b="-65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5200862" y="2747033"/>
            <a:ext cx="438150" cy="438150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5062504" y="1409486"/>
            <a:ext cx="72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980932" y="139509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219" y="3760796"/>
            <a:ext cx="371475" cy="371475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039" y="3757262"/>
            <a:ext cx="371475" cy="371475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644" y="3757261"/>
            <a:ext cx="371475" cy="371475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744" y="2764254"/>
            <a:ext cx="371475" cy="371475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2737028" y="4138592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2743190" y="316614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2988256" y="2957657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4182189" y="4162074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3603955" y="4125539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4179227" y="3111099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3766352" y="3929424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5405635" y="409815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5416960" y="318682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4420936" y="2949990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4979391" y="296228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5215643" y="1935577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4936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3546419" y="5197307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4238297" y="5202696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2772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4" name="群組 113"/>
          <p:cNvGrpSpPr/>
          <p:nvPr/>
        </p:nvGrpSpPr>
        <p:grpSpPr>
          <a:xfrm>
            <a:off x="1489667" y="2117510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手繪多邊形 4"/>
          <p:cNvSpPr/>
          <p:nvPr/>
        </p:nvSpPr>
        <p:spPr>
          <a:xfrm>
            <a:off x="2278743" y="2364898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7" name="圖片 1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885" y="1516559"/>
            <a:ext cx="3603520" cy="4731579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>
            <a:off x="8095952" y="6248137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29" name="矩形 128"/>
          <p:cNvSpPr/>
          <p:nvPr/>
        </p:nvSpPr>
        <p:spPr>
          <a:xfrm>
            <a:off x="6141831" y="4518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sp>
        <p:nvSpPr>
          <p:cNvPr id="130" name="矩形 129"/>
          <p:cNvSpPr/>
          <p:nvPr/>
        </p:nvSpPr>
        <p:spPr>
          <a:xfrm>
            <a:off x="9915431" y="3617274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31" name="矩形 130"/>
          <p:cNvSpPr/>
          <p:nvPr/>
        </p:nvSpPr>
        <p:spPr>
          <a:xfrm>
            <a:off x="6093859" y="187777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/>
      <p:bldP spid="16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</a:t>
            </a:r>
            <a:endParaRPr lang="zh-TW" altLang="en-US" dirty="0"/>
          </a:p>
        </p:txBody>
      </p:sp>
      <p:grpSp>
        <p:nvGrpSpPr>
          <p:cNvPr id="165" name="群組 164"/>
          <p:cNvGrpSpPr/>
          <p:nvPr/>
        </p:nvGrpSpPr>
        <p:grpSpPr>
          <a:xfrm>
            <a:off x="3721222" y="5873237"/>
            <a:ext cx="907572" cy="461665"/>
            <a:chOff x="4765592" y="6396335"/>
            <a:chExt cx="907572" cy="461665"/>
          </a:xfrm>
        </p:grpSpPr>
        <p:sp>
          <p:nvSpPr>
            <p:cNvPr id="42" name="矩形 4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t</a:t>
              </a:r>
              <a:endParaRPr lang="zh-TW" altLang="en-US" sz="2400" baseline="30000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4161175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46" name="矩形 45"/>
          <p:cNvSpPr/>
          <p:nvPr/>
        </p:nvSpPr>
        <p:spPr>
          <a:xfrm>
            <a:off x="326832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49" name="群組 48"/>
          <p:cNvGrpSpPr/>
          <p:nvPr/>
        </p:nvGrpSpPr>
        <p:grpSpPr>
          <a:xfrm>
            <a:off x="3963114" y="3723923"/>
            <a:ext cx="438150" cy="438150"/>
            <a:chOff x="6656524" y="2699227"/>
            <a:chExt cx="438150" cy="438150"/>
          </a:xfrm>
        </p:grpSpPr>
        <p:sp>
          <p:nvSpPr>
            <p:cNvPr id="47" name="橢圓 4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矩形 49"/>
          <p:cNvSpPr/>
          <p:nvPr/>
        </p:nvSpPr>
        <p:spPr>
          <a:xfrm>
            <a:off x="2383869" y="4734135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51" name="矩形 50"/>
          <p:cNvSpPr/>
          <p:nvPr/>
        </p:nvSpPr>
        <p:spPr>
          <a:xfrm>
            <a:off x="5045635" y="4739331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52" name="群組 51"/>
          <p:cNvGrpSpPr/>
          <p:nvPr/>
        </p:nvGrpSpPr>
        <p:grpSpPr>
          <a:xfrm>
            <a:off x="2524794" y="2751799"/>
            <a:ext cx="438150" cy="438150"/>
            <a:chOff x="6656524" y="2699227"/>
            <a:chExt cx="438150" cy="438150"/>
          </a:xfrm>
        </p:grpSpPr>
        <p:sp>
          <p:nvSpPr>
            <p:cNvPr id="53" name="橢圓 52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群組 54"/>
          <p:cNvGrpSpPr/>
          <p:nvPr/>
        </p:nvGrpSpPr>
        <p:grpSpPr>
          <a:xfrm>
            <a:off x="3942100" y="2738582"/>
            <a:ext cx="438150" cy="438150"/>
            <a:chOff x="6656524" y="2699227"/>
            <a:chExt cx="438150" cy="438150"/>
          </a:xfrm>
        </p:grpSpPr>
        <p:sp>
          <p:nvSpPr>
            <p:cNvPr id="56" name="橢圓 55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9565" r="-19565" b="-65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5200862" y="2747033"/>
            <a:ext cx="438150" cy="438150"/>
            <a:chOff x="6656524" y="2699227"/>
            <a:chExt cx="438150" cy="438150"/>
          </a:xfrm>
        </p:grpSpPr>
        <p:sp>
          <p:nvSpPr>
            <p:cNvPr id="59" name="橢圓 58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字方塊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9444" r="-16667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矩形 61"/>
          <p:cNvSpPr/>
          <p:nvPr/>
        </p:nvSpPr>
        <p:spPr>
          <a:xfrm>
            <a:off x="5062504" y="1409486"/>
            <a:ext cx="72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980932" y="139509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y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219" y="3760796"/>
            <a:ext cx="371475" cy="371475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039" y="3757262"/>
            <a:ext cx="371475" cy="371475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644" y="3757261"/>
            <a:ext cx="371475" cy="371475"/>
          </a:xfrm>
          <a:prstGeom prst="rect">
            <a:avLst/>
          </a:prstGeom>
        </p:spPr>
      </p:pic>
      <p:pic>
        <p:nvPicPr>
          <p:cNvPr id="136" name="圖片 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744" y="2764254"/>
            <a:ext cx="371475" cy="371475"/>
          </a:xfrm>
          <a:prstGeom prst="rect">
            <a:avLst/>
          </a:prstGeom>
        </p:spPr>
      </p:pic>
      <p:cxnSp>
        <p:nvCxnSpPr>
          <p:cNvPr id="139" name="直線單箭頭接點 138"/>
          <p:cNvCxnSpPr/>
          <p:nvPr/>
        </p:nvCxnSpPr>
        <p:spPr>
          <a:xfrm flipH="1" flipV="1">
            <a:off x="2737028" y="4138592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/>
          <p:nvPr/>
        </p:nvCxnSpPr>
        <p:spPr>
          <a:xfrm flipH="1" flipV="1">
            <a:off x="2743190" y="3166148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endCxn id="56" idx="2"/>
          </p:cNvCxnSpPr>
          <p:nvPr/>
        </p:nvCxnSpPr>
        <p:spPr>
          <a:xfrm flipV="1">
            <a:off x="2988256" y="2957657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47" idx="4"/>
          </p:cNvCxnSpPr>
          <p:nvPr/>
        </p:nvCxnSpPr>
        <p:spPr>
          <a:xfrm flipH="1" flipV="1">
            <a:off x="4182189" y="4162074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3603955" y="4125539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4179227" y="3111099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>
            <a:endCxn id="47" idx="2"/>
          </p:cNvCxnSpPr>
          <p:nvPr/>
        </p:nvCxnSpPr>
        <p:spPr>
          <a:xfrm>
            <a:off x="3766352" y="3929424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5405635" y="409815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5416960" y="318682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4420936" y="2949990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4979391" y="296228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向下箭號 161"/>
          <p:cNvSpPr/>
          <p:nvPr/>
        </p:nvSpPr>
        <p:spPr>
          <a:xfrm flipV="1">
            <a:off x="5215643" y="1935577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向下箭號 162"/>
          <p:cNvSpPr/>
          <p:nvPr/>
        </p:nvSpPr>
        <p:spPr>
          <a:xfrm rot="2610135" flipV="1">
            <a:off x="4936627" y="5176513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向下箭號 163"/>
          <p:cNvSpPr/>
          <p:nvPr/>
        </p:nvSpPr>
        <p:spPr>
          <a:xfrm rot="19634133" flipV="1">
            <a:off x="3546419" y="5197307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向下箭號 165"/>
          <p:cNvSpPr/>
          <p:nvPr/>
        </p:nvSpPr>
        <p:spPr>
          <a:xfrm rot="1779305" flipV="1">
            <a:off x="4238297" y="5202696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向下箭號 166"/>
          <p:cNvSpPr/>
          <p:nvPr/>
        </p:nvSpPr>
        <p:spPr>
          <a:xfrm rot="18851723" flipV="1">
            <a:off x="2772914" y="5165149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1" name="群組 170"/>
          <p:cNvGrpSpPr/>
          <p:nvPr/>
        </p:nvGrpSpPr>
        <p:grpSpPr>
          <a:xfrm>
            <a:off x="7770925" y="5876095"/>
            <a:ext cx="907572" cy="461665"/>
            <a:chOff x="4765592" y="6396335"/>
            <a:chExt cx="907572" cy="461665"/>
          </a:xfrm>
        </p:grpSpPr>
        <p:sp>
          <p:nvSpPr>
            <p:cNvPr id="172" name="矩形 171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文字方塊 172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t+1</a:t>
              </a:r>
              <a:endParaRPr lang="zh-TW" altLang="en-US" sz="2400" baseline="30000" dirty="0"/>
            </a:p>
          </p:txBody>
        </p:sp>
      </p:grpSp>
      <p:sp>
        <p:nvSpPr>
          <p:cNvPr id="174" name="矩形 173"/>
          <p:cNvSpPr/>
          <p:nvPr/>
        </p:nvSpPr>
        <p:spPr>
          <a:xfrm>
            <a:off x="8210878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endParaRPr lang="zh-TW" altLang="en-US" sz="2400" dirty="0"/>
          </a:p>
        </p:txBody>
      </p:sp>
      <p:sp>
        <p:nvSpPr>
          <p:cNvPr id="175" name="矩形 174"/>
          <p:cNvSpPr/>
          <p:nvPr/>
        </p:nvSpPr>
        <p:spPr>
          <a:xfrm>
            <a:off x="7318032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i</a:t>
            </a:r>
            <a:endParaRPr lang="zh-TW" altLang="en-US" sz="2400" baseline="30000" dirty="0"/>
          </a:p>
        </p:txBody>
      </p:sp>
      <p:grpSp>
        <p:nvGrpSpPr>
          <p:cNvPr id="176" name="群組 175"/>
          <p:cNvGrpSpPr/>
          <p:nvPr/>
        </p:nvGrpSpPr>
        <p:grpSpPr>
          <a:xfrm>
            <a:off x="8012817" y="3726781"/>
            <a:ext cx="438150" cy="438150"/>
            <a:chOff x="6656524" y="2699227"/>
            <a:chExt cx="438150" cy="438150"/>
          </a:xfrm>
        </p:grpSpPr>
        <p:sp>
          <p:nvSpPr>
            <p:cNvPr id="177" name="橢圓 17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字方塊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9" name="矩形 178"/>
          <p:cNvSpPr/>
          <p:nvPr/>
        </p:nvSpPr>
        <p:spPr>
          <a:xfrm>
            <a:off x="6433572" y="4736993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z</a:t>
            </a:r>
            <a:r>
              <a:rPr lang="en-US" altLang="zh-TW" sz="2400" baseline="30000" dirty="0" err="1"/>
              <a:t>f</a:t>
            </a:r>
            <a:endParaRPr lang="zh-TW" altLang="en-US" sz="2400" baseline="30000" dirty="0"/>
          </a:p>
        </p:txBody>
      </p:sp>
      <p:sp>
        <p:nvSpPr>
          <p:cNvPr id="180" name="矩形 179"/>
          <p:cNvSpPr/>
          <p:nvPr/>
        </p:nvSpPr>
        <p:spPr>
          <a:xfrm>
            <a:off x="9095338" y="4742189"/>
            <a:ext cx="72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z</a:t>
            </a:r>
            <a:r>
              <a:rPr lang="en-US" altLang="zh-TW" sz="2400" baseline="30000" dirty="0"/>
              <a:t>o</a:t>
            </a:r>
            <a:endParaRPr lang="zh-TW" altLang="en-US" sz="2400" baseline="30000" dirty="0"/>
          </a:p>
        </p:txBody>
      </p:sp>
      <p:grpSp>
        <p:nvGrpSpPr>
          <p:cNvPr id="181" name="群組 180"/>
          <p:cNvGrpSpPr/>
          <p:nvPr/>
        </p:nvGrpSpPr>
        <p:grpSpPr>
          <a:xfrm>
            <a:off x="6574497" y="2754657"/>
            <a:ext cx="438150" cy="438150"/>
            <a:chOff x="6656524" y="2699227"/>
            <a:chExt cx="438150" cy="438150"/>
          </a:xfrm>
        </p:grpSpPr>
        <p:sp>
          <p:nvSpPr>
            <p:cNvPr id="182" name="橢圓 181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字方塊 182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文字方塊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20000" r="-20000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群組 183"/>
          <p:cNvGrpSpPr/>
          <p:nvPr/>
        </p:nvGrpSpPr>
        <p:grpSpPr>
          <a:xfrm>
            <a:off x="7991803" y="2741440"/>
            <a:ext cx="438150" cy="438150"/>
            <a:chOff x="6656524" y="2699227"/>
            <a:chExt cx="438150" cy="438150"/>
          </a:xfrm>
        </p:grpSpPr>
        <p:sp>
          <p:nvSpPr>
            <p:cNvPr id="185" name="橢圓 184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字方塊 185"/>
                <p:cNvSpPr txBox="1"/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＋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字方塊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83732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9149" r="-17021" b="-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群組 186"/>
          <p:cNvGrpSpPr/>
          <p:nvPr/>
        </p:nvGrpSpPr>
        <p:grpSpPr>
          <a:xfrm>
            <a:off x="9250565" y="2749891"/>
            <a:ext cx="438150" cy="438150"/>
            <a:chOff x="6656524" y="2699227"/>
            <a:chExt cx="438150" cy="438150"/>
          </a:xfrm>
        </p:grpSpPr>
        <p:sp>
          <p:nvSpPr>
            <p:cNvPr id="188" name="橢圓 187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字方塊 188"/>
                <p:cNvSpPr txBox="1"/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文字方塊 1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6595" y="2808578"/>
                  <a:ext cx="218008" cy="276999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20000" r="-20000" b="-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7" name="群組 226"/>
          <p:cNvGrpSpPr/>
          <p:nvPr/>
        </p:nvGrpSpPr>
        <p:grpSpPr>
          <a:xfrm>
            <a:off x="9057985" y="1397856"/>
            <a:ext cx="907572" cy="461665"/>
            <a:chOff x="7533985" y="1397855"/>
            <a:chExt cx="907572" cy="461665"/>
          </a:xfrm>
        </p:grpSpPr>
        <p:sp>
          <p:nvSpPr>
            <p:cNvPr id="190" name="矩形 189"/>
            <p:cNvSpPr/>
            <p:nvPr/>
          </p:nvSpPr>
          <p:spPr>
            <a:xfrm>
              <a:off x="7588207" y="1412344"/>
              <a:ext cx="720000" cy="432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7533985" y="139785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t+1</a:t>
              </a:r>
              <a:endParaRPr lang="zh-TW" altLang="en-US" sz="2400" baseline="30000" dirty="0"/>
            </a:p>
          </p:txBody>
        </p:sp>
      </p:grpSp>
      <p:pic>
        <p:nvPicPr>
          <p:cNvPr id="192" name="圖片 1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922" y="3763654"/>
            <a:ext cx="371475" cy="371475"/>
          </a:xfrm>
          <a:prstGeom prst="rect">
            <a:avLst/>
          </a:prstGeom>
        </p:spPr>
      </p:pic>
      <p:pic>
        <p:nvPicPr>
          <p:cNvPr id="193" name="圖片 1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742" y="3760120"/>
            <a:ext cx="371475" cy="371475"/>
          </a:xfrm>
          <a:prstGeom prst="rect">
            <a:avLst/>
          </a:prstGeom>
        </p:spPr>
      </p:pic>
      <p:pic>
        <p:nvPicPr>
          <p:cNvPr id="194" name="圖片 19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5347" y="3760119"/>
            <a:ext cx="371475" cy="371475"/>
          </a:xfrm>
          <a:prstGeom prst="rect">
            <a:avLst/>
          </a:prstGeom>
        </p:spPr>
      </p:pic>
      <p:pic>
        <p:nvPicPr>
          <p:cNvPr id="195" name="圖片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447" y="2767112"/>
            <a:ext cx="371475" cy="371475"/>
          </a:xfrm>
          <a:prstGeom prst="rect">
            <a:avLst/>
          </a:prstGeom>
        </p:spPr>
      </p:pic>
      <p:cxnSp>
        <p:nvCxnSpPr>
          <p:cNvPr id="196" name="直線單箭頭接點 195"/>
          <p:cNvCxnSpPr/>
          <p:nvPr/>
        </p:nvCxnSpPr>
        <p:spPr>
          <a:xfrm flipH="1" flipV="1">
            <a:off x="6786731" y="4141450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H="1" flipV="1">
            <a:off x="6792893" y="3169006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單箭頭接點 197"/>
          <p:cNvCxnSpPr>
            <a:endCxn id="185" idx="2"/>
          </p:cNvCxnSpPr>
          <p:nvPr/>
        </p:nvCxnSpPr>
        <p:spPr>
          <a:xfrm flipV="1">
            <a:off x="7037959" y="2960515"/>
            <a:ext cx="95384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單箭頭接點 198"/>
          <p:cNvCxnSpPr>
            <a:endCxn id="177" idx="4"/>
          </p:cNvCxnSpPr>
          <p:nvPr/>
        </p:nvCxnSpPr>
        <p:spPr>
          <a:xfrm flipH="1" flipV="1">
            <a:off x="8231892" y="4164932"/>
            <a:ext cx="295984" cy="54883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/>
          <p:nvPr/>
        </p:nvCxnSpPr>
        <p:spPr>
          <a:xfrm flipH="1" flipV="1">
            <a:off x="7653658" y="412839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單箭頭接點 200"/>
          <p:cNvCxnSpPr/>
          <p:nvPr/>
        </p:nvCxnSpPr>
        <p:spPr>
          <a:xfrm flipH="1" flipV="1">
            <a:off x="8228930" y="3113957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/>
          <p:cNvCxnSpPr>
            <a:endCxn id="177" idx="2"/>
          </p:cNvCxnSpPr>
          <p:nvPr/>
        </p:nvCxnSpPr>
        <p:spPr>
          <a:xfrm>
            <a:off x="7816055" y="3932282"/>
            <a:ext cx="196762" cy="135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/>
          <p:cNvCxnSpPr/>
          <p:nvPr/>
        </p:nvCxnSpPr>
        <p:spPr>
          <a:xfrm flipH="1" flipV="1">
            <a:off x="9455338" y="4101014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/>
          <p:cNvCxnSpPr/>
          <p:nvPr/>
        </p:nvCxnSpPr>
        <p:spPr>
          <a:xfrm flipH="1" flipV="1">
            <a:off x="9466663" y="3189685"/>
            <a:ext cx="1" cy="576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單箭頭接點 204"/>
          <p:cNvCxnSpPr/>
          <p:nvPr/>
        </p:nvCxnSpPr>
        <p:spPr>
          <a:xfrm>
            <a:off x="8470639" y="2952848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/>
          <p:nvPr/>
        </p:nvCxnSpPr>
        <p:spPr>
          <a:xfrm>
            <a:off x="9029094" y="2965146"/>
            <a:ext cx="275067" cy="189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向下箭號 206"/>
          <p:cNvSpPr/>
          <p:nvPr/>
        </p:nvSpPr>
        <p:spPr>
          <a:xfrm flipV="1">
            <a:off x="9265346" y="1938435"/>
            <a:ext cx="438150" cy="74839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向下箭號 207"/>
          <p:cNvSpPr/>
          <p:nvPr/>
        </p:nvSpPr>
        <p:spPr>
          <a:xfrm rot="2610135" flipV="1">
            <a:off x="8986330" y="5179371"/>
            <a:ext cx="438150" cy="748396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向下箭號 208"/>
          <p:cNvSpPr/>
          <p:nvPr/>
        </p:nvSpPr>
        <p:spPr>
          <a:xfrm rot="19634133" flipV="1">
            <a:off x="7596122" y="5200165"/>
            <a:ext cx="438150" cy="625209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0" name="向下箭號 209"/>
          <p:cNvSpPr/>
          <p:nvPr/>
        </p:nvSpPr>
        <p:spPr>
          <a:xfrm rot="1779305" flipV="1">
            <a:off x="8288000" y="5205554"/>
            <a:ext cx="438150" cy="606679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1" name="向下箭號 210"/>
          <p:cNvSpPr/>
          <p:nvPr/>
        </p:nvSpPr>
        <p:spPr>
          <a:xfrm rot="18851723" flipV="1">
            <a:off x="6822617" y="5168007"/>
            <a:ext cx="438150" cy="74839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3" name="群組 212"/>
          <p:cNvGrpSpPr/>
          <p:nvPr/>
        </p:nvGrpSpPr>
        <p:grpSpPr>
          <a:xfrm>
            <a:off x="6950810" y="5885753"/>
            <a:ext cx="907572" cy="461665"/>
            <a:chOff x="4765592" y="6396335"/>
            <a:chExt cx="907572" cy="461665"/>
          </a:xfrm>
        </p:grpSpPr>
        <p:sp>
          <p:nvSpPr>
            <p:cNvPr id="214" name="矩形 213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5" name="文字方塊 214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bg1"/>
                  </a:solidFill>
                </a:rPr>
                <a:t>h</a:t>
              </a:r>
              <a:r>
                <a:rPr lang="en-US" altLang="zh-TW" sz="2400" baseline="30000" dirty="0" err="1">
                  <a:solidFill>
                    <a:schemeClr val="bg1"/>
                  </a:solidFill>
                </a:rPr>
                <a:t>t</a:t>
              </a:r>
              <a:endParaRPr lang="zh-TW" altLang="en-US" sz="2400" baseline="30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9" name="文字方塊 218"/>
          <p:cNvSpPr txBox="1"/>
          <p:nvPr/>
        </p:nvSpPr>
        <p:spPr>
          <a:xfrm>
            <a:off x="6027344" y="541543"/>
            <a:ext cx="3028573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Extension: “peephole”</a:t>
            </a:r>
            <a:endParaRPr lang="zh-TW" altLang="en-US" sz="2400" dirty="0"/>
          </a:p>
        </p:txBody>
      </p:sp>
      <p:grpSp>
        <p:nvGrpSpPr>
          <p:cNvPr id="220" name="群組 219"/>
          <p:cNvGrpSpPr/>
          <p:nvPr/>
        </p:nvGrpSpPr>
        <p:grpSpPr>
          <a:xfrm>
            <a:off x="2925513" y="5863538"/>
            <a:ext cx="907572" cy="461665"/>
            <a:chOff x="4765592" y="6396335"/>
            <a:chExt cx="907572" cy="461665"/>
          </a:xfrm>
        </p:grpSpPr>
        <p:sp>
          <p:nvSpPr>
            <p:cNvPr id="221" name="矩形 2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4765592" y="6396335"/>
              <a:ext cx="907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bg1"/>
                  </a:solidFill>
                </a:rPr>
                <a:t>h</a:t>
              </a:r>
              <a:r>
                <a:rPr lang="en-US" altLang="zh-TW" sz="2400" baseline="30000" dirty="0">
                  <a:solidFill>
                    <a:schemeClr val="bg1"/>
                  </a:solidFill>
                </a:rPr>
                <a:t>t-1</a:t>
              </a:r>
              <a:endParaRPr lang="zh-TW" altLang="en-US" sz="2400" baseline="30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2" name="群組 101"/>
          <p:cNvGrpSpPr/>
          <p:nvPr/>
        </p:nvGrpSpPr>
        <p:grpSpPr>
          <a:xfrm>
            <a:off x="6123806" y="5873236"/>
            <a:ext cx="907572" cy="461665"/>
            <a:chOff x="4775004" y="6396335"/>
            <a:chExt cx="907572" cy="461665"/>
          </a:xfrm>
        </p:grpSpPr>
        <p:sp>
          <p:nvSpPr>
            <p:cNvPr id="103" name="矩形 102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6" name="手繪多邊形 105"/>
          <p:cNvSpPr/>
          <p:nvPr/>
        </p:nvSpPr>
        <p:spPr>
          <a:xfrm>
            <a:off x="9716590" y="2907527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1465091" y="2943495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8" name="群組 107"/>
          <p:cNvGrpSpPr/>
          <p:nvPr/>
        </p:nvGrpSpPr>
        <p:grpSpPr>
          <a:xfrm>
            <a:off x="2010959" y="5850147"/>
            <a:ext cx="907572" cy="461665"/>
            <a:chOff x="4775004" y="6396335"/>
            <a:chExt cx="907572" cy="461665"/>
          </a:xfrm>
        </p:grpSpPr>
        <p:sp>
          <p:nvSpPr>
            <p:cNvPr id="109" name="矩形 108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1" name="手繪多邊形 110"/>
          <p:cNvSpPr/>
          <p:nvPr/>
        </p:nvSpPr>
        <p:spPr>
          <a:xfrm>
            <a:off x="5683580" y="3012158"/>
            <a:ext cx="1486237" cy="2920042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4" name="群組 113"/>
          <p:cNvGrpSpPr/>
          <p:nvPr/>
        </p:nvGrpSpPr>
        <p:grpSpPr>
          <a:xfrm>
            <a:off x="1489667" y="2117510"/>
            <a:ext cx="907572" cy="461665"/>
            <a:chOff x="4775004" y="6396335"/>
            <a:chExt cx="907572" cy="461665"/>
          </a:xfrm>
        </p:grpSpPr>
        <p:sp>
          <p:nvSpPr>
            <p:cNvPr id="115" name="矩形 114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t-1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5679655" y="2078943"/>
            <a:ext cx="907572" cy="461665"/>
            <a:chOff x="4775004" y="6396335"/>
            <a:chExt cx="907572" cy="461665"/>
          </a:xfrm>
        </p:grpSpPr>
        <p:sp>
          <p:nvSpPr>
            <p:cNvPr id="118" name="矩形 117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 err="1">
                  <a:solidFill>
                    <a:schemeClr val="tx1"/>
                  </a:solidFill>
                </a:rPr>
                <a:t>t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9860918" y="2096101"/>
            <a:ext cx="907572" cy="461665"/>
            <a:chOff x="4775004" y="6396335"/>
            <a:chExt cx="907572" cy="461665"/>
          </a:xfrm>
        </p:grpSpPr>
        <p:sp>
          <p:nvSpPr>
            <p:cNvPr id="121" name="矩形 120"/>
            <p:cNvSpPr/>
            <p:nvPr/>
          </p:nvSpPr>
          <p:spPr>
            <a:xfrm>
              <a:off x="4823114" y="6442783"/>
              <a:ext cx="720000" cy="36877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c</a:t>
              </a:r>
              <a:r>
                <a:rPr lang="en-US" altLang="zh-TW" sz="2400" baseline="30000" dirty="0">
                  <a:solidFill>
                    <a:schemeClr val="tx1"/>
                  </a:solidFill>
                </a:rPr>
                <a:t>t+1</a:t>
              </a:r>
              <a:endParaRPr lang="zh-TW" altLang="en-US" sz="2400" baseline="30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手繪多邊形 2"/>
          <p:cNvSpPr/>
          <p:nvPr/>
        </p:nvSpPr>
        <p:spPr>
          <a:xfrm>
            <a:off x="4180114" y="2335943"/>
            <a:ext cx="1625600" cy="378228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手繪多邊形 122"/>
          <p:cNvSpPr/>
          <p:nvPr/>
        </p:nvSpPr>
        <p:spPr>
          <a:xfrm>
            <a:off x="8282538" y="2329104"/>
            <a:ext cx="1625600" cy="378228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 3"/>
          <p:cNvSpPr/>
          <p:nvPr/>
        </p:nvSpPr>
        <p:spPr>
          <a:xfrm>
            <a:off x="1886857" y="2481944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手繪多邊形 123"/>
          <p:cNvSpPr/>
          <p:nvPr/>
        </p:nvSpPr>
        <p:spPr>
          <a:xfrm>
            <a:off x="6044854" y="2518219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2278743" y="2364898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手繪多邊形 124"/>
          <p:cNvSpPr/>
          <p:nvPr/>
        </p:nvSpPr>
        <p:spPr>
          <a:xfrm rot="523080">
            <a:off x="6409987" y="2356876"/>
            <a:ext cx="435428" cy="378302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手繪多邊形 125"/>
          <p:cNvSpPr/>
          <p:nvPr/>
        </p:nvSpPr>
        <p:spPr>
          <a:xfrm>
            <a:off x="10308519" y="2564611"/>
            <a:ext cx="522514" cy="3381829"/>
          </a:xfrm>
          <a:custGeom>
            <a:avLst/>
            <a:gdLst>
              <a:gd name="connsiteX0" fmla="*/ 0 w 522514"/>
              <a:gd name="connsiteY0" fmla="*/ 0 h 3381829"/>
              <a:gd name="connsiteX1" fmla="*/ 522514 w 522514"/>
              <a:gd name="connsiteY1" fmla="*/ 3381829 h 338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3381829">
                <a:moveTo>
                  <a:pt x="0" y="0"/>
                </a:moveTo>
                <a:lnTo>
                  <a:pt x="522514" y="3381829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76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5" grpId="0" animBg="1"/>
      <p:bldP spid="179" grpId="0" animBg="1"/>
      <p:bldP spid="180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9" grpId="0" animBg="1"/>
      <p:bldP spid="106" grpId="0" animBg="1"/>
      <p:bldP spid="107" grpId="0" animBg="1"/>
      <p:bldP spid="111" grpId="0" animBg="1"/>
      <p:bldP spid="3" grpId="0" animBg="1"/>
      <p:bldP spid="123" grpId="0" animBg="1"/>
      <p:bldP spid="4" grpId="0" animBg="1"/>
      <p:bldP spid="124" grpId="0" animBg="1"/>
      <p:bldP spid="125" grpId="0" animBg="1"/>
      <p:bldP spid="1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16523"/>
            <a:ext cx="10515600" cy="5860440"/>
          </a:xfrm>
        </p:spPr>
        <p:txBody>
          <a:bodyPr/>
          <a:lstStyle/>
          <a:p>
            <a:r>
              <a:rPr lang="en-US" altLang="zh-TW" b="1"/>
              <a:t>five variations of </a:t>
            </a:r>
            <a:r>
              <a:rPr lang="en-US" altLang="zh-TW" b="1" smtClean="0"/>
              <a:t>RNNs</a:t>
            </a:r>
          </a:p>
          <a:p>
            <a:pPr lvl="1"/>
            <a:r>
              <a:rPr lang="en-US" altLang="zh-TW" b="1" smtClean="0"/>
              <a:t>one </a:t>
            </a:r>
            <a:r>
              <a:rPr lang="en-US" altLang="zh-TW" b="1"/>
              <a:t>to many: </a:t>
            </a:r>
            <a:r>
              <a:rPr lang="en-US" altLang="zh-TW"/>
              <a:t>image -&gt; caption </a:t>
            </a:r>
            <a:r>
              <a:rPr lang="en-US" altLang="zh-TW" smtClean="0"/>
              <a:t>sentence</a:t>
            </a:r>
          </a:p>
          <a:p>
            <a:pPr lvl="1"/>
            <a:r>
              <a:rPr lang="en-US" altLang="zh-TW" b="1" smtClean="0"/>
              <a:t>many </a:t>
            </a:r>
            <a:r>
              <a:rPr lang="en-US" altLang="zh-TW" b="1"/>
              <a:t>to one: </a:t>
            </a:r>
            <a:r>
              <a:rPr lang="en-US" altLang="zh-TW"/>
              <a:t>sentence -&gt; sentiment (positive / negative </a:t>
            </a:r>
            <a:r>
              <a:rPr lang="en-US" altLang="zh-TW" smtClean="0"/>
              <a:t>label)</a:t>
            </a:r>
          </a:p>
          <a:p>
            <a:pPr lvl="1"/>
            <a:r>
              <a:rPr lang="en-US" altLang="zh-TW" b="1" smtClean="0"/>
              <a:t>many </a:t>
            </a:r>
            <a:r>
              <a:rPr lang="en-US" altLang="zh-TW" b="1"/>
              <a:t>to many:</a:t>
            </a:r>
            <a:r>
              <a:rPr lang="en-US" altLang="zh-TW"/>
              <a:t> a sentence in English -&gt; a sentence in </a:t>
            </a:r>
            <a:r>
              <a:rPr lang="en-US" altLang="zh-TW" smtClean="0"/>
              <a:t>Turkish</a:t>
            </a:r>
          </a:p>
          <a:p>
            <a:pPr lvl="1"/>
            <a:r>
              <a:rPr lang="en-US" altLang="zh-TW" b="1" smtClean="0"/>
              <a:t>the </a:t>
            </a:r>
            <a:r>
              <a:rPr lang="en-US" altLang="zh-TW" b="1"/>
              <a:t>other many to many: </a:t>
            </a:r>
            <a:r>
              <a:rPr lang="en-US" altLang="zh-TW"/>
              <a:t>frames of video -&gt; coordinates of bounding boxes around an object</a:t>
            </a:r>
            <a:endParaRPr lang="zh-TW" altLang="en-US"/>
          </a:p>
        </p:txBody>
      </p:sp>
      <p:pic>
        <p:nvPicPr>
          <p:cNvPr id="1026" name="Picture 2" descr="https://miro.medium.com/max/2236/1*SDYrtsaNKU28qbd9dccPc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4120"/>
            <a:ext cx="9955823" cy="309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755249" y="6444760"/>
            <a:ext cx="9436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>
                <a:hlinkClick r:id="rId3"/>
              </a:rPr>
              <a:t>https://</a:t>
            </a:r>
            <a:r>
              <a:rPr lang="en-US" altLang="zh-TW" sz="1400" smtClean="0">
                <a:hlinkClick r:id="rId3"/>
              </a:rPr>
              <a:t>towardsdatascience.com/introduction-to-rnns-sequence-to-sequence-language-translation-and-attention-fc43ef2cc3fd</a:t>
            </a:r>
            <a:endParaRPr lang="zh-TW" altLang="en-US" sz="14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08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Neural </a:t>
            </a:r>
            <a:r>
              <a:rPr lang="en-US" altLang="zh-TW"/>
              <a:t>network for POS tagging</a:t>
            </a:r>
            <a:endParaRPr lang="zh-TW" altLang="en-US"/>
          </a:p>
        </p:txBody>
      </p:sp>
      <p:pic>
        <p:nvPicPr>
          <p:cNvPr id="3074" name="Picture 2" descr="Illustration of our neural network for POS tagging.  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915" y="1314973"/>
            <a:ext cx="5761404" cy="510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617785" y="6416674"/>
            <a:ext cx="104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>
                <a:hlinkClick r:id="rId3"/>
              </a:rPr>
              <a:t>https://</a:t>
            </a:r>
            <a:r>
              <a:rPr lang="en-US" altLang="zh-TW" sz="1200" smtClean="0">
                <a:hlinkClick r:id="rId3"/>
              </a:rPr>
              <a:t>www.researchgate.net/publication/280912217_Finding_Function_in_Form_Compositional_Character_Models_for_Open_Vocabulary_Word_Representation</a:t>
            </a:r>
            <a:r>
              <a:rPr lang="zh-TW" altLang="en-US" sz="1200" smtClean="0"/>
              <a:t> </a:t>
            </a:r>
            <a:endParaRPr lang="zh-TW" altLang="en-US" sz="120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13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Sequence </a:t>
            </a:r>
            <a:r>
              <a:rPr lang="en-US" altLang="zh-TW"/>
              <a:t>to Sequence</a:t>
            </a:r>
            <a:endParaRPr lang="zh-TW" altLang="en-US"/>
          </a:p>
        </p:txBody>
      </p:sp>
      <p:pic>
        <p:nvPicPr>
          <p:cNvPr id="2050" name="Picture 2" descr="https://miro.medium.com/max/2868/1*0vSZhReamsgVas2brl1dF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88" y="1943100"/>
            <a:ext cx="10173624" cy="451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86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Jena Climate Dataset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Recorded </a:t>
            </a:r>
            <a:r>
              <a:rPr lang="en-US" altLang="zh-TW"/>
              <a:t>every </a:t>
            </a:r>
            <a:r>
              <a:rPr lang="en-US" altLang="zh-TW"/>
              <a:t>10 </a:t>
            </a:r>
            <a:r>
              <a:rPr lang="en-US" altLang="zh-TW" smtClean="0"/>
              <a:t>minutes</a:t>
            </a:r>
          </a:p>
          <a:p>
            <a:r>
              <a:rPr lang="en-US" altLang="zh-TW" smtClean="0"/>
              <a:t>14 </a:t>
            </a:r>
            <a:r>
              <a:rPr lang="en-US" altLang="zh-TW"/>
              <a:t>different </a:t>
            </a:r>
            <a:r>
              <a:rPr lang="en-US" altLang="zh-TW" smtClean="0"/>
              <a:t>quantities</a:t>
            </a:r>
          </a:p>
          <a:p>
            <a:r>
              <a:rPr lang="en-US" altLang="zh-TW" smtClean="0"/>
              <a:t>From </a:t>
            </a:r>
            <a:r>
              <a:rPr lang="en-US" altLang="zh-TW"/>
              <a:t>January 1st 2009 to December </a:t>
            </a:r>
            <a:r>
              <a:rPr lang="en-US" altLang="zh-TW"/>
              <a:t>31st </a:t>
            </a:r>
            <a:r>
              <a:rPr lang="en-US" altLang="zh-TW" smtClean="0"/>
              <a:t>2016</a:t>
            </a:r>
          </a:p>
          <a:p>
            <a:r>
              <a:rPr lang="en-US" altLang="zh-TW">
                <a:hlinkClick r:id="rId2"/>
              </a:rPr>
              <a:t>https</a:t>
            </a:r>
            <a:r>
              <a:rPr lang="en-US" altLang="zh-TW">
                <a:hlinkClick r:id="rId2"/>
              </a:rPr>
              <a:t>://</a:t>
            </a:r>
            <a:r>
              <a:rPr lang="en-US" altLang="zh-TW" smtClean="0">
                <a:hlinkClick r:id="rId2"/>
              </a:rPr>
              <a:t>www.kaggle.com/datasets/mnassrib/jena-climate</a:t>
            </a:r>
            <a:endParaRPr lang="en-US" altLang="zh-TW" smtClean="0"/>
          </a:p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912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190048"/>
            <a:ext cx="9602540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3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14" y="160815"/>
            <a:ext cx="4485447" cy="625978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533" y="160815"/>
            <a:ext cx="5676645" cy="61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93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13" y="114291"/>
            <a:ext cx="5141249" cy="6171690"/>
          </a:xfrm>
          <a:prstGeom prst="rect">
            <a:avLst/>
          </a:prstGeom>
        </p:spPr>
      </p:pic>
      <p:sp>
        <p:nvSpPr>
          <p:cNvPr id="4" name="內容版面配置區 2"/>
          <p:cNvSpPr txBox="1">
            <a:spLocks/>
          </p:cNvSpPr>
          <p:nvPr/>
        </p:nvSpPr>
        <p:spPr>
          <a:xfrm>
            <a:off x="5846884" y="281354"/>
            <a:ext cx="5506915" cy="58956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/>
              <a:t>Given 5 days weather data, predict the temperature after 24 hours</a:t>
            </a:r>
          </a:p>
          <a:p>
            <a:r>
              <a:rPr lang="en-US" altLang="zh-TW" smtClean="0"/>
              <a:t>timeseries_dataset_from_array()</a:t>
            </a:r>
            <a:endParaRPr lang="en-US" altLang="zh-TW"/>
          </a:p>
          <a:p>
            <a:pPr lvl="1"/>
            <a:endParaRPr lang="zh-TW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846884" y="1691431"/>
            <a:ext cx="6189785" cy="48474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Creates a dataset of sliding windows over a timeseries provided as array.</a:t>
            </a:r>
            <a:endParaRPr kumimoji="0" lang="zh-TW" altLang="zh-TW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This function takes in a sequence of data-points gathered at equal intervals, along with time series parameters such as length of the sequences/windows, spacing between two sequence/windows, etc., to produce batches of timeseries inputs and targets.</a:t>
            </a:r>
            <a:endParaRPr kumimoji="0" lang="zh-TW" altLang="zh-TW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Arguments</a:t>
            </a:r>
            <a:endParaRPr kumimoji="0" lang="zh-TW" altLang="zh-TW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data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: Numpy array or eager tensor containing consecutive data points (timesteps). Axis 0 is expected to be the time dimension.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targets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: Targets corresponding to timesteps in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data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.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targets[i]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should be the target corresponding to the window that starts at index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i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(see example 2 below). Pass None if you don't have target data (in this case the dataset will only yield the input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sequence_length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Length of the output sequences (in number of timesteps).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sequence_stride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Period between successive output sequences. For stride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s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, output samples would start at index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data[i]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,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data[i + s]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,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data[i + 2 * s]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sampling_rate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Period between successive individual timesteps within sequences. For rate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r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, timesteps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data[i], data[i + r], ... data[i + sequence_length]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are used for create a sample sequence.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batch_size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Number of timeseries samples in each batch (except maybe the last 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shuffle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Whether to shuffle output samples, or instead draw them in chronological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seed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Optional int; random seed for shuffling.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start_index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Optional int; data points earlier (exclusive) than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start_index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will not be used in the output sequences. This is useful to reserve part of the data for test or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end_index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: Optional int; data points later (exclusive) than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end_index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will not be used in the output sequences. This is useful to reserve part of the data for test or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7313" algn="l"/>
              </a:tabLst>
            </a:pPr>
            <a:r>
              <a:rPr kumimoji="0" lang="zh-TW" altLang="zh-TW" sz="1200" b="1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Returns</a:t>
            </a:r>
            <a:endParaRPr kumimoji="0" lang="zh-TW" altLang="zh-TW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latin typeface="Arial" panose="020B0604020202020204" pitchFamily="34" charset="0"/>
                <a:ea typeface="Open Sans"/>
              </a:rPr>
              <a:t>A tf.data.Dataset instance. If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targets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 was passed, the dataset yields tuple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(batch_of_sequences, batch_of_targets)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. If not, the dataset yields only </a:t>
            </a:r>
            <a:r>
              <a:rPr kumimoji="0" lang="zh-TW" altLang="zh-TW" sz="1000" b="0" i="0" u="none" strike="noStrike" cap="none" normalizeH="0" baseline="0" smtClean="0">
                <a:ln>
                  <a:noFill/>
                </a:ln>
                <a:solidFill>
                  <a:srgbClr val="E83E8C"/>
                </a:solidFill>
                <a:effectLst/>
                <a:latin typeface="Arial Unicode MS"/>
                <a:ea typeface="SFMono-Regular"/>
              </a:rPr>
              <a:t>batch_of_sequences</a:t>
            </a:r>
            <a:r>
              <a:rPr kumimoji="0" lang="zh-TW" altLang="zh-TW" sz="1200" b="0" i="0" u="none" strike="noStrike" cap="none" normalizeH="0" baseline="0" smtClean="0">
                <a:ln>
                  <a:noFill/>
                </a:ln>
                <a:solidFill>
                  <a:srgbClr val="212529"/>
                </a:solidFill>
                <a:effectLst/>
                <a:ea typeface="Open Sans"/>
              </a:rPr>
              <a:t>.</a:t>
            </a:r>
            <a:endParaRPr kumimoji="0" lang="zh-TW" altLang="zh-TW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57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1" y="110589"/>
            <a:ext cx="4955874" cy="659014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466" y="110589"/>
            <a:ext cx="5051888" cy="510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65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44" y="165796"/>
            <a:ext cx="8141956" cy="644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54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89" y="273008"/>
            <a:ext cx="5691652" cy="481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15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62" y="155285"/>
            <a:ext cx="5095099" cy="647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00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16523" y="272562"/>
            <a:ext cx="11764108" cy="647113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/>
              <a:t>keras.layers.SimpleRNN(units, activation='tanh', use_bias=</a:t>
            </a:r>
            <a:r>
              <a:rPr lang="en-US" altLang="zh-TW" b="1"/>
              <a:t>True</a:t>
            </a:r>
            <a:r>
              <a:rPr lang="en-US" altLang="zh-TW"/>
              <a:t>, kernel_initializer='glorot_uniform', recurrent_initializer='orthogonal', bias_initializer='zeros', kernel_regularizer=</a:t>
            </a:r>
            <a:r>
              <a:rPr lang="en-US" altLang="zh-TW" b="1"/>
              <a:t>None</a:t>
            </a:r>
            <a:r>
              <a:rPr lang="en-US" altLang="zh-TW"/>
              <a:t>, recurrent_regularizer=</a:t>
            </a:r>
            <a:r>
              <a:rPr lang="en-US" altLang="zh-TW" b="1"/>
              <a:t>None</a:t>
            </a:r>
            <a:r>
              <a:rPr lang="en-US" altLang="zh-TW"/>
              <a:t>, bias_regularizer=</a:t>
            </a:r>
            <a:r>
              <a:rPr lang="en-US" altLang="zh-TW" b="1"/>
              <a:t>None</a:t>
            </a:r>
            <a:r>
              <a:rPr lang="en-US" altLang="zh-TW"/>
              <a:t>, activity_regularizer=</a:t>
            </a:r>
            <a:r>
              <a:rPr lang="en-US" altLang="zh-TW" b="1"/>
              <a:t>None</a:t>
            </a:r>
            <a:r>
              <a:rPr lang="en-US" altLang="zh-TW"/>
              <a:t>, kernel_constraint=</a:t>
            </a:r>
            <a:r>
              <a:rPr lang="en-US" altLang="zh-TW" b="1"/>
              <a:t>None</a:t>
            </a:r>
            <a:r>
              <a:rPr lang="en-US" altLang="zh-TW"/>
              <a:t>, recurrent_constraint=</a:t>
            </a:r>
            <a:r>
              <a:rPr lang="en-US" altLang="zh-TW" b="1"/>
              <a:t>None</a:t>
            </a:r>
            <a:r>
              <a:rPr lang="en-US" altLang="zh-TW"/>
              <a:t>, bias_constraint=</a:t>
            </a:r>
            <a:r>
              <a:rPr lang="en-US" altLang="zh-TW" b="1"/>
              <a:t>None</a:t>
            </a:r>
            <a:r>
              <a:rPr lang="en-US" altLang="zh-TW"/>
              <a:t>, dropout=0.0, recurrent_dropout=0.0, return_sequences=</a:t>
            </a:r>
            <a:r>
              <a:rPr lang="en-US" altLang="zh-TW" b="1"/>
              <a:t>False</a:t>
            </a:r>
            <a:r>
              <a:rPr lang="en-US" altLang="zh-TW"/>
              <a:t>, return_state=</a:t>
            </a:r>
            <a:r>
              <a:rPr lang="en-US" altLang="zh-TW" b="1"/>
              <a:t>False</a:t>
            </a:r>
            <a:r>
              <a:rPr lang="en-US" altLang="zh-TW"/>
              <a:t>, go_backwards=</a:t>
            </a:r>
            <a:r>
              <a:rPr lang="en-US" altLang="zh-TW" b="1"/>
              <a:t>False</a:t>
            </a:r>
            <a:r>
              <a:rPr lang="en-US" altLang="zh-TW"/>
              <a:t>, stateful=</a:t>
            </a:r>
            <a:r>
              <a:rPr lang="en-US" altLang="zh-TW" b="1"/>
              <a:t>False</a:t>
            </a:r>
            <a:r>
              <a:rPr lang="en-US" altLang="zh-TW"/>
              <a:t>, unroll=</a:t>
            </a:r>
            <a:r>
              <a:rPr lang="en-US" altLang="zh-TW" b="1"/>
              <a:t>False</a:t>
            </a:r>
            <a:r>
              <a:rPr lang="en-US" altLang="zh-TW" smtClean="0"/>
              <a:t>)</a:t>
            </a:r>
            <a:endParaRPr kumimoji="0" lang="zh-TW" altLang="zh-TW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/>
              <a:t>Fully-connected RNN where the output is to be fed back to input.</a:t>
            </a:r>
            <a:endParaRPr lang="en-US" altLang="zh-TW" b="1" smtClean="0"/>
          </a:p>
          <a:p>
            <a:pPr lvl="1"/>
            <a:r>
              <a:rPr lang="zh-TW" altLang="zh-TW" b="1" smtClean="0"/>
              <a:t>units</a:t>
            </a:r>
            <a:r>
              <a:rPr lang="zh-TW" altLang="zh-TW" smtClean="0"/>
              <a:t>: Positive integer, dimensionality of the output space.</a:t>
            </a:r>
          </a:p>
          <a:p>
            <a:pPr lvl="1"/>
            <a:r>
              <a:rPr lang="zh-TW" altLang="zh-TW" b="1" smtClean="0"/>
              <a:t>activation</a:t>
            </a:r>
            <a:r>
              <a:rPr lang="zh-TW" altLang="zh-TW" smtClean="0"/>
              <a:t>: Activation function to use. Default: hyperbolic tangent (tanh). If you pass None, no activation is applied (ie. "linear" activation: a(x) = x).</a:t>
            </a:r>
          </a:p>
          <a:p>
            <a:pPr lvl="1"/>
            <a:r>
              <a:rPr lang="zh-TW" altLang="zh-TW" b="1" smtClean="0"/>
              <a:t>use_bias</a:t>
            </a:r>
            <a:r>
              <a:rPr lang="zh-TW" altLang="zh-TW" smtClean="0"/>
              <a:t>: Boolean, whether the layer uses a bias vector.</a:t>
            </a:r>
          </a:p>
          <a:p>
            <a:pPr lvl="1"/>
            <a:r>
              <a:rPr lang="en-US" altLang="zh-TW" b="1" smtClean="0"/>
              <a:t>dropout</a:t>
            </a:r>
            <a:r>
              <a:rPr lang="en-US" altLang="zh-TW" smtClean="0"/>
              <a:t>: Float between 0 and 1. Fraction of the units to drop for the linear transformation of the inputs.</a:t>
            </a:r>
          </a:p>
          <a:p>
            <a:pPr lvl="1"/>
            <a:r>
              <a:rPr lang="en-US" altLang="zh-TW" b="1" smtClean="0"/>
              <a:t>recurrent_dropout</a:t>
            </a:r>
            <a:r>
              <a:rPr lang="en-US" altLang="zh-TW"/>
              <a:t>: Float between 0 and 1. Fraction of the units to drop for the linear transformation of the recurrent state.</a:t>
            </a:r>
          </a:p>
          <a:p>
            <a:pPr lvl="1"/>
            <a:r>
              <a:rPr lang="en-US" altLang="zh-TW" b="1"/>
              <a:t>return_sequences</a:t>
            </a:r>
            <a:r>
              <a:rPr lang="en-US" altLang="zh-TW"/>
              <a:t>: Boolean. Whether to return the last output in the output sequence, or the full sequence.</a:t>
            </a:r>
          </a:p>
          <a:p>
            <a:pPr lvl="1"/>
            <a:r>
              <a:rPr lang="en-US" altLang="zh-TW" b="1"/>
              <a:t>return_state</a:t>
            </a:r>
            <a:r>
              <a:rPr lang="en-US" altLang="zh-TW"/>
              <a:t>: Boolean. Whether to return the last state in addition to the output.</a:t>
            </a:r>
          </a:p>
          <a:p>
            <a:pPr lvl="1"/>
            <a:r>
              <a:rPr lang="en-US" altLang="zh-TW" b="1"/>
              <a:t>go_backwards</a:t>
            </a:r>
            <a:r>
              <a:rPr lang="en-US" altLang="zh-TW"/>
              <a:t>: Boolean (default False). If True, process the input sequence backwards and return the reversed sequence.</a:t>
            </a:r>
          </a:p>
          <a:p>
            <a:pPr lvl="1"/>
            <a:r>
              <a:rPr lang="en-US" altLang="zh-TW" b="1"/>
              <a:t>stateful</a:t>
            </a:r>
            <a:r>
              <a:rPr lang="en-US" altLang="zh-TW"/>
              <a:t>: Boolean (default False). If True, the last state for each sample at index i in a batch will be used as initial state for the sample of index i in the following batch.</a:t>
            </a:r>
          </a:p>
          <a:p>
            <a:pPr lvl="1"/>
            <a:r>
              <a:rPr lang="en-US" altLang="zh-TW" b="1"/>
              <a:t>unroll</a:t>
            </a:r>
            <a:r>
              <a:rPr lang="en-US" altLang="zh-TW"/>
              <a:t>: Boolean (default False). If True, the network will be unrolled, else a symbolic loop will be used. Unrolling can speed-up a RNN, although it tends to be more memory-intensive. Unrolling is only suitable for short sequences</a:t>
            </a:r>
            <a:r>
              <a:rPr lang="en-US" altLang="zh-TW" smtClean="0"/>
              <a:t>.</a:t>
            </a:r>
            <a:r>
              <a:rPr lang="en-US" altLang="zh-TW" sz="2400" smtClean="0"/>
              <a:t/>
            </a:r>
            <a:br>
              <a:rPr lang="en-US" altLang="zh-TW" sz="2400" smtClean="0"/>
            </a:br>
            <a:endParaRPr kumimoji="0" lang="zh-TW" altLang="zh-TW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TW" altLang="en-US" sz="24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15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8" y="99380"/>
            <a:ext cx="5742451" cy="446883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280" y="138471"/>
            <a:ext cx="5839945" cy="524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0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22031" y="369277"/>
            <a:ext cx="11350869" cy="5807686"/>
          </a:xfrm>
        </p:spPr>
        <p:txBody>
          <a:bodyPr>
            <a:normAutofit/>
          </a:bodyPr>
          <a:lstStyle/>
          <a:p>
            <a:r>
              <a:rPr lang="en-US" altLang="zh-TW" sz="2400"/>
              <a:t>keras.layers.LSTM(units, activation='tanh', recurrent_activation='sigmoid', use_bias=</a:t>
            </a:r>
            <a:r>
              <a:rPr lang="en-US" altLang="zh-TW" sz="2400" b="1"/>
              <a:t>True</a:t>
            </a:r>
            <a:r>
              <a:rPr lang="en-US" altLang="zh-TW" sz="2400"/>
              <a:t>, kernel_initializer='glorot_uniform', recurrent_initializer='orthogonal', bias_initializer='zeros', unit_forget_bias=</a:t>
            </a:r>
            <a:r>
              <a:rPr lang="en-US" altLang="zh-TW" sz="2400" b="1"/>
              <a:t>True</a:t>
            </a:r>
            <a:r>
              <a:rPr lang="en-US" altLang="zh-TW" sz="2400"/>
              <a:t>, kernel_regularizer=</a:t>
            </a:r>
            <a:r>
              <a:rPr lang="en-US" altLang="zh-TW" sz="2400" b="1"/>
              <a:t>None</a:t>
            </a:r>
            <a:r>
              <a:rPr lang="en-US" altLang="zh-TW" sz="2400"/>
              <a:t>, recurrent_regularizer=</a:t>
            </a:r>
            <a:r>
              <a:rPr lang="en-US" altLang="zh-TW" sz="2400" b="1"/>
              <a:t>None</a:t>
            </a:r>
            <a:r>
              <a:rPr lang="en-US" altLang="zh-TW" sz="2400"/>
              <a:t>, bias_regularizer=</a:t>
            </a:r>
            <a:r>
              <a:rPr lang="en-US" altLang="zh-TW" sz="2400" b="1"/>
              <a:t>None</a:t>
            </a:r>
            <a:r>
              <a:rPr lang="en-US" altLang="zh-TW" sz="2400"/>
              <a:t>, activity_regularizer=</a:t>
            </a:r>
            <a:r>
              <a:rPr lang="en-US" altLang="zh-TW" sz="2400" b="1"/>
              <a:t>None</a:t>
            </a:r>
            <a:r>
              <a:rPr lang="en-US" altLang="zh-TW" sz="2400"/>
              <a:t>, kernel_constraint=</a:t>
            </a:r>
            <a:r>
              <a:rPr lang="en-US" altLang="zh-TW" sz="2400" b="1"/>
              <a:t>None</a:t>
            </a:r>
            <a:r>
              <a:rPr lang="en-US" altLang="zh-TW" sz="2400"/>
              <a:t>, recurrent_constraint=</a:t>
            </a:r>
            <a:r>
              <a:rPr lang="en-US" altLang="zh-TW" sz="2400" b="1"/>
              <a:t>None</a:t>
            </a:r>
            <a:r>
              <a:rPr lang="en-US" altLang="zh-TW" sz="2400"/>
              <a:t>, bias_constraint=</a:t>
            </a:r>
            <a:r>
              <a:rPr lang="en-US" altLang="zh-TW" sz="2400" b="1"/>
              <a:t>None</a:t>
            </a:r>
            <a:r>
              <a:rPr lang="en-US" altLang="zh-TW" sz="2400"/>
              <a:t>, dropout=0.0, recurrent_dropout=0.0, implementation=2, return_sequences=</a:t>
            </a:r>
            <a:r>
              <a:rPr lang="en-US" altLang="zh-TW" sz="2400" b="1"/>
              <a:t>False</a:t>
            </a:r>
            <a:r>
              <a:rPr lang="en-US" altLang="zh-TW" sz="2400"/>
              <a:t>, return_state=</a:t>
            </a:r>
            <a:r>
              <a:rPr lang="en-US" altLang="zh-TW" sz="2400" b="1"/>
              <a:t>False</a:t>
            </a:r>
            <a:r>
              <a:rPr lang="en-US" altLang="zh-TW" sz="2400"/>
              <a:t>, go_backwards=</a:t>
            </a:r>
            <a:r>
              <a:rPr lang="en-US" altLang="zh-TW" sz="2400" b="1"/>
              <a:t>False</a:t>
            </a:r>
            <a:r>
              <a:rPr lang="en-US" altLang="zh-TW" sz="2400"/>
              <a:t>, stateful=</a:t>
            </a:r>
            <a:r>
              <a:rPr lang="en-US" altLang="zh-TW" sz="2400" b="1"/>
              <a:t>False</a:t>
            </a:r>
            <a:r>
              <a:rPr lang="en-US" altLang="zh-TW" sz="2400"/>
              <a:t>, unroll=</a:t>
            </a:r>
            <a:r>
              <a:rPr lang="en-US" altLang="zh-TW" sz="2400" b="1"/>
              <a:t>False</a:t>
            </a:r>
            <a:r>
              <a:rPr lang="en-US" altLang="zh-TW" sz="2400" smtClean="0"/>
              <a:t>)</a:t>
            </a:r>
          </a:p>
          <a:p>
            <a:r>
              <a:rPr lang="en-US" altLang="zh-TW" sz="2400"/>
              <a:t>Long Short-Term Memory layer - Hochreiter 1997</a:t>
            </a:r>
            <a:r>
              <a:rPr lang="en-US" altLang="zh-TW" sz="2400" smtClean="0"/>
              <a:t>.</a:t>
            </a:r>
          </a:p>
          <a:p>
            <a:pPr lvl="1"/>
            <a:r>
              <a:rPr kumimoji="0" lang="zh-TW" altLang="zh-TW" sz="1800" b="1" i="0" u="none" strike="noStrike" cap="none" normalizeH="0" baseline="0" smtClean="0">
                <a:ln>
                  <a:noFill/>
                </a:ln>
                <a:effectLst/>
                <a:latin typeface="Arial" panose="020B0604020202020204" pitchFamily="34" charset="0"/>
                <a:ea typeface="Lato"/>
              </a:rPr>
              <a:t>recurrent_activation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: Activation function to use for the recurrent step. Default: hard sigmoid (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hard_sigmoid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). If you pass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None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, no activation is applied (ie. "linear" activation: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a(x) = x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).</a:t>
            </a:r>
            <a:r>
              <a:rPr kumimoji="0" lang="zh-TW" altLang="zh-TW" sz="105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05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zh-TW" altLang="zh-TW" sz="1800" b="1">
                <a:latin typeface="Arial" panose="020B0604020202020204" pitchFamily="34" charset="0"/>
                <a:ea typeface="Lato"/>
              </a:rPr>
              <a:t>unit_forget_bias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Boolean. If True, add 1 to the bias of the forget gate at initialization. Setting it to true will also force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bias_initializer="zeros"</a:t>
            </a:r>
            <a:r>
              <a:rPr lang="zh-TW" altLang="zh-TW" sz="1800">
                <a:solidFill>
                  <a:srgbClr val="404040"/>
                </a:solidFill>
                <a:ea typeface="Lato"/>
              </a:rPr>
              <a:t>. This is recommended in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 </a:t>
            </a:r>
            <a:r>
              <a:rPr lang="zh-TW" altLang="zh-TW" sz="1800">
                <a:solidFill>
                  <a:srgbClr val="8E4A4A"/>
                </a:solidFill>
                <a:latin typeface="Arial" panose="020B0604020202020204" pitchFamily="34" charset="0"/>
                <a:ea typeface="Lato"/>
                <a:hlinkClick r:id="rId2"/>
              </a:rPr>
              <a:t>Jozefowicz et al. (2015)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.</a:t>
            </a:r>
            <a:r>
              <a:rPr kumimoji="0" lang="zh-TW" altLang="zh-TW" sz="105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05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altLang="zh-TW" sz="1800" b="1"/>
              <a:t>implementation</a:t>
            </a:r>
            <a:r>
              <a:rPr lang="en-US" altLang="zh-TW" sz="1800"/>
              <a:t>: Implementation mode, either 1 or 2. Mode 1 will structure its operations as a larger number of smaller dot products and additions, whereas mode 2 will batch them into fewer, larger operations. These modes will have different performance profiles on different hardware and for different applications.</a:t>
            </a:r>
            <a:endParaRPr kumimoji="0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zh-TW" altLang="zh-TW">
              <a:latin typeface="Arial" panose="020B0604020202020204" pitchFamily="34" charset="0"/>
            </a:endParaRPr>
          </a:p>
          <a:p>
            <a:pPr lvl="1"/>
            <a:endParaRPr lang="zh-TW" altLang="en-US" sz="16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82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74" y="93508"/>
            <a:ext cx="7087711" cy="518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34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Bidirectional LSTM (biLSTM)</a:t>
            </a:r>
            <a:endParaRPr lang="zh-TW" altLang="en-US"/>
          </a:p>
        </p:txBody>
      </p:sp>
      <p:pic>
        <p:nvPicPr>
          <p:cNvPr id="7172" name="Picture 4" descr="http://ai2-s2-public.s3.amazonaws.com/figures/2017-08-08/f7bdb849dafe17c952bfd88b879e01f74cf59d78/4-Figure3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723" y="1190146"/>
            <a:ext cx="61722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6074855" y="4392133"/>
            <a:ext cx="5593937" cy="230832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smtClean="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layer</a:t>
            </a:r>
            <a:r>
              <a:rPr lang="zh-TW" altLang="zh-TW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Recurrent</a:t>
            </a:r>
            <a:r>
              <a:rPr lang="zh-TW" altLang="zh-TW">
                <a:solidFill>
                  <a:srgbClr val="404040"/>
                </a:solidFill>
                <a:ea typeface="Lato"/>
              </a:rPr>
              <a:t> </a:t>
            </a:r>
            <a:r>
              <a:rPr lang="zh-TW" altLang="zh-TW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instance.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merge_mode</a:t>
            </a:r>
            <a:r>
              <a:rPr lang="zh-TW" altLang="zh-TW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Mode by which outputs of the forward and backward RNNs will be combined. One of {'sum', 'mul', 'concat', 'ave', None}. If None, the outputs will not be combined, they will be returned as a list.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weights</a:t>
            </a:r>
            <a:r>
              <a:rPr lang="zh-TW" altLang="zh-TW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Initial weights to load in the Bidirectional </a:t>
            </a:r>
            <a:r>
              <a:rPr lang="zh-TW" altLang="zh-TW" smtClean="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model</a:t>
            </a:r>
            <a:endParaRPr lang="zh-TW" altLang="zh-TW">
              <a:solidFill>
                <a:srgbClr val="404040"/>
              </a:solidFill>
              <a:latin typeface="Arial" panose="020B0604020202020204" pitchFamily="34" charset="0"/>
              <a:ea typeface="Lato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5319347" y="4906108"/>
            <a:ext cx="755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7" y="1887875"/>
            <a:ext cx="5598524" cy="282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8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722</Words>
  <Application>Microsoft Office PowerPoint</Application>
  <PresentationFormat>寬螢幕</PresentationFormat>
  <Paragraphs>250</Paragraphs>
  <Slides>28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9" baseType="lpstr">
      <vt:lpstr>Arial Unicode MS</vt:lpstr>
      <vt:lpstr>Lato</vt:lpstr>
      <vt:lpstr>Libre Franklin</vt:lpstr>
      <vt:lpstr>Open Sans</vt:lpstr>
      <vt:lpstr>SFMono-Regular</vt:lpstr>
      <vt:lpstr>新細明體</vt:lpstr>
      <vt:lpstr>Arial</vt:lpstr>
      <vt:lpstr>Calibri</vt:lpstr>
      <vt:lpstr>Calibri Light</vt:lpstr>
      <vt:lpstr>Cambria Math</vt:lpstr>
      <vt:lpstr>Office 佈景主題</vt:lpstr>
      <vt:lpstr>Recurrent Neural Networks</vt:lpstr>
      <vt:lpstr>Recurrent Neural Networks</vt:lpstr>
      <vt:lpstr>Recurrent Neural Networks</vt:lpstr>
      <vt:lpstr>RNN Example Application</vt:lpstr>
      <vt:lpstr>RNN</vt:lpstr>
      <vt:lpstr>Of course it can be deep …</vt:lpstr>
      <vt:lpstr> Long Short-term Memory (LSTM)</vt:lpstr>
      <vt:lpstr>PowerPoint 簡報</vt:lpstr>
      <vt:lpstr>PowerPoint 簡報</vt:lpstr>
      <vt:lpstr>LSTM</vt:lpstr>
      <vt:lpstr>LSTM</vt:lpstr>
      <vt:lpstr>LSTM</vt:lpstr>
      <vt:lpstr>PowerPoint 簡報</vt:lpstr>
      <vt:lpstr>Neural network for POS tagging</vt:lpstr>
      <vt:lpstr>Sequence to Sequence</vt:lpstr>
      <vt:lpstr>Jena Climate Dataset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Bidirectional LSTM (biLSTM)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Networks</dc:title>
  <dc:creator>denislin</dc:creator>
  <cp:lastModifiedBy>denislin</cp:lastModifiedBy>
  <cp:revision>49</cp:revision>
  <dcterms:created xsi:type="dcterms:W3CDTF">2019-12-14T13:34:16Z</dcterms:created>
  <dcterms:modified xsi:type="dcterms:W3CDTF">2022-12-12T15:16:48Z</dcterms:modified>
</cp:coreProperties>
</file>