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43"/>
  </p:notesMasterIdLst>
  <p:sldIdLst>
    <p:sldId id="256" r:id="rId2"/>
    <p:sldId id="323" r:id="rId3"/>
    <p:sldId id="325" r:id="rId4"/>
    <p:sldId id="263" r:id="rId5"/>
    <p:sldId id="280" r:id="rId6"/>
    <p:sldId id="264" r:id="rId7"/>
    <p:sldId id="336" r:id="rId8"/>
    <p:sldId id="265" r:id="rId9"/>
    <p:sldId id="266" r:id="rId10"/>
    <p:sldId id="271" r:id="rId11"/>
    <p:sldId id="290" r:id="rId12"/>
    <p:sldId id="328" r:id="rId13"/>
    <p:sldId id="326" r:id="rId14"/>
    <p:sldId id="327" r:id="rId15"/>
    <p:sldId id="269" r:id="rId16"/>
    <p:sldId id="270" r:id="rId17"/>
    <p:sldId id="329" r:id="rId18"/>
    <p:sldId id="257" r:id="rId19"/>
    <p:sldId id="272" r:id="rId20"/>
    <p:sldId id="273" r:id="rId21"/>
    <p:sldId id="274" r:id="rId22"/>
    <p:sldId id="275" r:id="rId23"/>
    <p:sldId id="277" r:id="rId24"/>
    <p:sldId id="276" r:id="rId25"/>
    <p:sldId id="278" r:id="rId26"/>
    <p:sldId id="279" r:id="rId27"/>
    <p:sldId id="281" r:id="rId28"/>
    <p:sldId id="324" r:id="rId29"/>
    <p:sldId id="330" r:id="rId30"/>
    <p:sldId id="282" r:id="rId31"/>
    <p:sldId id="283" r:id="rId32"/>
    <p:sldId id="331" r:id="rId33"/>
    <p:sldId id="258" r:id="rId34"/>
    <p:sldId id="284" r:id="rId35"/>
    <p:sldId id="285" r:id="rId36"/>
    <p:sldId id="286" r:id="rId37"/>
    <p:sldId id="287" r:id="rId38"/>
    <p:sldId id="340" r:id="rId39"/>
    <p:sldId id="337" r:id="rId40"/>
    <p:sldId id="338" r:id="rId41"/>
    <p:sldId id="339" r:id="rId42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118" autoAdjust="0"/>
  </p:normalViewPr>
  <p:slideViewPr>
    <p:cSldViewPr>
      <p:cViewPr varScale="1">
        <p:scale>
          <a:sx n="110" d="100"/>
          <a:sy n="110" d="100"/>
        </p:scale>
        <p:origin x="138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TW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DDB133-5112-482B-9F4B-31B9EDA0A4C2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0E6D19-9418-42A6-BA73-024A1E0071FC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1143B6-3E91-46D5-9F51-A7CA5EAA6737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EB803C-2AB9-4601-83A6-21C32FA025C2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15B20E-4E8F-4EED-8707-3581F2856C94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FED55A-278F-417A-8D86-58EE08D3F003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FED55A-278F-417A-8D86-58EE08D3F003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685696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D1EAC3-3305-4539-8F84-91697F13B87D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442F26-005A-41D6-81FD-989455EEF357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DEF962-71E8-48CD-B7EA-6A3097E11AB8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521E9E-6B86-4FF2-BEBF-32857687F4B5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F093F0-D160-47DF-8897-6F826605D06B}" type="slidenum">
              <a:rPr lang="en-US" altLang="zh-TW" smtClean="0">
                <a:latin typeface="Arial" pitchFamily="34" charset="0"/>
              </a:rPr>
              <a:pPr/>
              <a:t>13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222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950907-36F9-47EC-9828-F9C1636790E9}" type="slidenum">
              <a:rPr lang="en-US" altLang="zh-TW" smtClean="0">
                <a:latin typeface="Arial" pitchFamily="34" charset="0"/>
              </a:rPr>
              <a:pPr/>
              <a:t>14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227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8E4B87-0F0C-431E-BF55-BDD10FBFF66B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C99595-59C1-4D66-854E-A4C14E7109C5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D7C6A5-C282-4189-A465-497E2FE64F89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79BECE-64EE-404F-9B1B-181377EE0D30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7467A8-E8E4-48F0-B917-D1BE64E4C3C4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9F1FE3-6342-45BA-B4BC-C48C255E3826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166D5C-EBCA-43C8-ABD6-05F44B5D500A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7BB528-6C4B-4129-84BE-88C87E9336DD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7BD449-DE8F-4C69-95E9-93C5B328DBC3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B97607-0DD3-4309-B009-1E452BD00A21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8B14AE-3DB9-4ABF-8281-1409CF3E8FD2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893EB2-6121-427D-9C11-1A070CA5CA1C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8A1930-F2D5-4B32-9E04-9FE71512E559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B3BE91-FFF3-43A7-BF42-E65B681B7465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0333F7-A330-4DB6-BCE1-90A7048A1146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F47BAA-CF65-4D68-B4F0-5E790B4C42BB}" type="slidenum">
              <a:rPr lang="en-US" altLang="zh-TW"/>
              <a:pPr/>
              <a:t>33</a:t>
            </a:fld>
            <a:endParaRPr lang="en-US" altLang="zh-TW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C7E91A-E6CE-482D-944E-1B87E1D4267E}" type="slidenum">
              <a:rPr lang="en-US" altLang="zh-TW"/>
              <a:pPr/>
              <a:t>34</a:t>
            </a:fld>
            <a:endParaRPr lang="en-US" altLang="zh-TW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82F01E-1EEB-4684-A429-3C57D185DF92}" type="slidenum">
              <a:rPr lang="en-US" altLang="zh-TW"/>
              <a:pPr/>
              <a:t>35</a:t>
            </a:fld>
            <a:endParaRPr lang="en-US" altLang="zh-TW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8FAA60-7E19-445F-8619-D161785F9961}" type="slidenum">
              <a:rPr lang="en-US" altLang="zh-TW"/>
              <a:pPr/>
              <a:t>36</a:t>
            </a:fld>
            <a:endParaRPr lang="en-US" altLang="zh-TW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4E3277-32EB-4B15-ABAF-838F93571B91}" type="slidenum">
              <a:rPr lang="en-US" altLang="zh-TW"/>
              <a:pPr/>
              <a:t>37</a:t>
            </a:fld>
            <a:endParaRPr lang="en-US" altLang="zh-TW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TW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0297673-AEF2-4466-AD50-F83E0BDBFE17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6928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4E4A-ABC9-4949-BCAE-DAD61F41136F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857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DC954073-4AE3-4A00-AFF9-5496853E3665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41609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2A637-383F-4D43-AB0B-A850CE8A5CA7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136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E49-A75C-4CE7-B6FC-D82A16A09BAE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2089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43DC-1DD9-4A6D-96B0-4EDCC831D76C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646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245A-C98B-462D-B44F-7A75DE629D9F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784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zh-TW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B2BFE9-E872-44BF-B81B-D997FA317D3B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296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28A6A3-AD36-40BB-A7EB-28C96EDD7591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588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2D314-E7B1-469F-B4D2-7EDF8BF8D7A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883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1EDBA-08EC-466E-934B-BAA683153B73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684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8EC8B3-D132-4901-8702-B7FECD976010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456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1600" y="2130425"/>
            <a:ext cx="7200800" cy="1470025"/>
          </a:xfrm>
        </p:spPr>
        <p:txBody>
          <a:bodyPr anchor="ctr"/>
          <a:lstStyle/>
          <a:p>
            <a:r>
              <a:rPr lang="en-US" altLang="zh-TW" sz="4400" dirty="0"/>
              <a:t>Introduction to Machine Learning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altLang="zh-TW" sz="3200"/>
              <a:t>Wen-Cheng Lin</a:t>
            </a:r>
          </a:p>
          <a:p>
            <a:r>
              <a:rPr lang="en-US" altLang="zh-TW"/>
              <a:t>Department of Medical Informatics</a:t>
            </a:r>
          </a:p>
          <a:p>
            <a:r>
              <a:rPr lang="en-US" altLang="zh-TW"/>
              <a:t>Tzu Chi University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Outline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What is machine learning</a:t>
            </a:r>
          </a:p>
          <a:p>
            <a:r>
              <a:rPr lang="en-US" altLang="zh-TW" sz="2800" dirty="0"/>
              <a:t>Types of learning problems</a:t>
            </a:r>
          </a:p>
          <a:p>
            <a:r>
              <a:rPr lang="en-US" altLang="zh-TW" sz="2800" dirty="0"/>
              <a:t>Input data</a:t>
            </a:r>
          </a:p>
          <a:p>
            <a:r>
              <a:rPr lang="en-US" altLang="zh-TW" sz="2800" dirty="0"/>
              <a:t>Knowledge representation</a:t>
            </a:r>
          </a:p>
          <a:p>
            <a:r>
              <a:rPr lang="en-US" altLang="zh-TW" sz="2800" dirty="0"/>
              <a:t>Learning </a:t>
            </a:r>
            <a:r>
              <a:rPr lang="en-US" altLang="zh-TW" sz="2800" dirty="0" smtClean="0"/>
              <a:t>methods</a:t>
            </a:r>
            <a:endParaRPr lang="en-US" altLang="zh-TW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Machine Learning</a:t>
            </a:r>
            <a:endParaRPr lang="zh-TW" altLang="en-US"/>
          </a:p>
        </p:txBody>
      </p:sp>
      <p:sp>
        <p:nvSpPr>
          <p:cNvPr id="1229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dirty="0" smtClean="0"/>
              <a:t>The question</a:t>
            </a:r>
          </a:p>
          <a:p>
            <a:pPr lvl="1"/>
            <a:r>
              <a:rPr lang="en-US" altLang="zh-TW" sz="2800" dirty="0" smtClean="0"/>
              <a:t>“How can we build computer systems that automatically improve with experience, and what are the fundamental laws that govern all learning processes?”</a:t>
            </a:r>
            <a:endParaRPr lang="zh-TW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22255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Machine Learning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Study of algorithms that make computer programs to</a:t>
            </a:r>
          </a:p>
          <a:p>
            <a:pPr lvl="1"/>
            <a:r>
              <a:rPr lang="en-US" altLang="zh-TW" sz="2800" dirty="0"/>
              <a:t>Improve their </a:t>
            </a:r>
            <a:r>
              <a:rPr lang="en-US" altLang="zh-TW" sz="2800" u="sng" dirty="0"/>
              <a:t>performance</a:t>
            </a:r>
            <a:r>
              <a:rPr lang="en-US" altLang="zh-TW" sz="2800" dirty="0"/>
              <a:t> with respect to performance measure </a:t>
            </a:r>
            <a:r>
              <a:rPr lang="en-US" altLang="zh-TW" sz="2800" b="1" i="1" dirty="0"/>
              <a:t>P</a:t>
            </a:r>
            <a:endParaRPr lang="en-US" altLang="zh-TW" sz="2800" dirty="0"/>
          </a:p>
          <a:p>
            <a:pPr lvl="1"/>
            <a:r>
              <a:rPr lang="en-US" altLang="zh-TW" sz="2800" dirty="0"/>
              <a:t>At some </a:t>
            </a:r>
            <a:r>
              <a:rPr lang="en-US" altLang="zh-TW" sz="2800" u="sng" dirty="0"/>
              <a:t>task</a:t>
            </a:r>
            <a:r>
              <a:rPr lang="en-US" altLang="zh-TW" sz="2800" dirty="0"/>
              <a:t> </a:t>
            </a:r>
            <a:r>
              <a:rPr lang="en-US" altLang="zh-TW" sz="2800" b="1" i="1" dirty="0"/>
              <a:t>T</a:t>
            </a:r>
            <a:endParaRPr lang="en-US" altLang="zh-TW" sz="2800" u="sng" dirty="0"/>
          </a:p>
          <a:p>
            <a:pPr lvl="1"/>
            <a:r>
              <a:rPr lang="en-US" altLang="zh-TW" sz="2800" dirty="0"/>
              <a:t>Based on </a:t>
            </a:r>
            <a:r>
              <a:rPr lang="en-US" altLang="zh-TW" sz="2800" u="sng" dirty="0"/>
              <a:t>experience</a:t>
            </a:r>
            <a:r>
              <a:rPr lang="en-US" altLang="zh-TW" sz="2800" dirty="0"/>
              <a:t> </a:t>
            </a:r>
            <a:r>
              <a:rPr lang="en-US" altLang="zh-TW" sz="2800" b="1" i="1" dirty="0"/>
              <a:t>E</a:t>
            </a:r>
            <a:r>
              <a:rPr lang="en-US" altLang="zh-TW" sz="2800" dirty="0"/>
              <a:t> (or example data)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Machine Learning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Handwriting recognition learning problem</a:t>
            </a:r>
          </a:p>
          <a:p>
            <a:pPr lvl="1"/>
            <a:r>
              <a:rPr lang="en-US" altLang="zh-TW" sz="2800" i="1" dirty="0"/>
              <a:t>T</a:t>
            </a:r>
            <a:r>
              <a:rPr lang="en-US" altLang="zh-TW" sz="2800" dirty="0"/>
              <a:t>: recognizing and classifying handwritten words within images</a:t>
            </a:r>
          </a:p>
          <a:p>
            <a:pPr lvl="1"/>
            <a:r>
              <a:rPr lang="en-US" altLang="zh-TW" sz="2800" i="1" dirty="0"/>
              <a:t>P</a:t>
            </a:r>
            <a:r>
              <a:rPr lang="en-US" altLang="zh-TW" sz="2800" dirty="0"/>
              <a:t>: percent of words correctly classified</a:t>
            </a:r>
          </a:p>
          <a:p>
            <a:pPr lvl="1"/>
            <a:r>
              <a:rPr lang="en-US" altLang="zh-TW" sz="2800" i="1" dirty="0"/>
              <a:t>E</a:t>
            </a:r>
            <a:r>
              <a:rPr lang="en-US" altLang="zh-TW" sz="2800" dirty="0"/>
              <a:t>: a database of handwritten words with given classifications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Why Machine Learning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Growing flood of data</a:t>
            </a:r>
          </a:p>
          <a:p>
            <a:pPr lvl="1"/>
            <a:r>
              <a:rPr lang="tr-TR" altLang="zh-TW" sz="2800" dirty="0"/>
              <a:t>Data is cheap and abundant</a:t>
            </a:r>
            <a:r>
              <a:rPr lang="en-US" altLang="zh-TW" sz="2800" dirty="0"/>
              <a:t>,</a:t>
            </a:r>
            <a:r>
              <a:rPr lang="tr-TR" altLang="zh-TW" sz="2800" dirty="0"/>
              <a:t> knowledge is expensive and scarce</a:t>
            </a:r>
            <a:endParaRPr lang="en-US" altLang="zh-TW" sz="2800" dirty="0"/>
          </a:p>
          <a:p>
            <a:pPr lvl="2"/>
            <a:r>
              <a:rPr lang="tr-TR" altLang="zh-TW" sz="2400" dirty="0"/>
              <a:t>Widespread use of personal computers and wireless communication leads to “big data”</a:t>
            </a:r>
          </a:p>
          <a:p>
            <a:pPr lvl="2"/>
            <a:r>
              <a:rPr lang="tr-TR" altLang="zh-TW" sz="2400" dirty="0"/>
              <a:t>We are both producers and consumers of data</a:t>
            </a:r>
          </a:p>
          <a:p>
            <a:pPr lvl="1"/>
            <a:endParaRPr lang="en-US" altLang="zh-TW" sz="28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Why Machine Learning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2"/>
            <a:r>
              <a:rPr lang="tr-TR" altLang="zh-TW" sz="2800" dirty="0" smtClean="0"/>
              <a:t>Data is not random, it has structure, e.g., customer behavior</a:t>
            </a:r>
            <a:endParaRPr lang="en-US" altLang="zh-TW" sz="2800" dirty="0" smtClean="0"/>
          </a:p>
          <a:p>
            <a:pPr lvl="2"/>
            <a:r>
              <a:rPr lang="en-US" altLang="zh-TW" sz="2800" dirty="0"/>
              <a:t>Effectively exploitation of information is beyond the capability of human</a:t>
            </a:r>
          </a:p>
          <a:p>
            <a:pPr lvl="2"/>
            <a:r>
              <a:rPr lang="tr-TR" altLang="zh-TW" sz="2800" dirty="0" smtClean="0"/>
              <a:t>We </a:t>
            </a:r>
            <a:r>
              <a:rPr lang="tr-TR" altLang="zh-TW" sz="2800" dirty="0"/>
              <a:t>need “big theory” to extract that structure from data for</a:t>
            </a:r>
          </a:p>
          <a:p>
            <a:pPr lvl="2">
              <a:buNone/>
            </a:pPr>
            <a:r>
              <a:rPr lang="tr-TR" altLang="zh-TW" sz="2800" dirty="0"/>
              <a:t>	(a) Understanding the process</a:t>
            </a:r>
          </a:p>
          <a:p>
            <a:pPr lvl="2">
              <a:buNone/>
            </a:pPr>
            <a:r>
              <a:rPr lang="tr-TR" altLang="zh-TW" sz="2800" dirty="0"/>
              <a:t>	(b) Making predictions for the future </a:t>
            </a:r>
          </a:p>
        </p:txBody>
      </p:sp>
    </p:spTree>
    <p:extLst>
      <p:ext uri="{BB962C8B-B14F-4D97-AF65-F5344CB8AC3E}">
        <p14:creationId xmlns:p14="http://schemas.microsoft.com/office/powerpoint/2010/main" val="179965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Why Machine Learning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altLang="zh-TW" sz="3200" dirty="0"/>
              <a:t>Programs too difficult to program by</a:t>
            </a:r>
            <a:r>
              <a:rPr lang="en-US" altLang="zh-TW" sz="3200" dirty="0"/>
              <a:t> </a:t>
            </a:r>
            <a:r>
              <a:rPr lang="tr-TR" altLang="zh-TW" sz="3200" dirty="0"/>
              <a:t>hand</a:t>
            </a:r>
          </a:p>
          <a:p>
            <a:pPr lvl="1"/>
            <a:r>
              <a:rPr lang="tr-TR" altLang="zh-TW" sz="2800" dirty="0"/>
              <a:t>Human expertise does not exist</a:t>
            </a:r>
            <a:endParaRPr lang="en-US" altLang="zh-TW" sz="2800" dirty="0"/>
          </a:p>
          <a:p>
            <a:pPr lvl="2"/>
            <a:r>
              <a:rPr lang="en-US" altLang="zh-TW" sz="2400" dirty="0"/>
              <a:t>N</a:t>
            </a:r>
            <a:r>
              <a:rPr lang="tr-TR" altLang="zh-TW" sz="2400" dirty="0"/>
              <a:t>avigating on Mars</a:t>
            </a:r>
          </a:p>
          <a:p>
            <a:pPr lvl="1"/>
            <a:r>
              <a:rPr lang="tr-TR" altLang="zh-TW" sz="2800" dirty="0"/>
              <a:t>Humans are unable to explain their expertise</a:t>
            </a:r>
            <a:endParaRPr lang="en-US" altLang="zh-TW" sz="2800" dirty="0"/>
          </a:p>
          <a:p>
            <a:pPr lvl="2"/>
            <a:r>
              <a:rPr lang="en-US" altLang="zh-TW" sz="2400" dirty="0"/>
              <a:t>S</a:t>
            </a:r>
            <a:r>
              <a:rPr lang="tr-TR" altLang="zh-TW" sz="2400" dirty="0"/>
              <a:t>peech recognition</a:t>
            </a:r>
            <a:endParaRPr lang="en-US" altLang="zh-TW" sz="2400" dirty="0"/>
          </a:p>
          <a:p>
            <a:pPr lvl="2"/>
            <a:r>
              <a:rPr lang="en-US" altLang="zh-TW" sz="2400" dirty="0"/>
              <a:t>Human face recognition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Why Machine Learning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Programs must dynamically adapt to changing conditions</a:t>
            </a:r>
          </a:p>
          <a:p>
            <a:pPr lvl="1"/>
            <a:r>
              <a:rPr lang="tr-TR" altLang="zh-TW" sz="2800" dirty="0"/>
              <a:t>Solution changes in time</a:t>
            </a:r>
            <a:endParaRPr lang="en-US" altLang="zh-TW" sz="2800" dirty="0"/>
          </a:p>
          <a:p>
            <a:pPr lvl="2"/>
            <a:r>
              <a:rPr lang="en-US" altLang="zh-TW" sz="2400" dirty="0"/>
              <a:t>R</a:t>
            </a:r>
            <a:r>
              <a:rPr lang="tr-TR" altLang="zh-TW" sz="2400" dirty="0"/>
              <a:t>outing on a computer network</a:t>
            </a:r>
          </a:p>
          <a:p>
            <a:pPr lvl="1"/>
            <a:r>
              <a:rPr lang="tr-TR" altLang="zh-TW" sz="2800" dirty="0"/>
              <a:t>Solution needs to be adapted to particular cases</a:t>
            </a:r>
            <a:endParaRPr lang="en-US" altLang="zh-TW" sz="2800" dirty="0"/>
          </a:p>
          <a:p>
            <a:pPr lvl="2"/>
            <a:r>
              <a:rPr lang="en-US" altLang="zh-TW" sz="2400" dirty="0"/>
              <a:t>Newsreader that learns user interests</a:t>
            </a:r>
          </a:p>
          <a:p>
            <a:pPr lvl="2"/>
            <a:endParaRPr lang="en-US" altLang="zh-TW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Machine Learning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altLang="zh-TW" sz="3200" dirty="0"/>
              <a:t>Learning general models from a data of particular </a:t>
            </a:r>
            <a:r>
              <a:rPr lang="tr-TR" altLang="zh-TW" sz="3200" dirty="0" smtClean="0"/>
              <a:t>examples</a:t>
            </a:r>
            <a:endParaRPr lang="en-US" altLang="zh-TW" sz="3200" dirty="0"/>
          </a:p>
          <a:p>
            <a:pPr lvl="1"/>
            <a:r>
              <a:rPr lang="tr-TR" altLang="zh-TW" sz="2800" dirty="0" smtClean="0"/>
              <a:t>Build </a:t>
            </a:r>
            <a:r>
              <a:rPr lang="tr-TR" altLang="zh-TW" sz="2800" dirty="0"/>
              <a:t>a model that is </a:t>
            </a:r>
            <a:r>
              <a:rPr lang="tr-TR" altLang="zh-TW" sz="2800" u="sng" dirty="0">
                <a:solidFill>
                  <a:srgbClr val="FF0000"/>
                </a:solidFill>
              </a:rPr>
              <a:t>a good and useful approximation</a:t>
            </a:r>
            <a:r>
              <a:rPr lang="tr-TR" altLang="zh-TW" sz="2800" dirty="0">
                <a:solidFill>
                  <a:srgbClr val="FF0000"/>
                </a:solidFill>
              </a:rPr>
              <a:t> </a:t>
            </a:r>
            <a:r>
              <a:rPr lang="tr-TR" altLang="zh-TW" sz="2800" dirty="0"/>
              <a:t>to the data</a:t>
            </a:r>
            <a:endParaRPr lang="en-US" altLang="zh-TW" sz="2800" dirty="0"/>
          </a:p>
          <a:p>
            <a:pPr lvl="1"/>
            <a:r>
              <a:rPr lang="en-US" altLang="zh-TW" sz="2800" dirty="0"/>
              <a:t>Search a very large space of possible hypotheses to find the hypothesis that best fits the available training examples and other prior knowledge held by the learner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Learning and Generalization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32856"/>
            <a:ext cx="7680960" cy="44647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200" dirty="0" smtClean="0"/>
              <a:t>A </a:t>
            </a:r>
            <a:r>
              <a:rPr lang="en-US" altLang="zh-TW" sz="3200" dirty="0"/>
              <a:t>good hypothesis will </a:t>
            </a:r>
            <a:r>
              <a:rPr lang="en-US" altLang="zh-TW" sz="3200" b="1" dirty="0"/>
              <a:t>generalize</a:t>
            </a:r>
            <a:r>
              <a:rPr lang="en-US" altLang="zh-TW" sz="3200" dirty="0"/>
              <a:t> well</a:t>
            </a:r>
          </a:p>
          <a:p>
            <a:pPr lvl="1">
              <a:lnSpc>
                <a:spcPct val="90000"/>
              </a:lnSpc>
            </a:pPr>
            <a:r>
              <a:rPr lang="en-US" altLang="zh-TW" sz="2800" dirty="0"/>
              <a:t>Will predict unseen examples correctly</a:t>
            </a:r>
          </a:p>
          <a:p>
            <a:pPr lvl="1">
              <a:lnSpc>
                <a:spcPct val="90000"/>
              </a:lnSpc>
            </a:pPr>
            <a:r>
              <a:rPr lang="en-US" altLang="zh-TW" sz="2800" dirty="0"/>
              <a:t>It might be better to use a simple hypothesis that is not exactly consistent but might make reasonable predictions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Machine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zh-TW" sz="3200" dirty="0"/>
              <a:t>Role of </a:t>
            </a:r>
            <a:r>
              <a:rPr lang="tr-TR" altLang="zh-TW" sz="3200" dirty="0" smtClean="0"/>
              <a:t>Statistics</a:t>
            </a:r>
            <a:endParaRPr lang="en-US" altLang="zh-TW" sz="3200" dirty="0" smtClean="0"/>
          </a:p>
          <a:p>
            <a:pPr lvl="1"/>
            <a:r>
              <a:rPr lang="tr-TR" altLang="zh-TW" sz="2800" dirty="0" smtClean="0"/>
              <a:t>Inference </a:t>
            </a:r>
            <a:r>
              <a:rPr lang="tr-TR" altLang="zh-TW" sz="2800" dirty="0"/>
              <a:t>from a sample</a:t>
            </a:r>
            <a:endParaRPr lang="tr-TR" altLang="zh-TW" sz="3000" dirty="0"/>
          </a:p>
          <a:p>
            <a:r>
              <a:rPr lang="tr-TR" altLang="zh-TW" sz="3200" dirty="0"/>
              <a:t>Role of Computer </a:t>
            </a:r>
            <a:r>
              <a:rPr lang="tr-TR" altLang="zh-TW" sz="3200" dirty="0" smtClean="0"/>
              <a:t>science</a:t>
            </a:r>
            <a:endParaRPr lang="en-US" altLang="zh-TW" sz="3200" dirty="0" smtClean="0"/>
          </a:p>
          <a:p>
            <a:pPr lvl="1"/>
            <a:r>
              <a:rPr lang="tr-TR" altLang="zh-TW" sz="3000" dirty="0" smtClean="0"/>
              <a:t>Efficient </a:t>
            </a:r>
            <a:r>
              <a:rPr lang="tr-TR" altLang="zh-TW" sz="3000" dirty="0"/>
              <a:t>algorithms to</a:t>
            </a:r>
          </a:p>
          <a:p>
            <a:pPr lvl="2"/>
            <a:r>
              <a:rPr lang="tr-TR" altLang="zh-TW" sz="2600" dirty="0"/>
              <a:t>Solve the optimization problem</a:t>
            </a:r>
          </a:p>
          <a:p>
            <a:pPr lvl="2"/>
            <a:r>
              <a:rPr lang="tr-TR" altLang="zh-TW" sz="2600" dirty="0"/>
              <a:t>Representing and evaluating the model for inference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0924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/>
              <a:t>Machine Learning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3200" dirty="0" smtClean="0"/>
              <a:t>Machine learning is preferred approach to</a:t>
            </a:r>
          </a:p>
          <a:p>
            <a:pPr lvl="1" eaLnBrk="1" hangingPunct="1"/>
            <a:r>
              <a:rPr lang="en-US" altLang="zh-TW" sz="2800" dirty="0" smtClean="0"/>
              <a:t>Speech recognition, Natural language processing</a:t>
            </a:r>
          </a:p>
          <a:p>
            <a:pPr lvl="1" eaLnBrk="1" hangingPunct="1"/>
            <a:r>
              <a:rPr lang="en-US" altLang="zh-TW" sz="2800" dirty="0" smtClean="0"/>
              <a:t>Computer vision</a:t>
            </a:r>
          </a:p>
          <a:p>
            <a:pPr lvl="1" eaLnBrk="1" hangingPunct="1"/>
            <a:r>
              <a:rPr lang="en-US" altLang="zh-TW" sz="2800" dirty="0" smtClean="0"/>
              <a:t>Medical outcomes analysis</a:t>
            </a:r>
          </a:p>
          <a:p>
            <a:pPr lvl="1" eaLnBrk="1" hangingPunct="1"/>
            <a:r>
              <a:rPr lang="en-US" altLang="zh-TW" sz="2800" dirty="0" smtClean="0"/>
              <a:t>Robot control</a:t>
            </a:r>
          </a:p>
          <a:p>
            <a:pPr lvl="1" eaLnBrk="1" hangingPunct="1"/>
            <a:r>
              <a:rPr lang="en-US" altLang="zh-TW" sz="2800" dirty="0" smtClean="0"/>
              <a:t>…</a:t>
            </a:r>
          </a:p>
          <a:p>
            <a:pPr eaLnBrk="1" hangingPunct="1"/>
            <a:endParaRPr lang="en-US" altLang="zh-TW" sz="3200" dirty="0" smtClean="0"/>
          </a:p>
        </p:txBody>
      </p:sp>
    </p:spTree>
    <p:extLst>
      <p:ext uri="{BB962C8B-B14F-4D97-AF65-F5344CB8AC3E}">
        <p14:creationId xmlns:p14="http://schemas.microsoft.com/office/powerpoint/2010/main" val="2600188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/>
              <a:t>Machine Learning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TW" sz="3200" dirty="0" smtClean="0"/>
              <a:t>This trend is accelerating</a:t>
            </a:r>
          </a:p>
          <a:p>
            <a:pPr lvl="1" eaLnBrk="1" hangingPunct="1"/>
            <a:r>
              <a:rPr lang="en-US" altLang="zh-TW" sz="2800" dirty="0" smtClean="0"/>
              <a:t>Improved machine learning algorithms</a:t>
            </a:r>
          </a:p>
          <a:p>
            <a:pPr lvl="1" eaLnBrk="1" hangingPunct="1"/>
            <a:r>
              <a:rPr lang="en-US" altLang="zh-TW" sz="2800" dirty="0" smtClean="0"/>
              <a:t>Improved data capture, networking, faster computers</a:t>
            </a:r>
          </a:p>
          <a:p>
            <a:pPr lvl="1" eaLnBrk="1" hangingPunct="1"/>
            <a:r>
              <a:rPr lang="en-US" altLang="zh-TW" sz="2800" dirty="0" smtClean="0"/>
              <a:t>Software too complex to write by hand</a:t>
            </a:r>
          </a:p>
          <a:p>
            <a:pPr lvl="1" eaLnBrk="1" hangingPunct="1"/>
            <a:r>
              <a:rPr lang="en-US" altLang="zh-TW" sz="2800" dirty="0" smtClean="0"/>
              <a:t>New sensors / IO devices</a:t>
            </a:r>
          </a:p>
          <a:p>
            <a:pPr lvl="1" eaLnBrk="1" hangingPunct="1"/>
            <a:r>
              <a:rPr lang="en-US" altLang="zh-TW" sz="2800" dirty="0" smtClean="0"/>
              <a:t>Demand for self-customization to user, environment</a:t>
            </a:r>
          </a:p>
        </p:txBody>
      </p:sp>
    </p:spTree>
    <p:extLst>
      <p:ext uri="{BB962C8B-B14F-4D97-AF65-F5344CB8AC3E}">
        <p14:creationId xmlns:p14="http://schemas.microsoft.com/office/powerpoint/2010/main" val="3719354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Typical Data Mining Task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Credit risk analysis</a:t>
            </a:r>
          </a:p>
          <a:p>
            <a:pPr lvl="1"/>
            <a:r>
              <a:rPr lang="en-US" altLang="zh-TW" sz="2400" dirty="0"/>
              <a:t>Given: questionnaire with financial and personal information</a:t>
            </a:r>
          </a:p>
          <a:p>
            <a:pPr lvl="1"/>
            <a:r>
              <a:rPr lang="en-US" altLang="zh-TW" sz="2400" dirty="0"/>
              <a:t>Problem: should credit card application be accepted?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4174951"/>
            <a:ext cx="7745413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Data Mining Result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Two of the learned rules</a:t>
            </a:r>
          </a:p>
          <a:p>
            <a:pPr lvl="1"/>
            <a:r>
              <a:rPr lang="en-US" altLang="zh-TW" sz="2800" i="1" dirty="0"/>
              <a:t>If </a:t>
            </a:r>
            <a:r>
              <a:rPr lang="en-US" altLang="zh-TW" sz="2800" i="1" dirty="0">
                <a:latin typeface="Times New Roman" panose="02020603050405020304" pitchFamily="18" charset="0"/>
              </a:rPr>
              <a:t>Other-Delinquent-Accounts &gt; 2</a:t>
            </a:r>
            <a:r>
              <a:rPr lang="en-US" altLang="zh-TW" sz="2800" i="1" dirty="0"/>
              <a:t>, and </a:t>
            </a:r>
            <a:br>
              <a:rPr lang="en-US" altLang="zh-TW" sz="2800" i="1" dirty="0"/>
            </a:br>
            <a:r>
              <a:rPr lang="en-US" altLang="zh-TW" sz="2800" i="1" dirty="0">
                <a:latin typeface="Times New Roman" panose="02020603050405020304" pitchFamily="18" charset="0"/>
              </a:rPr>
              <a:t>Number-Delinquent-Billing-Cycles</a:t>
            </a:r>
            <a:r>
              <a:rPr lang="en-US" altLang="zh-TW" sz="2800" i="1" dirty="0"/>
              <a:t> </a:t>
            </a:r>
            <a:r>
              <a:rPr lang="en-US" altLang="zh-TW" sz="2800" i="1" dirty="0">
                <a:latin typeface="Times New Roman" panose="02020603050405020304" pitchFamily="18" charset="0"/>
              </a:rPr>
              <a:t>&gt; 1</a:t>
            </a:r>
            <a:r>
              <a:rPr lang="en-US" altLang="zh-TW" sz="2800" i="1" dirty="0"/>
              <a:t/>
            </a:r>
            <a:br>
              <a:rPr lang="en-US" altLang="zh-TW" sz="2800" i="1" dirty="0"/>
            </a:br>
            <a:r>
              <a:rPr lang="en-US" altLang="zh-TW" sz="2800" i="1" dirty="0"/>
              <a:t>Then </a:t>
            </a:r>
            <a:r>
              <a:rPr lang="en-US" altLang="zh-TW" sz="2800" i="1" dirty="0">
                <a:latin typeface="Times New Roman" panose="02020603050405020304" pitchFamily="18" charset="0"/>
              </a:rPr>
              <a:t>Profitable-Customer? = No</a:t>
            </a:r>
            <a:r>
              <a:rPr lang="en-US" altLang="zh-TW" sz="2800" i="1" dirty="0"/>
              <a:t> 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/>
              <a:t>    [Deny Credit Card application]</a:t>
            </a:r>
          </a:p>
          <a:p>
            <a:pPr lvl="1"/>
            <a:r>
              <a:rPr lang="en-US" altLang="zh-TW" sz="2800" i="1" dirty="0"/>
              <a:t>If </a:t>
            </a:r>
            <a:r>
              <a:rPr lang="en-US" altLang="zh-TW" sz="2800" i="1" dirty="0">
                <a:latin typeface="Times New Roman" panose="02020603050405020304" pitchFamily="18" charset="0"/>
              </a:rPr>
              <a:t>Other-Delinquent-Accounts =0</a:t>
            </a:r>
            <a:r>
              <a:rPr lang="en-US" altLang="zh-TW" sz="2800" i="1" dirty="0"/>
              <a:t>, and </a:t>
            </a:r>
            <a:br>
              <a:rPr lang="en-US" altLang="zh-TW" sz="2800" i="1" dirty="0"/>
            </a:br>
            <a:r>
              <a:rPr lang="en-US" altLang="zh-TW" sz="2800" i="1" dirty="0"/>
              <a:t>(</a:t>
            </a:r>
            <a:r>
              <a:rPr lang="en-US" altLang="zh-TW" sz="2800" i="1" dirty="0">
                <a:latin typeface="Times New Roman" panose="02020603050405020304" pitchFamily="18" charset="0"/>
              </a:rPr>
              <a:t>Income &gt; $30k</a:t>
            </a:r>
            <a:r>
              <a:rPr lang="en-US" altLang="zh-TW" sz="2800" i="1" dirty="0"/>
              <a:t>) OR (</a:t>
            </a:r>
            <a:r>
              <a:rPr lang="en-US" altLang="zh-TW" sz="2800" i="1" dirty="0">
                <a:latin typeface="Times New Roman" panose="02020603050405020304" pitchFamily="18" charset="0"/>
              </a:rPr>
              <a:t>Years-of-Credit &gt; 3</a:t>
            </a:r>
            <a:r>
              <a:rPr lang="en-US" altLang="zh-TW" sz="2800" i="1" dirty="0"/>
              <a:t>)</a:t>
            </a:r>
            <a:br>
              <a:rPr lang="en-US" altLang="zh-TW" sz="2800" i="1" dirty="0"/>
            </a:br>
            <a:r>
              <a:rPr lang="en-US" altLang="zh-TW" sz="2800" i="1" dirty="0"/>
              <a:t>Then </a:t>
            </a:r>
            <a:r>
              <a:rPr lang="en-US" altLang="zh-TW" sz="2800" i="1" dirty="0">
                <a:latin typeface="Times New Roman" panose="02020603050405020304" pitchFamily="18" charset="0"/>
              </a:rPr>
              <a:t>Profitable-Customer? = Yes</a:t>
            </a:r>
            <a:r>
              <a:rPr lang="en-US" altLang="zh-TW" sz="2800" i="1" dirty="0"/>
              <a:t> 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/>
              <a:t>    [Accept Credit Card application]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600" dirty="0"/>
              <a:t>Types of learning problems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621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Types of Learning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014194"/>
            <a:ext cx="7680960" cy="451043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The type of feedback available for learning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Supervised learning</a:t>
            </a:r>
          </a:p>
          <a:p>
            <a:pPr lvl="2">
              <a:lnSpc>
                <a:spcPct val="90000"/>
              </a:lnSpc>
            </a:pPr>
            <a:r>
              <a:rPr lang="en-US" altLang="zh-TW" sz="2000" dirty="0"/>
              <a:t>Given </a:t>
            </a:r>
            <a:r>
              <a:rPr lang="en-US" altLang="zh-TW" sz="2000" u="sng" dirty="0"/>
              <a:t>input instances</a:t>
            </a:r>
            <a:r>
              <a:rPr lang="en-US" altLang="zh-TW" sz="2000" dirty="0"/>
              <a:t> and their correct </a:t>
            </a:r>
            <a:r>
              <a:rPr lang="en-US" altLang="zh-TW" sz="2000" u="sng" dirty="0"/>
              <a:t>output values</a:t>
            </a:r>
          </a:p>
          <a:p>
            <a:pPr lvl="3">
              <a:lnSpc>
                <a:spcPct val="90000"/>
              </a:lnSpc>
            </a:pPr>
            <a:r>
              <a:rPr lang="en-US" altLang="zh-TW" sz="2000" dirty="0"/>
              <a:t>An example is a pair (</a:t>
            </a:r>
            <a:r>
              <a:rPr lang="en-US" altLang="zh-TW" sz="2000" i="1" dirty="0" err="1"/>
              <a:t>x</a:t>
            </a:r>
            <a:r>
              <a:rPr lang="en-US" altLang="zh-TW" sz="2000" dirty="0" err="1"/>
              <a:t>,</a:t>
            </a:r>
            <a:r>
              <a:rPr lang="en-US" altLang="zh-TW" sz="2000" i="1" dirty="0" err="1"/>
              <a:t>f</a:t>
            </a:r>
            <a:r>
              <a:rPr lang="en-US" altLang="zh-TW" sz="2000" dirty="0"/>
              <a:t>(</a:t>
            </a:r>
            <a:r>
              <a:rPr lang="en-US" altLang="zh-TW" sz="2000" i="1" dirty="0"/>
              <a:t>x</a:t>
            </a:r>
            <a:r>
              <a:rPr lang="en-US" altLang="zh-TW" sz="2000" dirty="0"/>
              <a:t>))</a:t>
            </a:r>
          </a:p>
          <a:p>
            <a:pPr lvl="2">
              <a:lnSpc>
                <a:spcPct val="90000"/>
              </a:lnSpc>
            </a:pPr>
            <a:r>
              <a:rPr lang="en-US" altLang="zh-TW" sz="2000" dirty="0"/>
              <a:t>Learn a (approximate) function </a:t>
            </a:r>
            <a:r>
              <a:rPr lang="en-US" altLang="zh-TW" sz="2000" i="1" dirty="0"/>
              <a:t>h</a:t>
            </a:r>
            <a:r>
              <a:rPr lang="en-US" altLang="zh-TW" sz="2000" dirty="0"/>
              <a:t> from examples of its input and output</a:t>
            </a:r>
          </a:p>
          <a:p>
            <a:pPr lvl="3">
              <a:lnSpc>
                <a:spcPct val="90000"/>
              </a:lnSpc>
            </a:pPr>
            <a:r>
              <a:rPr lang="en-US" altLang="zh-TW" sz="2000" i="1" dirty="0"/>
              <a:t>h</a:t>
            </a:r>
            <a:r>
              <a:rPr lang="en-US" altLang="zh-TW" sz="2000" dirty="0"/>
              <a:t> is called </a:t>
            </a:r>
            <a:r>
              <a:rPr lang="en-US" altLang="zh-TW" sz="2000" u="sng" dirty="0"/>
              <a:t>hypothesis</a:t>
            </a:r>
          </a:p>
          <a:p>
            <a:pPr lvl="3">
              <a:lnSpc>
                <a:spcPct val="90000"/>
              </a:lnSpc>
            </a:pPr>
            <a:r>
              <a:rPr lang="en-US" altLang="zh-TW" sz="2000" dirty="0"/>
              <a:t>Hypothesis space </a:t>
            </a:r>
            <a:r>
              <a:rPr lang="en-US" altLang="zh-TW" sz="2000" i="1" dirty="0"/>
              <a:t>H</a:t>
            </a:r>
          </a:p>
          <a:p>
            <a:pPr lvl="4">
              <a:lnSpc>
                <a:spcPct val="90000"/>
              </a:lnSpc>
            </a:pPr>
            <a:r>
              <a:rPr lang="en-US" altLang="zh-TW" sz="2000" dirty="0"/>
              <a:t>The set of all possible hypotheses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tr-TR" altLang="zh-TW" sz="2000" dirty="0"/>
              <a:t>Classification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tr-TR" altLang="zh-TW" sz="2000" dirty="0"/>
              <a:t>Regression</a:t>
            </a:r>
            <a:endParaRPr lang="en-US" altLang="zh-TW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Types of Learning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1916832"/>
            <a:ext cx="7680960" cy="4680818"/>
          </a:xfrm>
        </p:spPr>
        <p:txBody>
          <a:bodyPr>
            <a:noAutofit/>
          </a:bodyPr>
          <a:lstStyle/>
          <a:p>
            <a:pPr lvl="1"/>
            <a:r>
              <a:rPr lang="en-US" altLang="zh-TW" sz="2400" dirty="0"/>
              <a:t>Unsupervised learning</a:t>
            </a:r>
          </a:p>
          <a:p>
            <a:pPr lvl="2"/>
            <a:r>
              <a:rPr lang="en-US" altLang="zh-TW" sz="2000" dirty="0"/>
              <a:t>Given input instances without output values</a:t>
            </a:r>
          </a:p>
          <a:p>
            <a:pPr lvl="2"/>
            <a:r>
              <a:rPr lang="en-US" altLang="zh-TW" sz="2000" dirty="0"/>
              <a:t>Learn patterns, inherent organization in the input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TW" sz="2000" dirty="0" smtClean="0"/>
              <a:t>Clustering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tr-TR" altLang="zh-TW" sz="2000" dirty="0"/>
              <a:t>Learning Associations</a:t>
            </a:r>
            <a:endParaRPr lang="en-US" altLang="zh-TW" sz="2000" dirty="0"/>
          </a:p>
          <a:p>
            <a:pPr lvl="1"/>
            <a:r>
              <a:rPr lang="en-US" altLang="zh-TW" sz="2400" dirty="0"/>
              <a:t>Reinforcement learning</a:t>
            </a:r>
          </a:p>
          <a:p>
            <a:pPr lvl="2"/>
            <a:r>
              <a:rPr lang="en-US" altLang="zh-TW" sz="2000" dirty="0"/>
              <a:t>No teacher tells what to do, must learn from reinforcement, or reward</a:t>
            </a:r>
          </a:p>
          <a:p>
            <a:pPr lvl="2"/>
            <a:r>
              <a:rPr lang="en-US" altLang="zh-TW" sz="2000" dirty="0"/>
              <a:t>Learn how to choose a sequence of actions (policy) over time so as to obtain large rewards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TW" sz="2000" dirty="0"/>
              <a:t>Game playing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tr-TR" altLang="zh-TW" sz="2000" dirty="0"/>
              <a:t>Robot in a maze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Types of Learning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8088952" cy="4422224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Training regimes</a:t>
            </a:r>
          </a:p>
          <a:p>
            <a:pPr lvl="1"/>
            <a:r>
              <a:rPr lang="en-US" altLang="zh-TW" sz="2800" dirty="0"/>
              <a:t>Batch</a:t>
            </a:r>
          </a:p>
          <a:p>
            <a:pPr lvl="2"/>
            <a:r>
              <a:rPr lang="en-US" altLang="zh-TW" sz="2400" dirty="0"/>
              <a:t>The training data can be given all in advance</a:t>
            </a:r>
          </a:p>
          <a:p>
            <a:pPr lvl="2"/>
            <a:r>
              <a:rPr lang="en-US" altLang="zh-TW" sz="2400" dirty="0"/>
              <a:t>Use all training data at once to compute the function</a:t>
            </a:r>
          </a:p>
          <a:p>
            <a:pPr lvl="1"/>
            <a:r>
              <a:rPr lang="en-US" altLang="zh-TW" sz="2800" dirty="0"/>
              <a:t>Online</a:t>
            </a:r>
          </a:p>
          <a:p>
            <a:pPr lvl="2"/>
            <a:r>
              <a:rPr lang="en-US" altLang="zh-TW" sz="2400" dirty="0"/>
              <a:t>The training data is given incrementally, one at a time</a:t>
            </a:r>
          </a:p>
          <a:p>
            <a:pPr lvl="2"/>
            <a:r>
              <a:rPr lang="en-US" altLang="zh-TW" sz="2400" dirty="0"/>
              <a:t>Estimate and update the model after each example  arrives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Classification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altLang="zh-TW" sz="3200" dirty="0"/>
              <a:t>Aka Pattern recognition</a:t>
            </a:r>
          </a:p>
          <a:p>
            <a:r>
              <a:rPr lang="en-US" altLang="zh-TW" sz="3200" dirty="0" smtClean="0"/>
              <a:t>Each </a:t>
            </a:r>
            <a:r>
              <a:rPr lang="en-US" altLang="zh-TW" sz="3200" dirty="0"/>
              <a:t>instance </a:t>
            </a:r>
            <a:r>
              <a:rPr lang="en-US" altLang="zh-TW" sz="3200" dirty="0" smtClean="0"/>
              <a:t>belongs </a:t>
            </a:r>
            <a:r>
              <a:rPr lang="en-US" altLang="zh-TW" sz="3200" dirty="0"/>
              <a:t>to one of the </a:t>
            </a:r>
            <a:r>
              <a:rPr lang="en-US" altLang="zh-TW" sz="3200" u="sng" dirty="0"/>
              <a:t>predefined classes</a:t>
            </a:r>
          </a:p>
          <a:p>
            <a:r>
              <a:rPr lang="en-US" altLang="zh-TW" sz="3200" dirty="0"/>
              <a:t>Learn a function to predict which class a new instance should belong to, based on a given set of training samples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Classification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44824"/>
            <a:ext cx="3827463" cy="3168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altLang="zh-TW" sz="2800" dirty="0"/>
              <a:t>Credit scoring</a:t>
            </a:r>
          </a:p>
          <a:p>
            <a:pPr>
              <a:lnSpc>
                <a:spcPct val="90000"/>
              </a:lnSpc>
            </a:pPr>
            <a:r>
              <a:rPr lang="tr-TR" altLang="zh-TW" sz="2800" dirty="0"/>
              <a:t>Differentiating between </a:t>
            </a:r>
            <a:r>
              <a:rPr lang="tr-TR" altLang="zh-TW" sz="2800" dirty="0">
                <a:solidFill>
                  <a:srgbClr val="FF33CC"/>
                </a:solidFill>
                <a:latin typeface="Times New Roman" panose="02020603050405020304" pitchFamily="18" charset="0"/>
              </a:rPr>
              <a:t>low-risk</a:t>
            </a:r>
            <a:r>
              <a:rPr lang="tr-TR" altLang="zh-TW" sz="2800" dirty="0"/>
              <a:t> and </a:t>
            </a:r>
            <a:r>
              <a:rPr lang="tr-TR" altLang="zh-TW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high-risk</a:t>
            </a:r>
            <a:r>
              <a:rPr lang="tr-TR" altLang="zh-TW" sz="2800" dirty="0"/>
              <a:t> customers from their </a:t>
            </a:r>
            <a:r>
              <a:rPr lang="tr-TR" altLang="zh-TW" sz="2800" i="1" dirty="0">
                <a:latin typeface="Times New Roman" panose="02020603050405020304" pitchFamily="18" charset="0"/>
              </a:rPr>
              <a:t>income</a:t>
            </a:r>
            <a:r>
              <a:rPr lang="tr-TR" altLang="zh-TW" sz="2800" dirty="0"/>
              <a:t> and </a:t>
            </a:r>
            <a:r>
              <a:rPr lang="tr-TR" altLang="zh-TW" sz="2800" i="1" dirty="0">
                <a:latin typeface="Times New Roman" panose="02020603050405020304" pitchFamily="18" charset="0"/>
              </a:rPr>
              <a:t>savings</a:t>
            </a:r>
            <a:endParaRPr lang="en-US" altLang="zh-TW" sz="4000" dirty="0">
              <a:latin typeface="Times New Roman" panose="02020603050405020304" pitchFamily="18" charset="0"/>
            </a:endParaRPr>
          </a:p>
        </p:txBody>
      </p:sp>
      <p:pic>
        <p:nvPicPr>
          <p:cNvPr id="4403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1484784"/>
            <a:ext cx="4032250" cy="3837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611188" y="5373688"/>
            <a:ext cx="8137525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tr-TR" altLang="zh-TW">
                <a:solidFill>
                  <a:srgbClr val="3333FF"/>
                </a:solidFill>
              </a:rPr>
              <a:t>Discriminant:</a:t>
            </a:r>
            <a:r>
              <a:rPr lang="tr-TR" altLang="zh-TW"/>
              <a:t> IF </a:t>
            </a:r>
            <a:r>
              <a:rPr lang="tr-TR" altLang="zh-TW" i="1">
                <a:latin typeface="Times New Roman" panose="02020603050405020304" pitchFamily="18" charset="0"/>
              </a:rPr>
              <a:t>income</a:t>
            </a:r>
            <a:r>
              <a:rPr lang="tr-TR" altLang="zh-TW">
                <a:latin typeface="Times New Roman" panose="02020603050405020304" pitchFamily="18" charset="0"/>
              </a:rPr>
              <a:t> &gt;</a:t>
            </a:r>
            <a:r>
              <a:rPr lang="tr-TR" altLang="zh-TW"/>
              <a:t> θ</a:t>
            </a:r>
            <a:r>
              <a:rPr lang="tr-TR" altLang="zh-TW" baseline="-25000"/>
              <a:t>1</a:t>
            </a:r>
            <a:r>
              <a:rPr lang="tr-TR" altLang="zh-TW"/>
              <a:t> AND </a:t>
            </a:r>
            <a:r>
              <a:rPr lang="tr-TR" altLang="zh-TW" i="1">
                <a:latin typeface="Times New Roman" panose="02020603050405020304" pitchFamily="18" charset="0"/>
              </a:rPr>
              <a:t>savings</a:t>
            </a:r>
            <a:r>
              <a:rPr lang="tr-TR" altLang="zh-TW">
                <a:latin typeface="Times New Roman" panose="02020603050405020304" pitchFamily="18" charset="0"/>
              </a:rPr>
              <a:t> &gt;</a:t>
            </a:r>
            <a:r>
              <a:rPr lang="tr-TR" altLang="zh-TW"/>
              <a:t> θ</a:t>
            </a:r>
            <a:r>
              <a:rPr lang="tr-TR" altLang="zh-TW" baseline="-25000"/>
              <a:t>2</a:t>
            </a:r>
            <a:r>
              <a:rPr lang="tr-TR" altLang="zh-TW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TW"/>
              <a:t>				THEN </a:t>
            </a:r>
            <a:r>
              <a:rPr lang="tr-TR" altLang="zh-TW">
                <a:solidFill>
                  <a:srgbClr val="FF33CC"/>
                </a:solidFill>
                <a:latin typeface="Times New Roman" panose="02020603050405020304" pitchFamily="18" charset="0"/>
              </a:rPr>
              <a:t>low-risk</a:t>
            </a:r>
            <a:r>
              <a:rPr lang="tr-TR" altLang="zh-TW">
                <a:solidFill>
                  <a:srgbClr val="FF33CC"/>
                </a:solidFill>
              </a:rPr>
              <a:t> </a:t>
            </a:r>
            <a:r>
              <a:rPr lang="tr-TR" altLang="zh-TW"/>
              <a:t>ELSE </a:t>
            </a:r>
            <a:r>
              <a:rPr lang="tr-TR" altLang="zh-TW">
                <a:solidFill>
                  <a:srgbClr val="FF0000"/>
                </a:solidFill>
                <a:latin typeface="Times New Roman" panose="02020603050405020304" pitchFamily="18" charset="0"/>
              </a:rPr>
              <a:t>high-risk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Classification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83357"/>
            <a:ext cx="3970338" cy="452596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Face detection</a:t>
            </a:r>
          </a:p>
          <a:p>
            <a:r>
              <a:rPr lang="en-US" altLang="zh-TW" sz="2800" dirty="0"/>
              <a:t>Given as input an arbitrary image, determine whether there are any human faces in the image, and if there are, return an encoding of their location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63" y="1773238"/>
            <a:ext cx="4371975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Classification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44216"/>
            <a:ext cx="8229600" cy="4853136"/>
          </a:xfrm>
        </p:spPr>
        <p:txBody>
          <a:bodyPr>
            <a:normAutofit lnSpcReduction="10000"/>
          </a:bodyPr>
          <a:lstStyle/>
          <a:p>
            <a:r>
              <a:rPr lang="tr-TR" altLang="zh-TW" sz="2800" dirty="0"/>
              <a:t>Face recognition</a:t>
            </a:r>
            <a:endParaRPr lang="en-US" altLang="zh-TW" sz="2800" dirty="0"/>
          </a:p>
          <a:p>
            <a:pPr lvl="1"/>
            <a:r>
              <a:rPr lang="tr-TR" altLang="zh-TW" sz="2400" dirty="0"/>
              <a:t>Pose, lighting, occlusion (glasses, beard), make-up, hair style </a:t>
            </a:r>
          </a:p>
          <a:p>
            <a:r>
              <a:rPr lang="tr-TR" altLang="zh-TW" sz="2800" dirty="0"/>
              <a:t>Character recognition</a:t>
            </a:r>
            <a:endParaRPr lang="en-US" altLang="zh-TW" sz="2800" dirty="0"/>
          </a:p>
          <a:p>
            <a:pPr lvl="1"/>
            <a:r>
              <a:rPr lang="tr-TR" altLang="zh-TW" sz="2400" dirty="0"/>
              <a:t>Different handwriting styles</a:t>
            </a:r>
          </a:p>
          <a:p>
            <a:r>
              <a:rPr lang="tr-TR" altLang="zh-TW" sz="2800" dirty="0"/>
              <a:t>Speech recognition</a:t>
            </a:r>
            <a:endParaRPr lang="en-US" altLang="zh-TW" sz="2800" dirty="0"/>
          </a:p>
          <a:p>
            <a:pPr lvl="1"/>
            <a:r>
              <a:rPr lang="tr-TR" altLang="zh-TW" sz="2400" dirty="0"/>
              <a:t>Temporal dependency</a:t>
            </a:r>
          </a:p>
          <a:p>
            <a:pPr lvl="1"/>
            <a:r>
              <a:rPr lang="tr-TR" altLang="zh-TW" sz="2400" dirty="0"/>
              <a:t>Use of a dictionary or the syntax of the language</a:t>
            </a:r>
          </a:p>
          <a:p>
            <a:r>
              <a:rPr lang="tr-TR" altLang="zh-TW" sz="2800" dirty="0"/>
              <a:t>Medical diagnosis</a:t>
            </a:r>
            <a:endParaRPr lang="en-US" altLang="zh-TW" sz="2800" dirty="0"/>
          </a:p>
          <a:p>
            <a:pPr lvl="1"/>
            <a:r>
              <a:rPr lang="tr-TR" altLang="zh-TW" sz="2400" dirty="0"/>
              <a:t>From symptoms to illnesses</a:t>
            </a:r>
          </a:p>
          <a:p>
            <a:r>
              <a:rPr lang="tr-TR" altLang="zh-TW" sz="2800" dirty="0"/>
              <a:t>...</a:t>
            </a:r>
            <a:endParaRPr lang="en-US" altLang="zh-TW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zh-TW" dirty="0"/>
              <a:t>Regression</a:t>
            </a:r>
            <a:endParaRPr lang="en-US" altLang="zh-TW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55365"/>
            <a:ext cx="4475163" cy="488600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800" dirty="0"/>
              <a:t>Given a set of training examples </a:t>
            </a:r>
            <a:br>
              <a:rPr lang="en-US" altLang="zh-TW" sz="2800" dirty="0"/>
            </a:br>
            <a:r>
              <a:rPr lang="en-US" altLang="zh-TW" sz="2800" dirty="0"/>
              <a:t>   {(x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,y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),…, (</a:t>
            </a:r>
            <a:r>
              <a:rPr lang="en-US" altLang="zh-TW" sz="2800" dirty="0" err="1"/>
              <a:t>x</a:t>
            </a:r>
            <a:r>
              <a:rPr lang="en-US" altLang="zh-TW" sz="2800" baseline="-25000" dirty="0" err="1"/>
              <a:t>n</a:t>
            </a:r>
            <a:r>
              <a:rPr lang="en-US" altLang="zh-TW" sz="2800" dirty="0" err="1"/>
              <a:t>,y</a:t>
            </a:r>
            <a:r>
              <a:rPr lang="en-US" altLang="zh-TW" sz="2800" baseline="-25000" dirty="0" err="1"/>
              <a:t>n</a:t>
            </a:r>
            <a:r>
              <a:rPr lang="en-US" altLang="zh-TW" sz="2800" dirty="0"/>
              <a:t>)}</a:t>
            </a:r>
          </a:p>
          <a:p>
            <a:r>
              <a:rPr lang="en-US" altLang="zh-TW" sz="2800" dirty="0"/>
              <a:t>Learn a </a:t>
            </a:r>
            <a:r>
              <a:rPr lang="en-US" altLang="zh-TW" sz="2800" dirty="0" smtClean="0"/>
              <a:t>mapping</a:t>
            </a:r>
            <a:r>
              <a:rPr lang="en-US" altLang="zh-TW" sz="3200" dirty="0" smtClean="0"/>
              <a:t/>
            </a:r>
            <a:br>
              <a:rPr lang="en-US" altLang="zh-TW" sz="3200" dirty="0" smtClean="0"/>
            </a:br>
            <a:r>
              <a:rPr lang="en-US" altLang="zh-TW" sz="2800" dirty="0" smtClean="0"/>
              <a:t>  </a:t>
            </a:r>
            <a:r>
              <a:rPr lang="en-US" altLang="zh-TW" sz="2800" i="1" dirty="0"/>
              <a:t>h</a:t>
            </a:r>
            <a:r>
              <a:rPr lang="en-US" altLang="zh-TW" sz="2800" dirty="0"/>
              <a:t> : </a:t>
            </a:r>
            <a:r>
              <a:rPr lang="en-US" altLang="zh-TW" sz="2800" i="1" dirty="0"/>
              <a:t>X</a:t>
            </a:r>
            <a:r>
              <a:rPr lang="en-US" altLang="zh-TW" sz="2800" dirty="0"/>
              <a:t> </a:t>
            </a:r>
            <a:r>
              <a:rPr lang="en-US" altLang="zh-TW" sz="2800" dirty="0">
                <a:sym typeface="Wingdings" panose="05000000000000000000" pitchFamily="2" charset="2"/>
              </a:rPr>
              <a:t></a:t>
            </a:r>
            <a:r>
              <a:rPr lang="en-US" altLang="zh-TW" sz="2800" dirty="0"/>
              <a:t> </a:t>
            </a:r>
            <a:r>
              <a:rPr lang="en-US" altLang="zh-TW" sz="2800" i="1" dirty="0"/>
              <a:t>Y</a:t>
            </a:r>
            <a:r>
              <a:rPr lang="en-US" altLang="zh-TW" sz="2800" dirty="0"/>
              <a:t> such that </a:t>
            </a:r>
            <a:br>
              <a:rPr lang="en-US" altLang="zh-TW" sz="2800" dirty="0"/>
            </a:br>
            <a:r>
              <a:rPr lang="en-US" altLang="zh-TW" sz="2800" dirty="0"/>
              <a:t>  </a:t>
            </a:r>
            <a:r>
              <a:rPr lang="en-US" altLang="zh-TW" sz="2800" i="1" dirty="0" err="1"/>
              <a:t>y</a:t>
            </a:r>
            <a:r>
              <a:rPr lang="en-US" altLang="zh-TW" sz="2800" i="1" baseline="-25000" dirty="0" err="1"/>
              <a:t>i</a:t>
            </a:r>
            <a:r>
              <a:rPr lang="en-US" altLang="zh-TW" sz="2800" dirty="0"/>
              <a:t> </a:t>
            </a:r>
            <a:r>
              <a:rPr lang="en-US" altLang="zh-TW" sz="2800" dirty="0">
                <a:cs typeface="Arial" panose="020B0604020202020204" pitchFamily="34" charset="0"/>
              </a:rPr>
              <a:t>≈</a:t>
            </a:r>
            <a:r>
              <a:rPr lang="en-US" altLang="zh-TW" sz="2800" dirty="0"/>
              <a:t> </a:t>
            </a:r>
            <a:r>
              <a:rPr lang="en-US" altLang="zh-TW" sz="2800" i="1" dirty="0"/>
              <a:t>h</a:t>
            </a:r>
            <a:r>
              <a:rPr lang="en-US" altLang="zh-TW" sz="2800" dirty="0"/>
              <a:t>(</a:t>
            </a:r>
            <a:r>
              <a:rPr lang="en-US" altLang="zh-TW" sz="2800" i="1" dirty="0"/>
              <a:t>x</a:t>
            </a:r>
            <a:r>
              <a:rPr lang="en-US" altLang="zh-TW" sz="2800" i="1" baseline="-25000" dirty="0"/>
              <a:t>i</a:t>
            </a:r>
            <a:r>
              <a:rPr lang="en-US" altLang="zh-TW" sz="2800" dirty="0"/>
              <a:t>), </a:t>
            </a:r>
            <a:r>
              <a:rPr lang="en-US" altLang="zh-TW" sz="2800" i="1" dirty="0" err="1"/>
              <a:t>i</a:t>
            </a:r>
            <a:r>
              <a:rPr lang="en-US" altLang="zh-TW" sz="2800" dirty="0"/>
              <a:t> = 1,…, n</a:t>
            </a:r>
          </a:p>
          <a:p>
            <a:endParaRPr lang="en-US" altLang="zh-TW" sz="2800" dirty="0" smtClean="0"/>
          </a:p>
          <a:p>
            <a:pPr lvl="2"/>
            <a:r>
              <a:rPr lang="tr-TR" altLang="zh-TW" sz="2200" dirty="0"/>
              <a:t>Example: Price of a used car</a:t>
            </a:r>
          </a:p>
          <a:p>
            <a:pPr lvl="2"/>
            <a:r>
              <a:rPr lang="tr-TR" altLang="zh-TW" sz="2200" i="1" dirty="0"/>
              <a:t>x </a:t>
            </a:r>
            <a:r>
              <a:rPr lang="tr-TR" altLang="zh-TW" sz="2200" dirty="0"/>
              <a:t>: car attributes</a:t>
            </a:r>
          </a:p>
          <a:p>
            <a:pPr lvl="2">
              <a:buFont typeface="Wingdings" pitchFamily="2" charset="2"/>
              <a:buNone/>
            </a:pPr>
            <a:r>
              <a:rPr lang="tr-TR" altLang="zh-TW" sz="2200" dirty="0"/>
              <a:t>	</a:t>
            </a:r>
            <a:r>
              <a:rPr lang="tr-TR" altLang="zh-TW" sz="2200" i="1" dirty="0"/>
              <a:t>y </a:t>
            </a:r>
            <a:r>
              <a:rPr lang="tr-TR" altLang="zh-TW" sz="2200" dirty="0"/>
              <a:t>: price</a:t>
            </a:r>
          </a:p>
          <a:p>
            <a:pPr lvl="2">
              <a:buFont typeface="Wingdings" pitchFamily="2" charset="2"/>
              <a:buNone/>
            </a:pPr>
            <a:r>
              <a:rPr lang="tr-TR" altLang="zh-TW" sz="2200" dirty="0"/>
              <a:t>		</a:t>
            </a:r>
            <a:r>
              <a:rPr lang="tr-TR" altLang="zh-TW" sz="2200" i="1" dirty="0"/>
              <a:t>y </a:t>
            </a:r>
            <a:r>
              <a:rPr lang="tr-TR" altLang="zh-TW" sz="2200" dirty="0"/>
              <a:t>= </a:t>
            </a:r>
            <a:r>
              <a:rPr lang="tr-TR" altLang="zh-TW" sz="2200" i="1" dirty="0"/>
              <a:t>g </a:t>
            </a:r>
            <a:r>
              <a:rPr lang="tr-TR" altLang="zh-TW" sz="2200" dirty="0"/>
              <a:t>(</a:t>
            </a:r>
            <a:r>
              <a:rPr lang="tr-TR" altLang="zh-TW" sz="2200" i="1" dirty="0"/>
              <a:t>x </a:t>
            </a:r>
            <a:r>
              <a:rPr lang="tr-TR" altLang="zh-TW" sz="2200" dirty="0"/>
              <a:t>| </a:t>
            </a:r>
            <a:r>
              <a:rPr lang="tr-TR" altLang="zh-TW" sz="2200" i="1" dirty="0">
                <a:latin typeface="Symbol" pitchFamily="18" charset="2"/>
              </a:rPr>
              <a:t>q </a:t>
            </a:r>
            <a:r>
              <a:rPr lang="tr-TR" altLang="zh-TW" sz="2200" dirty="0"/>
              <a:t>)</a:t>
            </a:r>
          </a:p>
          <a:p>
            <a:pPr lvl="2">
              <a:buFont typeface="Wingdings" pitchFamily="2" charset="2"/>
              <a:buNone/>
            </a:pPr>
            <a:r>
              <a:rPr lang="tr-TR" altLang="zh-TW" sz="2200" dirty="0"/>
              <a:t>	</a:t>
            </a:r>
            <a:r>
              <a:rPr lang="en-US" altLang="zh-TW" sz="2200" dirty="0" smtClean="0"/>
              <a:t>      </a:t>
            </a:r>
            <a:r>
              <a:rPr lang="tr-TR" altLang="zh-TW" sz="2200" i="1" dirty="0" smtClean="0"/>
              <a:t>g</a:t>
            </a:r>
            <a:r>
              <a:rPr lang="tr-TR" altLang="zh-TW" sz="2200" dirty="0" smtClean="0"/>
              <a:t>( )</a:t>
            </a:r>
            <a:r>
              <a:rPr lang="en-US" altLang="zh-TW" sz="2200" dirty="0" smtClean="0"/>
              <a:t>:</a:t>
            </a:r>
            <a:r>
              <a:rPr lang="tr-TR" altLang="zh-TW" sz="2200" dirty="0" smtClean="0"/>
              <a:t> </a:t>
            </a:r>
            <a:r>
              <a:rPr lang="tr-TR" altLang="zh-TW" sz="2200" dirty="0"/>
              <a:t>model,</a:t>
            </a:r>
          </a:p>
          <a:p>
            <a:pPr lvl="2">
              <a:buFont typeface="Wingdings" pitchFamily="2" charset="2"/>
              <a:buNone/>
            </a:pPr>
            <a:r>
              <a:rPr lang="tr-TR" altLang="zh-TW" sz="2200" dirty="0">
                <a:latin typeface="Symbol" pitchFamily="18" charset="2"/>
              </a:rPr>
              <a:t>	</a:t>
            </a:r>
            <a:r>
              <a:rPr lang="tr-TR" altLang="zh-TW" sz="2200" i="1" dirty="0">
                <a:latin typeface="Symbol" pitchFamily="18" charset="2"/>
              </a:rPr>
              <a:t> </a:t>
            </a:r>
            <a:r>
              <a:rPr lang="en-US" altLang="zh-TW" sz="2200" i="1" dirty="0" smtClean="0">
                <a:latin typeface="Symbol" pitchFamily="18" charset="2"/>
              </a:rPr>
              <a:t>     </a:t>
            </a:r>
            <a:r>
              <a:rPr lang="tr-TR" altLang="zh-TW" sz="2200" i="1" dirty="0" smtClean="0">
                <a:latin typeface="Symbol" pitchFamily="18" charset="2"/>
              </a:rPr>
              <a:t>q </a:t>
            </a:r>
            <a:r>
              <a:rPr lang="en-US" altLang="zh-TW" sz="2200" i="1" dirty="0" smtClean="0">
                <a:latin typeface="Symbol" pitchFamily="18" charset="2"/>
              </a:rPr>
              <a:t>: </a:t>
            </a:r>
            <a:r>
              <a:rPr lang="tr-TR" altLang="zh-TW" sz="2200" dirty="0" smtClean="0"/>
              <a:t>parameters</a:t>
            </a:r>
            <a:endParaRPr lang="tr-TR" altLang="zh-TW" sz="2200" dirty="0"/>
          </a:p>
          <a:p>
            <a:endParaRPr lang="en-US" altLang="zh-TW" sz="2800" dirty="0"/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555" y="2780928"/>
            <a:ext cx="3971925" cy="382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6804025" y="2924175"/>
            <a:ext cx="1428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tr-TR" altLang="zh-TW" sz="2000" i="1">
                <a:latin typeface="Lucida Bright" panose="02040602050505020304" pitchFamily="18" charset="0"/>
              </a:rPr>
              <a:t>y </a:t>
            </a:r>
            <a:r>
              <a:rPr kumimoji="0" lang="tr-TR" altLang="zh-TW" sz="2000">
                <a:latin typeface="Lucida Bright" panose="02040602050505020304" pitchFamily="18" charset="0"/>
              </a:rPr>
              <a:t>= </a:t>
            </a:r>
            <a:r>
              <a:rPr kumimoji="0" lang="tr-TR" altLang="zh-TW" sz="2000" i="1">
                <a:latin typeface="Lucida Bright" panose="02040602050505020304" pitchFamily="18" charset="0"/>
              </a:rPr>
              <a:t>wx</a:t>
            </a:r>
            <a:r>
              <a:rPr kumimoji="0" lang="tr-TR" altLang="zh-TW" sz="2000">
                <a:latin typeface="Lucida Bright" panose="02040602050505020304" pitchFamily="18" charset="0"/>
              </a:rPr>
              <a:t>+</a:t>
            </a:r>
            <a:r>
              <a:rPr kumimoji="0" lang="tr-TR" altLang="zh-TW" sz="2000" i="1">
                <a:latin typeface="Lucida Bright" panose="02040602050505020304" pitchFamily="18" charset="0"/>
              </a:rPr>
              <a:t>w</a:t>
            </a:r>
            <a:r>
              <a:rPr kumimoji="0" lang="tr-TR" altLang="zh-TW" sz="2000" baseline="-25000">
                <a:latin typeface="Lucida Bright" panose="02040602050505020304" pitchFamily="18" charset="0"/>
              </a:rPr>
              <a:t>0</a:t>
            </a:r>
            <a:endParaRPr kumimoji="0" lang="en-GB" altLang="zh-TW" sz="2000" baseline="-2500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Clustering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/>
              <a:t>Group a set of instances based on their similarities</a:t>
            </a:r>
          </a:p>
          <a:p>
            <a:r>
              <a:rPr lang="tr-TR" altLang="zh-TW" sz="3200" dirty="0"/>
              <a:t>Example applications</a:t>
            </a:r>
          </a:p>
          <a:p>
            <a:pPr lvl="1"/>
            <a:r>
              <a:rPr lang="tr-TR" altLang="zh-TW" sz="2800" dirty="0"/>
              <a:t>Customer segmentation in CRM</a:t>
            </a:r>
            <a:endParaRPr lang="en-US" altLang="zh-TW" sz="2800" dirty="0"/>
          </a:p>
          <a:p>
            <a:pPr lvl="1"/>
            <a:r>
              <a:rPr lang="en-US" altLang="zh-TW" sz="2800" dirty="0"/>
              <a:t>Text </a:t>
            </a:r>
            <a:r>
              <a:rPr lang="en-US" altLang="zh-TW" sz="2800" dirty="0" smtClean="0"/>
              <a:t>clustering</a:t>
            </a:r>
          </a:p>
          <a:p>
            <a:pPr lvl="1"/>
            <a:r>
              <a:rPr lang="tr-TR" altLang="zh-TW" sz="2800" dirty="0"/>
              <a:t>Image compression: Color </a:t>
            </a:r>
            <a:r>
              <a:rPr lang="tr-TR" altLang="zh-TW" sz="2800" dirty="0" smtClean="0"/>
              <a:t>quantization</a:t>
            </a:r>
            <a:endParaRPr lang="en-US" altLang="zh-TW" sz="2800" dirty="0" smtClean="0"/>
          </a:p>
          <a:p>
            <a:pPr lvl="1"/>
            <a:r>
              <a:rPr lang="tr-TR" altLang="zh-TW" sz="2800" dirty="0"/>
              <a:t>Bioinformatics: Learning motifs</a:t>
            </a:r>
            <a:endParaRPr lang="en-US" altLang="zh-TW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zh-TW"/>
              <a:t>Learning Associations</a:t>
            </a:r>
            <a:endParaRPr lang="en-US" altLang="zh-TW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Detecting </a:t>
            </a:r>
            <a:r>
              <a:rPr lang="en-US" altLang="zh-TW" sz="3600" dirty="0"/>
              <a:t>associations</a:t>
            </a:r>
            <a:r>
              <a:rPr lang="en-US" altLang="zh-TW" sz="3200" dirty="0"/>
              <a:t> between features</a:t>
            </a:r>
          </a:p>
          <a:p>
            <a:r>
              <a:rPr lang="en-US" altLang="zh-TW" sz="3200" dirty="0"/>
              <a:t>Example: </a:t>
            </a:r>
            <a:r>
              <a:rPr lang="tr-TR" altLang="zh-TW" sz="3200" dirty="0"/>
              <a:t>Basket analysis </a:t>
            </a:r>
          </a:p>
          <a:p>
            <a:pPr lvl="1"/>
            <a:r>
              <a:rPr lang="tr-TR" altLang="zh-TW" sz="2800" i="1" dirty="0"/>
              <a:t>P </a:t>
            </a:r>
            <a:r>
              <a:rPr lang="tr-TR" altLang="zh-TW" sz="2800" dirty="0"/>
              <a:t>(</a:t>
            </a:r>
            <a:r>
              <a:rPr lang="tr-TR" altLang="zh-TW" sz="2800" i="1" dirty="0"/>
              <a:t>Y </a:t>
            </a:r>
            <a:r>
              <a:rPr lang="tr-TR" altLang="zh-TW" sz="2800" dirty="0"/>
              <a:t>| </a:t>
            </a:r>
            <a:r>
              <a:rPr lang="tr-TR" altLang="zh-TW" sz="2800" i="1" dirty="0"/>
              <a:t>X </a:t>
            </a:r>
            <a:r>
              <a:rPr lang="tr-TR" altLang="zh-TW" sz="2800" dirty="0"/>
              <a:t>) probability that somebody who buys </a:t>
            </a:r>
            <a:r>
              <a:rPr lang="tr-TR" altLang="zh-TW" sz="2800" i="1" dirty="0"/>
              <a:t>X</a:t>
            </a:r>
            <a:r>
              <a:rPr lang="tr-TR" altLang="zh-TW" sz="2800" dirty="0"/>
              <a:t> also buys </a:t>
            </a:r>
            <a:r>
              <a:rPr lang="tr-TR" altLang="zh-TW" sz="2800" i="1" dirty="0"/>
              <a:t>Y </a:t>
            </a:r>
            <a:r>
              <a:rPr lang="tr-TR" altLang="zh-TW" sz="2800" dirty="0"/>
              <a:t>where </a:t>
            </a:r>
            <a:r>
              <a:rPr lang="tr-TR" altLang="zh-TW" sz="2800" i="1" dirty="0"/>
              <a:t>X</a:t>
            </a:r>
            <a:r>
              <a:rPr lang="tr-TR" altLang="zh-TW" sz="2800" dirty="0"/>
              <a:t> and </a:t>
            </a:r>
            <a:r>
              <a:rPr lang="tr-TR" altLang="zh-TW" sz="2800" i="1" dirty="0"/>
              <a:t>Y</a:t>
            </a:r>
            <a:r>
              <a:rPr lang="tr-TR" altLang="zh-TW" sz="2800" dirty="0"/>
              <a:t> are products/services</a:t>
            </a:r>
          </a:p>
          <a:p>
            <a:pPr lvl="1"/>
            <a:r>
              <a:rPr lang="tr-TR" altLang="zh-TW" sz="2800" i="1" dirty="0"/>
              <a:t>P </a:t>
            </a:r>
            <a:r>
              <a:rPr lang="tr-TR" altLang="zh-TW" sz="2800" dirty="0"/>
              <a:t>( chips | beer ) = 0.7</a:t>
            </a:r>
            <a:endParaRPr lang="en-US" altLang="zh-TW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Game Playing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4919980" cy="4638248"/>
          </a:xfrm>
        </p:spPr>
        <p:txBody>
          <a:bodyPr>
            <a:noAutofit/>
          </a:bodyPr>
          <a:lstStyle/>
          <a:p>
            <a:r>
              <a:rPr lang="en-US" altLang="zh-TW" sz="2800" dirty="0"/>
              <a:t>Learn to play backgammon (TD-Gammon)</a:t>
            </a:r>
          </a:p>
          <a:p>
            <a:pPr lvl="1"/>
            <a:r>
              <a:rPr lang="en-US" altLang="zh-TW" sz="2400" dirty="0"/>
              <a:t>Immediate reward</a:t>
            </a:r>
          </a:p>
          <a:p>
            <a:pPr lvl="2"/>
            <a:r>
              <a:rPr lang="en-US" altLang="zh-TW" sz="2000" dirty="0"/>
              <a:t>+100 if win</a:t>
            </a:r>
          </a:p>
          <a:p>
            <a:pPr lvl="2"/>
            <a:r>
              <a:rPr lang="en-US" altLang="zh-TW" sz="2000" dirty="0"/>
              <a:t>-100 if lose</a:t>
            </a:r>
          </a:p>
          <a:p>
            <a:pPr lvl="2"/>
            <a:r>
              <a:rPr lang="en-US" altLang="zh-TW" sz="2000" dirty="0"/>
              <a:t>0 for all other states</a:t>
            </a:r>
          </a:p>
          <a:p>
            <a:pPr lvl="1"/>
            <a:r>
              <a:rPr lang="en-US" altLang="zh-TW" sz="2400" dirty="0"/>
              <a:t>Trained by playing  million games against itself</a:t>
            </a:r>
          </a:p>
          <a:p>
            <a:pPr lvl="1"/>
            <a:r>
              <a:rPr lang="en-US" altLang="zh-TW" sz="2400" dirty="0"/>
              <a:t>Now approximately equal to best human player</a:t>
            </a:r>
          </a:p>
        </p:txBody>
      </p:sp>
      <p:pic>
        <p:nvPicPr>
          <p:cNvPr id="169988" name="Picture 4" descr="Rl-bd_co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76475"/>
            <a:ext cx="3598615" cy="2164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Data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293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Data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Instance</a:t>
            </a:r>
          </a:p>
          <a:p>
            <a:pPr lvl="1"/>
            <a:r>
              <a:rPr lang="en-US" altLang="zh-TW" sz="2400" dirty="0"/>
              <a:t>Thing to be classified, associated, or clustered</a:t>
            </a:r>
          </a:p>
          <a:p>
            <a:pPr lvl="1"/>
            <a:r>
              <a:rPr lang="en-US" altLang="zh-TW" sz="2400" dirty="0"/>
              <a:t>Individual, independent example of target concept</a:t>
            </a:r>
          </a:p>
          <a:p>
            <a:pPr lvl="1"/>
            <a:r>
              <a:rPr lang="en-US" altLang="zh-TW" sz="2400" dirty="0"/>
              <a:t>Characterized by a predetermined set of attributes</a:t>
            </a:r>
          </a:p>
          <a:p>
            <a:r>
              <a:rPr lang="en-US" altLang="zh-TW" sz="2800" dirty="0"/>
              <a:t>Possible attribute types</a:t>
            </a:r>
          </a:p>
          <a:p>
            <a:pPr lvl="1"/>
            <a:r>
              <a:rPr lang="en-US" altLang="zh-TW" sz="2400" dirty="0"/>
              <a:t>Nominal, ordinal, interval and ratio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Input Data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Example days</a:t>
            </a:r>
          </a:p>
        </p:txBody>
      </p:sp>
      <p:graphicFrame>
        <p:nvGraphicFramePr>
          <p:cNvPr id="52580" name="Group 3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35730"/>
              </p:ext>
            </p:extLst>
          </p:nvPr>
        </p:nvGraphicFramePr>
        <p:xfrm>
          <a:off x="1042988" y="2688704"/>
          <a:ext cx="7921625" cy="1676400"/>
        </p:xfrm>
        <a:graphic>
          <a:graphicData uri="http://schemas.openxmlformats.org/drawingml/2006/table">
            <a:tbl>
              <a:tblPr/>
              <a:tblGrid>
                <a:gridCol w="1036637">
                  <a:extLst>
                    <a:ext uri="{9D8B030D-6E8A-4147-A177-3AD203B41FA5}">
                      <a16:colId xmlns:a16="http://schemas.microsoft.com/office/drawing/2014/main" val="350758621"/>
                    </a:ext>
                  </a:extLst>
                </a:gridCol>
                <a:gridCol w="814388">
                  <a:extLst>
                    <a:ext uri="{9D8B030D-6E8A-4147-A177-3AD203B41FA5}">
                      <a16:colId xmlns:a16="http://schemas.microsoft.com/office/drawing/2014/main" val="200889537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781717415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1851862732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605328120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320943215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16553818"/>
                    </a:ext>
                  </a:extLst>
                </a:gridCol>
                <a:gridCol w="1185863">
                  <a:extLst>
                    <a:ext uri="{9D8B030D-6E8A-4147-A177-3AD203B41FA5}">
                      <a16:colId xmlns:a16="http://schemas.microsoft.com/office/drawing/2014/main" val="3756701297"/>
                    </a:ext>
                  </a:extLst>
                </a:gridCol>
              </a:tblGrid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Example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Sky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AirTemp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Humidity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Wind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Forecast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EnjoySport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604291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Sunny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Normal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974225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Sunny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215496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Rainy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Cold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657837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Sunny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Cool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789365"/>
                  </a:ext>
                </a:extLst>
              </a:tr>
            </a:tbl>
          </a:graphicData>
        </a:graphic>
      </p:graphicFrame>
      <p:graphicFrame>
        <p:nvGraphicFramePr>
          <p:cNvPr id="52639" name="Group 4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040651"/>
              </p:ext>
            </p:extLst>
          </p:nvPr>
        </p:nvGraphicFramePr>
        <p:xfrm>
          <a:off x="1042988" y="4776936"/>
          <a:ext cx="7921625" cy="1676400"/>
        </p:xfrm>
        <a:graphic>
          <a:graphicData uri="http://schemas.openxmlformats.org/drawingml/2006/table">
            <a:tbl>
              <a:tblPr/>
              <a:tblGrid>
                <a:gridCol w="1036637">
                  <a:extLst>
                    <a:ext uri="{9D8B030D-6E8A-4147-A177-3AD203B41FA5}">
                      <a16:colId xmlns:a16="http://schemas.microsoft.com/office/drawing/2014/main" val="2476794659"/>
                    </a:ext>
                  </a:extLst>
                </a:gridCol>
                <a:gridCol w="814388">
                  <a:extLst>
                    <a:ext uri="{9D8B030D-6E8A-4147-A177-3AD203B41FA5}">
                      <a16:colId xmlns:a16="http://schemas.microsoft.com/office/drawing/2014/main" val="2298347484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55407655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580679627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4018627030"/>
                    </a:ext>
                  </a:extLst>
                </a:gridCol>
                <a:gridCol w="833437">
                  <a:extLst>
                    <a:ext uri="{9D8B030D-6E8A-4147-A177-3AD203B41FA5}">
                      <a16:colId xmlns:a16="http://schemas.microsoft.com/office/drawing/2014/main" val="13693531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9974787"/>
                    </a:ext>
                  </a:extLst>
                </a:gridCol>
                <a:gridCol w="1185863">
                  <a:extLst>
                    <a:ext uri="{9D8B030D-6E8A-4147-A177-3AD203B41FA5}">
                      <a16:colId xmlns:a16="http://schemas.microsoft.com/office/drawing/2014/main" val="4200873540"/>
                    </a:ext>
                  </a:extLst>
                </a:gridCol>
              </a:tblGrid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Example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Sky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AirTemp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Humidity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Wind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Forecast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EnjoySport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186873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Sunny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057884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Sunny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254245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Rainy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5878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Sunny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Cool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0147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600" dirty="0"/>
              <a:t>Knowledge Representation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7692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Knowledge Representation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536356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Many different ways of representing patterns</a:t>
            </a:r>
          </a:p>
          <a:p>
            <a:pPr lvl="1"/>
            <a:r>
              <a:rPr lang="en-US" altLang="zh-TW" sz="2800" dirty="0"/>
              <a:t>Decision trees, rules, instance-based, …</a:t>
            </a:r>
          </a:p>
          <a:p>
            <a:r>
              <a:rPr lang="en-US" altLang="zh-TW" sz="3200" dirty="0"/>
              <a:t>Understanding the output is the key to understanding the underlying learning methods</a:t>
            </a:r>
          </a:p>
          <a:p>
            <a:r>
              <a:rPr lang="en-US" altLang="zh-TW" sz="3200" dirty="0"/>
              <a:t>Different types of output for different learning problems (e.g. classification, regression, 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Knowledge Representation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Decision tables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r>
              <a:rPr lang="en-US" altLang="zh-TW" sz="2800" dirty="0"/>
              <a:t>Decision trees</a:t>
            </a:r>
          </a:p>
          <a:p>
            <a:pPr lvl="1"/>
            <a:r>
              <a:rPr lang="en-US" altLang="zh-TW" sz="2400" dirty="0"/>
              <a:t>Internal node</a:t>
            </a:r>
          </a:p>
          <a:p>
            <a:pPr lvl="2"/>
            <a:r>
              <a:rPr lang="en-US" altLang="zh-TW" sz="2000" dirty="0"/>
              <a:t>Test attribute</a:t>
            </a:r>
          </a:p>
          <a:p>
            <a:pPr lvl="1"/>
            <a:r>
              <a:rPr lang="en-US" altLang="zh-TW" sz="2400" dirty="0"/>
              <a:t>Branch</a:t>
            </a:r>
          </a:p>
          <a:p>
            <a:pPr lvl="2"/>
            <a:r>
              <a:rPr lang="en-US" altLang="zh-TW" sz="2000" dirty="0"/>
              <a:t>Attribute value</a:t>
            </a:r>
          </a:p>
          <a:p>
            <a:pPr lvl="1"/>
            <a:r>
              <a:rPr lang="en-US" altLang="zh-TW" sz="2400" dirty="0"/>
              <a:t>Leaf</a:t>
            </a:r>
          </a:p>
          <a:p>
            <a:pPr lvl="2"/>
            <a:r>
              <a:rPr lang="en-US" altLang="zh-TW" sz="2000" dirty="0"/>
              <a:t>Classification</a:t>
            </a:r>
          </a:p>
        </p:txBody>
      </p:sp>
      <p:graphicFrame>
        <p:nvGraphicFramePr>
          <p:cNvPr id="60542" name="Group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848191"/>
              </p:ext>
            </p:extLst>
          </p:nvPr>
        </p:nvGraphicFramePr>
        <p:xfrm>
          <a:off x="2555776" y="2376296"/>
          <a:ext cx="3008313" cy="1005840"/>
        </p:xfrm>
        <a:graphic>
          <a:graphicData uri="http://schemas.openxmlformats.org/drawingml/2006/table">
            <a:tbl>
              <a:tblPr/>
              <a:tblGrid>
                <a:gridCol w="814388">
                  <a:extLst>
                    <a:ext uri="{9D8B030D-6E8A-4147-A177-3AD203B41FA5}">
                      <a16:colId xmlns:a16="http://schemas.microsoft.com/office/drawing/2014/main" val="911222087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1284002912"/>
                    </a:ext>
                  </a:extLst>
                </a:gridCol>
                <a:gridCol w="1185863">
                  <a:extLst>
                    <a:ext uri="{9D8B030D-6E8A-4147-A177-3AD203B41FA5}">
                      <a16:colId xmlns:a16="http://schemas.microsoft.com/office/drawing/2014/main" val="3905651396"/>
                    </a:ext>
                  </a:extLst>
                </a:gridCol>
              </a:tblGrid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Sky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AirTemp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EnjoySport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177434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Sunny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084937"/>
                  </a:ext>
                </a:extLst>
              </a:tr>
              <a:tr h="258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Rainy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Cold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553124"/>
                  </a:ext>
                </a:extLst>
              </a:tr>
            </a:tbl>
          </a:graphicData>
        </a:graphic>
      </p:graphicFrame>
      <p:pic>
        <p:nvPicPr>
          <p:cNvPr id="60543" name="Picture 1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3716338"/>
            <a:ext cx="4679950" cy="280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Knowledge Representation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Classification rules</a:t>
            </a:r>
          </a:p>
          <a:p>
            <a:pPr lvl="1"/>
            <a:r>
              <a:rPr lang="en-US" altLang="zh-TW" sz="2400" dirty="0"/>
              <a:t>If </a:t>
            </a:r>
            <a:r>
              <a:rPr lang="en-US" altLang="zh-TW" sz="2400" i="1" dirty="0">
                <a:latin typeface="Times New Roman" panose="02020603050405020304" pitchFamily="18" charset="0"/>
              </a:rPr>
              <a:t>Sky = </a:t>
            </a:r>
            <a:r>
              <a:rPr lang="en-US" altLang="zh-TW" sz="2400" dirty="0">
                <a:latin typeface="Times New Roman" panose="02020603050405020304" pitchFamily="18" charset="0"/>
              </a:rPr>
              <a:t>Sunny</a:t>
            </a:r>
            <a:r>
              <a:rPr lang="en-US" altLang="zh-TW" sz="2400" dirty="0"/>
              <a:t> and </a:t>
            </a:r>
            <a:r>
              <a:rPr lang="en-US" altLang="zh-TW" sz="2400" i="1" dirty="0" err="1">
                <a:latin typeface="Times New Roman" panose="02020603050405020304" pitchFamily="18" charset="0"/>
              </a:rPr>
              <a:t>AirTemp</a:t>
            </a:r>
            <a:r>
              <a:rPr lang="en-US" altLang="zh-TW" sz="2400" i="1" dirty="0">
                <a:latin typeface="Times New Roman" panose="02020603050405020304" pitchFamily="18" charset="0"/>
              </a:rPr>
              <a:t> = </a:t>
            </a:r>
            <a:r>
              <a:rPr lang="en-US" altLang="zh-TW" sz="2400" dirty="0">
                <a:latin typeface="Times New Roman" panose="02020603050405020304" pitchFamily="18" charset="0"/>
              </a:rPr>
              <a:t>Warm</a:t>
            </a:r>
            <a:r>
              <a:rPr lang="en-US" altLang="zh-TW" sz="2400" dirty="0"/>
              <a:t> </a:t>
            </a:r>
            <a:br>
              <a:rPr lang="en-US" altLang="zh-TW" sz="2400" dirty="0"/>
            </a:br>
            <a:r>
              <a:rPr lang="en-US" altLang="zh-TW" sz="2400" dirty="0"/>
              <a:t>     then </a:t>
            </a:r>
            <a:r>
              <a:rPr lang="en-US" altLang="zh-TW" sz="2400" i="1" dirty="0" err="1">
                <a:latin typeface="Times New Roman" panose="02020603050405020304" pitchFamily="18" charset="0"/>
              </a:rPr>
              <a:t>EnjoySport</a:t>
            </a:r>
            <a:r>
              <a:rPr lang="en-US" altLang="zh-TW" sz="2400" i="1" dirty="0">
                <a:latin typeface="Times New Roman" panose="02020603050405020304" pitchFamily="18" charset="0"/>
              </a:rPr>
              <a:t> =</a:t>
            </a:r>
            <a:r>
              <a:rPr lang="en-US" altLang="zh-TW" sz="2400" dirty="0">
                <a:latin typeface="Times New Roman" panose="02020603050405020304" pitchFamily="18" charset="0"/>
              </a:rPr>
              <a:t>Yes</a:t>
            </a:r>
          </a:p>
          <a:p>
            <a:pPr lvl="1"/>
            <a:r>
              <a:rPr lang="en-US" altLang="zh-TW" sz="2400" dirty="0"/>
              <a:t>If </a:t>
            </a:r>
            <a:r>
              <a:rPr lang="en-US" altLang="zh-TW" sz="2400" i="1" dirty="0">
                <a:latin typeface="Times New Roman" panose="02020603050405020304" pitchFamily="18" charset="0"/>
              </a:rPr>
              <a:t>Sky = </a:t>
            </a:r>
            <a:r>
              <a:rPr lang="en-US" altLang="zh-TW" sz="2400" dirty="0">
                <a:latin typeface="Times New Roman" panose="02020603050405020304" pitchFamily="18" charset="0"/>
              </a:rPr>
              <a:t>Rainy</a:t>
            </a:r>
            <a:r>
              <a:rPr lang="en-US" altLang="zh-TW" sz="2400" dirty="0"/>
              <a:t> and </a:t>
            </a:r>
            <a:r>
              <a:rPr lang="en-US" altLang="zh-TW" sz="2400" i="1" dirty="0" err="1">
                <a:latin typeface="Times New Roman" panose="02020603050405020304" pitchFamily="18" charset="0"/>
              </a:rPr>
              <a:t>AirTemp</a:t>
            </a:r>
            <a:r>
              <a:rPr lang="en-US" altLang="zh-TW" sz="2400" i="1" dirty="0">
                <a:latin typeface="Times New Roman" panose="02020603050405020304" pitchFamily="18" charset="0"/>
              </a:rPr>
              <a:t> = </a:t>
            </a:r>
            <a:r>
              <a:rPr lang="en-US" altLang="zh-TW" sz="2400" dirty="0">
                <a:latin typeface="Times New Roman" panose="02020603050405020304" pitchFamily="18" charset="0"/>
              </a:rPr>
              <a:t>Cold</a:t>
            </a:r>
            <a:r>
              <a:rPr lang="en-US" altLang="zh-TW" sz="2400" dirty="0"/>
              <a:t> </a:t>
            </a:r>
            <a:br>
              <a:rPr lang="en-US" altLang="zh-TW" sz="2400" dirty="0"/>
            </a:br>
            <a:r>
              <a:rPr lang="en-US" altLang="zh-TW" sz="2400" dirty="0"/>
              <a:t>     then </a:t>
            </a:r>
            <a:r>
              <a:rPr lang="en-US" altLang="zh-TW" sz="2400" i="1" dirty="0" err="1">
                <a:latin typeface="Times New Roman" panose="02020603050405020304" pitchFamily="18" charset="0"/>
              </a:rPr>
              <a:t>EnjoySport</a:t>
            </a:r>
            <a:r>
              <a:rPr lang="en-US" altLang="zh-TW" sz="2400" i="1" dirty="0">
                <a:latin typeface="Times New Roman" panose="02020603050405020304" pitchFamily="18" charset="0"/>
              </a:rPr>
              <a:t> =</a:t>
            </a:r>
            <a:r>
              <a:rPr lang="en-US" altLang="zh-TW" sz="2400" dirty="0">
                <a:latin typeface="Times New Roman" panose="02020603050405020304" pitchFamily="18" charset="0"/>
              </a:rPr>
              <a:t>No</a:t>
            </a:r>
          </a:p>
          <a:p>
            <a:r>
              <a:rPr lang="en-US" altLang="zh-TW" sz="2800" dirty="0"/>
              <a:t>Association rules</a:t>
            </a:r>
          </a:p>
          <a:p>
            <a:pPr lvl="1"/>
            <a:r>
              <a:rPr lang="en-US" altLang="zh-TW" sz="2400" dirty="0"/>
              <a:t>If </a:t>
            </a:r>
            <a:r>
              <a:rPr lang="en-US" altLang="zh-TW" sz="2400" i="1" dirty="0">
                <a:latin typeface="Times New Roman" panose="02020603050405020304" pitchFamily="18" charset="0"/>
              </a:rPr>
              <a:t>Sky = </a:t>
            </a:r>
            <a:r>
              <a:rPr lang="en-US" altLang="zh-TW" sz="2400" dirty="0">
                <a:latin typeface="Times New Roman" panose="02020603050405020304" pitchFamily="18" charset="0"/>
              </a:rPr>
              <a:t>Sunny</a:t>
            </a:r>
            <a:r>
              <a:rPr lang="en-US" altLang="zh-TW" sz="2400" dirty="0"/>
              <a:t> then </a:t>
            </a:r>
            <a:r>
              <a:rPr lang="en-US" altLang="zh-TW" sz="2400" i="1" dirty="0" err="1">
                <a:latin typeface="Times New Roman" panose="02020603050405020304" pitchFamily="18" charset="0"/>
              </a:rPr>
              <a:t>AirTemp</a:t>
            </a:r>
            <a:r>
              <a:rPr lang="en-US" altLang="zh-TW" sz="2400" i="1" dirty="0">
                <a:latin typeface="Times New Roman" panose="02020603050405020304" pitchFamily="18" charset="0"/>
              </a:rPr>
              <a:t> = </a:t>
            </a:r>
            <a:r>
              <a:rPr lang="en-US" altLang="zh-TW" sz="2400" dirty="0">
                <a:latin typeface="Times New Roman" panose="02020603050405020304" pitchFamily="18" charset="0"/>
              </a:rPr>
              <a:t>Warm</a:t>
            </a:r>
          </a:p>
          <a:p>
            <a:pPr lvl="1"/>
            <a:r>
              <a:rPr lang="en-US" altLang="zh-TW" sz="2400" dirty="0"/>
              <a:t>If </a:t>
            </a:r>
            <a:r>
              <a:rPr lang="en-US" altLang="zh-TW" sz="2400" i="1" dirty="0">
                <a:latin typeface="Times New Roman" panose="02020603050405020304" pitchFamily="18" charset="0"/>
              </a:rPr>
              <a:t>Sky = </a:t>
            </a:r>
            <a:r>
              <a:rPr lang="en-US" altLang="zh-TW" sz="2400" dirty="0">
                <a:latin typeface="Times New Roman" panose="02020603050405020304" pitchFamily="18" charset="0"/>
              </a:rPr>
              <a:t>Sunny</a:t>
            </a:r>
            <a:r>
              <a:rPr lang="en-US" altLang="zh-TW" sz="2400" dirty="0"/>
              <a:t> and </a:t>
            </a:r>
            <a:r>
              <a:rPr lang="en-US" altLang="zh-TW" sz="2400" i="1" dirty="0" err="1">
                <a:latin typeface="Times New Roman" panose="02020603050405020304" pitchFamily="18" charset="0"/>
              </a:rPr>
              <a:t>AirTemp</a:t>
            </a:r>
            <a:r>
              <a:rPr lang="en-US" altLang="zh-TW" sz="2400" i="1" dirty="0">
                <a:latin typeface="Times New Roman" panose="02020603050405020304" pitchFamily="18" charset="0"/>
              </a:rPr>
              <a:t> = </a:t>
            </a:r>
            <a:r>
              <a:rPr lang="en-US" altLang="zh-TW" sz="2400" dirty="0">
                <a:latin typeface="Times New Roman" panose="02020603050405020304" pitchFamily="18" charset="0"/>
              </a:rPr>
              <a:t>Warm</a:t>
            </a:r>
            <a:r>
              <a:rPr lang="en-US" altLang="zh-TW" sz="2400" dirty="0"/>
              <a:t> </a:t>
            </a:r>
            <a:br>
              <a:rPr lang="en-US" altLang="zh-TW" sz="2400" dirty="0"/>
            </a:br>
            <a:r>
              <a:rPr lang="en-US" altLang="zh-TW" sz="2400" dirty="0"/>
              <a:t>     then </a:t>
            </a:r>
            <a:r>
              <a:rPr lang="en-US" altLang="zh-TW" sz="2400" i="1" dirty="0">
                <a:latin typeface="Times New Roman" panose="02020603050405020304" pitchFamily="18" charset="0"/>
              </a:rPr>
              <a:t>Wind</a:t>
            </a:r>
            <a:r>
              <a:rPr lang="en-US" altLang="zh-TW" sz="2400" dirty="0">
                <a:latin typeface="Times New Roman" panose="02020603050405020304" pitchFamily="18" charset="0"/>
              </a:rPr>
              <a:t> = Strong</a:t>
            </a:r>
            <a:r>
              <a:rPr lang="en-US" altLang="zh-TW" sz="2400" dirty="0"/>
              <a:t> and </a:t>
            </a:r>
            <a:r>
              <a:rPr lang="en-US" altLang="zh-TW" sz="2400" i="1" dirty="0" err="1">
                <a:latin typeface="Times New Roman" panose="02020603050405020304" pitchFamily="18" charset="0"/>
              </a:rPr>
              <a:t>EnjoySport</a:t>
            </a:r>
            <a:r>
              <a:rPr lang="en-US" altLang="zh-TW" sz="2400" i="1" dirty="0">
                <a:latin typeface="Times New Roman" panose="02020603050405020304" pitchFamily="18" charset="0"/>
              </a:rPr>
              <a:t> =</a:t>
            </a:r>
            <a:r>
              <a:rPr lang="en-US" altLang="zh-TW" sz="2400" dirty="0">
                <a:latin typeface="Times New Roman" panose="02020603050405020304" pitchFamily="18" charset="0"/>
              </a:rPr>
              <a:t>Yes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Knowledge Representation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/>
              <a:t>Conjunction of constraints on the instance attributes</a:t>
            </a:r>
          </a:p>
          <a:p>
            <a:pPr lvl="1"/>
            <a:r>
              <a:rPr lang="en-US" altLang="zh-TW" sz="2400">
                <a:latin typeface="Times New Roman" panose="02020603050405020304" pitchFamily="18" charset="0"/>
              </a:rPr>
              <a:t>&lt;Sunny, Warm, ?, ?, ?, ?&gt;</a:t>
            </a:r>
          </a:p>
          <a:p>
            <a:r>
              <a:rPr lang="en-US" altLang="zh-TW" sz="2800"/>
              <a:t>Polynomial function</a:t>
            </a:r>
          </a:p>
          <a:p>
            <a:pPr lvl="1"/>
            <a:r>
              <a:rPr lang="en-US" altLang="zh-TW" sz="2400">
                <a:latin typeface="Times New Roman" panose="02020603050405020304" pitchFamily="18" charset="0"/>
              </a:rPr>
              <a:t>3x</a:t>
            </a:r>
            <a:r>
              <a:rPr lang="en-US" altLang="zh-TW" sz="2400" baseline="30000">
                <a:latin typeface="Times New Roman" panose="02020603050405020304" pitchFamily="18" charset="0"/>
              </a:rPr>
              <a:t>2</a:t>
            </a:r>
            <a:r>
              <a:rPr lang="en-US" altLang="zh-TW" sz="2400">
                <a:latin typeface="Times New Roman" panose="02020603050405020304" pitchFamily="18" charset="0"/>
              </a:rPr>
              <a:t>+2</a:t>
            </a:r>
          </a:p>
          <a:p>
            <a:r>
              <a:rPr lang="en-US" altLang="zh-TW" sz="2800"/>
              <a:t>Probability</a:t>
            </a:r>
          </a:p>
        </p:txBody>
      </p:sp>
      <p:graphicFrame>
        <p:nvGraphicFramePr>
          <p:cNvPr id="634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739286"/>
              </p:ext>
            </p:extLst>
          </p:nvPr>
        </p:nvGraphicFramePr>
        <p:xfrm>
          <a:off x="1331640" y="5013176"/>
          <a:ext cx="37433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1" name="方程式" r:id="rId4" imgW="1892160" imgH="342720" progId="Equation.3">
                  <p:embed/>
                </p:oleObj>
              </mc:Choice>
              <mc:Fallback>
                <p:oleObj name="方程式" r:id="rId4" imgW="1892160" imgH="3427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013176"/>
                        <a:ext cx="374332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Knowledge Representation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Instance-based representation</a:t>
            </a:r>
          </a:p>
          <a:p>
            <a:pPr lvl="1"/>
            <a:r>
              <a:rPr lang="en-US" altLang="zh-TW" sz="2400" dirty="0"/>
              <a:t>Simply store the training instances</a:t>
            </a:r>
          </a:p>
          <a:p>
            <a:pPr lvl="1"/>
            <a:r>
              <a:rPr lang="en-US" altLang="zh-TW" sz="2400" dirty="0"/>
              <a:t>The instances themselves represent the knowledge</a:t>
            </a:r>
          </a:p>
          <a:p>
            <a:r>
              <a:rPr lang="en-US" altLang="zh-TW" sz="2800" dirty="0"/>
              <a:t>Clusters</a:t>
            </a:r>
          </a:p>
          <a:p>
            <a:pPr lvl="1"/>
            <a:r>
              <a:rPr lang="en-US" altLang="zh-TW" sz="2400" dirty="0"/>
              <a:t>Show how instances fall into clusters</a:t>
            </a:r>
          </a:p>
        </p:txBody>
      </p:sp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1835150" y="4797425"/>
          <a:ext cx="2305050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8" name="文件" r:id="rId4" imgW="2748582" imgH="1827990" progId="Word.Document.8">
                  <p:embed/>
                </p:oleObj>
              </mc:Choice>
              <mc:Fallback>
                <p:oleObj name="文件" r:id="rId4" imgW="2748582" imgH="182799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0532" t="19705" r="21239"/>
                      <a:stretch>
                        <a:fillRect/>
                      </a:stretch>
                    </p:blipFill>
                    <p:spPr bwMode="auto">
                      <a:xfrm>
                        <a:off x="1835150" y="4797425"/>
                        <a:ext cx="2305050" cy="18081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5" name="Object 9"/>
          <p:cNvGraphicFramePr>
            <a:graphicFrameLocks noChangeAspect="1"/>
          </p:cNvGraphicFramePr>
          <p:nvPr/>
        </p:nvGraphicFramePr>
        <p:xfrm>
          <a:off x="4859338" y="4797425"/>
          <a:ext cx="230505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9" name="Document" r:id="rId6" imgW="2743200" imgH="1828800" progId="Word.Document.8">
                  <p:embed/>
                </p:oleObj>
              </mc:Choice>
              <mc:Fallback>
                <p:oleObj name="Document" r:id="rId6" imgW="2743200" imgH="18288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5973"/>
                      <a:stretch>
                        <a:fillRect/>
                      </a:stretch>
                    </p:blipFill>
                    <p:spPr bwMode="auto">
                      <a:xfrm>
                        <a:off x="4859338" y="4797425"/>
                        <a:ext cx="2305050" cy="1828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600" smtClean="0"/>
              <a:t>ML Example:</a:t>
            </a:r>
            <a:br>
              <a:rPr lang="en-US" altLang="zh-TW" sz="6600" smtClean="0"/>
            </a:br>
            <a:r>
              <a:rPr lang="en-US" altLang="zh-TW" sz="6600" smtClean="0"/>
              <a:t>Regression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466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Linear Regression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731520" y="2020523"/>
                <a:ext cx="7680960" cy="427820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zh-TW" sz="3200" dirty="0" smtClean="0"/>
                  <a:t>Instance x=(</a:t>
                </a:r>
                <a:r>
                  <a:rPr lang="en-US" altLang="zh-TW" sz="3200" i="1" dirty="0" smtClean="0"/>
                  <a:t>x</a:t>
                </a:r>
                <a:r>
                  <a:rPr lang="en-US" altLang="zh-TW" sz="3200" i="1" baseline="-25000" dirty="0" smtClean="0"/>
                  <a:t>0</a:t>
                </a:r>
                <a:r>
                  <a:rPr lang="en-US" altLang="zh-TW" sz="3200" dirty="0" smtClean="0"/>
                  <a:t>, </a:t>
                </a:r>
                <a:r>
                  <a:rPr lang="en-US" altLang="zh-TW" sz="3200" i="1" dirty="0" smtClean="0"/>
                  <a:t>x</a:t>
                </a:r>
                <a:r>
                  <a:rPr lang="en-US" altLang="zh-TW" sz="3200" i="1" baseline="-25000" dirty="0"/>
                  <a:t>1</a:t>
                </a:r>
                <a:r>
                  <a:rPr lang="en-US" altLang="zh-TW" sz="3200" dirty="0" smtClean="0"/>
                  <a:t>, …, </a:t>
                </a:r>
                <a:r>
                  <a:rPr lang="en-US" altLang="zh-TW" sz="3200" i="1" dirty="0" err="1" smtClean="0"/>
                  <a:t>x</a:t>
                </a:r>
                <a:r>
                  <a:rPr lang="en-US" altLang="zh-TW" sz="3200" i="1" baseline="-25000" dirty="0" err="1"/>
                  <a:t>d</a:t>
                </a:r>
                <a:r>
                  <a:rPr lang="en-US" altLang="zh-TW" sz="3200" dirty="0" smtClean="0"/>
                  <a:t>)</a:t>
                </a:r>
              </a:p>
              <a:p>
                <a:r>
                  <a:rPr lang="en-US" altLang="zh-TW" sz="3200" dirty="0" smtClean="0"/>
                  <a:t>hypothesis</a:t>
                </a:r>
                <a:endParaRPr lang="en-US" altLang="zh-TW" sz="3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nary>
                      <m:naryPr>
                        <m:chr m:val="∑"/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=0</m:t>
                        </m:r>
                      </m:sub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sz="3000" dirty="0" smtClean="0"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endParaRPr lang="en-US" altLang="zh-TW" sz="3000" dirty="0" smtClean="0">
                  <a:cs typeface="Arial" panose="020B0604020202020204" pitchFamily="34" charset="0"/>
                </a:endParaRPr>
              </a:p>
              <a:p>
                <a:r>
                  <a:rPr lang="en-US" altLang="zh-TW" sz="3200" dirty="0" smtClean="0"/>
                  <a:t>Determine </a:t>
                </a:r>
                <a:r>
                  <a:rPr lang="en-US" altLang="zh-TW" sz="3200" i="1" dirty="0" err="1" smtClean="0"/>
                  <a:t>w</a:t>
                </a:r>
                <a:r>
                  <a:rPr lang="en-US" altLang="zh-TW" sz="3200" i="1" baseline="-25000" dirty="0" err="1" smtClean="0"/>
                  <a:t>i</a:t>
                </a:r>
                <a:r>
                  <a:rPr lang="en-US" altLang="zh-TW" sz="3200" dirty="0" smtClean="0"/>
                  <a:t> such that minimize error, e.g. squared error </a:t>
                </a:r>
                <a:r>
                  <a:rPr lang="en-US" altLang="zh-TW" sz="32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zh-TW" sz="3200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32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TW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3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3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zh-TW" sz="3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TW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3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sz="3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520" y="2020523"/>
                <a:ext cx="7680960" cy="4278208"/>
              </a:xfrm>
              <a:blipFill>
                <a:blip r:embed="rId2"/>
                <a:stretch>
                  <a:fillRect l="-1349" t="-22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1334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7" y="1484785"/>
            <a:ext cx="8520367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79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Logistic Regression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3200" dirty="0" smtClean="0"/>
                  <a:t>Instance x=(</a:t>
                </a:r>
                <a:r>
                  <a:rPr lang="en-US" altLang="zh-TW" sz="3200" i="1" dirty="0"/>
                  <a:t>x</a:t>
                </a:r>
                <a:r>
                  <a:rPr lang="en-US" altLang="zh-TW" sz="3200" i="1" baseline="-25000" dirty="0"/>
                  <a:t>0</a:t>
                </a:r>
                <a:r>
                  <a:rPr lang="en-US" altLang="zh-TW" sz="3200" dirty="0"/>
                  <a:t>, </a:t>
                </a:r>
                <a:r>
                  <a:rPr lang="en-US" altLang="zh-TW" sz="3200" i="1" dirty="0"/>
                  <a:t>x</a:t>
                </a:r>
                <a:r>
                  <a:rPr lang="en-US" altLang="zh-TW" sz="3200" i="1" baseline="-25000" dirty="0"/>
                  <a:t>1</a:t>
                </a:r>
                <a:r>
                  <a:rPr lang="en-US" altLang="zh-TW" sz="3200" dirty="0"/>
                  <a:t>, …, </a:t>
                </a:r>
                <a:r>
                  <a:rPr lang="en-US" altLang="zh-TW" sz="3200" i="1" dirty="0" err="1"/>
                  <a:t>x</a:t>
                </a:r>
                <a:r>
                  <a:rPr lang="en-US" altLang="zh-TW" sz="3200" i="1" baseline="-25000" dirty="0" err="1"/>
                  <a:t>d</a:t>
                </a:r>
                <a:r>
                  <a:rPr lang="en-US" altLang="zh-TW" sz="3200" dirty="0" smtClean="0"/>
                  <a:t>)</a:t>
                </a:r>
              </a:p>
              <a:p>
                <a:r>
                  <a:rPr lang="en-US" altLang="zh-TW" sz="3200" dirty="0" smtClean="0"/>
                  <a:t>Target function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en-US" altLang="zh-TW" sz="3200" dirty="0"/>
              </a:p>
              <a:p>
                <a:r>
                  <a:rPr lang="en-US" altLang="zh-TW" sz="3200" dirty="0"/>
                  <a:t>hypothesis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TW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zh-TW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  <m:d>
                      <m:d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TW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1+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𝑒𝑥𝑝</m:t>
                        </m:r>
                        <m:d>
                          <m:d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TW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altLang="zh-TW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25" t="-20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4581128"/>
            <a:ext cx="2805904" cy="210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44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TM03457510[[fn=肥皂]]</Template>
  <TotalTime>7182</TotalTime>
  <Words>1204</Words>
  <Application>Microsoft Office PowerPoint</Application>
  <PresentationFormat>如螢幕大小 (4:3)</PresentationFormat>
  <Paragraphs>348</Paragraphs>
  <Slides>41</Slides>
  <Notes>32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3</vt:i4>
      </vt:variant>
      <vt:variant>
        <vt:lpstr>投影片標題</vt:lpstr>
      </vt:variant>
      <vt:variant>
        <vt:i4>41</vt:i4>
      </vt:variant>
    </vt:vector>
  </HeadingPairs>
  <TitlesOfParts>
    <vt:vector size="54" baseType="lpstr">
      <vt:lpstr>新細明體</vt:lpstr>
      <vt:lpstr>Arial</vt:lpstr>
      <vt:lpstr>Cambria Math</vt:lpstr>
      <vt:lpstr>Century Gothic</vt:lpstr>
      <vt:lpstr>Garamond</vt:lpstr>
      <vt:lpstr>Lucida Bright</vt:lpstr>
      <vt:lpstr>Symbol</vt:lpstr>
      <vt:lpstr>Times New Roman</vt:lpstr>
      <vt:lpstr>Wingdings</vt:lpstr>
      <vt:lpstr>肥皂</vt:lpstr>
      <vt:lpstr>文件</vt:lpstr>
      <vt:lpstr>Document</vt:lpstr>
      <vt:lpstr>方程式</vt:lpstr>
      <vt:lpstr>Introduction to Machine Learning</vt:lpstr>
      <vt:lpstr>Outline</vt:lpstr>
      <vt:lpstr>Machine Learning</vt:lpstr>
      <vt:lpstr>Machine Learning</vt:lpstr>
      <vt:lpstr>Machine Learning</vt:lpstr>
      <vt:lpstr>Why Machine Learning</vt:lpstr>
      <vt:lpstr>Why Machine Learning</vt:lpstr>
      <vt:lpstr>Why Machine Learning</vt:lpstr>
      <vt:lpstr>Why Machine Learning</vt:lpstr>
      <vt:lpstr>Machine Learning</vt:lpstr>
      <vt:lpstr>Learning and Generalization</vt:lpstr>
      <vt:lpstr>Machine Learning</vt:lpstr>
      <vt:lpstr>Machine Learning</vt:lpstr>
      <vt:lpstr>Machine Learning</vt:lpstr>
      <vt:lpstr>Typical Data Mining Task</vt:lpstr>
      <vt:lpstr>Data Mining Result</vt:lpstr>
      <vt:lpstr>Types of learning problems</vt:lpstr>
      <vt:lpstr>Types of Learning</vt:lpstr>
      <vt:lpstr>Types of Learning</vt:lpstr>
      <vt:lpstr>Types of Learning</vt:lpstr>
      <vt:lpstr>Classification</vt:lpstr>
      <vt:lpstr>Classification</vt:lpstr>
      <vt:lpstr>Classification</vt:lpstr>
      <vt:lpstr>Classification</vt:lpstr>
      <vt:lpstr>Regression</vt:lpstr>
      <vt:lpstr>Clustering</vt:lpstr>
      <vt:lpstr>Learning Associations</vt:lpstr>
      <vt:lpstr>Game Playing</vt:lpstr>
      <vt:lpstr>Input Data</vt:lpstr>
      <vt:lpstr>Input Data</vt:lpstr>
      <vt:lpstr>Input Data</vt:lpstr>
      <vt:lpstr>Knowledge Representation</vt:lpstr>
      <vt:lpstr>Knowledge Representation</vt:lpstr>
      <vt:lpstr>Knowledge Representation</vt:lpstr>
      <vt:lpstr>Knowledge Representation</vt:lpstr>
      <vt:lpstr>Knowledge Representation</vt:lpstr>
      <vt:lpstr>Knowledge Representation</vt:lpstr>
      <vt:lpstr>ML Example: Regression</vt:lpstr>
      <vt:lpstr>Linear Regression</vt:lpstr>
      <vt:lpstr>PowerPoint 簡報</vt:lpstr>
      <vt:lpstr>Logistic Regression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denislin</dc:creator>
  <cp:lastModifiedBy>denislin</cp:lastModifiedBy>
  <cp:revision>177</cp:revision>
  <dcterms:created xsi:type="dcterms:W3CDTF">2006-05-03T12:31:43Z</dcterms:created>
  <dcterms:modified xsi:type="dcterms:W3CDTF">2019-08-18T07:24:05Z</dcterms:modified>
</cp:coreProperties>
</file>