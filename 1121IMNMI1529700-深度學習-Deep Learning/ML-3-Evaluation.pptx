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3" r:id="rId12"/>
    <p:sldId id="266" r:id="rId13"/>
    <p:sldId id="267" r:id="rId14"/>
    <p:sldId id="268" r:id="rId15"/>
    <p:sldId id="269" r:id="rId16"/>
    <p:sldId id="270" r:id="rId17"/>
    <p:sldId id="272" r:id="rId18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76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90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5B3536F-D25D-4ED0-BA8A-59AC2D7573D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8D46E5-ABA8-4716-BD48-F1EDB0A5C628}" type="slidenum">
              <a:rPr lang="en-US" altLang="zh-TW" smtClean="0"/>
              <a:pPr/>
              <a:t>1</a:t>
            </a:fld>
            <a:endParaRPr lang="en-US" altLang="zh-TW" smtClean="0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536F-D25D-4ED0-BA8A-59AC2D7573D8}" type="slidenum">
              <a:rPr lang="en-US" altLang="zh-TW" smtClean="0"/>
              <a:pPr>
                <a:defRPr/>
              </a:pPr>
              <a:t>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92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281" y="2091263"/>
            <a:ext cx="6801440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6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4682062"/>
            <a:ext cx="6803136" cy="50292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4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4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400"/>
            </a:lvl4pPr>
            <a:lvl5pPr marL="1828800" indent="0" algn="ctr">
              <a:buNone/>
              <a:defRPr sz="1400"/>
            </a:lvl5pPr>
            <a:lvl6pPr marL="2286000" indent="0" algn="ctr">
              <a:buNone/>
              <a:defRPr sz="1400"/>
            </a:lvl6pPr>
            <a:lvl7pPr marL="2743200" indent="0" algn="ctr">
              <a:buNone/>
              <a:defRPr sz="1400"/>
            </a:lvl7pPr>
            <a:lvl8pPr marL="3200400" indent="0" algn="ctr">
              <a:buNone/>
              <a:defRPr sz="1400"/>
            </a:lvl8pPr>
            <a:lvl9pPr marL="3657600" indent="0" algn="ctr">
              <a:buNone/>
              <a:defRPr sz="14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3931920" y="1327188"/>
            <a:ext cx="1280160" cy="457200"/>
          </a:xfrm>
        </p:spPr>
        <p:txBody>
          <a:bodyPr/>
          <a:lstStyle>
            <a:lvl1pPr algn="ctr">
              <a:defRPr sz="11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104936" y="5211060"/>
            <a:ext cx="4429125" cy="228600"/>
          </a:xfrm>
        </p:spPr>
        <p:txBody>
          <a:bodyPr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6455190" y="5212080"/>
            <a:ext cx="158391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BF6FC3DA-53AC-4F26-9327-99703CEEA462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504736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0BB01B-AD19-4FB4-8131-DED6AFF311A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51870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717" y="2094309"/>
            <a:ext cx="6803136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6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2718" y="4682062"/>
            <a:ext cx="6803136" cy="50292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31920" y="1325880"/>
            <a:ext cx="1280160" cy="457200"/>
          </a:xfrm>
        </p:spPr>
        <p:txBody>
          <a:bodyPr/>
          <a:lstStyle>
            <a:lvl1pPr algn="ctr">
              <a:defRPr lang="en-US" sz="11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04679" y="5211060"/>
            <a:ext cx="4430268" cy="228600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3378" y="5211060"/>
            <a:ext cx="1584198" cy="228600"/>
          </a:xfrm>
        </p:spPr>
        <p:txBody>
          <a:bodyPr/>
          <a:lstStyle/>
          <a:p>
            <a:pPr>
              <a:defRPr/>
            </a:pPr>
            <a:fld id="{083E96C4-86D7-4E72-9477-2681A214894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128642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488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AD18AC-3F7D-483B-8263-6D93EC5E9E34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86521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20" y="2755898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756581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A5A45E-04C4-4DB4-B5DB-039FE3EDA3A3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99410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F04F1D-F31E-42E0-A513-7FEFB0945FA7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2080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CCD851-D04E-4DF9-B8FA-0A39B913142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62509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84147" y="173736"/>
            <a:ext cx="6398514" cy="65105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7392"/>
            <a:ext cx="1823085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976" y="907143"/>
            <a:ext cx="5428856" cy="504371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3085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7795258" y="6310086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5B697C2A-BDB1-42F9-9EC9-64AB2D09924E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12" name="Rectangle 11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65963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3504"/>
            <a:ext cx="1824228" cy="1645920"/>
          </a:xfrm>
        </p:spPr>
        <p:txBody>
          <a:bodyPr anchor="b">
            <a:noAutofit/>
          </a:bodyPr>
          <a:lstStyle>
            <a:lvl1pPr algn="l">
              <a:defRPr sz="24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449" y="173736"/>
            <a:ext cx="6398514" cy="6510528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4228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9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97546" y="6309360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CAC91C3A-9D94-4930-AE0D-D3860553B50E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11" name="Rectangle 10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32463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6A2B85-89EA-43EB-8E13-6ED9E8A316F7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935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762000"/>
            <a:ext cx="1771650" cy="525780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762000"/>
            <a:ext cx="6057900" cy="5257800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3D950D-E326-460E-B67D-1170590D0AD2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19036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6022" y="173736"/>
            <a:ext cx="8791956" cy="6510528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642594"/>
            <a:ext cx="768096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768096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34768" y="6309360"/>
            <a:ext cx="20574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6896" y="6309360"/>
            <a:ext cx="3950208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23382" y="6309360"/>
            <a:ext cx="10972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083E96C4-86D7-4E72-9477-2681A214894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43808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171281" y="2091263"/>
            <a:ext cx="6801440" cy="2057817"/>
          </a:xfrm>
        </p:spPr>
        <p:txBody>
          <a:bodyPr/>
          <a:lstStyle/>
          <a:p>
            <a:pPr eaLnBrk="1" hangingPunct="1"/>
            <a:r>
              <a:rPr lang="en-US" altLang="zh-TW" sz="4800" smtClean="0"/>
              <a:t>Evaluation</a:t>
            </a:r>
            <a:endParaRPr lang="en-US" altLang="zh-TW" sz="4800" dirty="0" smtClean="0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71575" y="4005064"/>
            <a:ext cx="6803136" cy="1179918"/>
          </a:xfrm>
        </p:spPr>
        <p:txBody>
          <a:bodyPr>
            <a:normAutofit/>
          </a:bodyPr>
          <a:lstStyle/>
          <a:p>
            <a:r>
              <a:rPr lang="en-US" altLang="zh-TW" sz="3200"/>
              <a:t>Wen-Cheng Lin</a:t>
            </a:r>
          </a:p>
          <a:p>
            <a:r>
              <a:rPr lang="en-US" altLang="zh-TW"/>
              <a:t>Department of Medical Informatics</a:t>
            </a:r>
          </a:p>
          <a:p>
            <a:r>
              <a:rPr lang="en-US" altLang="zh-TW"/>
              <a:t>Tzu Chi University</a:t>
            </a:r>
          </a:p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Measure Performance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smtClean="0"/>
              <a:t>How good is the learned hypothesis (model)?</a:t>
            </a:r>
          </a:p>
          <a:p>
            <a:r>
              <a:rPr lang="en-US" altLang="zh-TW" sz="2800" smtClean="0"/>
              <a:t>What are the factors that can reveal the success of a hypothesis?</a:t>
            </a:r>
          </a:p>
          <a:p>
            <a:r>
              <a:rPr lang="en-US" altLang="zh-TW" sz="2800" smtClean="0"/>
              <a:t>Depands on task</a:t>
            </a:r>
            <a:endParaRPr lang="zh-TW" altLang="en-US" sz="2800"/>
          </a:p>
        </p:txBody>
      </p:sp>
    </p:spTree>
    <p:extLst>
      <p:ext uri="{BB962C8B-B14F-4D97-AF65-F5344CB8AC3E}">
        <p14:creationId xmlns:p14="http://schemas.microsoft.com/office/powerpoint/2010/main" val="3934430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smtClean="0"/>
              <a:t>Classification Evaluation Metrics</a:t>
            </a:r>
            <a:endParaRPr lang="zh-TW" altLang="en-US" sz="360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31520" y="2103120"/>
            <a:ext cx="7680960" cy="4422224"/>
          </a:xfrm>
        </p:spPr>
        <p:txBody>
          <a:bodyPr>
            <a:normAutofit/>
          </a:bodyPr>
          <a:lstStyle/>
          <a:p>
            <a:r>
              <a:rPr lang="en-US" altLang="zh-TW" sz="2400"/>
              <a:t>Confusion matrix</a:t>
            </a:r>
          </a:p>
          <a:p>
            <a:r>
              <a:rPr lang="en-US" altLang="zh-TW" sz="2400"/>
              <a:t>Accuracy</a:t>
            </a:r>
          </a:p>
          <a:p>
            <a:r>
              <a:rPr lang="en-US" altLang="zh-TW" sz="2400"/>
              <a:t>Precision</a:t>
            </a:r>
          </a:p>
          <a:p>
            <a:r>
              <a:rPr lang="en-US" altLang="zh-TW" sz="2400" smtClean="0"/>
              <a:t>Recall, Sensitivity</a:t>
            </a:r>
            <a:endParaRPr lang="en-US" altLang="zh-TW" sz="2400"/>
          </a:p>
          <a:p>
            <a:r>
              <a:rPr lang="en-US" altLang="zh-TW" sz="2400" smtClean="0"/>
              <a:t>F </a:t>
            </a:r>
            <a:r>
              <a:rPr lang="en-US" altLang="zh-TW" sz="2400"/>
              <a:t>score</a:t>
            </a:r>
          </a:p>
          <a:p>
            <a:r>
              <a:rPr lang="en-US" altLang="zh-TW" sz="2400"/>
              <a:t>Precision-Recall or PR </a:t>
            </a:r>
            <a:r>
              <a:rPr lang="en-US" altLang="zh-TW" sz="2400" smtClean="0"/>
              <a:t>curve</a:t>
            </a:r>
          </a:p>
          <a:p>
            <a:r>
              <a:rPr lang="en-US" altLang="zh-TW" sz="2400" smtClean="0"/>
              <a:t>Specificity</a:t>
            </a:r>
            <a:endParaRPr lang="en-US" altLang="zh-TW" sz="2400"/>
          </a:p>
          <a:p>
            <a:r>
              <a:rPr lang="en-US" altLang="zh-TW" sz="2400"/>
              <a:t>ROC (Receiver Operating Characteristics) curve, Area Under </a:t>
            </a:r>
            <a:r>
              <a:rPr lang="en-US" altLang="zh-TW" sz="2400" smtClean="0"/>
              <a:t>Curve (AUC)</a:t>
            </a:r>
            <a:endParaRPr lang="zh-TW" altLang="en-US" sz="2400"/>
          </a:p>
        </p:txBody>
      </p:sp>
    </p:spTree>
    <p:extLst>
      <p:ext uri="{BB962C8B-B14F-4D97-AF65-F5344CB8AC3E}">
        <p14:creationId xmlns:p14="http://schemas.microsoft.com/office/powerpoint/2010/main" val="1246068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Confusion </a:t>
            </a:r>
            <a:r>
              <a:rPr lang="en-US" altLang="zh-TW" smtClean="0"/>
              <a:t>Matrix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smtClean="0"/>
              <a:t>A matrix that provides detailed correct </a:t>
            </a:r>
            <a:r>
              <a:rPr lang="en-US" altLang="zh-TW" sz="2800"/>
              <a:t>and incorrect classifications for each class. </a:t>
            </a:r>
            <a:endParaRPr lang="zh-TW" altLang="en-US" sz="280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17292"/>
              </p:ext>
            </p:extLst>
          </p:nvPr>
        </p:nvGraphicFramePr>
        <p:xfrm>
          <a:off x="1013031" y="3655904"/>
          <a:ext cx="2516736" cy="187117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629184">
                  <a:extLst>
                    <a:ext uri="{9D8B030D-6E8A-4147-A177-3AD203B41FA5}">
                      <a16:colId xmlns:a16="http://schemas.microsoft.com/office/drawing/2014/main" val="696409491"/>
                    </a:ext>
                  </a:extLst>
                </a:gridCol>
                <a:gridCol w="629184">
                  <a:extLst>
                    <a:ext uri="{9D8B030D-6E8A-4147-A177-3AD203B41FA5}">
                      <a16:colId xmlns:a16="http://schemas.microsoft.com/office/drawing/2014/main" val="2117433110"/>
                    </a:ext>
                  </a:extLst>
                </a:gridCol>
                <a:gridCol w="629184">
                  <a:extLst>
                    <a:ext uri="{9D8B030D-6E8A-4147-A177-3AD203B41FA5}">
                      <a16:colId xmlns:a16="http://schemas.microsoft.com/office/drawing/2014/main" val="563125366"/>
                    </a:ext>
                  </a:extLst>
                </a:gridCol>
                <a:gridCol w="629184">
                  <a:extLst>
                    <a:ext uri="{9D8B030D-6E8A-4147-A177-3AD203B41FA5}">
                      <a16:colId xmlns:a16="http://schemas.microsoft.com/office/drawing/2014/main" val="2550730743"/>
                    </a:ext>
                  </a:extLst>
                </a:gridCol>
              </a:tblGrid>
              <a:tr h="421168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mtClean="0"/>
                        <a:t>c1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mtClean="0"/>
                        <a:t>c2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mtClean="0"/>
                        <a:t>C3</a:t>
                      </a:r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5437882"/>
                  </a:ext>
                </a:extLst>
              </a:tr>
              <a:tr h="483334">
                <a:tc>
                  <a:txBody>
                    <a:bodyPr/>
                    <a:lstStyle/>
                    <a:p>
                      <a:r>
                        <a:rPr lang="en-US" altLang="zh-TW" b="1" smtClean="0"/>
                        <a:t>C1</a:t>
                      </a:r>
                      <a:endParaRPr lang="zh-TW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12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1</a:t>
                      </a:r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914447"/>
                  </a:ext>
                </a:extLst>
              </a:tr>
              <a:tr h="483334">
                <a:tc>
                  <a:txBody>
                    <a:bodyPr/>
                    <a:lstStyle/>
                    <a:p>
                      <a:r>
                        <a:rPr lang="en-US" altLang="zh-TW" b="1" smtClean="0"/>
                        <a:t>C2</a:t>
                      </a:r>
                      <a:endParaRPr lang="zh-TW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10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8</a:t>
                      </a:r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6919329"/>
                  </a:ext>
                </a:extLst>
              </a:tr>
              <a:tr h="483334">
                <a:tc>
                  <a:txBody>
                    <a:bodyPr/>
                    <a:lstStyle/>
                    <a:p>
                      <a:r>
                        <a:rPr lang="en-US" altLang="zh-TW" b="1" smtClean="0"/>
                        <a:t>C3</a:t>
                      </a:r>
                      <a:endParaRPr lang="zh-TW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2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0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15</a:t>
                      </a:r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5728993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1605841" y="3275692"/>
            <a:ext cx="19239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smtClean="0"/>
              <a:t>Predicted class</a:t>
            </a:r>
            <a:endParaRPr lang="zh-TW" altLang="en-US" sz="2000"/>
          </a:p>
        </p:txBody>
      </p:sp>
      <p:sp>
        <p:nvSpPr>
          <p:cNvPr id="6" name="文字方塊 5"/>
          <p:cNvSpPr txBox="1"/>
          <p:nvPr/>
        </p:nvSpPr>
        <p:spPr>
          <a:xfrm>
            <a:off x="147053" y="4268629"/>
            <a:ext cx="8659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smtClean="0"/>
              <a:t>Actul class</a:t>
            </a:r>
            <a:endParaRPr lang="zh-TW" altLang="en-US" sz="200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4604285"/>
              </p:ext>
            </p:extLst>
          </p:nvPr>
        </p:nvGraphicFramePr>
        <p:xfrm>
          <a:off x="4374991" y="3663980"/>
          <a:ext cx="4517489" cy="1863094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02593">
                  <a:extLst>
                    <a:ext uri="{9D8B030D-6E8A-4147-A177-3AD203B41FA5}">
                      <a16:colId xmlns:a16="http://schemas.microsoft.com/office/drawing/2014/main" val="696409491"/>
                    </a:ext>
                  </a:extLst>
                </a:gridCol>
                <a:gridCol w="1770680">
                  <a:extLst>
                    <a:ext uri="{9D8B030D-6E8A-4147-A177-3AD203B41FA5}">
                      <a16:colId xmlns:a16="http://schemas.microsoft.com/office/drawing/2014/main" val="2117433110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563125366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ture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false</a:t>
                      </a:r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5437882"/>
                  </a:ext>
                </a:extLst>
              </a:tr>
              <a:tr h="748667">
                <a:tc>
                  <a:txBody>
                    <a:bodyPr/>
                    <a:lstStyle/>
                    <a:p>
                      <a:r>
                        <a:rPr lang="en-US" altLang="zh-TW" b="1" smtClean="0"/>
                        <a:t>True</a:t>
                      </a:r>
                      <a:endParaRPr lang="zh-TW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Ture Positives</a:t>
                      </a:r>
                    </a:p>
                    <a:p>
                      <a:pPr algn="ctr"/>
                      <a:r>
                        <a:rPr lang="en-US" altLang="zh-TW" smtClean="0"/>
                        <a:t>TP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False Negatives</a:t>
                      </a:r>
                    </a:p>
                    <a:p>
                      <a:pPr algn="ctr"/>
                      <a:r>
                        <a:rPr lang="en-US" altLang="zh-TW" smtClean="0"/>
                        <a:t>FN</a:t>
                      </a:r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914447"/>
                  </a:ext>
                </a:extLst>
              </a:tr>
              <a:tr h="748667">
                <a:tc>
                  <a:txBody>
                    <a:bodyPr/>
                    <a:lstStyle/>
                    <a:p>
                      <a:r>
                        <a:rPr lang="en-US" altLang="zh-TW" b="1" smtClean="0"/>
                        <a:t>False</a:t>
                      </a:r>
                      <a:endParaRPr lang="zh-TW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False Positives</a:t>
                      </a:r>
                    </a:p>
                    <a:p>
                      <a:pPr algn="ctr"/>
                      <a:r>
                        <a:rPr lang="en-US" altLang="zh-TW" smtClean="0"/>
                        <a:t>FP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/>
                        <a:t>True Negatives</a:t>
                      </a:r>
                    </a:p>
                    <a:p>
                      <a:pPr algn="ctr"/>
                      <a:r>
                        <a:rPr lang="en-US" altLang="zh-TW" smtClean="0"/>
                        <a:t>TN</a:t>
                      </a:r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6919329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6084168" y="3275692"/>
            <a:ext cx="19239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smtClean="0"/>
              <a:t>Predicted class</a:t>
            </a:r>
            <a:endParaRPr lang="zh-TW" altLang="en-US" sz="2000"/>
          </a:p>
        </p:txBody>
      </p:sp>
      <p:sp>
        <p:nvSpPr>
          <p:cNvPr id="9" name="文字方塊 8"/>
          <p:cNvSpPr txBox="1"/>
          <p:nvPr/>
        </p:nvSpPr>
        <p:spPr>
          <a:xfrm>
            <a:off x="3634014" y="4237546"/>
            <a:ext cx="8659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smtClean="0"/>
              <a:t>Actul class</a:t>
            </a:r>
            <a:endParaRPr lang="zh-TW" altLang="en-US" sz="2000"/>
          </a:p>
        </p:txBody>
      </p:sp>
    </p:spTree>
    <p:extLst>
      <p:ext uri="{BB962C8B-B14F-4D97-AF65-F5344CB8AC3E}">
        <p14:creationId xmlns:p14="http://schemas.microsoft.com/office/powerpoint/2010/main" val="2651350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Classification Accuracy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31520" y="2996952"/>
            <a:ext cx="7680960" cy="3038088"/>
          </a:xfrm>
        </p:spPr>
        <p:txBody>
          <a:bodyPr>
            <a:normAutofit/>
          </a:bodyPr>
          <a:lstStyle/>
          <a:p>
            <a:r>
              <a:rPr lang="en-US" altLang="zh-TW" sz="2800" smtClean="0"/>
              <a:t>Not </a:t>
            </a:r>
            <a:r>
              <a:rPr lang="en-US" altLang="zh-TW" sz="2800"/>
              <a:t>a good metric if classes are imbalanced </a:t>
            </a:r>
            <a:endParaRPr lang="en-US" altLang="zh-TW" sz="2800" smtClean="0"/>
          </a:p>
          <a:p>
            <a:r>
              <a:rPr lang="en-US" altLang="zh-TW" sz="2800" smtClean="0"/>
              <a:t>If 95% of people don’t have cancer, 5% of people have cancer.</a:t>
            </a:r>
          </a:p>
          <a:p>
            <a:pPr lvl="1"/>
            <a:r>
              <a:rPr lang="en-US" altLang="zh-TW" sz="2600" smtClean="0"/>
              <a:t>A hypothesis that always guess “No cancer” has a 95% accuracy, but it is useless.</a:t>
            </a:r>
            <a:endParaRPr lang="zh-TW" altLang="en-US" sz="2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539552" y="1798027"/>
                <a:ext cx="7872928" cy="7668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𝑛𝑢𝑚𝑏𝑒𝑟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𝑐𝑜𝑟𝑟𝑒𝑐𝑡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𝑝𝑟𝑒𝑑𝑖𝑐𝑡𝑖𝑜𝑛𝑠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𝑇𝑜𝑡𝑎𝑙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𝑛𝑢𝑚𝑏𝑒𝑟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𝑝𝑟𝑒𝑑𝑖𝑐𝑡𝑖𝑜𝑛𝑠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𝑚𝑎𝑑𝑒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𝑇𝑁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𝑇𝑁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zh-TW" altLang="en-US" sz="240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1798027"/>
                <a:ext cx="7872928" cy="7668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3982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Precision, Recall, and F Score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31520" y="2103120"/>
            <a:ext cx="7680960" cy="4494232"/>
          </a:xfrm>
        </p:spPr>
        <p:txBody>
          <a:bodyPr>
            <a:normAutofit/>
          </a:bodyPr>
          <a:lstStyle/>
          <a:p>
            <a:r>
              <a:rPr lang="en-US" altLang="zh-TW" sz="2800"/>
              <a:t>Precision</a:t>
            </a:r>
          </a:p>
          <a:p>
            <a:pPr lvl="1"/>
            <a:r>
              <a:rPr lang="en-US" altLang="zh-TW" sz="2400"/>
              <a:t>Percentage of </a:t>
            </a:r>
            <a:r>
              <a:rPr lang="en-US" altLang="zh-TW" sz="2400" smtClean="0"/>
              <a:t>actual positive </a:t>
            </a:r>
            <a:r>
              <a:rPr lang="en-US" altLang="zh-TW" sz="2400"/>
              <a:t>instances out of the total </a:t>
            </a:r>
            <a:r>
              <a:rPr lang="en-US" altLang="zh-TW" sz="2400" b="1"/>
              <a:t>predicted</a:t>
            </a:r>
            <a:r>
              <a:rPr lang="en-US" altLang="zh-TW" sz="2400"/>
              <a:t> positive instances</a:t>
            </a:r>
            <a:r>
              <a:rPr lang="en-US" altLang="zh-TW" sz="2400" smtClean="0"/>
              <a:t>.</a:t>
            </a:r>
          </a:p>
          <a:p>
            <a:pPr lvl="1"/>
            <a:endParaRPr lang="en-US" altLang="zh-TW" sz="2400"/>
          </a:p>
          <a:p>
            <a:pPr lvl="1"/>
            <a:endParaRPr lang="en-US" altLang="zh-TW" sz="2600" smtClean="0"/>
          </a:p>
          <a:p>
            <a:r>
              <a:rPr lang="en-US" altLang="zh-TW" sz="2800"/>
              <a:t>Recall/Sensitivity/True Positive </a:t>
            </a:r>
            <a:r>
              <a:rPr lang="en-US" altLang="zh-TW" sz="2800" smtClean="0"/>
              <a:t>Rate</a:t>
            </a:r>
          </a:p>
          <a:p>
            <a:pPr lvl="1"/>
            <a:r>
              <a:rPr lang="en-US" altLang="zh-TW" sz="2400"/>
              <a:t>Percentage of </a:t>
            </a:r>
            <a:r>
              <a:rPr lang="en-US" altLang="zh-TW" sz="2400" smtClean="0"/>
              <a:t>actual positive </a:t>
            </a:r>
            <a:r>
              <a:rPr lang="en-US" altLang="zh-TW" sz="2400"/>
              <a:t>instances out of the total </a:t>
            </a:r>
            <a:r>
              <a:rPr lang="en-US" altLang="zh-TW" sz="2400" b="1"/>
              <a:t>actual</a:t>
            </a:r>
            <a:r>
              <a:rPr lang="en-US" altLang="zh-TW" sz="2400"/>
              <a:t> positive instances.</a:t>
            </a:r>
            <a:endParaRPr lang="zh-TW" alt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3656621" y="3573016"/>
                <a:ext cx="1217834" cy="6976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lang="zh-TW" altLang="en-US" sz="240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6621" y="3573016"/>
                <a:ext cx="1217834" cy="69762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3656621" y="5740539"/>
                <a:ext cx="1253100" cy="6976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zh-TW" altLang="en-US" sz="240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6621" y="5740539"/>
                <a:ext cx="1253100" cy="6976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2754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TW">
                <a:solidFill>
                  <a:schemeClr val="tx1"/>
                </a:solidFill>
              </a:rPr>
              <a:t>Precision/recall tradeoff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/>
              <a:t>You can increase recall by </a:t>
            </a:r>
            <a:r>
              <a:rPr lang="en-US" altLang="zh-TW" sz="2800" smtClean="0"/>
              <a:t>guessing more positive instances.</a:t>
            </a:r>
          </a:p>
          <a:p>
            <a:r>
              <a:rPr lang="en-US" altLang="zh-TW" sz="2800" smtClean="0"/>
              <a:t>It’s </a:t>
            </a:r>
            <a:r>
              <a:rPr lang="en-US" altLang="zh-TW" sz="2800"/>
              <a:t>easy to get high precision for very low recall.</a:t>
            </a:r>
          </a:p>
          <a:p>
            <a:r>
              <a:rPr lang="en-US" altLang="zh-TW" sz="2800"/>
              <a:t>PR curve</a:t>
            </a:r>
          </a:p>
          <a:p>
            <a:pPr lvl="1"/>
            <a:r>
              <a:rPr lang="en-US" altLang="zh-TW" sz="2600" smtClean="0"/>
              <a:t>The </a:t>
            </a:r>
            <a:r>
              <a:rPr lang="en-US" altLang="zh-TW" sz="2600"/>
              <a:t>curve between precision and recall for various threshold values.</a:t>
            </a:r>
            <a:endParaRPr lang="zh-TW" altLang="en-US" sz="2600"/>
          </a:p>
        </p:txBody>
      </p:sp>
      <p:pic>
        <p:nvPicPr>
          <p:cNvPr id="5" name="Picture 8" descr="3108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300192" y="4941168"/>
            <a:ext cx="2682131" cy="1886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345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F Score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i="1"/>
              <a:t>F</a:t>
            </a:r>
            <a:r>
              <a:rPr lang="en-US" altLang="zh-TW" sz="2800"/>
              <a:t> allows us to trade off precision against recall</a:t>
            </a:r>
            <a:r>
              <a:rPr lang="en-US" altLang="zh-TW" sz="2800" smtClean="0"/>
              <a:t>.</a:t>
            </a:r>
          </a:p>
          <a:p>
            <a:endParaRPr lang="en-US" altLang="zh-TW" sz="2800"/>
          </a:p>
          <a:p>
            <a:endParaRPr lang="en-US" altLang="zh-TW" sz="2800" smtClean="0"/>
          </a:p>
          <a:p>
            <a:pPr marL="182880" lvl="1">
              <a:spcBef>
                <a:spcPts val="900"/>
              </a:spcBef>
            </a:pPr>
            <a:r>
              <a:rPr lang="en-US" altLang="zh-TW" sz="2800" i="1" smtClean="0"/>
              <a:t>F</a:t>
            </a:r>
            <a:r>
              <a:rPr lang="en-US" altLang="zh-TW" sz="2800" i="1" baseline="-25000" smtClean="0"/>
              <a:t>1</a:t>
            </a:r>
            <a:r>
              <a:rPr lang="en-US" altLang="zh-TW" sz="2800" smtClean="0"/>
              <a:t>: </a:t>
            </a:r>
            <a:r>
              <a:rPr lang="en-US" altLang="zh-TW" sz="2800" i="1">
                <a:latin typeface="Symbol" pitchFamily="18" charset="2"/>
              </a:rPr>
              <a:t>b</a:t>
            </a:r>
            <a:r>
              <a:rPr lang="de-DE" altLang="zh-TW" sz="2800" i="1">
                <a:latin typeface="Calibri"/>
                <a:cs typeface="Calibri"/>
              </a:rPr>
              <a:t> </a:t>
            </a:r>
            <a:r>
              <a:rPr lang="en-US" altLang="zh-TW" sz="2800"/>
              <a:t> = 1 or </a:t>
            </a:r>
            <a:r>
              <a:rPr lang="en-US" altLang="zh-TW" sz="2800" i="1"/>
              <a:t>α</a:t>
            </a:r>
            <a:r>
              <a:rPr lang="en-US" altLang="zh-TW" sz="2800"/>
              <a:t>  = </a:t>
            </a:r>
            <a:r>
              <a:rPr lang="en-US" altLang="zh-TW" sz="2800" smtClean="0"/>
              <a:t>0.5</a:t>
            </a:r>
          </a:p>
          <a:p>
            <a:pPr marL="457200" lvl="2">
              <a:spcBef>
                <a:spcPts val="900"/>
              </a:spcBef>
            </a:pPr>
            <a:r>
              <a:rPr lang="en-US" altLang="zh-TW" sz="2400"/>
              <a:t>the harmonic mean of P and R</a:t>
            </a:r>
          </a:p>
          <a:p>
            <a:endParaRPr lang="zh-TW" altLang="en-US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1262708" y="3068960"/>
                <a:ext cx="7305397" cy="10366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TW" altLang="en-US" sz="2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f>
                            <m:f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den>
                          </m:f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+(1−</m:t>
                          </m:r>
                          <m:r>
                            <a:rPr lang="zh-TW" altLang="en-US" sz="2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f>
                            <m:f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den>
                          </m:f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TW" altLang="en-US" sz="2400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𝑃𝑅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4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𝑤h𝑒𝑟𝑒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zh-TW" altLang="en-US" sz="2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>
                            <a:rPr lang="zh-TW" altLang="en-US" sz="2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</m:oMath>
                  </m:oMathPara>
                </a14:m>
                <a:endParaRPr lang="zh-TW" altLang="en-US" sz="240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2708" y="3068960"/>
                <a:ext cx="7305397" cy="10366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1262708" y="5307332"/>
                <a:ext cx="1804468" cy="8166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𝑃𝑅</m:t>
                          </m:r>
                        </m:num>
                        <m:den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zh-TW" altLang="en-US" sz="280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2708" y="5307332"/>
                <a:ext cx="1804468" cy="8166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9355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ROC (Receiver Operating Characteristics) </a:t>
            </a:r>
            <a:r>
              <a:rPr lang="en-US" altLang="zh-TW" smtClean="0"/>
              <a:t>Curve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31520" y="3676226"/>
            <a:ext cx="7680960" cy="2777110"/>
          </a:xfrm>
        </p:spPr>
        <p:txBody>
          <a:bodyPr>
            <a:normAutofit/>
          </a:bodyPr>
          <a:lstStyle/>
          <a:p>
            <a:r>
              <a:rPr lang="en-US" altLang="zh-TW" sz="2800"/>
              <a:t>ROC </a:t>
            </a:r>
            <a:r>
              <a:rPr lang="en-US" altLang="zh-TW" sz="2800" smtClean="0"/>
              <a:t>curve</a:t>
            </a:r>
          </a:p>
          <a:p>
            <a:pPr lvl="1"/>
            <a:r>
              <a:rPr lang="en-US" altLang="zh-TW" sz="2400" smtClean="0"/>
              <a:t>Plotted </a:t>
            </a:r>
            <a:r>
              <a:rPr lang="en-US" altLang="zh-TW" sz="2400"/>
              <a:t>against TPR and FPR for various threshold values. </a:t>
            </a:r>
            <a:endParaRPr lang="en-US" altLang="zh-TW" sz="2400" smtClean="0"/>
          </a:p>
          <a:p>
            <a:r>
              <a:rPr lang="en-US" altLang="zh-TW" sz="2800"/>
              <a:t>Area Under Curve (AUC</a:t>
            </a:r>
            <a:r>
              <a:rPr lang="en-US" altLang="zh-TW" sz="2800" smtClean="0"/>
              <a:t>)</a:t>
            </a:r>
          </a:p>
          <a:p>
            <a:pPr lvl="1"/>
            <a:r>
              <a:rPr lang="en-US" altLang="zh-TW" sz="2400"/>
              <a:t>T</a:t>
            </a:r>
            <a:r>
              <a:rPr lang="en-US" altLang="zh-TW" sz="2400" smtClean="0"/>
              <a:t>he area under ROC curve</a:t>
            </a:r>
            <a:endParaRPr lang="zh-TW" alt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899592" y="2103120"/>
                <a:ext cx="6406689" cy="6976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𝑇𝑟𝑢𝑒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𝑃𝑜𝑠𝑖𝑡𝑖𝑣𝑒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𝑅𝑎𝑡𝑒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𝑇𝑃𝑅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𝑅𝑒𝑐𝑎𝑙𝑙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en-US" altLang="zh-TW" sz="2400" b="0" smtClean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2103120"/>
                <a:ext cx="6406689" cy="69762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899592" y="2889673"/>
                <a:ext cx="7707623" cy="6976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𝐹𝑎𝑙𝑠𝑒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𝑃𝑜𝑠𝑖𝑡𝑖𝑣𝑒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𝑅𝑎𝑡𝑒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𝐹𝑃𝑅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𝑆𝑝𝑒𝑐𝑖𝑓𝑖𝑐𝑖𝑡𝑦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𝑇𝑁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lang="en-US" altLang="zh-TW" sz="2400" b="0" smtClean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2889673"/>
                <a:ext cx="7707623" cy="6976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8" descr="3408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581255" y="4617378"/>
            <a:ext cx="3450052" cy="220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319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Regression </a:t>
            </a:r>
            <a:r>
              <a:rPr lang="en-US" altLang="zh-TW"/>
              <a:t>Evaluation Metrics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/>
              <a:t>Mean Absolute Error</a:t>
            </a:r>
          </a:p>
          <a:p>
            <a:pPr lvl="1"/>
            <a:r>
              <a:rPr lang="en-US" altLang="zh-TW" sz="2400" smtClean="0"/>
              <a:t>The </a:t>
            </a:r>
            <a:r>
              <a:rPr lang="en-US" altLang="zh-TW" sz="2400"/>
              <a:t>average of the difference between the Original Values and the Predicted Values</a:t>
            </a:r>
            <a:r>
              <a:rPr lang="en-US" altLang="zh-TW" sz="2400" smtClean="0"/>
              <a:t>.</a:t>
            </a:r>
          </a:p>
          <a:p>
            <a:pPr lvl="1"/>
            <a:endParaRPr lang="en-US" altLang="zh-TW" sz="2400"/>
          </a:p>
          <a:p>
            <a:endParaRPr lang="zh-TW" altLang="en-US"/>
          </a:p>
          <a:p>
            <a:r>
              <a:rPr lang="en-US" altLang="zh-TW" sz="2800" smtClean="0"/>
              <a:t>Sum </a:t>
            </a:r>
            <a:r>
              <a:rPr lang="en-US" altLang="zh-TW" sz="2800"/>
              <a:t>of </a:t>
            </a:r>
            <a:r>
              <a:rPr lang="en-US" altLang="zh-TW" sz="2800"/>
              <a:t>Squared </a:t>
            </a:r>
            <a:r>
              <a:rPr lang="en-US" altLang="zh-TW" sz="2800" smtClean="0"/>
              <a:t>Error</a:t>
            </a:r>
          </a:p>
          <a:p>
            <a:endParaRPr lang="en-US" altLang="zh-TW" sz="2800"/>
          </a:p>
          <a:p>
            <a:r>
              <a:rPr lang="en-US" altLang="zh-TW" sz="2800" smtClean="0"/>
              <a:t>Mean Squared </a:t>
            </a:r>
            <a:r>
              <a:rPr lang="en-US" altLang="zh-TW" sz="2800"/>
              <a:t>Error</a:t>
            </a:r>
            <a:endParaRPr lang="en-US" altLang="zh-TW" sz="2800"/>
          </a:p>
          <a:p>
            <a:endParaRPr lang="en-US" altLang="zh-TW" sz="260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3330281" y="3429000"/>
                <a:ext cx="2483437" cy="86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𝑀𝐴𝐸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</m:oMath>
                  </m:oMathPara>
                </a14:m>
                <a:endParaRPr lang="zh-TW" altLang="en-US" sz="200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0281" y="3429000"/>
                <a:ext cx="2483437" cy="86549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/>
              <p:cNvSpPr txBox="1"/>
              <p:nvPr/>
            </p:nvSpPr>
            <p:spPr>
              <a:xfrm>
                <a:off x="5076056" y="4383419"/>
                <a:ext cx="2264401" cy="86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TW" altLang="en-US" sz="2000"/>
              </a:p>
            </p:txBody>
          </p:sp>
        </mc:Choice>
        <mc:Fallback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056" y="4383419"/>
                <a:ext cx="2264401" cy="8654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/>
              <p:cNvSpPr txBox="1"/>
              <p:nvPr/>
            </p:nvSpPr>
            <p:spPr>
              <a:xfrm>
                <a:off x="5069886" y="5562611"/>
                <a:ext cx="2624565" cy="865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TW" altLang="en-US" sz="2000"/>
              </a:p>
            </p:txBody>
          </p:sp>
        </mc:Choice>
        <mc:Fallback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9886" y="5562611"/>
                <a:ext cx="2624565" cy="8654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6753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600"/>
              <a:t>Root Mean Squared Error</a:t>
            </a:r>
          </a:p>
          <a:p>
            <a:pPr lvl="1"/>
            <a:r>
              <a:rPr lang="en-US" altLang="zh-TW" sz="2400"/>
              <a:t>The square root of the average of the </a:t>
            </a:r>
            <a:r>
              <a:rPr lang="en-US" altLang="zh-TW" sz="2400" b="1"/>
              <a:t>square </a:t>
            </a:r>
            <a:r>
              <a:rPr lang="en-US" altLang="zh-TW" sz="2400"/>
              <a:t>of the difference between the original values and the predicted values.</a:t>
            </a:r>
            <a:endParaRPr lang="zh-TW" altLang="en-US" sz="3600"/>
          </a:p>
          <a:p>
            <a:endParaRPr lang="en-US" altLang="zh-TW" smtClean="0"/>
          </a:p>
          <a:p>
            <a:endParaRPr lang="en-US" altLang="zh-TW"/>
          </a:p>
          <a:p>
            <a:r>
              <a:rPr lang="en-US" altLang="zh-TW" sz="2800"/>
              <a:t>R</a:t>
            </a:r>
            <a:r>
              <a:rPr lang="en-US" altLang="zh-TW" sz="2800" baseline="30000"/>
              <a:t>2</a:t>
            </a:r>
            <a:r>
              <a:rPr lang="en-US" altLang="zh-TW" sz="2800"/>
              <a:t> coefficient</a:t>
            </a:r>
            <a:endParaRPr lang="zh-TW" altLang="en-US" sz="2800"/>
          </a:p>
          <a:p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/>
              <p:cNvSpPr txBox="1"/>
              <p:nvPr/>
            </p:nvSpPr>
            <p:spPr>
              <a:xfrm>
                <a:off x="4583324" y="3645024"/>
                <a:ext cx="3056414" cy="11973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m:rPr>
                              <m:nor/>
                            </m:rPr>
                            <a:rPr lang="zh-TW" altLang="en-US" sz="2000"/>
                            <m:t> </m:t>
                          </m:r>
                        </m:e>
                      </m:rad>
                    </m:oMath>
                  </m:oMathPara>
                </a14:m>
                <a:endParaRPr lang="zh-TW" altLang="en-US" sz="2000"/>
              </a:p>
            </p:txBody>
          </p:sp>
        </mc:Choice>
        <mc:Fallback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3324" y="3645024"/>
                <a:ext cx="3056414" cy="119737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/>
              <p:cNvSpPr txBox="1"/>
              <p:nvPr/>
            </p:nvSpPr>
            <p:spPr>
              <a:xfrm>
                <a:off x="1438220" y="5013176"/>
                <a:ext cx="3163687" cy="9160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Sup>
                                    <m:sSubSupPr>
                                      <m:ctrlP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/>
                                  </m:sSub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/>
                                  </m:sSub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Sup>
                                    <m:sSubSup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/>
                                  </m:sSub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zh-TW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zh-TW" altLang="en-US" sz="2400"/>
              </a:p>
            </p:txBody>
          </p:sp>
        </mc:Choice>
        <mc:Fallback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8220" y="5013176"/>
                <a:ext cx="3163687" cy="9160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/>
              <p:cNvSpPr txBox="1"/>
              <p:nvPr/>
            </p:nvSpPr>
            <p:spPr>
              <a:xfrm>
                <a:off x="1438220" y="5955230"/>
                <a:ext cx="1192506" cy="7116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zh-TW" altLang="en-US" sz="2400"/>
              </a:p>
            </p:txBody>
          </p:sp>
        </mc:Choice>
        <mc:Fallback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8220" y="5955230"/>
                <a:ext cx="1192506" cy="7116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9768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Evalation Data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smtClean="0"/>
              <a:t>Using training data to evaluate performance</a:t>
            </a:r>
          </a:p>
          <a:p>
            <a:pPr lvl="1"/>
            <a:r>
              <a:rPr lang="en-US" altLang="zh-TW" sz="2600"/>
              <a:t>N</a:t>
            </a:r>
            <a:r>
              <a:rPr lang="en-US" altLang="zh-TW" sz="2600" smtClean="0"/>
              <a:t>ot useful - because it </a:t>
            </a:r>
            <a:r>
              <a:rPr lang="en-US" altLang="zh-TW" sz="2600"/>
              <a:t>rewards models that can "remember" the training data, as opposed to generalizing from </a:t>
            </a:r>
            <a:r>
              <a:rPr lang="en-US" altLang="zh-TW" sz="2600" smtClean="0"/>
              <a:t>it.</a:t>
            </a:r>
          </a:p>
          <a:p>
            <a:pPr lvl="1"/>
            <a:r>
              <a:rPr lang="en-US" altLang="zh-TW" sz="2600" smtClean="0"/>
              <a:t>Overestimate performance</a:t>
            </a:r>
            <a:endParaRPr lang="zh-TW" altLang="en-US" sz="2600"/>
          </a:p>
        </p:txBody>
      </p:sp>
    </p:spTree>
    <p:extLst>
      <p:ext uri="{BB962C8B-B14F-4D97-AF65-F5344CB8AC3E}">
        <p14:creationId xmlns:p14="http://schemas.microsoft.com/office/powerpoint/2010/main" val="23604985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HoldOut 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31520" y="2103120"/>
            <a:ext cx="7680960" cy="4494232"/>
          </a:xfrm>
        </p:spPr>
        <p:txBody>
          <a:bodyPr>
            <a:normAutofit/>
          </a:bodyPr>
          <a:lstStyle/>
          <a:p>
            <a:r>
              <a:rPr lang="en-US" altLang="zh-TW" sz="2800"/>
              <a:t>T</a:t>
            </a:r>
            <a:r>
              <a:rPr lang="en-US" altLang="zh-TW" sz="2800" smtClean="0"/>
              <a:t>est </a:t>
            </a:r>
            <a:r>
              <a:rPr lang="en-US" altLang="zh-TW" sz="2800"/>
              <a:t>a model on different data than it was trained on</a:t>
            </a:r>
            <a:r>
              <a:rPr lang="en-US" altLang="zh-TW" sz="2800" smtClean="0"/>
              <a:t>.</a:t>
            </a:r>
          </a:p>
          <a:p>
            <a:r>
              <a:rPr lang="en-US" altLang="zh-TW" sz="2800" smtClean="0"/>
              <a:t>The </a:t>
            </a:r>
            <a:r>
              <a:rPr lang="en-US" altLang="zh-TW" sz="2800"/>
              <a:t>dataset is randomly divided into </a:t>
            </a:r>
            <a:r>
              <a:rPr lang="en-US" altLang="zh-TW" sz="2800" smtClean="0"/>
              <a:t>two subsets</a:t>
            </a:r>
            <a:endParaRPr lang="en-US" altLang="zh-TW" sz="2800"/>
          </a:p>
          <a:p>
            <a:pPr lvl="1"/>
            <a:r>
              <a:rPr lang="en-US" altLang="zh-TW" sz="2600"/>
              <a:t>Training </a:t>
            </a:r>
            <a:r>
              <a:rPr lang="en-US" altLang="zh-TW" sz="2600" smtClean="0"/>
              <a:t>set: used </a:t>
            </a:r>
            <a:r>
              <a:rPr lang="en-US" altLang="zh-TW" sz="2600"/>
              <a:t>to build </a:t>
            </a:r>
            <a:r>
              <a:rPr lang="en-US" altLang="zh-TW" sz="2600" smtClean="0"/>
              <a:t>a predictive model.</a:t>
            </a:r>
          </a:p>
          <a:p>
            <a:pPr lvl="1"/>
            <a:r>
              <a:rPr lang="en-US" altLang="zh-TW" sz="2600" smtClean="0"/>
              <a:t>Test </a:t>
            </a:r>
            <a:r>
              <a:rPr lang="en-US" altLang="zh-TW" sz="2600"/>
              <a:t>set: unseen </a:t>
            </a:r>
            <a:r>
              <a:rPr lang="en-US" altLang="zh-TW" sz="2600" smtClean="0"/>
              <a:t>data. The </a:t>
            </a:r>
            <a:r>
              <a:rPr lang="en-US" altLang="zh-TW" sz="2600"/>
              <a:t>dataset </a:t>
            </a:r>
            <a:r>
              <a:rPr lang="en-US" altLang="zh-TW" sz="2600" smtClean="0"/>
              <a:t>is used </a:t>
            </a:r>
            <a:r>
              <a:rPr lang="en-US" altLang="zh-TW" sz="2600"/>
              <a:t>to assess the likely future performance of a model.</a:t>
            </a:r>
            <a:endParaRPr lang="zh-TW" altLang="en-US" sz="2600"/>
          </a:p>
        </p:txBody>
      </p:sp>
    </p:spTree>
    <p:extLst>
      <p:ext uri="{BB962C8B-B14F-4D97-AF65-F5344CB8AC3E}">
        <p14:creationId xmlns:p14="http://schemas.microsoft.com/office/powerpoint/2010/main" val="22407794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smtClean="0"/>
              <a:t>If a learning method needs to find best parameters, splite data into training/validation/test dataset</a:t>
            </a:r>
          </a:p>
          <a:p>
            <a:pPr lvl="1"/>
            <a:r>
              <a:rPr lang="en-US" altLang="zh-TW" sz="2600"/>
              <a:t>Validation </a:t>
            </a:r>
            <a:r>
              <a:rPr lang="en-US" altLang="zh-TW" sz="2600" smtClean="0"/>
              <a:t>set: used </a:t>
            </a:r>
            <a:r>
              <a:rPr lang="en-US" altLang="zh-TW" sz="2600"/>
              <a:t>to assess the performance of the model </a:t>
            </a:r>
            <a:r>
              <a:rPr lang="en-US" altLang="zh-TW" sz="2600" smtClean="0"/>
              <a:t>built </a:t>
            </a:r>
            <a:r>
              <a:rPr lang="en-US" altLang="zh-TW" sz="2600" b="1"/>
              <a:t>in the training </a:t>
            </a:r>
            <a:r>
              <a:rPr lang="en-US" altLang="zh-TW" sz="2600" b="1" smtClean="0"/>
              <a:t>phase</a:t>
            </a:r>
            <a:r>
              <a:rPr lang="en-US" altLang="zh-TW" sz="2600" smtClean="0"/>
              <a:t>.</a:t>
            </a:r>
            <a:endParaRPr lang="zh-TW" altLang="en-US" sz="2600"/>
          </a:p>
        </p:txBody>
      </p:sp>
    </p:spTree>
    <p:extLst>
      <p:ext uri="{BB962C8B-B14F-4D97-AF65-F5344CB8AC3E}">
        <p14:creationId xmlns:p14="http://schemas.microsoft.com/office/powerpoint/2010/main" val="29406332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116632"/>
            <a:ext cx="3744416" cy="6563406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6660232" y="4653136"/>
            <a:ext cx="23042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i="1"/>
              <a:t>Fundamentals of Deep </a:t>
            </a:r>
            <a:r>
              <a:rPr lang="en-US" altLang="zh-TW" i="1" smtClean="0"/>
              <a:t>Learning</a:t>
            </a:r>
            <a:r>
              <a:rPr lang="en-US" altLang="zh-TW" smtClean="0"/>
              <a:t>,</a:t>
            </a:r>
          </a:p>
          <a:p>
            <a:r>
              <a:rPr lang="en-US" altLang="zh-TW" smtClean="0"/>
              <a:t>Fig.2-14. Detailed workflow for training and evaluating a deep learning model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47117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Cross-Validation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31520" y="2103120"/>
            <a:ext cx="7680960" cy="4350216"/>
          </a:xfrm>
        </p:spPr>
        <p:txBody>
          <a:bodyPr>
            <a:normAutofit/>
          </a:bodyPr>
          <a:lstStyle/>
          <a:p>
            <a:r>
              <a:rPr lang="en-US" altLang="zh-TW" sz="2800"/>
              <a:t> k-fold </a:t>
            </a:r>
            <a:r>
              <a:rPr lang="en-US" altLang="zh-TW" sz="2800" smtClean="0"/>
              <a:t>cross-validation</a:t>
            </a:r>
          </a:p>
          <a:p>
            <a:pPr lvl="1"/>
            <a:r>
              <a:rPr lang="en-US" altLang="zh-TW" sz="2600" smtClean="0"/>
              <a:t>The </a:t>
            </a:r>
            <a:r>
              <a:rPr lang="en-US" altLang="zh-TW" sz="2600"/>
              <a:t>original dataset is partitioned into </a:t>
            </a:r>
            <a:r>
              <a:rPr lang="en-US" altLang="zh-TW" sz="2600" i="1"/>
              <a:t>k</a:t>
            </a:r>
            <a:r>
              <a:rPr lang="en-US" altLang="zh-TW" sz="2600"/>
              <a:t> equal size </a:t>
            </a:r>
            <a:r>
              <a:rPr lang="en-US" altLang="zh-TW" sz="2600" smtClean="0"/>
              <a:t>subsamples (folds)</a:t>
            </a:r>
          </a:p>
          <a:p>
            <a:pPr lvl="1"/>
            <a:r>
              <a:rPr lang="en-US" altLang="zh-TW" sz="2600" smtClean="0"/>
              <a:t>Repeat </a:t>
            </a:r>
            <a:r>
              <a:rPr lang="en-US" altLang="zh-TW" sz="2600" i="1" smtClean="0"/>
              <a:t>k</a:t>
            </a:r>
            <a:r>
              <a:rPr lang="en-US" altLang="zh-TW" sz="2600" smtClean="0"/>
              <a:t> times</a:t>
            </a:r>
          </a:p>
          <a:p>
            <a:pPr lvl="2"/>
            <a:r>
              <a:rPr lang="en-US" altLang="zh-TW" sz="2400" smtClean="0"/>
              <a:t>The </a:t>
            </a:r>
            <a:r>
              <a:rPr lang="en-US" altLang="zh-TW" sz="2400" i="1" smtClean="0"/>
              <a:t>i</a:t>
            </a:r>
            <a:r>
              <a:rPr lang="en-US" altLang="zh-TW" sz="2400" smtClean="0"/>
              <a:t>th subset </a:t>
            </a:r>
            <a:r>
              <a:rPr lang="en-US" altLang="zh-TW" sz="2400"/>
              <a:t>is used as the test </a:t>
            </a:r>
            <a:r>
              <a:rPr lang="en-US" altLang="zh-TW" sz="2400" smtClean="0"/>
              <a:t>set, the </a:t>
            </a:r>
            <a:r>
              <a:rPr lang="en-US" altLang="zh-TW" sz="2400"/>
              <a:t>other k-1 subsets are put together to form a training set</a:t>
            </a:r>
            <a:r>
              <a:rPr lang="en-US" altLang="zh-TW" sz="2400" smtClean="0"/>
              <a:t>.</a:t>
            </a:r>
          </a:p>
          <a:p>
            <a:pPr lvl="1"/>
            <a:r>
              <a:rPr lang="en-US" altLang="zh-TW" sz="2600" smtClean="0"/>
              <a:t>The </a:t>
            </a:r>
            <a:r>
              <a:rPr lang="en-US" altLang="zh-TW" sz="2600"/>
              <a:t>estimation of accuracy is averaged over all </a:t>
            </a:r>
            <a:r>
              <a:rPr lang="en-US" altLang="zh-TW" sz="2600" i="1" smtClean="0"/>
              <a:t>k</a:t>
            </a:r>
            <a:r>
              <a:rPr lang="en-US" altLang="zh-TW" sz="2600" smtClean="0"/>
              <a:t> </a:t>
            </a:r>
            <a:r>
              <a:rPr lang="en-US" altLang="zh-TW" sz="2600"/>
              <a:t>trials to get the total effectiveness of </a:t>
            </a:r>
            <a:r>
              <a:rPr lang="en-US" altLang="zh-TW" sz="2600" smtClean="0"/>
              <a:t>a </a:t>
            </a:r>
            <a:r>
              <a:rPr lang="en-US" altLang="zh-TW" sz="2600"/>
              <a:t>model.</a:t>
            </a:r>
            <a:endParaRPr lang="zh-TW" altLang="en-US" sz="2600"/>
          </a:p>
        </p:txBody>
      </p:sp>
    </p:spTree>
    <p:extLst>
      <p:ext uri="{BB962C8B-B14F-4D97-AF65-F5344CB8AC3E}">
        <p14:creationId xmlns:p14="http://schemas.microsoft.com/office/powerpoint/2010/main" val="6698766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/>
              <a:t>Leave-one-out </a:t>
            </a:r>
            <a:r>
              <a:rPr lang="en-US" altLang="zh-TW" sz="2800" smtClean="0"/>
              <a:t>cross-validation</a:t>
            </a:r>
          </a:p>
          <a:p>
            <a:pPr lvl="1"/>
            <a:r>
              <a:rPr lang="en-US" altLang="zh-TW" sz="2600" smtClean="0"/>
              <a:t>Repeat N times</a:t>
            </a:r>
          </a:p>
          <a:p>
            <a:pPr lvl="2"/>
            <a:r>
              <a:rPr lang="en-US" altLang="zh-TW" sz="2400"/>
              <a:t>The </a:t>
            </a:r>
            <a:r>
              <a:rPr lang="en-US" altLang="zh-TW" sz="2400" i="1"/>
              <a:t>i</a:t>
            </a:r>
            <a:r>
              <a:rPr lang="en-US" altLang="zh-TW" sz="2400"/>
              <a:t>th </a:t>
            </a:r>
            <a:r>
              <a:rPr lang="en-US" altLang="zh-TW" sz="2400" smtClean="0"/>
              <a:t>sample is </a:t>
            </a:r>
            <a:r>
              <a:rPr lang="en-US" altLang="zh-TW" sz="2400"/>
              <a:t>used as the test </a:t>
            </a:r>
            <a:r>
              <a:rPr lang="en-US" altLang="zh-TW" sz="2400" smtClean="0"/>
              <a:t>data, </a:t>
            </a:r>
            <a:r>
              <a:rPr lang="en-US" altLang="zh-TW" sz="2400"/>
              <a:t>the other </a:t>
            </a:r>
            <a:r>
              <a:rPr lang="en-US" altLang="zh-TW" sz="2400" smtClean="0"/>
              <a:t>N-1 samples </a:t>
            </a:r>
            <a:r>
              <a:rPr lang="en-US" altLang="zh-TW" sz="2400"/>
              <a:t>are put together to form a training set.</a:t>
            </a:r>
            <a:endParaRPr lang="zh-TW" altLang="en-US" sz="2400"/>
          </a:p>
        </p:txBody>
      </p:sp>
    </p:spTree>
    <p:extLst>
      <p:ext uri="{BB962C8B-B14F-4D97-AF65-F5344CB8AC3E}">
        <p14:creationId xmlns:p14="http://schemas.microsoft.com/office/powerpoint/2010/main" val="15343561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肥皂">
  <a:themeElements>
    <a:clrScheme name="肥皂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肥皂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肥皂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肥皂</Template>
  <TotalTime>14105</TotalTime>
  <Words>590</Words>
  <Application>Microsoft Office PowerPoint</Application>
  <PresentationFormat>如螢幕大小 (4:3)</PresentationFormat>
  <Paragraphs>127</Paragraphs>
  <Slides>17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5" baseType="lpstr">
      <vt:lpstr>新細明體</vt:lpstr>
      <vt:lpstr>Arial</vt:lpstr>
      <vt:lpstr>Calibri</vt:lpstr>
      <vt:lpstr>Cambria Math</vt:lpstr>
      <vt:lpstr>Century Gothic</vt:lpstr>
      <vt:lpstr>Garamond</vt:lpstr>
      <vt:lpstr>Symbol</vt:lpstr>
      <vt:lpstr>肥皂</vt:lpstr>
      <vt:lpstr>Evaluation</vt:lpstr>
      <vt:lpstr>Measure Performance</vt:lpstr>
      <vt:lpstr>Classification Evaluation Metrics</vt:lpstr>
      <vt:lpstr>Confusion Matrix</vt:lpstr>
      <vt:lpstr>Classification Accuracy</vt:lpstr>
      <vt:lpstr>Precision, Recall, and F Score</vt:lpstr>
      <vt:lpstr>Precision/recall tradeoff</vt:lpstr>
      <vt:lpstr>F Score</vt:lpstr>
      <vt:lpstr>ROC (Receiver Operating Characteristics) Curve</vt:lpstr>
      <vt:lpstr>Regression Evaluation Metrics</vt:lpstr>
      <vt:lpstr>PowerPoint 簡報</vt:lpstr>
      <vt:lpstr>Evalation Data</vt:lpstr>
      <vt:lpstr>HoldOut </vt:lpstr>
      <vt:lpstr>PowerPoint 簡報</vt:lpstr>
      <vt:lpstr>PowerPoint 簡報</vt:lpstr>
      <vt:lpstr>Cross-Validation</vt:lpstr>
      <vt:lpstr>PowerPoint 簡報</vt:lpstr>
    </vt:vector>
  </TitlesOfParts>
  <Company>TCU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 6  Bayesian Learning</dc:title>
  <dc:creator>denislin</dc:creator>
  <cp:lastModifiedBy>denislin</cp:lastModifiedBy>
  <cp:revision>266</cp:revision>
  <dcterms:created xsi:type="dcterms:W3CDTF">2005-10-31T02:43:21Z</dcterms:created>
  <dcterms:modified xsi:type="dcterms:W3CDTF">2021-10-25T08:41:31Z</dcterms:modified>
</cp:coreProperties>
</file>