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73" r:id="rId15"/>
    <p:sldId id="274" r:id="rId16"/>
    <p:sldId id="275" r:id="rId17"/>
    <p:sldId id="276" r:id="rId18"/>
    <p:sldId id="277" r:id="rId19"/>
    <p:sldId id="280" r:id="rId20"/>
    <p:sldId id="281" r:id="rId21"/>
    <p:sldId id="282" r:id="rId22"/>
    <p:sldId id="278" r:id="rId23"/>
    <p:sldId id="279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5E0E4-EBEA-46EC-AB39-CD48DE70D70D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A36EC-487B-4CBD-A6B7-E2B231AA8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36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SWB</a:t>
            </a:r>
          </a:p>
          <a:p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0000FF"/>
                </a:solidFill>
              </a:rPr>
              <a:t>For a fixed number of parameters, a deep model is clearly better than the shallow one.</a:t>
            </a:r>
            <a:endParaRPr lang="zh-TW" altLang="en-US" sz="1200" dirty="0">
              <a:solidFill>
                <a:srgbClr val="0000FF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330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18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893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5292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17A040-AB4D-401D-A350-784DCE69D1BB}" type="slidenum">
              <a:rPr lang="en-US" altLang="zh-TW" smtClean="0">
                <a:latin typeface="Arial" pitchFamily="34" charset="0"/>
              </a:rPr>
              <a:pPr/>
              <a:t>12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4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8748-9195-4711-BD72-F41D8161A1C8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19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BF0E-DF3C-469B-A463-E37B32FE47A3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37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3EA6-34CE-470C-AFC6-953E61695F26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11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6E43-5A51-4FCD-8887-A06A8DBC9C38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B3249-8BE0-44CE-AF44-CFE5D50DC69F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1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7455-07AE-42A1-AAFB-DB9561D067F6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83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27FF-0394-4692-8BA5-BC4D7A9F958A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28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D6CA-93A6-4A85-AEA6-F9409A701C4F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568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FE1D-FE0E-4A39-93D5-4D1F992C0D4B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01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B099C-940F-412C-9147-0C55904FA43C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3873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CA3C-83C9-4D67-9C32-45C55FF5D70E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23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046D5-5D4F-4EDA-A289-A667433B49C5}" type="datetime1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0B708-1102-4592-B30C-FBC6D99FC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844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Deep Learning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慈濟大學 醫學資訊系</a:t>
            </a:r>
            <a:endParaRPr lang="en-US" altLang="zh-TW" dirty="0" smtClean="0"/>
          </a:p>
          <a:p>
            <a:r>
              <a:rPr lang="zh-TW" altLang="en-US" dirty="0" smtClean="0"/>
              <a:t>林</a:t>
            </a:r>
            <a:r>
              <a:rPr lang="zh-TW" altLang="en-US" dirty="0"/>
              <a:t>紋正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4655841" y="6165304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部分內容取自台大李宏毅老師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89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600200"/>
            <a:ext cx="10515600" cy="4853136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Model </a:t>
            </a:r>
            <a:r>
              <a:rPr lang="en-US" altLang="zh-TW" dirty="0">
                <a:solidFill>
                  <a:srgbClr val="FF0000"/>
                </a:solidFill>
              </a:rPr>
              <a:t>high-level abstractions in data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/>
              <a:t>Learning representations of data</a:t>
            </a:r>
          </a:p>
          <a:p>
            <a:pPr lvl="2"/>
            <a:r>
              <a:rPr lang="en-US" altLang="zh-TW" dirty="0" smtClean="0"/>
              <a:t>E.g., image</a:t>
            </a:r>
          </a:p>
          <a:p>
            <a:pPr lvl="3"/>
            <a:r>
              <a:rPr lang="en-US" altLang="zh-TW" dirty="0" smtClean="0"/>
              <a:t>Low level: pixel</a:t>
            </a:r>
          </a:p>
          <a:p>
            <a:pPr lvl="3"/>
            <a:r>
              <a:rPr lang="en-US" altLang="zh-TW" dirty="0" smtClean="0"/>
              <a:t>Higher level: edges, regions of particular shape</a:t>
            </a:r>
            <a:endParaRPr lang="zh-TW" altLang="en-US" dirty="0" smtClean="0"/>
          </a:p>
          <a:p>
            <a:r>
              <a:rPr lang="en-US" altLang="zh-TW" dirty="0" smtClean="0"/>
              <a:t>Use complex structures</a:t>
            </a:r>
          </a:p>
          <a:p>
            <a:r>
              <a:rPr lang="en-US" altLang="zh-TW" dirty="0" smtClean="0"/>
              <a:t>Non-linear </a:t>
            </a:r>
          </a:p>
          <a:p>
            <a:r>
              <a:rPr lang="en-US" altLang="zh-TW" dirty="0" smtClean="0"/>
              <a:t>Can replacing handcrafted features with efficient algorithms for feature extraction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Learn representations </a:t>
            </a:r>
            <a:r>
              <a:rPr lang="en-US" altLang="zh-TW" dirty="0">
                <a:solidFill>
                  <a:srgbClr val="FF0000"/>
                </a:solidFill>
              </a:rPr>
              <a:t>from large-scale unlabeled data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1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Deep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Use a cascade of many layers of nonlinear processing units for feature extraction and transformation.</a:t>
            </a:r>
          </a:p>
          <a:p>
            <a:r>
              <a:rPr lang="en-US" altLang="zh-TW" dirty="0" smtClean="0"/>
              <a:t>Based on the (unsupervised) learning of multiple levels of features or representations of the data. </a:t>
            </a:r>
          </a:p>
          <a:p>
            <a:pPr lvl="1"/>
            <a:r>
              <a:rPr lang="en-US" altLang="zh-TW" dirty="0" smtClean="0"/>
              <a:t>Higher level features are derived from lower level features to form a hierarchical representation.</a:t>
            </a:r>
          </a:p>
          <a:p>
            <a:pPr lvl="1"/>
            <a:r>
              <a:rPr lang="en-US" altLang="zh-TW" dirty="0"/>
              <a:t>learn multiple levels of representations that correspond to different levels of abstraction; the levels form a hierarchy of concepts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10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is Deep?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transformation </a:t>
            </a:r>
            <a:r>
              <a:rPr lang="en-US" altLang="zh-TW" dirty="0"/>
              <a:t>from input to output </a:t>
            </a:r>
            <a:r>
              <a:rPr lang="en-US" altLang="zh-TW" dirty="0" smtClean="0"/>
              <a:t>is </a:t>
            </a:r>
            <a:r>
              <a:rPr lang="en-US" altLang="zh-TW" i="1" dirty="0" smtClean="0"/>
              <a:t>deep</a:t>
            </a:r>
            <a:r>
              <a:rPr lang="en-US" altLang="zh-TW" dirty="0" smtClean="0"/>
              <a:t> - lengthy</a:t>
            </a:r>
            <a:endParaRPr lang="en-US" altLang="zh-TW" i="1" dirty="0" smtClean="0"/>
          </a:p>
          <a:p>
            <a:r>
              <a:rPr lang="en-US" altLang="zh-TW" dirty="0" smtClean="0"/>
              <a:t>Many layers</a:t>
            </a:r>
          </a:p>
          <a:p>
            <a:pPr lvl="1"/>
            <a:r>
              <a:rPr lang="en-US" altLang="zh-TW" dirty="0" smtClean="0"/>
              <a:t>&gt; 2 nonlinear layers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11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2451700" y="1901893"/>
          <a:ext cx="7288600" cy="402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2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2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17.8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3772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22.5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 4634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22.6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</a:t>
                      </a:r>
                      <a:r>
                        <a:rPr lang="en-US" altLang="zh-TW" sz="2400" baseline="0" dirty="0"/>
                        <a:t> 16k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Deeper is Better?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353441" y="6051167"/>
            <a:ext cx="78351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Arial" panose="020B0604020202020204" pitchFamily="34" charset="0"/>
              </a:rPr>
              <a:t>Seide</a:t>
            </a:r>
            <a:r>
              <a:rPr lang="en-US" altLang="zh-TW" dirty="0">
                <a:latin typeface="Arial" panose="020B0604020202020204" pitchFamily="34" charset="0"/>
              </a:rPr>
              <a:t>, Frank, Gang Li, and Dong Yu. "Conversational Speech Transcription Using Context-Dependent Deep Neural Networks." </a:t>
            </a:r>
            <a:r>
              <a:rPr lang="en-US" altLang="zh-TW" i="1" dirty="0" err="1">
                <a:latin typeface="Arial" panose="020B0604020202020204" pitchFamily="34" charset="0"/>
              </a:rPr>
              <a:t>Interspeech</a:t>
            </a:r>
            <a:r>
              <a:rPr lang="en-US" altLang="zh-TW" dirty="0">
                <a:latin typeface="Arial" panose="020B0604020202020204" pitchFamily="34" charset="0"/>
              </a:rPr>
              <a:t>. 2011.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095999" y="1276351"/>
            <a:ext cx="3943350" cy="4711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271016" y="3221076"/>
            <a:ext cx="37695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</a:rPr>
              <a:t>Not surprised, more parameters, better performance 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51700" y="1901893"/>
            <a:ext cx="3644299" cy="40233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79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031376" y="1631049"/>
            <a:ext cx="2689840" cy="280912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Universality Theorem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0191" y="4404313"/>
            <a:ext cx="29306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Reference</a:t>
            </a:r>
            <a:r>
              <a:rPr lang="zh-TW" altLang="en-US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for the reason: </a:t>
            </a:r>
            <a:r>
              <a:rPr lang="zh-TW" altLang="en-US" u="sng" dirty="0"/>
              <a:t>http://neuralnetworksanddeeplearning.com/chap4.html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2459343" y="1893033"/>
            <a:ext cx="4390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Any continuous function f</a:t>
            </a:r>
            <a:endParaRPr lang="zh-TW" altLang="en-US" sz="2800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>
            <p:extLst/>
          </p:nvPr>
        </p:nvGraphicFramePr>
        <p:xfrm>
          <a:off x="3329231" y="2579752"/>
          <a:ext cx="2342046" cy="63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方程式" r:id="rId5" imgW="850680" imgH="228600" progId="Equation.3">
                  <p:embed/>
                </p:oleObj>
              </mc:Choice>
              <mc:Fallback>
                <p:oleObj name="方程式" r:id="rId5" imgW="850680" imgH="228600" progId="Equation.3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9231" y="2579752"/>
                        <a:ext cx="2342046" cy="63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398967" y="3364331"/>
            <a:ext cx="43908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Can be realized by a network with one hidden layer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389786" y="4430841"/>
            <a:ext cx="4220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(given </a:t>
            </a:r>
            <a:r>
              <a:rPr lang="en-US" altLang="zh-TW" sz="2800" b="1" dirty="0"/>
              <a:t>enough</a:t>
            </a:r>
            <a:r>
              <a:rPr lang="en-US" altLang="zh-TW" sz="2800" dirty="0"/>
              <a:t> hidden neurons)</a:t>
            </a:r>
            <a:endParaRPr lang="zh-TW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034548" y="5661766"/>
            <a:ext cx="81229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Why “Deep” neural network not “Fat” neural network?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315523" y="6092473"/>
            <a:ext cx="201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(next lecture)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97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  <p:bldP spid="11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Fat + Short </a:t>
            </a:r>
            <a:r>
              <a:rPr lang="en-US" altLang="zh-TW" dirty="0" err="1"/>
              <a:t>v.s</a:t>
            </a:r>
            <a:r>
              <a:rPr lang="en-US" altLang="zh-TW" dirty="0"/>
              <a:t>. Thin + Tall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 rot="5400000">
            <a:off x="7673823" y="4483525"/>
            <a:ext cx="714976" cy="2524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rot="5400000">
            <a:off x="7671437" y="3651090"/>
            <a:ext cx="714976" cy="19678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 rot="5400000">
            <a:off x="7679580" y="2541202"/>
            <a:ext cx="714976" cy="19841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7637134" y="1393429"/>
            <a:ext cx="714976" cy="17696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5" name="群組 44"/>
          <p:cNvGrpSpPr/>
          <p:nvPr/>
        </p:nvGrpSpPr>
        <p:grpSpPr>
          <a:xfrm>
            <a:off x="6938826" y="5343054"/>
            <a:ext cx="2283266" cy="556872"/>
            <a:chOff x="755858" y="5735182"/>
            <a:chExt cx="2283266" cy="556872"/>
          </a:xfrm>
        </p:grpSpPr>
        <p:grpSp>
          <p:nvGrpSpPr>
            <p:cNvPr id="77" name="群組 76"/>
            <p:cNvGrpSpPr/>
            <p:nvPr/>
          </p:nvGrpSpPr>
          <p:grpSpPr>
            <a:xfrm>
              <a:off x="755858" y="5895047"/>
              <a:ext cx="289125" cy="383103"/>
              <a:chOff x="2268775" y="3538012"/>
              <a:chExt cx="289125" cy="383103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2268775" y="3617002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6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79483" y="3538012"/>
              <a:ext cx="274401" cy="383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4" name="方程式" r:id="rId4" imgW="152280" imgH="215640" progId="Equation.3">
                      <p:embed/>
                    </p:oleObj>
                  </mc:Choice>
                  <mc:Fallback>
                    <p:oleObj name="方程式" r:id="rId4" imgW="152280" imgH="215640" progId="Equation.3">
                      <p:embed/>
                      <p:pic>
                        <p:nvPicPr>
                          <p:cNvPr id="8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79483" y="3538012"/>
                            <a:ext cx="274401" cy="383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8" name="群組 77"/>
            <p:cNvGrpSpPr/>
            <p:nvPr/>
          </p:nvGrpSpPr>
          <p:grpSpPr>
            <a:xfrm>
              <a:off x="1456763" y="5895047"/>
              <a:ext cx="317234" cy="383104"/>
              <a:chOff x="2263870" y="4021266"/>
              <a:chExt cx="317234" cy="383104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2263870" y="4089974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4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83948" y="4021266"/>
              <a:ext cx="297156" cy="383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5" name="方程式" r:id="rId6" imgW="164880" imgH="215640" progId="Equation.3">
                      <p:embed/>
                    </p:oleObj>
                  </mc:Choice>
                  <mc:Fallback>
                    <p:oleObj name="方程式" r:id="rId6" imgW="164880" imgH="215640" progId="Equation.3">
                      <p:embed/>
                      <p:pic>
                        <p:nvPicPr>
                          <p:cNvPr id="84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3948" y="4021266"/>
                            <a:ext cx="297156" cy="3831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9" name="文字方塊 78"/>
            <p:cNvSpPr txBox="1"/>
            <p:nvPr/>
          </p:nvSpPr>
          <p:spPr>
            <a:xfrm>
              <a:off x="1728860" y="5735182"/>
              <a:ext cx="10613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grpSp>
          <p:nvGrpSpPr>
            <p:cNvPr id="80" name="群組 79"/>
            <p:cNvGrpSpPr/>
            <p:nvPr/>
          </p:nvGrpSpPr>
          <p:grpSpPr>
            <a:xfrm>
              <a:off x="2687405" y="5886570"/>
              <a:ext cx="351719" cy="405484"/>
              <a:chOff x="2257778" y="5192060"/>
              <a:chExt cx="351719" cy="405484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2257778" y="5273306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2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66830" y="5192060"/>
              <a:ext cx="342667" cy="4054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6" name="方程式" r:id="rId8" imgW="190440" imgH="228600" progId="Equation.3">
                      <p:embed/>
                    </p:oleObj>
                  </mc:Choice>
                  <mc:Fallback>
                    <p:oleObj name="方程式" r:id="rId8" imgW="190440" imgH="228600" progId="Equation.3">
                      <p:embed/>
                      <p:pic>
                        <p:nvPicPr>
                          <p:cNvPr id="8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6830" y="5192060"/>
                            <a:ext cx="342667" cy="4054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6" name="橢圓 45"/>
          <p:cNvSpPr/>
          <p:nvPr/>
        </p:nvSpPr>
        <p:spPr>
          <a:xfrm>
            <a:off x="7237181" y="4418970"/>
            <a:ext cx="484116" cy="47614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8352491" y="4386147"/>
            <a:ext cx="484116" cy="47614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0" name="直線單箭頭接點 49"/>
          <p:cNvCxnSpPr/>
          <p:nvPr/>
        </p:nvCxnSpPr>
        <p:spPr>
          <a:xfrm flipH="1" flipV="1">
            <a:off x="7465237" y="4921949"/>
            <a:ext cx="341060" cy="6496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47" idx="4"/>
          </p:cNvCxnSpPr>
          <p:nvPr/>
        </p:nvCxnSpPr>
        <p:spPr>
          <a:xfrm flipH="1" flipV="1">
            <a:off x="8594550" y="4862294"/>
            <a:ext cx="437011" cy="7257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endCxn id="46" idx="4"/>
          </p:cNvCxnSpPr>
          <p:nvPr/>
        </p:nvCxnSpPr>
        <p:spPr>
          <a:xfrm flipH="1" flipV="1">
            <a:off x="7479239" y="4895117"/>
            <a:ext cx="1571012" cy="7452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86" idx="0"/>
            <a:endCxn id="46" idx="4"/>
          </p:cNvCxnSpPr>
          <p:nvPr/>
        </p:nvCxnSpPr>
        <p:spPr>
          <a:xfrm flipV="1">
            <a:off x="7086735" y="4895117"/>
            <a:ext cx="392505" cy="6078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84" idx="0"/>
            <a:endCxn id="47" idx="4"/>
          </p:cNvCxnSpPr>
          <p:nvPr/>
        </p:nvCxnSpPr>
        <p:spPr>
          <a:xfrm flipV="1">
            <a:off x="7808387" y="4862293"/>
            <a:ext cx="786162" cy="6406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7216478" y="3257556"/>
            <a:ext cx="484116" cy="4761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8341987" y="3275940"/>
            <a:ext cx="484116" cy="4761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7218883" y="2005208"/>
            <a:ext cx="484116" cy="4761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8332838" y="1990979"/>
            <a:ext cx="484116" cy="4761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/>
          <p:cNvCxnSpPr>
            <a:stCxn id="57" idx="0"/>
            <a:endCxn id="61" idx="4"/>
          </p:cNvCxnSpPr>
          <p:nvPr/>
        </p:nvCxnSpPr>
        <p:spPr>
          <a:xfrm flipV="1">
            <a:off x="7458537" y="2481355"/>
            <a:ext cx="2405" cy="776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58" idx="0"/>
            <a:endCxn id="61" idx="4"/>
          </p:cNvCxnSpPr>
          <p:nvPr/>
        </p:nvCxnSpPr>
        <p:spPr>
          <a:xfrm flipH="1" flipV="1">
            <a:off x="7460941" y="2481355"/>
            <a:ext cx="1123104" cy="794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8" idx="0"/>
            <a:endCxn id="62" idx="4"/>
          </p:cNvCxnSpPr>
          <p:nvPr/>
        </p:nvCxnSpPr>
        <p:spPr>
          <a:xfrm flipH="1" flipV="1">
            <a:off x="8574897" y="2467125"/>
            <a:ext cx="9149" cy="808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57" idx="0"/>
            <a:endCxn id="62" idx="4"/>
          </p:cNvCxnSpPr>
          <p:nvPr/>
        </p:nvCxnSpPr>
        <p:spPr>
          <a:xfrm flipV="1">
            <a:off x="7458536" y="2467125"/>
            <a:ext cx="1116360" cy="790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6787063" y="6119354"/>
            <a:ext cx="2477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Deep</a:t>
            </a:r>
            <a:endParaRPr lang="zh-TW" altLang="en-US" sz="2800" dirty="0"/>
          </a:p>
        </p:txBody>
      </p:sp>
      <p:cxnSp>
        <p:nvCxnSpPr>
          <p:cNvPr id="91" name="直線單箭頭接點 90"/>
          <p:cNvCxnSpPr/>
          <p:nvPr/>
        </p:nvCxnSpPr>
        <p:spPr>
          <a:xfrm flipV="1">
            <a:off x="7460941" y="1606868"/>
            <a:ext cx="8602" cy="397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8584045" y="1592639"/>
            <a:ext cx="8602" cy="397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群組 127"/>
          <p:cNvGrpSpPr/>
          <p:nvPr/>
        </p:nvGrpSpPr>
        <p:grpSpPr>
          <a:xfrm>
            <a:off x="1885950" y="2795204"/>
            <a:ext cx="4495802" cy="3854835"/>
            <a:chOff x="361950" y="2795203"/>
            <a:chExt cx="4495802" cy="3854835"/>
          </a:xfrm>
        </p:grpSpPr>
        <p:sp>
          <p:nvSpPr>
            <p:cNvPr id="4" name="矩形 3"/>
            <p:cNvSpPr/>
            <p:nvPr/>
          </p:nvSpPr>
          <p:spPr>
            <a:xfrm rot="5400000">
              <a:off x="2252363" y="2404343"/>
              <a:ext cx="714976" cy="4495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 rot="5400000">
              <a:off x="2195397" y="2432167"/>
              <a:ext cx="714976" cy="20171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 rot="5400000">
              <a:off x="2331114" y="4469637"/>
              <a:ext cx="491526" cy="25647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1" name="群組 10"/>
            <p:cNvGrpSpPr/>
            <p:nvPr/>
          </p:nvGrpSpPr>
          <p:grpSpPr>
            <a:xfrm>
              <a:off x="1351533" y="3162509"/>
              <a:ext cx="2474555" cy="2765327"/>
              <a:chOff x="1091509" y="3383234"/>
              <a:chExt cx="2474555" cy="2765327"/>
            </a:xfrm>
          </p:grpSpPr>
          <p:sp>
            <p:nvSpPr>
              <p:cNvPr id="12" name="橢圓 11"/>
              <p:cNvSpPr/>
              <p:nvPr/>
            </p:nvSpPr>
            <p:spPr>
              <a:xfrm>
                <a:off x="1091509" y="4646168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3" name="群組 12"/>
              <p:cNvGrpSpPr/>
              <p:nvPr/>
            </p:nvGrpSpPr>
            <p:grpSpPr>
              <a:xfrm>
                <a:off x="1211127" y="5591689"/>
                <a:ext cx="2283266" cy="556872"/>
                <a:chOff x="755858" y="5735182"/>
                <a:chExt cx="2283266" cy="556872"/>
              </a:xfrm>
            </p:grpSpPr>
            <p:grpSp>
              <p:nvGrpSpPr>
                <p:cNvPr id="33" name="群組 32"/>
                <p:cNvGrpSpPr/>
                <p:nvPr/>
              </p:nvGrpSpPr>
              <p:grpSpPr>
                <a:xfrm>
                  <a:off x="755858" y="5895047"/>
                  <a:ext cx="289125" cy="383103"/>
                  <a:chOff x="2268775" y="3538012"/>
                  <a:chExt cx="289125" cy="383103"/>
                </a:xfrm>
              </p:grpSpPr>
              <p:sp>
                <p:nvSpPr>
                  <p:cNvPr id="41" name="矩形 40"/>
                  <p:cNvSpPr/>
                  <p:nvPr/>
                </p:nvSpPr>
                <p:spPr>
                  <a:xfrm>
                    <a:off x="2268775" y="3617002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42" name="Object 12"/>
                  <p:cNvGraphicFramePr>
                    <a:graphicFrameLocks noChangeAspect="1"/>
                  </p:cNvGraphicFramePr>
                  <p:nvPr>
                    <p:extLst/>
                  </p:nvPr>
                </p:nvGraphicFramePr>
                <p:xfrm>
                  <a:off x="2279483" y="3538012"/>
                  <a:ext cx="274401" cy="38310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7" name="方程式" r:id="rId10" imgW="152280" imgH="215640" progId="Equation.3">
                          <p:embed/>
                        </p:oleObj>
                      </mc:Choice>
                      <mc:Fallback>
                        <p:oleObj name="方程式" r:id="rId10" imgW="152280" imgH="215640" progId="Equation.3">
                          <p:embed/>
                          <p:pic>
                            <p:nvPicPr>
                              <p:cNvPr id="4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79483" y="3538012"/>
                                <a:ext cx="274401" cy="38310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4" name="群組 33"/>
                <p:cNvGrpSpPr/>
                <p:nvPr/>
              </p:nvGrpSpPr>
              <p:grpSpPr>
                <a:xfrm>
                  <a:off x="1456763" y="5895047"/>
                  <a:ext cx="317234" cy="383104"/>
                  <a:chOff x="2263870" y="4021266"/>
                  <a:chExt cx="317234" cy="383104"/>
                </a:xfrm>
              </p:grpSpPr>
              <p:sp>
                <p:nvSpPr>
                  <p:cNvPr id="39" name="矩形 38"/>
                  <p:cNvSpPr/>
                  <p:nvPr/>
                </p:nvSpPr>
                <p:spPr>
                  <a:xfrm>
                    <a:off x="2263870" y="4089974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40" name="Object 12"/>
                  <p:cNvGraphicFramePr>
                    <a:graphicFrameLocks noChangeAspect="1"/>
                  </p:cNvGraphicFramePr>
                  <p:nvPr>
                    <p:extLst/>
                  </p:nvPr>
                </p:nvGraphicFramePr>
                <p:xfrm>
                  <a:off x="2283948" y="4021266"/>
                  <a:ext cx="297156" cy="3831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8" name="方程式" r:id="rId11" imgW="164880" imgH="215640" progId="Equation.3">
                          <p:embed/>
                        </p:oleObj>
                      </mc:Choice>
                      <mc:Fallback>
                        <p:oleObj name="方程式" r:id="rId11" imgW="164880" imgH="215640" progId="Equation.3">
                          <p:embed/>
                          <p:pic>
                            <p:nvPicPr>
                              <p:cNvPr id="4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83948" y="4021266"/>
                                <a:ext cx="297156" cy="38310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35" name="文字方塊 34"/>
                <p:cNvSpPr txBox="1"/>
                <p:nvPr/>
              </p:nvSpPr>
              <p:spPr>
                <a:xfrm>
                  <a:off x="1728860" y="5735182"/>
                  <a:ext cx="106139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800" dirty="0"/>
                    <a:t>……</a:t>
                  </a:r>
                  <a:endParaRPr lang="zh-TW" altLang="en-US" sz="2800" dirty="0"/>
                </a:p>
              </p:txBody>
            </p:sp>
            <p:grpSp>
              <p:nvGrpSpPr>
                <p:cNvPr id="36" name="群組 35"/>
                <p:cNvGrpSpPr/>
                <p:nvPr/>
              </p:nvGrpSpPr>
              <p:grpSpPr>
                <a:xfrm>
                  <a:off x="2687405" y="5886570"/>
                  <a:ext cx="351719" cy="405484"/>
                  <a:chOff x="2257778" y="5192060"/>
                  <a:chExt cx="351719" cy="405484"/>
                </a:xfrm>
              </p:grpSpPr>
              <p:sp>
                <p:nvSpPr>
                  <p:cNvPr id="37" name="矩形 36"/>
                  <p:cNvSpPr/>
                  <p:nvPr/>
                </p:nvSpPr>
                <p:spPr>
                  <a:xfrm>
                    <a:off x="2257778" y="5273306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38" name="Object 12"/>
                  <p:cNvGraphicFramePr>
                    <a:graphicFrameLocks noChangeAspect="1"/>
                  </p:cNvGraphicFramePr>
                  <p:nvPr>
                    <p:extLst/>
                  </p:nvPr>
                </p:nvGraphicFramePr>
                <p:xfrm>
                  <a:off x="2266830" y="5192060"/>
                  <a:ext cx="342667" cy="4054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9" name="方程式" r:id="rId12" imgW="190440" imgH="228600" progId="Equation.3">
                          <p:embed/>
                        </p:oleObj>
                      </mc:Choice>
                      <mc:Fallback>
                        <p:oleObj name="方程式" r:id="rId12" imgW="190440" imgH="228600" progId="Equation.3">
                          <p:embed/>
                          <p:pic>
                            <p:nvPicPr>
                              <p:cNvPr id="38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66830" y="5192060"/>
                                <a:ext cx="342667" cy="40548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14" name="橢圓 13"/>
              <p:cNvSpPr/>
              <p:nvPr/>
            </p:nvSpPr>
            <p:spPr>
              <a:xfrm>
                <a:off x="1836539" y="466652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3081948" y="4653966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186531" y="4544968"/>
                <a:ext cx="10613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……</a:t>
                </a:r>
                <a:endParaRPr lang="zh-TW" altLang="en-US" sz="2800" dirty="0"/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1513734" y="3397463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2627689" y="3383234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9" name="直線單箭頭接點 18"/>
              <p:cNvCxnSpPr>
                <a:endCxn id="12" idx="4"/>
              </p:cNvCxnSpPr>
              <p:nvPr/>
            </p:nvCxnSpPr>
            <p:spPr>
              <a:xfrm flipV="1">
                <a:off x="1333567" y="5122315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2078597" y="5112033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3303861" y="5128445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>
                <a:endCxn id="14" idx="4"/>
              </p:cNvCxnSpPr>
              <p:nvPr/>
            </p:nvCxnSpPr>
            <p:spPr>
              <a:xfrm flipH="1" flipV="1">
                <a:off x="2078597" y="5142674"/>
                <a:ext cx="1164518" cy="6878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H="1" flipV="1">
                <a:off x="1349851" y="5128445"/>
                <a:ext cx="1951605" cy="7327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單箭頭接點 23"/>
              <p:cNvCxnSpPr>
                <a:endCxn id="14" idx="4"/>
              </p:cNvCxnSpPr>
              <p:nvPr/>
            </p:nvCxnSpPr>
            <p:spPr>
              <a:xfrm flipV="1">
                <a:off x="1337430" y="5142674"/>
                <a:ext cx="741167" cy="73107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單箭頭接點 24"/>
              <p:cNvCxnSpPr>
                <a:endCxn id="15" idx="4"/>
              </p:cNvCxnSpPr>
              <p:nvPr/>
            </p:nvCxnSpPr>
            <p:spPr>
              <a:xfrm flipV="1">
                <a:off x="2071100" y="5130113"/>
                <a:ext cx="1252906" cy="7133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單箭頭接點 25"/>
              <p:cNvCxnSpPr>
                <a:endCxn id="12" idx="4"/>
              </p:cNvCxnSpPr>
              <p:nvPr/>
            </p:nvCxnSpPr>
            <p:spPr>
              <a:xfrm flipH="1" flipV="1">
                <a:off x="1333567" y="5122315"/>
                <a:ext cx="664283" cy="72117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單箭頭接點 26"/>
              <p:cNvCxnSpPr>
                <a:stCxn id="12" idx="0"/>
                <a:endCxn id="17" idx="4"/>
              </p:cNvCxnSpPr>
              <p:nvPr/>
            </p:nvCxnSpPr>
            <p:spPr>
              <a:xfrm flipV="1">
                <a:off x="1333567" y="3873610"/>
                <a:ext cx="422225" cy="77255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/>
              <p:cNvCxnSpPr>
                <a:stCxn id="14" idx="0"/>
                <a:endCxn id="17" idx="4"/>
              </p:cNvCxnSpPr>
              <p:nvPr/>
            </p:nvCxnSpPr>
            <p:spPr>
              <a:xfrm flipH="1" flipV="1">
                <a:off x="1755792" y="3873610"/>
                <a:ext cx="322805" cy="7929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/>
              <p:cNvCxnSpPr>
                <a:stCxn id="15" idx="0"/>
                <a:endCxn id="17" idx="4"/>
              </p:cNvCxnSpPr>
              <p:nvPr/>
            </p:nvCxnSpPr>
            <p:spPr>
              <a:xfrm flipH="1" flipV="1">
                <a:off x="1755792" y="3873610"/>
                <a:ext cx="1568214" cy="7803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單箭頭接點 29"/>
              <p:cNvCxnSpPr>
                <a:stCxn id="15" idx="0"/>
                <a:endCxn id="18" idx="4"/>
              </p:cNvCxnSpPr>
              <p:nvPr/>
            </p:nvCxnSpPr>
            <p:spPr>
              <a:xfrm flipH="1" flipV="1">
                <a:off x="2869747" y="3859381"/>
                <a:ext cx="454259" cy="7945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/>
              <p:cNvCxnSpPr>
                <a:stCxn id="14" idx="0"/>
                <a:endCxn id="18" idx="4"/>
              </p:cNvCxnSpPr>
              <p:nvPr/>
            </p:nvCxnSpPr>
            <p:spPr>
              <a:xfrm flipV="1">
                <a:off x="2078597" y="3859381"/>
                <a:ext cx="791150" cy="80714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單箭頭接點 31"/>
              <p:cNvCxnSpPr>
                <a:stCxn id="12" idx="0"/>
                <a:endCxn id="18" idx="4"/>
              </p:cNvCxnSpPr>
              <p:nvPr/>
            </p:nvCxnSpPr>
            <p:spPr>
              <a:xfrm flipV="1">
                <a:off x="1333567" y="3859381"/>
                <a:ext cx="1536180" cy="7867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文字方塊 86"/>
            <p:cNvSpPr txBox="1"/>
            <p:nvPr/>
          </p:nvSpPr>
          <p:spPr>
            <a:xfrm>
              <a:off x="1276935" y="6126818"/>
              <a:ext cx="24774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Shallow</a:t>
              </a:r>
              <a:endParaRPr lang="zh-TW" altLang="en-US" sz="2800" dirty="0"/>
            </a:p>
          </p:txBody>
        </p:sp>
        <p:cxnSp>
          <p:nvCxnSpPr>
            <p:cNvPr id="89" name="直線單箭頭接點 88"/>
            <p:cNvCxnSpPr/>
            <p:nvPr/>
          </p:nvCxnSpPr>
          <p:spPr>
            <a:xfrm flipV="1">
              <a:off x="2022770" y="2826808"/>
              <a:ext cx="8602" cy="3972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/>
            <p:nvPr/>
          </p:nvCxnSpPr>
          <p:spPr>
            <a:xfrm flipV="1">
              <a:off x="3151277" y="2795203"/>
              <a:ext cx="8602" cy="3972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橢圓 92"/>
            <p:cNvSpPr/>
            <p:nvPr/>
          </p:nvSpPr>
          <p:spPr>
            <a:xfrm>
              <a:off x="533220" y="4405331"/>
              <a:ext cx="484116" cy="47614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4195437" y="4450170"/>
              <a:ext cx="484116" cy="47614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5" name="直線單箭頭接點 94"/>
            <p:cNvCxnSpPr>
              <a:endCxn id="94" idx="3"/>
            </p:cNvCxnSpPr>
            <p:nvPr/>
          </p:nvCxnSpPr>
          <p:spPr>
            <a:xfrm flipV="1">
              <a:off x="3541139" y="4856587"/>
              <a:ext cx="725195" cy="8310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>
              <a:endCxn id="93" idx="4"/>
            </p:cNvCxnSpPr>
            <p:nvPr/>
          </p:nvCxnSpPr>
          <p:spPr>
            <a:xfrm flipH="1" flipV="1">
              <a:off x="775278" y="4881478"/>
              <a:ext cx="2819573" cy="80620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>
              <a:endCxn id="94" idx="3"/>
            </p:cNvCxnSpPr>
            <p:nvPr/>
          </p:nvCxnSpPr>
          <p:spPr>
            <a:xfrm flipV="1">
              <a:off x="2346118" y="4856587"/>
              <a:ext cx="1920216" cy="7950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/>
            <p:cNvCxnSpPr>
              <a:endCxn id="93" idx="4"/>
            </p:cNvCxnSpPr>
            <p:nvPr/>
          </p:nvCxnSpPr>
          <p:spPr>
            <a:xfrm flipH="1" flipV="1">
              <a:off x="775278" y="4881478"/>
              <a:ext cx="1565332" cy="79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>
              <a:endCxn id="94" idx="3"/>
            </p:cNvCxnSpPr>
            <p:nvPr/>
          </p:nvCxnSpPr>
          <p:spPr>
            <a:xfrm flipV="1">
              <a:off x="1577134" y="4856587"/>
              <a:ext cx="2689200" cy="7950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/>
            <p:cNvCxnSpPr>
              <a:endCxn id="93" idx="4"/>
            </p:cNvCxnSpPr>
            <p:nvPr/>
          </p:nvCxnSpPr>
          <p:spPr>
            <a:xfrm flipH="1" flipV="1">
              <a:off x="775278" y="4881478"/>
              <a:ext cx="803632" cy="7589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>
              <a:stCxn id="94" idx="0"/>
            </p:cNvCxnSpPr>
            <p:nvPr/>
          </p:nvCxnSpPr>
          <p:spPr>
            <a:xfrm flipH="1" flipV="1">
              <a:off x="3222223" y="3701326"/>
              <a:ext cx="1215272" cy="7488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>
              <a:stCxn id="94" idx="0"/>
            </p:cNvCxnSpPr>
            <p:nvPr/>
          </p:nvCxnSpPr>
          <p:spPr>
            <a:xfrm flipH="1" flipV="1">
              <a:off x="2117281" y="3675932"/>
              <a:ext cx="2320214" cy="7742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>
              <a:endCxn id="18" idx="4"/>
            </p:cNvCxnSpPr>
            <p:nvPr/>
          </p:nvCxnSpPr>
          <p:spPr>
            <a:xfrm flipV="1">
              <a:off x="856319" y="3638656"/>
              <a:ext cx="2273452" cy="8115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單箭頭接點 123"/>
            <p:cNvCxnSpPr>
              <a:stCxn id="93" idx="0"/>
            </p:cNvCxnSpPr>
            <p:nvPr/>
          </p:nvCxnSpPr>
          <p:spPr>
            <a:xfrm flipV="1">
              <a:off x="775278" y="3679127"/>
              <a:ext cx="1189281" cy="7262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直線單箭頭接點 136"/>
          <p:cNvCxnSpPr/>
          <p:nvPr/>
        </p:nvCxnSpPr>
        <p:spPr>
          <a:xfrm flipV="1">
            <a:off x="7458537" y="3661384"/>
            <a:ext cx="2405" cy="776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 flipH="1" flipV="1">
            <a:off x="7460941" y="3661384"/>
            <a:ext cx="1123104" cy="794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38"/>
          <p:cNvCxnSpPr/>
          <p:nvPr/>
        </p:nvCxnSpPr>
        <p:spPr>
          <a:xfrm flipH="1" flipV="1">
            <a:off x="8574897" y="3647154"/>
            <a:ext cx="9149" cy="808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V="1">
            <a:off x="7458536" y="3647154"/>
            <a:ext cx="1116360" cy="790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字方塊 146"/>
          <p:cNvSpPr txBox="1"/>
          <p:nvPr/>
        </p:nvSpPr>
        <p:spPr>
          <a:xfrm>
            <a:off x="3650392" y="4096122"/>
            <a:ext cx="5209843" cy="64633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bg1"/>
                </a:solidFill>
              </a:rPr>
              <a:t>Which one is better?</a:t>
            </a:r>
            <a:endParaRPr lang="zh-TW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242060" y="1641207"/>
            <a:ext cx="2969919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The same number of parameters</a:t>
            </a:r>
            <a:endParaRPr lang="zh-TW" altLang="en-US" sz="2800" dirty="0"/>
          </a:p>
        </p:txBody>
      </p:sp>
      <p:sp>
        <p:nvSpPr>
          <p:cNvPr id="43" name="左-右雙向箭號 42"/>
          <p:cNvSpPr/>
          <p:nvPr/>
        </p:nvSpPr>
        <p:spPr>
          <a:xfrm rot="20486886">
            <a:off x="5350753" y="2839510"/>
            <a:ext cx="1533838" cy="672579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投影片編號版面配置區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7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  <p:bldP spid="3" grpId="0" animBg="1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Fat + Short </a:t>
            </a:r>
            <a:r>
              <a:rPr lang="en-US" altLang="zh-TW" dirty="0" err="1"/>
              <a:t>v.s</a:t>
            </a:r>
            <a:r>
              <a:rPr lang="en-US" altLang="zh-TW" dirty="0"/>
              <a:t>. Thin + Tall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353441" y="6051167"/>
            <a:ext cx="78351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Arial" panose="020B0604020202020204" pitchFamily="34" charset="0"/>
              </a:rPr>
              <a:t>Seide</a:t>
            </a:r>
            <a:r>
              <a:rPr lang="en-US" altLang="zh-TW" dirty="0">
                <a:latin typeface="Arial" panose="020B0604020202020204" pitchFamily="34" charset="0"/>
              </a:rPr>
              <a:t>, Frank, Gang Li, and Dong Yu. "Conversational Speech Transcription Using Context-Dependent Deep Neural Networks." </a:t>
            </a:r>
            <a:r>
              <a:rPr lang="en-US" altLang="zh-TW" i="1" dirty="0" err="1">
                <a:latin typeface="Arial" panose="020B0604020202020204" pitchFamily="34" charset="0"/>
              </a:rPr>
              <a:t>Interspeech</a:t>
            </a:r>
            <a:r>
              <a:rPr lang="en-US" altLang="zh-TW" dirty="0">
                <a:latin typeface="Arial" panose="020B0604020202020204" pitchFamily="34" charset="0"/>
              </a:rPr>
              <a:t>. 2011.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2451700" y="1901893"/>
          <a:ext cx="7288600" cy="402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2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2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17.8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3772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22.5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 4634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22.6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</a:t>
                      </a:r>
                      <a:r>
                        <a:rPr lang="en-US" altLang="zh-TW" sz="2400" baseline="0" dirty="0"/>
                        <a:t> 16k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左-右雙向箭號 2"/>
          <p:cNvSpPr/>
          <p:nvPr/>
        </p:nvSpPr>
        <p:spPr>
          <a:xfrm>
            <a:off x="5718628" y="4630057"/>
            <a:ext cx="696686" cy="290286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左-右雙向箭號 6"/>
          <p:cNvSpPr/>
          <p:nvPr/>
        </p:nvSpPr>
        <p:spPr>
          <a:xfrm>
            <a:off x="5718628" y="5055279"/>
            <a:ext cx="696686" cy="290286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096000" y="5457371"/>
            <a:ext cx="3644300" cy="46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451700" y="2708568"/>
            <a:ext cx="3644300" cy="46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451700" y="3169105"/>
            <a:ext cx="3644300" cy="46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216462" y="3335628"/>
            <a:ext cx="155834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Why?</a:t>
            </a:r>
            <a:endParaRPr lang="zh-TW" altLang="en-US" sz="28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04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5" grpId="0" animBg="1"/>
      <p:bldP spid="9" grpId="0" animBg="1"/>
      <p:bldP spid="9" grpId="1" animBg="1"/>
      <p:bldP spid="11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Compositionality</a:t>
            </a:r>
            <a:r>
              <a:rPr lang="en-US" altLang="zh-TW" dirty="0"/>
              <a:t> 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Assumption: the </a:t>
            </a:r>
            <a:r>
              <a:rPr lang="en-US" altLang="zh-TW" dirty="0"/>
              <a:t>data we are observing came up by composition of pieces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Distributed Representations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features are individually </a:t>
            </a:r>
            <a:r>
              <a:rPr lang="en-US" altLang="zh-TW" dirty="0" smtClean="0"/>
              <a:t>meaningful</a:t>
            </a:r>
            <a:endParaRPr lang="en-US" altLang="zh-TW" dirty="0"/>
          </a:p>
          <a:p>
            <a:pPr lvl="1"/>
            <a:r>
              <a:rPr lang="en-US" altLang="zh-TW" dirty="0" smtClean="0"/>
              <a:t>Most </a:t>
            </a:r>
            <a:r>
              <a:rPr lang="en-US" altLang="zh-TW" dirty="0"/>
              <a:t>features are learned independent of each </a:t>
            </a:r>
            <a:r>
              <a:rPr lang="en-US" altLang="zh-TW" dirty="0" smtClean="0"/>
              <a:t>other</a:t>
            </a:r>
          </a:p>
          <a:p>
            <a:pPr lvl="1"/>
            <a:r>
              <a:rPr lang="en-US" altLang="zh-TW" dirty="0" smtClean="0"/>
              <a:t>Can </a:t>
            </a:r>
            <a:r>
              <a:rPr lang="en-US" altLang="zh-TW" dirty="0"/>
              <a:t>learn a very complicated </a:t>
            </a:r>
            <a:r>
              <a:rPr lang="en-US" altLang="zh-TW" dirty="0" smtClean="0"/>
              <a:t>with </a:t>
            </a:r>
            <a:r>
              <a:rPr lang="en-US" altLang="zh-TW" dirty="0"/>
              <a:t>a low number of </a:t>
            </a:r>
            <a:r>
              <a:rPr lang="en-US" altLang="zh-TW" dirty="0" smtClean="0"/>
              <a:t>examples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86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Compositionality 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 descr="Deep program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928" y="2262038"/>
            <a:ext cx="4989240" cy="39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1765880" y="6380153"/>
            <a:ext cx="88582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http://rinuboney.github.io/2015/10/18/theoretical-motivations-deep-learning.html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207568" y="2337547"/>
            <a:ext cx="31513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Don’t put everything in your main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Reused subroutines 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198068" y="4295637"/>
            <a:ext cx="3160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Deep neural network is more cheaply, </a:t>
            </a:r>
            <a:r>
              <a:rPr lang="en-US" altLang="zh-TW" sz="2400" dirty="0" err="1"/>
              <a:t>ie</a:t>
            </a:r>
            <a:r>
              <a:rPr lang="en-US" altLang="zh-TW" sz="2400" dirty="0"/>
              <a:t>., with less number of hidden units.</a:t>
            </a:r>
            <a:endParaRPr lang="zh-TW" altLang="en-US" sz="24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82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Learning Representation – </a:t>
            </a:r>
            <a:r>
              <a:rPr lang="en-US" altLang="zh-TW" sz="3600" dirty="0" err="1"/>
              <a:t>Autoencoder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Output = input</a:t>
            </a:r>
          </a:p>
          <a:p>
            <a:r>
              <a:rPr lang="en-US" altLang="zh-TW" dirty="0" smtClean="0"/>
              <a:t>Learning by </a:t>
            </a:r>
            <a:r>
              <a:rPr lang="en-US" altLang="zh-TW" dirty="0" err="1"/>
              <a:t>backpropagation</a:t>
            </a:r>
            <a:r>
              <a:rPr lang="en-US" altLang="zh-TW" dirty="0"/>
              <a:t> </a:t>
            </a:r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3593" y="3017902"/>
            <a:ext cx="2723083" cy="3506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1984" y="3047304"/>
            <a:ext cx="4504879" cy="3334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47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4000" dirty="0"/>
              <a:t>Learning Representation – </a:t>
            </a:r>
            <a:r>
              <a:rPr lang="en-US" altLang="zh-TW" sz="4000" dirty="0" err="1"/>
              <a:t>Autoencoder</a:t>
            </a:r>
            <a:endParaRPr lang="en-US" altLang="zh-TW" sz="4000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hidden layer is where the network stores it’s internal abstract representation of the training data</a:t>
            </a:r>
            <a:endParaRPr lang="zh-TW" altLang="zh-TW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1624" y="2852936"/>
            <a:ext cx="5603522" cy="378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8472264" y="3789041"/>
            <a:ext cx="574196" cy="2783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TW" sz="2000" dirty="0"/>
              <a:t>100</a:t>
            </a:r>
          </a:p>
          <a:p>
            <a:pPr>
              <a:lnSpc>
                <a:spcPct val="110000"/>
              </a:lnSpc>
            </a:pPr>
            <a:r>
              <a:rPr lang="en-US" altLang="zh-TW" sz="2000" dirty="0"/>
              <a:t>001</a:t>
            </a:r>
          </a:p>
          <a:p>
            <a:pPr>
              <a:lnSpc>
                <a:spcPct val="110000"/>
              </a:lnSpc>
            </a:pPr>
            <a:r>
              <a:rPr lang="en-US" altLang="zh-TW" sz="2000" dirty="0"/>
              <a:t>010</a:t>
            </a:r>
          </a:p>
          <a:p>
            <a:pPr>
              <a:lnSpc>
                <a:spcPct val="110000"/>
              </a:lnSpc>
            </a:pPr>
            <a:r>
              <a:rPr lang="en-US" altLang="zh-TW" sz="2000" dirty="0"/>
              <a:t>111</a:t>
            </a:r>
          </a:p>
          <a:p>
            <a:pPr>
              <a:lnSpc>
                <a:spcPct val="110000"/>
              </a:lnSpc>
            </a:pPr>
            <a:r>
              <a:rPr lang="en-US" altLang="zh-TW" sz="2000" dirty="0"/>
              <a:t>000</a:t>
            </a:r>
          </a:p>
          <a:p>
            <a:pPr>
              <a:lnSpc>
                <a:spcPct val="110000"/>
              </a:lnSpc>
            </a:pPr>
            <a:r>
              <a:rPr lang="en-US" altLang="zh-TW" sz="2000" dirty="0"/>
              <a:t>011</a:t>
            </a:r>
          </a:p>
          <a:p>
            <a:pPr>
              <a:lnSpc>
                <a:spcPct val="110000"/>
              </a:lnSpc>
            </a:pPr>
            <a:r>
              <a:rPr lang="en-US" altLang="zh-TW" sz="2000" dirty="0"/>
              <a:t>101</a:t>
            </a:r>
          </a:p>
          <a:p>
            <a:pPr>
              <a:lnSpc>
                <a:spcPct val="110000"/>
              </a:lnSpc>
            </a:pPr>
            <a:r>
              <a:rPr lang="en-US" altLang="zh-TW" sz="2000" dirty="0"/>
              <a:t>110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07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Deep Network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9251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Multi layers</a:t>
            </a:r>
          </a:p>
          <a:p>
            <a:r>
              <a:rPr lang="en-US" altLang="zh-TW" dirty="0" smtClean="0"/>
              <a:t>The problem with large networks trained by </a:t>
            </a:r>
            <a:r>
              <a:rPr lang="en-US" altLang="zh-TW" dirty="0" err="1" smtClean="0"/>
              <a:t>backpropagation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Vanishing gradients</a:t>
            </a:r>
          </a:p>
          <a:p>
            <a:pPr lvl="2"/>
            <a:r>
              <a:rPr lang="en-US" altLang="zh-TW" dirty="0" smtClean="0"/>
              <a:t>As errors propagate from layer to layer, they shrink exponentially with the number of layers.</a:t>
            </a:r>
          </a:p>
          <a:p>
            <a:pPr lvl="3"/>
            <a:r>
              <a:rPr lang="en-US" altLang="zh-TW" dirty="0" smtClean="0"/>
              <a:t>As information is passed back, the gradients begin to vanish and become small relative to the weights of the networks.</a:t>
            </a:r>
          </a:p>
          <a:p>
            <a:pPr lvl="1"/>
            <a:r>
              <a:rPr lang="en-US" altLang="zh-TW" dirty="0" err="1" smtClean="0"/>
              <a:t>Overfitting</a:t>
            </a:r>
            <a:endParaRPr lang="en-US" altLang="zh-TW" dirty="0" smtClean="0"/>
          </a:p>
          <a:p>
            <a:pPr lvl="2"/>
            <a:r>
              <a:rPr lang="en-US" altLang="zh-TW" dirty="0"/>
              <a:t>fitting the training data </a:t>
            </a:r>
            <a:r>
              <a:rPr lang="en-US" altLang="zh-TW" i="1" dirty="0"/>
              <a:t>too</a:t>
            </a:r>
            <a:r>
              <a:rPr lang="en-US" altLang="zh-TW" dirty="0"/>
              <a:t> closely, maybe with hypotheses that are </a:t>
            </a:r>
            <a:r>
              <a:rPr lang="en-US" altLang="zh-TW" i="1" dirty="0"/>
              <a:t>too</a:t>
            </a:r>
            <a:r>
              <a:rPr lang="en-US" altLang="zh-TW" dirty="0"/>
              <a:t> </a:t>
            </a:r>
            <a:r>
              <a:rPr lang="en-US" altLang="zh-TW" dirty="0" smtClean="0"/>
              <a:t>complex. Will perform much more poorly on real examples.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212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Deep Network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Layer-by-layer</a:t>
            </a:r>
            <a:r>
              <a:rPr lang="en-US" altLang="zh-TW" dirty="0"/>
              <a:t> </a:t>
            </a:r>
            <a:r>
              <a:rPr lang="en-US" altLang="zh-TW" dirty="0" smtClean="0"/>
              <a:t>training</a:t>
            </a:r>
          </a:p>
          <a:p>
            <a:pPr lvl="1"/>
            <a:r>
              <a:rPr lang="en-US" altLang="zh-TW" dirty="0" smtClean="0"/>
              <a:t>Deep networks </a:t>
            </a:r>
            <a:r>
              <a:rPr lang="en-US" altLang="zh-TW" dirty="0"/>
              <a:t>can be trained greedily, one layer at a </a:t>
            </a:r>
            <a:r>
              <a:rPr lang="en-US" altLang="zh-TW" dirty="0" smtClean="0"/>
              <a:t>time, </a:t>
            </a:r>
            <a:r>
              <a:rPr lang="en-US" altLang="zh-TW" dirty="0"/>
              <a:t>to help to overcome the </a:t>
            </a:r>
            <a:r>
              <a:rPr lang="en-US" altLang="zh-TW" i="1" dirty="0"/>
              <a:t>vanishing gradient</a:t>
            </a:r>
            <a:r>
              <a:rPr lang="en-US" altLang="zh-TW" dirty="0"/>
              <a:t> and </a:t>
            </a:r>
            <a:r>
              <a:rPr lang="en-US" altLang="zh-TW" i="1" dirty="0" err="1"/>
              <a:t>overfitting</a:t>
            </a:r>
            <a:r>
              <a:rPr lang="en-US" altLang="zh-TW" dirty="0"/>
              <a:t> problems associated with </a:t>
            </a:r>
            <a:r>
              <a:rPr lang="en-US" altLang="zh-TW" dirty="0" smtClean="0"/>
              <a:t>classic </a:t>
            </a:r>
            <a:r>
              <a:rPr lang="en-US" altLang="zh-TW" dirty="0" err="1"/>
              <a:t>backpropagation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Pre-training</a:t>
            </a:r>
          </a:p>
          <a:p>
            <a:r>
              <a:rPr lang="en-US" altLang="zh-TW" dirty="0" smtClean="0"/>
              <a:t>Can </a:t>
            </a:r>
            <a:r>
              <a:rPr lang="en-US" altLang="zh-TW" dirty="0"/>
              <a:t>then </a:t>
            </a:r>
            <a:r>
              <a:rPr lang="en-US" altLang="zh-TW" dirty="0" smtClean="0"/>
              <a:t>apply fine-tuning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44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Stacked </a:t>
            </a:r>
            <a:r>
              <a:rPr lang="en-US" altLang="zh-TW" dirty="0" err="1" smtClean="0"/>
              <a:t>Autoencoder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network consists of multiple stacked </a:t>
            </a:r>
            <a:r>
              <a:rPr lang="en-US" altLang="zh-TW" dirty="0" err="1" smtClean="0"/>
              <a:t>autoencoders</a:t>
            </a:r>
            <a:endParaRPr lang="en-US" altLang="zh-TW" dirty="0" smtClean="0"/>
          </a:p>
          <a:p>
            <a:pPr lvl="1"/>
            <a:r>
              <a:rPr lang="en-US" altLang="zh-TW" dirty="0"/>
              <a:t>The hidden layer of </a:t>
            </a:r>
            <a:r>
              <a:rPr lang="en-US" altLang="zh-TW" dirty="0" err="1"/>
              <a:t>autoencoder</a:t>
            </a:r>
            <a:r>
              <a:rPr lang="en-US" altLang="zh-TW" dirty="0"/>
              <a:t> </a:t>
            </a:r>
            <a:r>
              <a:rPr lang="en-US" altLang="zh-TW" i="1" dirty="0"/>
              <a:t>t</a:t>
            </a:r>
            <a:r>
              <a:rPr lang="en-US" altLang="zh-TW" dirty="0"/>
              <a:t> acts as an input layer to </a:t>
            </a:r>
            <a:r>
              <a:rPr lang="en-US" altLang="zh-TW" dirty="0" err="1"/>
              <a:t>autoencoder</a:t>
            </a:r>
            <a:r>
              <a:rPr lang="en-US" altLang="zh-TW" dirty="0"/>
              <a:t> </a:t>
            </a:r>
            <a:r>
              <a:rPr lang="en-US" altLang="zh-TW" i="1" dirty="0"/>
              <a:t>t + 1</a:t>
            </a:r>
            <a:r>
              <a:rPr lang="en-US" altLang="zh-TW" dirty="0"/>
              <a:t>.</a:t>
            </a:r>
            <a:endParaRPr lang="zh-TW" altLang="en-US" dirty="0"/>
          </a:p>
        </p:txBody>
      </p:sp>
      <p:pic>
        <p:nvPicPr>
          <p:cNvPr id="24578" name="Picture 2" descr="Stacked Autoencoders have a series of inputs, outputs, and hidden layers that contribute to machine learning outcome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7848" y="3601572"/>
            <a:ext cx="3744416" cy="3019690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29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Training Stacked </a:t>
            </a:r>
            <a:r>
              <a:rPr lang="en-US" altLang="zh-TW" dirty="0" err="1" smtClean="0"/>
              <a:t>Autoencoder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85313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Greedy </a:t>
            </a:r>
            <a:r>
              <a:rPr lang="en-US" altLang="zh-TW" dirty="0"/>
              <a:t>layer-wise </a:t>
            </a:r>
            <a:r>
              <a:rPr lang="en-US" altLang="zh-TW" dirty="0" smtClean="0"/>
              <a:t>training</a:t>
            </a:r>
          </a:p>
          <a:p>
            <a:pPr lvl="1"/>
            <a:r>
              <a:rPr lang="en-US" altLang="zh-TW" dirty="0"/>
              <a:t>Train the first </a:t>
            </a:r>
            <a:r>
              <a:rPr lang="en-US" altLang="zh-TW" dirty="0" err="1" smtClean="0"/>
              <a:t>autoencoder</a:t>
            </a:r>
            <a:r>
              <a:rPr lang="en-US" altLang="zh-TW" dirty="0" smtClean="0"/>
              <a:t> individually </a:t>
            </a:r>
            <a:r>
              <a:rPr lang="en-US" altLang="zh-TW" dirty="0"/>
              <a:t>using the </a:t>
            </a:r>
            <a:r>
              <a:rPr lang="en-US" altLang="zh-TW" dirty="0" err="1"/>
              <a:t>backpropagation</a:t>
            </a:r>
            <a:r>
              <a:rPr lang="en-US" altLang="zh-TW" dirty="0"/>
              <a:t> method with all available training data</a:t>
            </a:r>
            <a:r>
              <a:rPr lang="en-US" altLang="zh-TW" dirty="0" smtClean="0"/>
              <a:t>.</a:t>
            </a:r>
          </a:p>
        </p:txBody>
      </p:sp>
      <p:pic>
        <p:nvPicPr>
          <p:cNvPr id="29698" name="Picture 2" descr="File:Stacked SparseAE Features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3912" y="3212976"/>
            <a:ext cx="2592288" cy="3545162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94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2067" y="863776"/>
            <a:ext cx="10270066" cy="4525963"/>
          </a:xfrm>
        </p:spPr>
        <p:txBody>
          <a:bodyPr/>
          <a:lstStyle/>
          <a:p>
            <a:pPr lvl="1"/>
            <a:r>
              <a:rPr lang="en-US" altLang="zh-TW" dirty="0" smtClean="0"/>
              <a:t>Train the second </a:t>
            </a:r>
            <a:r>
              <a:rPr lang="en-US" altLang="zh-TW" dirty="0" err="1" smtClean="0"/>
              <a:t>autoencoder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Clamping an input sample to the first </a:t>
            </a:r>
            <a:r>
              <a:rPr lang="en-US" altLang="zh-TW" dirty="0" err="1" smtClean="0"/>
              <a:t>autoencoder</a:t>
            </a:r>
            <a:r>
              <a:rPr lang="en-US" altLang="zh-TW" dirty="0" smtClean="0"/>
              <a:t>, and propagated forward to the second layer. Next, the weights of  second layer are updated using </a:t>
            </a:r>
            <a:r>
              <a:rPr lang="en-US" altLang="zh-TW" dirty="0" err="1" smtClean="0"/>
              <a:t>backpropagation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Uses all the training samples</a:t>
            </a:r>
          </a:p>
          <a:p>
            <a:pPr lvl="1"/>
            <a:r>
              <a:rPr lang="en-US" altLang="zh-TW" dirty="0" smtClean="0"/>
              <a:t>Repeat the previous procedure for all the layers</a:t>
            </a:r>
            <a:endParaRPr lang="zh-TW" altLang="en-US" dirty="0" smtClean="0"/>
          </a:p>
          <a:p>
            <a:endParaRPr lang="zh-TW" altLang="en-US" dirty="0"/>
          </a:p>
        </p:txBody>
      </p:sp>
      <p:pic>
        <p:nvPicPr>
          <p:cNvPr id="30722" name="Picture 2" descr="File:Stacked SparseAE Features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7648" y="3212976"/>
            <a:ext cx="2736304" cy="3450624"/>
          </a:xfrm>
          <a:prstGeom prst="rect">
            <a:avLst/>
          </a:prstGeom>
          <a:noFill/>
        </p:spPr>
      </p:pic>
      <p:pic>
        <p:nvPicPr>
          <p:cNvPr id="30724" name="Picture 4" descr="Stacked Softmax Classifi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81883" y="3573017"/>
            <a:ext cx="3152109" cy="2773857"/>
          </a:xfrm>
          <a:prstGeom prst="rect">
            <a:avLst/>
          </a:prstGeom>
          <a:noFill/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65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Training Stacked </a:t>
            </a:r>
            <a:r>
              <a:rPr lang="en-US" altLang="zh-TW" dirty="0" err="1" smtClean="0"/>
              <a:t>Autoencoder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Fine-tuning</a:t>
            </a:r>
          </a:p>
          <a:p>
            <a:pPr lvl="1"/>
            <a:r>
              <a:rPr lang="en-US" altLang="zh-TW" dirty="0" smtClean="0"/>
              <a:t>Add </a:t>
            </a:r>
            <a:r>
              <a:rPr lang="en-US" altLang="zh-TW" dirty="0"/>
              <a:t>one or more fully connected layer(s) to the last </a:t>
            </a:r>
            <a:r>
              <a:rPr lang="en-US" altLang="zh-TW" dirty="0" smtClean="0"/>
              <a:t>layer. 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whole network can now be viewed as a multilayer </a:t>
            </a:r>
            <a:r>
              <a:rPr lang="en-US" altLang="zh-TW" dirty="0" err="1"/>
              <a:t>perceptron</a:t>
            </a:r>
            <a:r>
              <a:rPr lang="en-US" altLang="zh-TW" dirty="0"/>
              <a:t> and is trained using </a:t>
            </a:r>
            <a:r>
              <a:rPr lang="en-US" altLang="zh-TW" dirty="0" err="1" smtClean="0"/>
              <a:t>backpropagation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Or, the output of stacked </a:t>
            </a:r>
            <a:r>
              <a:rPr lang="en-US" altLang="zh-TW" dirty="0" err="1" smtClean="0"/>
              <a:t>autoencoder</a:t>
            </a:r>
            <a:r>
              <a:rPr lang="en-US" altLang="zh-TW" dirty="0" smtClean="0"/>
              <a:t> might </a:t>
            </a:r>
            <a:r>
              <a:rPr lang="en-US" altLang="zh-TW" dirty="0"/>
              <a:t>be used as the input to a supervised learning 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93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</a:t>
            </a:r>
            <a:r>
              <a:rPr lang="en-US" altLang="zh-TW" dirty="0" smtClean="0"/>
              <a:t>estricted Boltzmann Machine (RBM)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00200"/>
            <a:ext cx="6625952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 </a:t>
            </a:r>
            <a:r>
              <a:rPr lang="en-US" altLang="zh-TW" i="1" dirty="0" smtClean="0"/>
              <a:t>generative stochastic neural network that can learn a probability distribution over its set of inputs</a:t>
            </a:r>
            <a:endParaRPr lang="zh-TW" altLang="en-US" dirty="0" smtClean="0"/>
          </a:p>
          <a:p>
            <a:r>
              <a:rPr lang="en-US" altLang="zh-TW" dirty="0" smtClean="0"/>
              <a:t>Two levels</a:t>
            </a:r>
          </a:p>
          <a:p>
            <a:pPr lvl="1"/>
            <a:r>
              <a:rPr lang="en-US" altLang="zh-TW" dirty="0" smtClean="0"/>
              <a:t>"visible</a:t>
            </a:r>
            <a:r>
              <a:rPr lang="en-US" altLang="zh-TW" dirty="0"/>
              <a:t>" and "hidden"</a:t>
            </a:r>
            <a:endParaRPr lang="en-US" altLang="zh-TW" dirty="0" smtClean="0"/>
          </a:p>
          <a:p>
            <a:r>
              <a:rPr lang="en-US" altLang="zh-TW" dirty="0" smtClean="0"/>
              <a:t>There </a:t>
            </a:r>
            <a:r>
              <a:rPr lang="en-US" altLang="zh-TW" dirty="0"/>
              <a:t>are no hidden-hidden or visible-visible connections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Connections are undirected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standard RBM has binary hidden and visible units: that is, the unit activation is 0 or 1</a:t>
            </a:r>
            <a:endParaRPr lang="en-US" altLang="zh-TW" dirty="0" smtClean="0"/>
          </a:p>
        </p:txBody>
      </p:sp>
      <p:pic>
        <p:nvPicPr>
          <p:cNvPr id="1026" name="Picture 2" descr="http://upload.wikimedia.org/wikipedia/commons/thumb/e/e8/Restricted_Boltzmann_machine.svg/310px-Restricted_Boltzmann_machine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2144" y="2060848"/>
            <a:ext cx="2952750" cy="3143250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62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Training RBM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Contrastive divergence (CD)</a:t>
            </a:r>
          </a:p>
          <a:p>
            <a:r>
              <a:rPr lang="en-US" altLang="zh-TW" dirty="0" smtClean="0"/>
              <a:t>Positive phase</a:t>
            </a:r>
          </a:p>
          <a:p>
            <a:pPr lvl="1"/>
            <a:r>
              <a:rPr lang="en-US" altLang="zh-TW" dirty="0"/>
              <a:t>An input sample </a:t>
            </a:r>
            <a:r>
              <a:rPr lang="en-US" altLang="zh-TW" i="1" dirty="0"/>
              <a:t>v</a:t>
            </a:r>
            <a:r>
              <a:rPr lang="en-US" altLang="zh-TW" dirty="0"/>
              <a:t> is clamped to the input </a:t>
            </a:r>
            <a:r>
              <a:rPr lang="en-US" altLang="zh-TW" dirty="0" smtClean="0"/>
              <a:t>layer</a:t>
            </a:r>
          </a:p>
          <a:p>
            <a:pPr lvl="1"/>
            <a:r>
              <a:rPr lang="en-US" altLang="zh-TW" i="1" dirty="0"/>
              <a:t>v</a:t>
            </a:r>
            <a:r>
              <a:rPr lang="en-US" altLang="zh-TW" dirty="0"/>
              <a:t> is propagated to the hidden layer in a similar manner to the </a:t>
            </a:r>
            <a:r>
              <a:rPr lang="en-US" altLang="zh-TW" dirty="0" err="1"/>
              <a:t>feedforward</a:t>
            </a:r>
            <a:r>
              <a:rPr lang="en-US" altLang="zh-TW" dirty="0"/>
              <a:t> networks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Compute </a:t>
            </a:r>
            <a:r>
              <a:rPr lang="en-US" altLang="zh-TW" dirty="0"/>
              <a:t>the probabilities of the hidden units and sample a hidden </a:t>
            </a:r>
            <a:r>
              <a:rPr lang="en-US" altLang="zh-TW" b="1" dirty="0"/>
              <a:t>activation vector </a:t>
            </a:r>
            <a:r>
              <a:rPr lang="en-US" altLang="zh-TW" b="1" i="1" dirty="0"/>
              <a:t>h</a:t>
            </a:r>
            <a:r>
              <a:rPr lang="en-US" altLang="zh-TW" dirty="0"/>
              <a:t> from this probability distribution</a:t>
            </a:r>
            <a:r>
              <a:rPr lang="en-US" altLang="zh-TW" dirty="0" smtClean="0"/>
              <a:t>.</a:t>
            </a:r>
          </a:p>
          <a:p>
            <a:pPr lvl="2"/>
            <a:endParaRPr lang="en-US" altLang="zh-TW" dirty="0"/>
          </a:p>
          <a:p>
            <a:pPr lvl="3"/>
            <a:endParaRPr lang="en-US" altLang="zh-TW" dirty="0" smtClean="0"/>
          </a:p>
          <a:p>
            <a:pPr lvl="3"/>
            <a:r>
              <a:rPr lang="el-GR" altLang="zh-TW" dirty="0" smtClean="0"/>
              <a:t>σ </a:t>
            </a:r>
            <a:r>
              <a:rPr lang="en-US" altLang="zh-TW" dirty="0" smtClean="0"/>
              <a:t>is sigmoid </a:t>
            </a:r>
            <a:r>
              <a:rPr lang="en-US" altLang="zh-TW" dirty="0"/>
              <a:t>function and </a:t>
            </a:r>
            <a:r>
              <a:rPr lang="en-US" altLang="zh-TW" i="1" dirty="0" err="1" smtClean="0"/>
              <a:t>b</a:t>
            </a:r>
            <a:r>
              <a:rPr lang="en-US" altLang="zh-TW" i="1" baseline="-25000" dirty="0" err="1" smtClean="0"/>
              <a:t>j</a:t>
            </a:r>
            <a:r>
              <a:rPr lang="en-US" altLang="zh-TW" dirty="0"/>
              <a:t> is the bias of </a:t>
            </a:r>
            <a:r>
              <a:rPr lang="en-US" altLang="zh-TW" i="1" dirty="0" err="1" smtClean="0"/>
              <a:t>h</a:t>
            </a:r>
            <a:r>
              <a:rPr lang="en-US" altLang="zh-TW" i="1" baseline="-25000" dirty="0" err="1" smtClean="0"/>
              <a:t>j</a:t>
            </a:r>
            <a:endParaRPr lang="zh-TW" altLang="en-US" i="1" baseline="-25000" dirty="0"/>
          </a:p>
        </p:txBody>
      </p:sp>
      <p:pic>
        <p:nvPicPr>
          <p:cNvPr id="22530" name="Picture 2" descr="p(h_j = 1 \mid \textbf{V}) = \sigma(b_j + \sum_i v_iw_{ij}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47729" y="5589241"/>
            <a:ext cx="4032449" cy="544529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12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Training RBM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5069160"/>
          </a:xfrm>
        </p:spPr>
        <p:txBody>
          <a:bodyPr/>
          <a:lstStyle/>
          <a:p>
            <a:r>
              <a:rPr lang="en-US" altLang="zh-TW" dirty="0" smtClean="0"/>
              <a:t>Negative phase</a:t>
            </a:r>
          </a:p>
          <a:p>
            <a:pPr lvl="1"/>
            <a:r>
              <a:rPr lang="en-US" altLang="zh-TW" dirty="0"/>
              <a:t>Propagate </a:t>
            </a:r>
            <a:r>
              <a:rPr lang="en-US" altLang="zh-TW" i="1" dirty="0"/>
              <a:t>h</a:t>
            </a:r>
            <a:r>
              <a:rPr lang="en-US" altLang="zh-TW" dirty="0"/>
              <a:t> back to the visible </a:t>
            </a:r>
            <a:r>
              <a:rPr lang="en-US" altLang="zh-TW" dirty="0" smtClean="0"/>
              <a:t>layer, </a:t>
            </a:r>
          </a:p>
          <a:p>
            <a:pPr lvl="2"/>
            <a:r>
              <a:rPr lang="en-US" altLang="zh-TW" dirty="0" smtClean="0"/>
              <a:t>Compute the probabilities of the hidden units , and sample </a:t>
            </a:r>
            <a:r>
              <a:rPr lang="en-US" altLang="zh-TW" dirty="0"/>
              <a:t>a reconstruction </a:t>
            </a:r>
            <a:r>
              <a:rPr lang="en-US" altLang="zh-TW" i="1" dirty="0"/>
              <a:t>v'</a:t>
            </a:r>
            <a:r>
              <a:rPr lang="en-US" altLang="zh-TW" dirty="0"/>
              <a:t> of the visible units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Then </a:t>
            </a:r>
            <a:r>
              <a:rPr lang="en-US" altLang="zh-TW" dirty="0"/>
              <a:t>Propagate the new </a:t>
            </a:r>
            <a:r>
              <a:rPr lang="en-US" altLang="zh-TW" i="1" dirty="0"/>
              <a:t>v’</a:t>
            </a:r>
            <a:r>
              <a:rPr lang="en-US" altLang="zh-TW" dirty="0"/>
              <a:t> back to the hidden layer </a:t>
            </a:r>
            <a:r>
              <a:rPr lang="en-US" altLang="zh-TW" dirty="0" smtClean="0"/>
              <a:t>, resample </a:t>
            </a:r>
            <a:r>
              <a:rPr lang="en-US" altLang="zh-TW" dirty="0"/>
              <a:t>the hidden activations </a:t>
            </a:r>
            <a:r>
              <a:rPr lang="en-US" altLang="zh-TW" i="1" dirty="0"/>
              <a:t>h'</a:t>
            </a:r>
            <a:r>
              <a:rPr lang="en-US" altLang="zh-TW" dirty="0"/>
              <a:t> from </a:t>
            </a:r>
            <a:r>
              <a:rPr lang="en-US" altLang="zh-TW" i="1" dirty="0" smtClean="0"/>
              <a:t>v’</a:t>
            </a:r>
          </a:p>
          <a:p>
            <a:r>
              <a:rPr lang="en-US" altLang="zh-TW" dirty="0" smtClean="0"/>
              <a:t>Weight update</a:t>
            </a:r>
          </a:p>
          <a:p>
            <a:endParaRPr lang="en-US" altLang="zh-TW" dirty="0"/>
          </a:p>
          <a:p>
            <a:pPr lvl="3"/>
            <a:r>
              <a:rPr lang="en-US" altLang="zh-TW" i="1" dirty="0"/>
              <a:t>a</a:t>
            </a:r>
            <a:r>
              <a:rPr lang="en-US" altLang="zh-TW" dirty="0"/>
              <a:t> is the learning </a:t>
            </a:r>
            <a:r>
              <a:rPr lang="en-US" altLang="zh-TW" dirty="0" smtClean="0"/>
              <a:t>rate</a:t>
            </a:r>
            <a:endParaRPr lang="zh-TW" altLang="en-US" dirty="0"/>
          </a:p>
        </p:txBody>
      </p:sp>
      <p:pic>
        <p:nvPicPr>
          <p:cNvPr id="23554" name="Picture 2" descr="p(v_i = 1 \mid \textbf{H}) = \sigma(a_i + \sum_j h_jw_{ij}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9759" y="3030276"/>
            <a:ext cx="3609482" cy="525017"/>
          </a:xfrm>
          <a:prstGeom prst="rect">
            <a:avLst/>
          </a:prstGeom>
          <a:noFill/>
        </p:spPr>
      </p:pic>
      <p:pic>
        <p:nvPicPr>
          <p:cNvPr id="23556" name="Picture 4" descr="http://www.toptal.com/uploads/blog/image/350/toptal-blog-image-1395939562020.58.50_P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5720" y="5589240"/>
            <a:ext cx="4672212" cy="504056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94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Deep Belief Networks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Stack restricted Boltzmann machines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hidden layer of RBM </a:t>
            </a:r>
            <a:r>
              <a:rPr lang="en-US" altLang="zh-TW" i="1" dirty="0"/>
              <a:t>t</a:t>
            </a:r>
            <a:r>
              <a:rPr lang="en-US" altLang="zh-TW" dirty="0"/>
              <a:t> acts as a visible layer for RBM </a:t>
            </a:r>
            <a:r>
              <a:rPr lang="en-US" altLang="zh-TW" i="1" dirty="0"/>
              <a:t>t+1</a:t>
            </a:r>
            <a:r>
              <a:rPr lang="en-US" altLang="zh-TW" dirty="0"/>
              <a:t>.</a:t>
            </a:r>
            <a:endParaRPr lang="zh-TW" altLang="en-US" dirty="0"/>
          </a:p>
        </p:txBody>
      </p:sp>
      <p:pic>
        <p:nvPicPr>
          <p:cNvPr id="27650" name="Picture 2" descr="Deep belief networks are comprised of a stack of Boltzmann machine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5840" y="3140969"/>
            <a:ext cx="4465340" cy="3601081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4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Training Deep Belief Networks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5069160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Train the first RBM </a:t>
            </a:r>
            <a:r>
              <a:rPr lang="en-US" altLang="zh-TW" i="1" dirty="0"/>
              <a:t>t=1</a:t>
            </a:r>
            <a:r>
              <a:rPr lang="en-US" altLang="zh-TW" dirty="0"/>
              <a:t> using contrastive divergence with all the training samples.</a:t>
            </a:r>
          </a:p>
          <a:p>
            <a:pPr fontAlgn="base"/>
            <a:r>
              <a:rPr lang="en-US" altLang="zh-TW" dirty="0"/>
              <a:t>Train the second RBM </a:t>
            </a:r>
            <a:r>
              <a:rPr lang="en-US" altLang="zh-TW" i="1" dirty="0"/>
              <a:t>t=2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 fontAlgn="base"/>
            <a:r>
              <a:rPr lang="en-US" altLang="zh-TW" dirty="0" smtClean="0"/>
              <a:t>Clamping </a:t>
            </a:r>
            <a:r>
              <a:rPr lang="en-US" altLang="zh-TW" dirty="0"/>
              <a:t>the input sample to the visible layer of </a:t>
            </a:r>
            <a:r>
              <a:rPr lang="en-US" altLang="zh-TW" i="1" dirty="0"/>
              <a:t>t=1</a:t>
            </a:r>
            <a:r>
              <a:rPr lang="en-US" altLang="zh-TW" dirty="0"/>
              <a:t>, which is propagated forward to the hidden layer </a:t>
            </a:r>
            <a:r>
              <a:rPr lang="en-US" altLang="zh-TW" dirty="0" smtClean="0"/>
              <a:t>of </a:t>
            </a:r>
            <a:r>
              <a:rPr lang="en-US" altLang="zh-TW" i="1" dirty="0" smtClean="0"/>
              <a:t>t=1</a:t>
            </a:r>
            <a:r>
              <a:rPr lang="en-US" altLang="zh-TW" dirty="0"/>
              <a:t>. This data then serves to initiate contrastive divergence training for </a:t>
            </a:r>
            <a:r>
              <a:rPr lang="en-US" altLang="zh-TW" i="1" dirty="0"/>
              <a:t>t=2</a:t>
            </a:r>
            <a:r>
              <a:rPr lang="en-US" altLang="zh-TW" dirty="0"/>
              <a:t>.</a:t>
            </a:r>
          </a:p>
          <a:p>
            <a:pPr fontAlgn="base"/>
            <a:r>
              <a:rPr lang="en-US" altLang="zh-TW" dirty="0"/>
              <a:t>Repeat the previous procedure for all the layers.</a:t>
            </a:r>
          </a:p>
          <a:p>
            <a:pPr fontAlgn="base"/>
            <a:r>
              <a:rPr lang="en-US" altLang="zh-TW" dirty="0"/>
              <a:t>Similar to the stacked </a:t>
            </a:r>
            <a:r>
              <a:rPr lang="en-US" altLang="zh-TW" dirty="0" err="1"/>
              <a:t>autoencoders</a:t>
            </a:r>
            <a:r>
              <a:rPr lang="en-US" altLang="zh-TW" dirty="0"/>
              <a:t>, after pre-training the network can be extended by connecting one or more fully connected layers to the final RBM hidden layer. This forms a multi-layer </a:t>
            </a:r>
            <a:r>
              <a:rPr lang="en-US" altLang="zh-TW" dirty="0" err="1"/>
              <a:t>perceptron</a:t>
            </a:r>
            <a:r>
              <a:rPr lang="en-US" altLang="zh-TW" dirty="0"/>
              <a:t> which can then be </a:t>
            </a:r>
            <a:r>
              <a:rPr lang="en-US" altLang="zh-TW" i="1" dirty="0"/>
              <a:t>fine tuned</a:t>
            </a:r>
            <a:r>
              <a:rPr lang="en-US" altLang="zh-TW" dirty="0"/>
              <a:t> using </a:t>
            </a:r>
            <a:r>
              <a:rPr lang="en-US" altLang="zh-TW" dirty="0" err="1"/>
              <a:t>backpropagation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B708-1102-4592-B30C-FBC6D99FC1C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37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13026</TotalTime>
  <Words>736</Words>
  <Application>Microsoft Office PowerPoint</Application>
  <PresentationFormat>寬螢幕</PresentationFormat>
  <Paragraphs>206</Paragraphs>
  <Slides>23</Slides>
  <Notes>5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新細明體</vt:lpstr>
      <vt:lpstr>Arial</vt:lpstr>
      <vt:lpstr>Calibri</vt:lpstr>
      <vt:lpstr>Calibri Light</vt:lpstr>
      <vt:lpstr>Office 佈景主題</vt:lpstr>
      <vt:lpstr>方程式</vt:lpstr>
      <vt:lpstr>Deep Learning</vt:lpstr>
      <vt:lpstr>Introduction</vt:lpstr>
      <vt:lpstr>Deep Learning</vt:lpstr>
      <vt:lpstr>What is Deep?</vt:lpstr>
      <vt:lpstr>Deeper is Better?</vt:lpstr>
      <vt:lpstr>Universality Theorem</vt:lpstr>
      <vt:lpstr>Fat + Short v.s. Thin + Tall</vt:lpstr>
      <vt:lpstr>Fat + Short v.s. Thin + Tall</vt:lpstr>
      <vt:lpstr>Compositionality </vt:lpstr>
      <vt:lpstr>Compositionality </vt:lpstr>
      <vt:lpstr>Learning Representation – Autoencoder</vt:lpstr>
      <vt:lpstr>Learning Representation – Autoencoder</vt:lpstr>
      <vt:lpstr>Deep Network</vt:lpstr>
      <vt:lpstr>Deep Network</vt:lpstr>
      <vt:lpstr>Stacked Autoencoder</vt:lpstr>
      <vt:lpstr>Training Stacked Autoencoder</vt:lpstr>
      <vt:lpstr>PowerPoint 簡報</vt:lpstr>
      <vt:lpstr>Training Stacked Autoencoder</vt:lpstr>
      <vt:lpstr>Restricted Boltzmann Machine (RBM)</vt:lpstr>
      <vt:lpstr>Training RBM</vt:lpstr>
      <vt:lpstr>Training RBM</vt:lpstr>
      <vt:lpstr>Deep Belief Networks</vt:lpstr>
      <vt:lpstr>Training Deep Belief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denislin</dc:creator>
  <cp:lastModifiedBy>denislin</cp:lastModifiedBy>
  <cp:revision>4</cp:revision>
  <dcterms:created xsi:type="dcterms:W3CDTF">2019-08-18T07:25:58Z</dcterms:created>
  <dcterms:modified xsi:type="dcterms:W3CDTF">2021-11-09T06:20:58Z</dcterms:modified>
</cp:coreProperties>
</file>