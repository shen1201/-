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9" r:id="rId20"/>
    <p:sldId id="273" r:id="rId21"/>
    <p:sldId id="274" r:id="rId22"/>
    <p:sldId id="275" r:id="rId23"/>
    <p:sldId id="276" r:id="rId24"/>
    <p:sldId id="277" r:id="rId25"/>
    <p:sldId id="298" r:id="rId26"/>
    <p:sldId id="299" r:id="rId27"/>
    <p:sldId id="280" r:id="rId28"/>
    <p:sldId id="300" r:id="rId29"/>
    <p:sldId id="282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17D73-4CA3-4D75-8CE1-7E67EF3AC326}" type="datetimeFigureOut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C5B1D-F203-41B6-8952-EC751DE49A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698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6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2B21-DA9C-4E61-A6FF-3A7518BBB852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58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666F-EAAD-4E37-A68F-461526F9E536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01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999B5-9B2A-43DB-9A0E-32E98D504031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71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4D2C-23AA-4077-B5E1-7881DE51C157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14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D7CF-E379-472F-8728-80FF64764F55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7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AAAB-D8B7-44C3-B9F0-1AEF842EA650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11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C4B76-A31D-430A-BEE1-237D37629E4F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37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35E3-D244-40E9-B00F-9E9080552E39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38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A28D-F327-4219-A69E-1B4B9F9D11C3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28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E33B-5629-4CA9-9FBF-BD2F65395D78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8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5BEE-2B61-41AB-A9E1-5E5FE9C0A1E6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79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F18D3-76BE-4A5C-9B43-9893205F4BCD}" type="datetime1">
              <a:rPr lang="zh-TW" altLang="en-US" smtClean="0"/>
              <a:t>2022/11/7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7BDBB-532E-44C1-98B0-384CEFF184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00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.cs.toronto.edu/~kriz/cifar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ithelp.ithome.com.tw/articles/10192162" TargetMode="External"/><Relationship Id="rId2" Type="http://schemas.openxmlformats.org/officeDocument/2006/relationships/hyperlink" Target="https://medium.com/datadriveninvestor/five-powerful-cnn-architectures-b939c9ddd57b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ching-i/%E5%BD%B1%E5%83%8F%E5%88%86%E5%89%B2-image-segmentation-%E8%AA%9E%E7%BE%A9%E5%88%86%E5%89%B2-semantic-segmentation-1-53a1dde9ed92" TargetMode="External"/><Relationship Id="rId4" Type="http://schemas.openxmlformats.org/officeDocument/2006/relationships/hyperlink" Target="https://iter01.com/56875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mtClean="0"/>
              <a:t>Convolutional Neural Networks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21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err="1" smtClean="0"/>
              <a:t>Convolutional</a:t>
            </a:r>
            <a:r>
              <a:rPr lang="en-US" altLang="zh-TW" smtClean="0"/>
              <a:t> Neural Networks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Feedforward</a:t>
            </a:r>
            <a:r>
              <a:rPr lang="en-US" altLang="zh-TW" dirty="0" smtClean="0"/>
              <a:t> networks</a:t>
            </a:r>
          </a:p>
          <a:p>
            <a:r>
              <a:rPr lang="en-US" altLang="zh-TW" dirty="0" smtClean="0"/>
              <a:t>Well-suited to image recognition</a:t>
            </a:r>
            <a:endParaRPr lang="zh-TW" altLang="en-US" dirty="0"/>
          </a:p>
        </p:txBody>
      </p:sp>
      <p:pic>
        <p:nvPicPr>
          <p:cNvPr id="31746" name="Picture 2" descr="Convolutional networks are a special class of deep learning feedforward network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1545" y="3068960"/>
            <a:ext cx="8318151" cy="1944216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61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patterns are much smaller than the whole image</a:t>
            </a:r>
            <a:endParaRPr lang="zh-TW" altLang="en-US" dirty="0"/>
          </a:p>
        </p:txBody>
      </p:sp>
      <p:pic>
        <p:nvPicPr>
          <p:cNvPr id="15" name="Picture 4" descr="https://upload.wikimedia.org/wikipedia/commons/5/5e/Silverbird_in_Murchison_Falls_National_Park,_Ugand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430" y="4692617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492" y="4738635"/>
            <a:ext cx="1296890" cy="1139691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720" y="4656461"/>
            <a:ext cx="2151234" cy="1279848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2395066" y="2742469"/>
            <a:ext cx="7401868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neuron does not have to see the whole image to discover the pattern.</a:t>
            </a:r>
            <a:endParaRPr lang="zh-TW" altLang="en-US" sz="2800" dirty="0"/>
          </a:p>
        </p:txBody>
      </p:sp>
      <p:sp>
        <p:nvSpPr>
          <p:cNvPr id="43" name="圓角矩形圖說文字 42"/>
          <p:cNvSpPr/>
          <p:nvPr/>
        </p:nvSpPr>
        <p:spPr>
          <a:xfrm>
            <a:off x="7783916" y="5722672"/>
            <a:ext cx="2423235" cy="601661"/>
          </a:xfrm>
          <a:prstGeom prst="wedgeRoundRectCallout">
            <a:avLst>
              <a:gd name="adj1" fmla="val -16286"/>
              <a:gd name="adj2" fmla="val -92191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2997830" y="4738635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單箭頭接點 45"/>
          <p:cNvCxnSpPr>
            <a:stCxn id="44" idx="3"/>
            <a:endCxn id="16" idx="1"/>
          </p:cNvCxnSpPr>
          <p:nvPr/>
        </p:nvCxnSpPr>
        <p:spPr>
          <a:xfrm>
            <a:off x="3404230" y="4928364"/>
            <a:ext cx="2214262" cy="3801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3222173" y="3636678"/>
            <a:ext cx="7142071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Connecting to small region with less parameters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24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3" grpId="0" animBg="1"/>
      <p:bldP spid="44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http://all4desktop.com/data_images/original/4244361-bir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991" y="4477048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same patterns appear in different regions.</a:t>
            </a:r>
            <a:endParaRPr lang="zh-TW" altLang="en-US" dirty="0"/>
          </a:p>
        </p:txBody>
      </p:sp>
      <p:pic>
        <p:nvPicPr>
          <p:cNvPr id="15" name="Picture 4" descr="https://upload.wikimedia.org/wikipedia/commons/5/5e/Silverbird_in_Murchison_Falls_National_Park,_Ugand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991" y="2578586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817" y="2867957"/>
            <a:ext cx="2151234" cy="1279848"/>
          </a:xfrm>
          <a:prstGeom prst="rect">
            <a:avLst/>
          </a:prstGeom>
        </p:spPr>
      </p:pic>
      <p:sp>
        <p:nvSpPr>
          <p:cNvPr id="10" name="雲朵形圖說文字 9"/>
          <p:cNvSpPr/>
          <p:nvPr/>
        </p:nvSpPr>
        <p:spPr>
          <a:xfrm>
            <a:off x="6599306" y="2425770"/>
            <a:ext cx="3303662" cy="951706"/>
          </a:xfrm>
          <a:prstGeom prst="cloudCallout">
            <a:avLst>
              <a:gd name="adj1" fmla="val -48303"/>
              <a:gd name="adj2" fmla="val 55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“upper-left 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2813051" y="2628515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327855" y="4993914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673" y="4653036"/>
            <a:ext cx="2295525" cy="1590675"/>
          </a:xfrm>
          <a:prstGeom prst="rect">
            <a:avLst/>
          </a:prstGeom>
        </p:spPr>
      </p:pic>
      <p:sp>
        <p:nvSpPr>
          <p:cNvPr id="31" name="雲朵形圖說文字 30"/>
          <p:cNvSpPr/>
          <p:nvPr/>
        </p:nvSpPr>
        <p:spPr>
          <a:xfrm>
            <a:off x="6599306" y="5513706"/>
            <a:ext cx="3303662" cy="951706"/>
          </a:xfrm>
          <a:prstGeom prst="cloudCallout">
            <a:avLst>
              <a:gd name="adj1" fmla="val -40531"/>
              <a:gd name="adj2" fmla="val -606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“middle 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7072370" y="4278359"/>
            <a:ext cx="3257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They can use the same set of parameters.</a:t>
            </a:r>
            <a:endParaRPr lang="zh-TW" altLang="en-US" sz="2400" dirty="0"/>
          </a:p>
        </p:txBody>
      </p:sp>
      <p:sp>
        <p:nvSpPr>
          <p:cNvPr id="34" name="矩形 33"/>
          <p:cNvSpPr/>
          <p:nvPr/>
        </p:nvSpPr>
        <p:spPr>
          <a:xfrm>
            <a:off x="6025721" y="3877535"/>
            <a:ext cx="33824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Do almost the same thing</a:t>
            </a:r>
            <a:endParaRPr lang="zh-TW" altLang="en-US" sz="24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5969448" y="3767981"/>
            <a:ext cx="0" cy="1341375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20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31" grpId="0" animBg="1"/>
      <p:bldP spid="6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215"/>
            <a:ext cx="10515600" cy="4351338"/>
          </a:xfrm>
        </p:spPr>
        <p:txBody>
          <a:bodyPr/>
          <a:lstStyle/>
          <a:p>
            <a:r>
              <a:rPr lang="en-US" altLang="zh-TW" dirty="0"/>
              <a:t>Subsampling</a:t>
            </a:r>
            <a:r>
              <a:rPr lang="zh-TW" altLang="en-US" dirty="0"/>
              <a:t> </a:t>
            </a:r>
            <a:r>
              <a:rPr lang="en-US" altLang="zh-TW" dirty="0"/>
              <a:t>the pixels will not change the object</a:t>
            </a:r>
            <a:endParaRPr lang="zh-TW" altLang="en-US" dirty="0"/>
          </a:p>
        </p:txBody>
      </p:sp>
      <p:pic>
        <p:nvPicPr>
          <p:cNvPr id="16386" name="Picture 2" descr="http://insider.si.edu/wordpress/wp-content/uploads/2016/04/Mountain_Bluebi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593" y="2924265"/>
            <a:ext cx="3336080" cy="225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insider.si.edu/wordpress/wp-content/uploads/2016/04/Mountain_Bluebir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554" y="3433773"/>
            <a:ext cx="1756743" cy="119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向右箭號 3"/>
          <p:cNvSpPr/>
          <p:nvPr/>
        </p:nvSpPr>
        <p:spPr>
          <a:xfrm>
            <a:off x="5921010" y="3627333"/>
            <a:ext cx="1860668" cy="8029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815674" y="4424983"/>
            <a:ext cx="207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subsampling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400148" y="2408420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bird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127439" y="2899949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bird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04108" y="5511516"/>
            <a:ext cx="7023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We can subsample the pixels to make image smaller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400147" y="6021006"/>
            <a:ext cx="7023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Less parameters for the network to process the image</a:t>
            </a:r>
            <a:endParaRPr lang="zh-TW" altLang="en-US" sz="2400" dirty="0"/>
          </a:p>
        </p:txBody>
      </p:sp>
      <p:sp>
        <p:nvSpPr>
          <p:cNvPr id="12" name="向右箭號 11"/>
          <p:cNvSpPr/>
          <p:nvPr/>
        </p:nvSpPr>
        <p:spPr>
          <a:xfrm>
            <a:off x="2479593" y="6021005"/>
            <a:ext cx="920554" cy="48287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53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9" grpId="0"/>
      <p:bldP spid="8" grpId="0"/>
      <p:bldP spid="13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215"/>
            <a:ext cx="10515600" cy="4838052"/>
          </a:xfrm>
        </p:spPr>
        <p:txBody>
          <a:bodyPr>
            <a:normAutofit/>
          </a:bodyPr>
          <a:lstStyle/>
          <a:p>
            <a:r>
              <a:rPr lang="en-US" altLang="zh-TW" smtClean="0"/>
              <a:t>If using fully connected MLP to recognize large images, e.g. 200x200 pixels, there are too many weights (edges) to train. </a:t>
            </a:r>
          </a:p>
          <a:p>
            <a:pPr lvl="1"/>
            <a:r>
              <a:rPr lang="en-US" altLang="zh-TW" smtClean="0"/>
              <a:t>Time consuming</a:t>
            </a:r>
          </a:p>
          <a:p>
            <a:pPr lvl="1"/>
            <a:r>
              <a:rPr lang="en-US" altLang="zh-TW" smtClean="0"/>
              <a:t>Over fitting</a:t>
            </a:r>
          </a:p>
          <a:p>
            <a:r>
              <a:rPr lang="en-US" altLang="zh-TW" smtClean="0"/>
              <a:t>CNNs typically have sparse connectivity, i.e. one unit connects to only some units in previous layer.  </a:t>
            </a:r>
            <a:r>
              <a:rPr lang="en-US" altLang="zh-TW" smtClean="0">
                <a:sym typeface="Wingdings" panose="05000000000000000000" pitchFamily="2" charset="2"/>
              </a:rPr>
              <a:t></a:t>
            </a:r>
            <a:r>
              <a:rPr lang="en-US" altLang="zh-TW" smtClean="0"/>
              <a:t> reduce parametres</a:t>
            </a:r>
          </a:p>
          <a:p>
            <a:r>
              <a:rPr lang="en-US" altLang="zh-TW" smtClean="0"/>
              <a:t>The weights of the partially connectives are repeatedly used in every unit. </a:t>
            </a:r>
            <a:r>
              <a:rPr lang="en-US" altLang="zh-TW" smtClean="0">
                <a:sym typeface="Wingdings" panose="05000000000000000000" pitchFamily="2" charset="2"/>
              </a:rPr>
              <a:t></a:t>
            </a:r>
            <a:r>
              <a:rPr lang="en-US" altLang="zh-TW" smtClean="0"/>
              <a:t> parameter sharing</a:t>
            </a:r>
          </a:p>
          <a:p>
            <a:r>
              <a:rPr lang="en-US" altLang="zh-TW" smtClean="0"/>
              <a:t>For the same partial inputs in different locations, with parameter sharing, the same representations will be produced.  </a:t>
            </a:r>
            <a:r>
              <a:rPr lang="en-US" altLang="zh-TW" smtClean="0">
                <a:sym typeface="Wingdings" panose="05000000000000000000" pitchFamily="2" charset="2"/>
              </a:rPr>
              <a:t> equivariance to translation</a:t>
            </a:r>
            <a:r>
              <a:rPr lang="en-US" altLang="zh-TW" smtClean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6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273703" y="2274348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43" y="191530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2801456" y="1705970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48219" y="6055667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7393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7393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7393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7393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6405210" y="5753403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3678215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948969" y="3414759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8550249" y="1806542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105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4" grpId="0" animBg="1"/>
      <p:bldP spid="15" grpId="0" animBg="1"/>
      <p:bldP spid="16" grpId="0" animBg="1"/>
      <p:bldP spid="12" grpId="0" animBg="1"/>
      <p:bldP spid="18" grpId="0" animBg="1"/>
      <p:bldP spid="19" grpId="0" animBg="1"/>
      <p:bldP spid="20" grpId="0" animBg="1"/>
      <p:bldP spid="17" grpId="0" animBg="1"/>
      <p:bldP spid="22" grpId="0" animBg="1"/>
      <p:bldP spid="21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938946" y="4419541"/>
            <a:ext cx="4173041" cy="935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944796" y="1713451"/>
            <a:ext cx="4173041" cy="23745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43" y="191530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48219" y="6055667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7393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7393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7393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7393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6405210" y="5753403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3678215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948969" y="3414759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8550249" y="1806542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951899" y="1862452"/>
            <a:ext cx="4305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Some patterns are much smaller than the whole image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1965502" y="3232244"/>
            <a:ext cx="4165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The same patterns appear in different regions.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989944" y="4554816"/>
            <a:ext cx="41730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Subsampling</a:t>
            </a:r>
            <a:r>
              <a:rPr lang="zh-TW" altLang="en-US" sz="2400" dirty="0"/>
              <a:t> </a:t>
            </a:r>
            <a:r>
              <a:rPr lang="en-US" altLang="zh-TW" sz="2400" dirty="0"/>
              <a:t>the pixels will not change the object</a:t>
            </a:r>
            <a:endParaRPr lang="zh-TW" altLang="en-US" sz="2400" dirty="0"/>
          </a:p>
        </p:txBody>
      </p:sp>
      <p:cxnSp>
        <p:nvCxnSpPr>
          <p:cNvPr id="26" name="直線單箭頭接點 25"/>
          <p:cNvCxnSpPr>
            <a:stCxn id="11" idx="1"/>
            <a:endCxn id="10" idx="3"/>
          </p:cNvCxnSpPr>
          <p:nvPr/>
        </p:nvCxnSpPr>
        <p:spPr>
          <a:xfrm flipH="1">
            <a:off x="6117837" y="2207749"/>
            <a:ext cx="656087" cy="693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4" idx="1"/>
            <a:endCxn id="10" idx="3"/>
          </p:cNvCxnSpPr>
          <p:nvPr/>
        </p:nvCxnSpPr>
        <p:spPr>
          <a:xfrm flipH="1" flipV="1">
            <a:off x="6117837" y="2900750"/>
            <a:ext cx="656087" cy="147522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13" idx="1"/>
            <a:endCxn id="25" idx="3"/>
          </p:cNvCxnSpPr>
          <p:nvPr/>
        </p:nvCxnSpPr>
        <p:spPr>
          <a:xfrm flipH="1">
            <a:off x="6111987" y="3307762"/>
            <a:ext cx="661937" cy="15795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5" idx="1"/>
            <a:endCxn id="25" idx="3"/>
          </p:cNvCxnSpPr>
          <p:nvPr/>
        </p:nvCxnSpPr>
        <p:spPr>
          <a:xfrm flipH="1" flipV="1">
            <a:off x="6111987" y="4887306"/>
            <a:ext cx="661937" cy="52192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805191" y="1388955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1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1811519" y="2743181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2</a:t>
            </a:r>
            <a:endParaRPr lang="zh-TW" altLang="en-US" sz="2400" dirty="0"/>
          </a:p>
        </p:txBody>
      </p:sp>
      <p:sp>
        <p:nvSpPr>
          <p:cNvPr id="35" name="矩形 34"/>
          <p:cNvSpPr/>
          <p:nvPr/>
        </p:nvSpPr>
        <p:spPr>
          <a:xfrm>
            <a:off x="1811519" y="4070721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3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33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" grpId="0" animBg="1"/>
      <p:bldP spid="3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273703" y="2274348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43" y="191530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2801456" y="1705970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48219" y="6055667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7393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7393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7393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7393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6405210" y="5753403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3678215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948969" y="3414759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8550249" y="1806542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6693420" y="1864287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6713870" y="4028285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39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Convolutional</a:t>
            </a:r>
            <a:r>
              <a:rPr lang="en-US" altLang="zh-TW" dirty="0"/>
              <a:t> </a:t>
            </a:r>
            <a:r>
              <a:rPr lang="en-US" altLang="zh-TW" dirty="0" smtClean="0"/>
              <a:t>layers</a:t>
            </a:r>
          </a:p>
          <a:p>
            <a:pPr lvl="1"/>
            <a:r>
              <a:rPr lang="en-US" altLang="zh-TW" dirty="0" smtClean="0"/>
              <a:t>Apply </a:t>
            </a:r>
            <a:r>
              <a:rPr lang="en-US" altLang="zh-TW" dirty="0"/>
              <a:t>a number of </a:t>
            </a:r>
            <a:r>
              <a:rPr lang="en-US" altLang="zh-TW" i="1" dirty="0"/>
              <a:t>filters</a:t>
            </a:r>
            <a:r>
              <a:rPr lang="en-US" altLang="zh-TW" dirty="0"/>
              <a:t> across </a:t>
            </a:r>
            <a:r>
              <a:rPr lang="en-US" altLang="zh-TW" dirty="0" smtClean="0"/>
              <a:t>to the input image to form </a:t>
            </a:r>
            <a:r>
              <a:rPr lang="en-US" altLang="zh-TW" i="1" dirty="0"/>
              <a:t>feature </a:t>
            </a:r>
            <a:r>
              <a:rPr lang="en-US" altLang="zh-TW" i="1" dirty="0" smtClean="0"/>
              <a:t>maps 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FM</a:t>
            </a:r>
            <a:r>
              <a:rPr lang="en-US" altLang="zh-TW" dirty="0" smtClean="0"/>
              <a:t>).</a:t>
            </a:r>
          </a:p>
          <a:p>
            <a:pPr lvl="1"/>
            <a:r>
              <a:rPr lang="en-US" altLang="zh-TW" smtClean="0"/>
              <a:t>If </a:t>
            </a:r>
            <a:r>
              <a:rPr lang="en-US" altLang="zh-TW" dirty="0"/>
              <a:t>the previous layer is also </a:t>
            </a:r>
            <a:r>
              <a:rPr lang="en-US" altLang="zh-TW" dirty="0" err="1"/>
              <a:t>convolutional</a:t>
            </a:r>
            <a:r>
              <a:rPr lang="en-US" altLang="zh-TW" dirty="0"/>
              <a:t>, the filters are applied across all of </a:t>
            </a:r>
            <a:r>
              <a:rPr lang="en-US" altLang="zh-TW"/>
              <a:t>it’s </a:t>
            </a:r>
            <a:r>
              <a:rPr lang="en-US" altLang="zh-TW" smtClean="0"/>
              <a:t>FMs with different weights</a:t>
            </a:r>
            <a:endParaRPr lang="en-US" altLang="zh-TW" dirty="0" smtClean="0"/>
          </a:p>
          <a:p>
            <a:r>
              <a:rPr lang="en-US" altLang="zh-TW" dirty="0" err="1" smtClean="0"/>
              <a:t>Subsampling</a:t>
            </a:r>
            <a:r>
              <a:rPr lang="en-US" altLang="zh-TW" dirty="0" smtClean="0"/>
              <a:t> layers</a:t>
            </a:r>
          </a:p>
          <a:p>
            <a:pPr lvl="1"/>
            <a:r>
              <a:rPr lang="en-US" altLang="zh-TW" dirty="0" smtClean="0"/>
              <a:t>Reduce the size of the input</a:t>
            </a:r>
          </a:p>
          <a:p>
            <a:pPr lvl="2"/>
            <a:r>
              <a:rPr lang="en-US" altLang="zh-TW" dirty="0" smtClean="0"/>
              <a:t>E.g., </a:t>
            </a:r>
            <a:r>
              <a:rPr lang="en-US" altLang="zh-TW" dirty="0"/>
              <a:t>32x32 image </a:t>
            </a:r>
            <a:r>
              <a:rPr lang="en-US" altLang="zh-TW" dirty="0" smtClean="0"/>
              <a:t>-&gt; 16x16 </a:t>
            </a:r>
            <a:r>
              <a:rPr lang="en-US" altLang="zh-TW" dirty="0"/>
              <a:t>image 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13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last </a:t>
            </a:r>
            <a:r>
              <a:rPr lang="en-US" altLang="zh-TW" dirty="0" err="1"/>
              <a:t>subsampling</a:t>
            </a:r>
            <a:r>
              <a:rPr lang="en-US" altLang="zh-TW" dirty="0"/>
              <a:t> (or </a:t>
            </a:r>
            <a:r>
              <a:rPr lang="en-US" altLang="zh-TW" dirty="0" err="1"/>
              <a:t>convolutional</a:t>
            </a:r>
            <a:r>
              <a:rPr lang="en-US" altLang="zh-TW" dirty="0"/>
              <a:t>) layer is usually connected to one or more fully connected layers, the last of which represents the target </a:t>
            </a:r>
            <a:r>
              <a:rPr lang="en-US" altLang="zh-TW" dirty="0" smtClean="0"/>
              <a:t>data.</a:t>
            </a:r>
          </a:p>
          <a:p>
            <a:r>
              <a:rPr lang="en-US" altLang="zh-TW" dirty="0"/>
              <a:t>Training is performed using modified </a:t>
            </a:r>
            <a:r>
              <a:rPr lang="en-US" altLang="zh-TW" dirty="0" err="1"/>
              <a:t>backpropagation</a:t>
            </a:r>
            <a:r>
              <a:rPr lang="en-US" altLang="zh-TW" dirty="0"/>
              <a:t> that takes the </a:t>
            </a:r>
            <a:r>
              <a:rPr lang="en-US" altLang="zh-TW" dirty="0" err="1"/>
              <a:t>subsampling</a:t>
            </a:r>
            <a:r>
              <a:rPr lang="en-US" altLang="zh-TW" dirty="0"/>
              <a:t> layers into account and updates the </a:t>
            </a:r>
            <a:r>
              <a:rPr lang="en-US" altLang="zh-TW" dirty="0" err="1"/>
              <a:t>convolutional</a:t>
            </a:r>
            <a:r>
              <a:rPr lang="en-US" altLang="zh-TW" dirty="0"/>
              <a:t> filter weights based on all values to which that filter is applied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774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/>
          </p:nvPr>
        </p:nvGraphicFramePr>
        <p:xfrm>
          <a:off x="2509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72584" y="5388971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6783953" y="2068862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315448" y="2421241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783953" y="369360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8315448" y="4032875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 rot="5400000">
            <a:off x="7354067" y="5234841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……</a:t>
            </a:r>
            <a:endParaRPr lang="zh-TW" altLang="en-US" sz="2800" b="1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737996" y="1005109"/>
            <a:ext cx="3555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Those are the network parameters to be learned.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526037" y="2879558"/>
            <a:ext cx="1026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Matrix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526037" y="4449637"/>
            <a:ext cx="1026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Matrix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37996" y="5850636"/>
            <a:ext cx="3555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filter detects a small pattern (3 x 3). 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02267" y="6013394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1</a:t>
            </a:r>
            <a:endParaRPr lang="zh-TW" altLang="en-US" sz="2400" dirty="0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40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  <p:bldP spid="3" grpId="0"/>
      <p:bldP spid="12" grpId="0"/>
      <p:bldP spid="13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509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72584" y="5388971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7087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710047" y="93337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509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246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7087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3008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2691365" y="1732535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79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509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72584" y="5388971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7087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710047" y="93337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509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246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7087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3487015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2691364" y="1732535"/>
            <a:ext cx="1447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If s</a:t>
            </a:r>
            <a:r>
              <a:rPr lang="zh-TW" altLang="en-US" sz="2400" dirty="0"/>
              <a:t>tride</a:t>
            </a:r>
            <a:r>
              <a:rPr lang="en-US" altLang="zh-TW" sz="2400" dirty="0"/>
              <a:t>=2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726912" y="4481652"/>
            <a:ext cx="2972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We set s</a:t>
            </a:r>
            <a:r>
              <a:rPr lang="zh-TW" altLang="en-US" sz="2400" dirty="0"/>
              <a:t>tride</a:t>
            </a:r>
            <a:r>
              <a:rPr lang="en-US" altLang="zh-TW" sz="2400" dirty="0"/>
              <a:t>=1 below</a:t>
            </a:r>
            <a:endParaRPr lang="zh-TW" altLang="en-US" sz="24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10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28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509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72584" y="5388971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7087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710047" y="93337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509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246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7087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7929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8771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6246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7087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7929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8771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6246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7087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7929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8771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6256036" y="525980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7087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7929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8771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3008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3454824" y="2402206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3956953" y="2405350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2509111" y="2810239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2691365" y="1732535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3956953" y="3767518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087891" y="478406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7644536" y="936721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8169025" y="1405709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7087891" y="478405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237060" y="2785872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6256036" y="5262586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7123876" y="6046056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2</a:t>
            </a:r>
            <a:endParaRPr lang="zh-TW" altLang="en-US" sz="2400" dirty="0"/>
          </a:p>
        </p:txBody>
      </p:sp>
      <p:cxnSp>
        <p:nvCxnSpPr>
          <p:cNvPr id="41" name="直線接點 40"/>
          <p:cNvCxnSpPr/>
          <p:nvPr/>
        </p:nvCxnSpPr>
        <p:spPr>
          <a:xfrm>
            <a:off x="2453398" y="2425786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2404631" y="3761564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890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509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72584" y="5388971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6246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7087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7929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8771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6246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7087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7929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8771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6246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7087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7929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8771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6246062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7087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7929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8771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11103" y="36512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8833258" y="82009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37" name="矩形 36"/>
          <p:cNvSpPr/>
          <p:nvPr/>
        </p:nvSpPr>
        <p:spPr>
          <a:xfrm>
            <a:off x="2509111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3012818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3454824" y="2400838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3930593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2509111" y="2810239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6429599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3" name="橢圓 42"/>
          <p:cNvSpPr/>
          <p:nvPr/>
        </p:nvSpPr>
        <p:spPr>
          <a:xfrm>
            <a:off x="7271428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4" name="橢圓 43"/>
          <p:cNvSpPr/>
          <p:nvPr/>
        </p:nvSpPr>
        <p:spPr>
          <a:xfrm>
            <a:off x="8113257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8955086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6429599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7" name="橢圓 46"/>
          <p:cNvSpPr/>
          <p:nvPr/>
        </p:nvSpPr>
        <p:spPr>
          <a:xfrm>
            <a:off x="7271428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8" name="橢圓 47"/>
          <p:cNvSpPr/>
          <p:nvPr/>
        </p:nvSpPr>
        <p:spPr>
          <a:xfrm>
            <a:off x="8113257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49" name="橢圓 48"/>
          <p:cNvSpPr/>
          <p:nvPr/>
        </p:nvSpPr>
        <p:spPr>
          <a:xfrm>
            <a:off x="8955086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橢圓 49"/>
          <p:cNvSpPr/>
          <p:nvPr/>
        </p:nvSpPr>
        <p:spPr>
          <a:xfrm>
            <a:off x="6429599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1" name="橢圓 50"/>
          <p:cNvSpPr/>
          <p:nvPr/>
        </p:nvSpPr>
        <p:spPr>
          <a:xfrm>
            <a:off x="7271428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2" name="橢圓 51"/>
          <p:cNvSpPr/>
          <p:nvPr/>
        </p:nvSpPr>
        <p:spPr>
          <a:xfrm>
            <a:off x="8113257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53" name="橢圓 52"/>
          <p:cNvSpPr/>
          <p:nvPr/>
        </p:nvSpPr>
        <p:spPr>
          <a:xfrm>
            <a:off x="8955086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4" name="橢圓 53"/>
          <p:cNvSpPr/>
          <p:nvPr/>
        </p:nvSpPr>
        <p:spPr>
          <a:xfrm>
            <a:off x="6429599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5" name="橢圓 54"/>
          <p:cNvSpPr/>
          <p:nvPr/>
        </p:nvSpPr>
        <p:spPr>
          <a:xfrm>
            <a:off x="7271428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6" name="橢圓 55"/>
          <p:cNvSpPr/>
          <p:nvPr/>
        </p:nvSpPr>
        <p:spPr>
          <a:xfrm>
            <a:off x="8113257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-4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8955086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6096000" y="1789386"/>
            <a:ext cx="3793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</a:rPr>
              <a:t>Do the same process for every filter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939409" y="3783331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2691365" y="1732535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939745" y="6174169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 x 4 image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9800" y="4052685"/>
            <a:ext cx="2320707" cy="9724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Feature</a:t>
            </a:r>
          </a:p>
          <a:p>
            <a:pPr algn="ctr"/>
            <a:r>
              <a:rPr lang="en-US" altLang="zh-TW" sz="2800" dirty="0"/>
              <a:t>Map</a:t>
            </a:r>
            <a:endParaRPr lang="zh-TW" altLang="en-US" sz="28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93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3" grpId="0"/>
      <p:bldP spid="58" grpId="0" animBg="1"/>
      <p:bldP spid="60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>
            <p:extLst/>
          </p:nvPr>
        </p:nvGraphicFramePr>
        <p:xfrm>
          <a:off x="1923969" y="185000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232603" y="4640719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1923969" y="15203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369798" y="23686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923969" y="1850005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185" y="1197256"/>
            <a:ext cx="2239711" cy="22269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4" name="直線單箭頭接點 33"/>
          <p:cNvCxnSpPr/>
          <p:nvPr/>
        </p:nvCxnSpPr>
        <p:spPr>
          <a:xfrm>
            <a:off x="3546123" y="837830"/>
            <a:ext cx="860562" cy="5703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3363939" y="1571402"/>
            <a:ext cx="1042747" cy="9650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6969338" y="49451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1: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969338" y="511116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2: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6969338" y="960798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3: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6832019" y="1810764"/>
            <a:ext cx="8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985375" y="2239709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7: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6985375" y="2701374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8:</a:t>
            </a:r>
            <a:endParaRPr lang="zh-TW" altLang="en-US" sz="24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6985375" y="3151056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9: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6971334" y="3988283"/>
            <a:ext cx="53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6825903" y="4438479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13: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6820320" y="4902671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14: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6820321" y="5380353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15: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7018534" y="6217727"/>
            <a:ext cx="42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8019468" y="5303638"/>
            <a:ext cx="2371241" cy="120032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Only connect to 9 input, not fully connected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6979405" y="140821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4: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6752901" y="3562360"/>
            <a:ext cx="63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10: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6815126" y="5789242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16:</a:t>
            </a:r>
            <a:endParaRPr lang="zh-TW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7411504" y="145282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6" name="矩形 55"/>
          <p:cNvSpPr/>
          <p:nvPr/>
        </p:nvSpPr>
        <p:spPr>
          <a:xfrm>
            <a:off x="7411504" y="6142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7411504" y="1056629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8" name="矩形 57"/>
          <p:cNvSpPr/>
          <p:nvPr/>
        </p:nvSpPr>
        <p:spPr>
          <a:xfrm>
            <a:off x="7411504" y="1518425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7411504" y="235632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7411504" y="282531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7411504" y="32676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2" name="矩形 61"/>
          <p:cNvSpPr/>
          <p:nvPr/>
        </p:nvSpPr>
        <p:spPr>
          <a:xfrm>
            <a:off x="7411504" y="372946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3" name="矩形 62"/>
          <p:cNvSpPr/>
          <p:nvPr/>
        </p:nvSpPr>
        <p:spPr>
          <a:xfrm>
            <a:off x="7411504" y="451957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4" name="矩形 63"/>
          <p:cNvSpPr/>
          <p:nvPr/>
        </p:nvSpPr>
        <p:spPr>
          <a:xfrm>
            <a:off x="7411504" y="498856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7411504" y="543092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7411504" y="589271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7681504" y="280283"/>
            <a:ext cx="1421404" cy="12773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7681504" y="749271"/>
            <a:ext cx="1421404" cy="808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7681504" y="1191629"/>
            <a:ext cx="1421404" cy="36596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7701395" y="1596966"/>
            <a:ext cx="1351279" cy="8944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109" idx="2"/>
          </p:cNvCxnSpPr>
          <p:nvPr/>
        </p:nvCxnSpPr>
        <p:spPr>
          <a:xfrm flipV="1">
            <a:off x="7701393" y="1537264"/>
            <a:ext cx="1371154" cy="141580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109" idx="2"/>
          </p:cNvCxnSpPr>
          <p:nvPr/>
        </p:nvCxnSpPr>
        <p:spPr>
          <a:xfrm flipV="1">
            <a:off x="7701393" y="1537264"/>
            <a:ext cx="1371154" cy="18631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7681504" y="1644697"/>
            <a:ext cx="1351280" cy="300987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109" idx="2"/>
          </p:cNvCxnSpPr>
          <p:nvPr/>
        </p:nvCxnSpPr>
        <p:spPr>
          <a:xfrm flipV="1">
            <a:off x="7681503" y="1537263"/>
            <a:ext cx="1391044" cy="35651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109" idx="2"/>
          </p:cNvCxnSpPr>
          <p:nvPr/>
        </p:nvCxnSpPr>
        <p:spPr>
          <a:xfrm flipV="1">
            <a:off x="7681503" y="1537263"/>
            <a:ext cx="1391044" cy="40124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9072547" y="117726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17" name="橢圓 116"/>
          <p:cNvSpPr/>
          <p:nvPr/>
        </p:nvSpPr>
        <p:spPr>
          <a:xfrm>
            <a:off x="1970464" y="160781"/>
            <a:ext cx="454965" cy="454965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/>
          <p:cNvSpPr/>
          <p:nvPr/>
        </p:nvSpPr>
        <p:spPr>
          <a:xfrm>
            <a:off x="2522656" y="132553"/>
            <a:ext cx="454965" cy="45496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>
            <a:off x="3033845" y="145283"/>
            <a:ext cx="454965" cy="45496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>
            <a:off x="1970464" y="619045"/>
            <a:ext cx="454965" cy="45496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/>
          <p:cNvSpPr/>
          <p:nvPr/>
        </p:nvSpPr>
        <p:spPr>
          <a:xfrm>
            <a:off x="2522656" y="590817"/>
            <a:ext cx="454965" cy="454965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/>
          <p:cNvSpPr/>
          <p:nvPr/>
        </p:nvSpPr>
        <p:spPr>
          <a:xfrm>
            <a:off x="3033845" y="603547"/>
            <a:ext cx="454965" cy="45496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/>
          <p:cNvSpPr/>
          <p:nvPr/>
        </p:nvSpPr>
        <p:spPr>
          <a:xfrm>
            <a:off x="1983087" y="1075127"/>
            <a:ext cx="454965" cy="45496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橢圓 123"/>
          <p:cNvSpPr/>
          <p:nvPr/>
        </p:nvSpPr>
        <p:spPr>
          <a:xfrm>
            <a:off x="2535279" y="1046899"/>
            <a:ext cx="454965" cy="454965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>
            <a:off x="3046468" y="1059629"/>
            <a:ext cx="454965" cy="454965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2143053" y="5258561"/>
            <a:ext cx="2797248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Less parameters!</a:t>
            </a:r>
            <a:endParaRPr lang="zh-TW" altLang="en-US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64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 animBg="1"/>
      <p:bldP spid="51" grpId="0"/>
      <p:bldP spid="52" grpId="0"/>
      <p:bldP spid="53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109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923969" y="185000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23969" y="15203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546124" y="606998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435332" y="1834394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969338" y="49451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1: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969338" y="511116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2: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6969338" y="960798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3: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6832019" y="1810764"/>
            <a:ext cx="8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985375" y="2239709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7: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6985375" y="2701374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8:</a:t>
            </a:r>
            <a:endParaRPr lang="zh-TW" altLang="en-US" sz="24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6985375" y="3151056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9: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6971334" y="3988283"/>
            <a:ext cx="53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6825903" y="4438479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13: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6820320" y="4902671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14: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6820321" y="5380353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15: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7018534" y="6217727"/>
            <a:ext cx="42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6979405" y="140821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4: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6752901" y="3562360"/>
            <a:ext cx="63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10: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6815126" y="5789242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16:</a:t>
            </a:r>
            <a:endParaRPr lang="zh-TW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7411504" y="145282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6" name="矩形 55"/>
          <p:cNvSpPr/>
          <p:nvPr/>
        </p:nvSpPr>
        <p:spPr>
          <a:xfrm>
            <a:off x="7411504" y="6142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7411504" y="1056629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8" name="矩形 57"/>
          <p:cNvSpPr/>
          <p:nvPr/>
        </p:nvSpPr>
        <p:spPr>
          <a:xfrm>
            <a:off x="7411504" y="1518425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7411504" y="235632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7411504" y="282531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7411504" y="32676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2" name="矩形 61"/>
          <p:cNvSpPr/>
          <p:nvPr/>
        </p:nvSpPr>
        <p:spPr>
          <a:xfrm>
            <a:off x="7411504" y="372946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3" name="矩形 62"/>
          <p:cNvSpPr/>
          <p:nvPr/>
        </p:nvSpPr>
        <p:spPr>
          <a:xfrm>
            <a:off x="7411504" y="451957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4" name="矩形 63"/>
          <p:cNvSpPr/>
          <p:nvPr/>
        </p:nvSpPr>
        <p:spPr>
          <a:xfrm>
            <a:off x="7411504" y="498856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7411504" y="543092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7411504" y="589271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7681504" y="280283"/>
            <a:ext cx="1421404" cy="12773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7681504" y="749271"/>
            <a:ext cx="1421404" cy="808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7681504" y="1191629"/>
            <a:ext cx="1421404" cy="36596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7701395" y="1596966"/>
            <a:ext cx="1351279" cy="8944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109" idx="2"/>
          </p:cNvCxnSpPr>
          <p:nvPr/>
        </p:nvCxnSpPr>
        <p:spPr>
          <a:xfrm flipV="1">
            <a:off x="7701393" y="1537264"/>
            <a:ext cx="1371154" cy="141580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109" idx="2"/>
          </p:cNvCxnSpPr>
          <p:nvPr/>
        </p:nvCxnSpPr>
        <p:spPr>
          <a:xfrm flipV="1">
            <a:off x="7701393" y="1537264"/>
            <a:ext cx="1371154" cy="18631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7681504" y="1644697"/>
            <a:ext cx="1351280" cy="300987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109" idx="2"/>
          </p:cNvCxnSpPr>
          <p:nvPr/>
        </p:nvCxnSpPr>
        <p:spPr>
          <a:xfrm flipV="1">
            <a:off x="7681503" y="1537263"/>
            <a:ext cx="1391044" cy="35651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109" idx="2"/>
          </p:cNvCxnSpPr>
          <p:nvPr/>
        </p:nvCxnSpPr>
        <p:spPr>
          <a:xfrm flipV="1">
            <a:off x="7681503" y="1537263"/>
            <a:ext cx="1391044" cy="40124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9072547" y="117726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10" name="橢圓 109"/>
          <p:cNvSpPr/>
          <p:nvPr/>
        </p:nvSpPr>
        <p:spPr>
          <a:xfrm>
            <a:off x="9052673" y="29734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橢圓 116"/>
          <p:cNvSpPr/>
          <p:nvPr/>
        </p:nvSpPr>
        <p:spPr>
          <a:xfrm>
            <a:off x="1970464" y="160781"/>
            <a:ext cx="454965" cy="454965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/>
          <p:cNvSpPr/>
          <p:nvPr/>
        </p:nvSpPr>
        <p:spPr>
          <a:xfrm>
            <a:off x="2522656" y="132553"/>
            <a:ext cx="454965" cy="45496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>
            <a:off x="3033845" y="145283"/>
            <a:ext cx="454965" cy="45496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>
            <a:off x="1970464" y="619045"/>
            <a:ext cx="454965" cy="45496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/>
          <p:cNvSpPr/>
          <p:nvPr/>
        </p:nvSpPr>
        <p:spPr>
          <a:xfrm>
            <a:off x="2522656" y="590817"/>
            <a:ext cx="454965" cy="454965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/>
          <p:cNvSpPr/>
          <p:nvPr/>
        </p:nvSpPr>
        <p:spPr>
          <a:xfrm>
            <a:off x="3033845" y="603547"/>
            <a:ext cx="454965" cy="45496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/>
          <p:cNvSpPr/>
          <p:nvPr/>
        </p:nvSpPr>
        <p:spPr>
          <a:xfrm>
            <a:off x="1983087" y="1075127"/>
            <a:ext cx="454965" cy="45496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橢圓 123"/>
          <p:cNvSpPr/>
          <p:nvPr/>
        </p:nvSpPr>
        <p:spPr>
          <a:xfrm>
            <a:off x="2535279" y="1046899"/>
            <a:ext cx="454965" cy="454965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>
            <a:off x="3046468" y="1059629"/>
            <a:ext cx="454965" cy="454965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8039550" y="5760326"/>
            <a:ext cx="2126717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Shared weights</a:t>
            </a:r>
            <a:endParaRPr lang="zh-TW" altLang="en-US" sz="2400" dirty="0"/>
          </a:p>
        </p:txBody>
      </p:sp>
      <p:cxnSp>
        <p:nvCxnSpPr>
          <p:cNvPr id="72" name="直線單箭頭接點 71"/>
          <p:cNvCxnSpPr>
            <a:stCxn id="56" idx="3"/>
            <a:endCxn id="110" idx="2"/>
          </p:cNvCxnSpPr>
          <p:nvPr/>
        </p:nvCxnSpPr>
        <p:spPr>
          <a:xfrm>
            <a:off x="7681505" y="749270"/>
            <a:ext cx="1371169" cy="25841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57" idx="3"/>
            <a:endCxn id="110" idx="2"/>
          </p:cNvCxnSpPr>
          <p:nvPr/>
        </p:nvCxnSpPr>
        <p:spPr>
          <a:xfrm>
            <a:off x="7681505" y="1191630"/>
            <a:ext cx="1371169" cy="2141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58" idx="3"/>
            <a:endCxn id="110" idx="2"/>
          </p:cNvCxnSpPr>
          <p:nvPr/>
        </p:nvCxnSpPr>
        <p:spPr>
          <a:xfrm>
            <a:off x="7681505" y="1653426"/>
            <a:ext cx="1371169" cy="168004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110" idx="2"/>
          </p:cNvCxnSpPr>
          <p:nvPr/>
        </p:nvCxnSpPr>
        <p:spPr>
          <a:xfrm>
            <a:off x="7710795" y="2980636"/>
            <a:ext cx="1341879" cy="35283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110" idx="2"/>
          </p:cNvCxnSpPr>
          <p:nvPr/>
        </p:nvCxnSpPr>
        <p:spPr>
          <a:xfrm flipV="1">
            <a:off x="7697541" y="3333466"/>
            <a:ext cx="1355132" cy="12503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110" idx="2"/>
          </p:cNvCxnSpPr>
          <p:nvPr/>
        </p:nvCxnSpPr>
        <p:spPr>
          <a:xfrm flipV="1">
            <a:off x="7697557" y="3333467"/>
            <a:ext cx="1355117" cy="5699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64" idx="3"/>
          </p:cNvCxnSpPr>
          <p:nvPr/>
        </p:nvCxnSpPr>
        <p:spPr>
          <a:xfrm flipV="1">
            <a:off x="7681504" y="3361033"/>
            <a:ext cx="1336956" cy="176252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65" idx="3"/>
          </p:cNvCxnSpPr>
          <p:nvPr/>
        </p:nvCxnSpPr>
        <p:spPr>
          <a:xfrm flipV="1">
            <a:off x="7681504" y="3326994"/>
            <a:ext cx="1359292" cy="22389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66" idx="3"/>
          </p:cNvCxnSpPr>
          <p:nvPr/>
        </p:nvCxnSpPr>
        <p:spPr>
          <a:xfrm flipV="1">
            <a:off x="7681504" y="3389926"/>
            <a:ext cx="1344118" cy="263779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2232603" y="4640719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pic>
        <p:nvPicPr>
          <p:cNvPr id="87" name="圖片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77" y="1215656"/>
            <a:ext cx="2229885" cy="2242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5" name="直線單箭頭接點 34"/>
          <p:cNvCxnSpPr/>
          <p:nvPr/>
        </p:nvCxnSpPr>
        <p:spPr>
          <a:xfrm flipV="1">
            <a:off x="3852459" y="1557594"/>
            <a:ext cx="945481" cy="93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3546123" y="837830"/>
            <a:ext cx="1251816" cy="6858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2143053" y="5258561"/>
            <a:ext cx="2797248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Less parameters!</a:t>
            </a:r>
            <a:endParaRPr lang="zh-TW" altLang="en-US" sz="2800" dirty="0"/>
          </a:p>
        </p:txBody>
      </p:sp>
      <p:sp>
        <p:nvSpPr>
          <p:cNvPr id="93" name="文字方塊 92"/>
          <p:cNvSpPr txBox="1"/>
          <p:nvPr/>
        </p:nvSpPr>
        <p:spPr>
          <a:xfrm>
            <a:off x="2153478" y="5937959"/>
            <a:ext cx="3485322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Even less parameters!</a:t>
            </a:r>
            <a:endParaRPr lang="zh-TW" altLang="en-US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94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67" grpId="0" animBg="1"/>
      <p:bldP spid="9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CNN – Convolution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Padding</a:t>
            </a:r>
            <a:endParaRPr lang="zh-TW" altLang="en-US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6599751"/>
              </p:ext>
            </p:extLst>
          </p:nvPr>
        </p:nvGraphicFramePr>
        <p:xfrm>
          <a:off x="3110244" y="2142068"/>
          <a:ext cx="3790088" cy="375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3761">
                  <a:extLst>
                    <a:ext uri="{9D8B030D-6E8A-4147-A177-3AD203B41FA5}">
                      <a16:colId xmlns:a16="http://schemas.microsoft.com/office/drawing/2014/main" val="3568058316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139245222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en-US" altLang="zh-TW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97149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655949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110244" y="2138893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377082"/>
              </p:ext>
            </p:extLst>
          </p:nvPr>
        </p:nvGraphicFramePr>
        <p:xfrm>
          <a:off x="8290902" y="265006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170557"/>
              </p:ext>
            </p:extLst>
          </p:nvPr>
        </p:nvGraphicFramePr>
        <p:xfrm>
          <a:off x="5971036" y="49477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6017531" y="503524"/>
            <a:ext cx="454965" cy="454965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569723" y="475296"/>
            <a:ext cx="454965" cy="45496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080912" y="488026"/>
            <a:ext cx="454965" cy="45496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017531" y="961788"/>
            <a:ext cx="454965" cy="45496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569723" y="933560"/>
            <a:ext cx="454965" cy="454965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7080912" y="946290"/>
            <a:ext cx="454965" cy="45496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6030154" y="1417870"/>
            <a:ext cx="454965" cy="45496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582346" y="1389642"/>
            <a:ext cx="454965" cy="454965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093535" y="1402372"/>
            <a:ext cx="454965" cy="454965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>
            <a:off x="7625852" y="1655313"/>
            <a:ext cx="762277" cy="11048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4560032" y="2446868"/>
            <a:ext cx="3828097" cy="349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307859" y="2650068"/>
            <a:ext cx="472074" cy="4741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7308394" y="970681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895450" y="6060846"/>
            <a:ext cx="221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smtClean="0"/>
              <a:t>Padding with 0s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8177389" y="5596468"/>
            <a:ext cx="3599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smtClean="0"/>
              <a:t>After convolution, the size of feature map is the same as original image</a:t>
            </a:r>
            <a:endParaRPr lang="zh-TW" altLang="en-US" sz="2400" dirty="0"/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97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2419269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3261098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4102927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4944756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2419269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3261098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4102927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4944756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2419269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3261098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4102927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4944756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2419269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3261098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4102927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4944756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35842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8724613" y="2086627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42" name="橢圓 41"/>
          <p:cNvSpPr/>
          <p:nvPr/>
        </p:nvSpPr>
        <p:spPr>
          <a:xfrm>
            <a:off x="6588249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3" name="橢圓 42"/>
          <p:cNvSpPr/>
          <p:nvPr/>
        </p:nvSpPr>
        <p:spPr>
          <a:xfrm>
            <a:off x="7430078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4" name="橢圓 43"/>
          <p:cNvSpPr/>
          <p:nvPr/>
        </p:nvSpPr>
        <p:spPr>
          <a:xfrm>
            <a:off x="8271907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9113736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6588249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7" name="橢圓 46"/>
          <p:cNvSpPr/>
          <p:nvPr/>
        </p:nvSpPr>
        <p:spPr>
          <a:xfrm>
            <a:off x="7430078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8" name="橢圓 47"/>
          <p:cNvSpPr/>
          <p:nvPr/>
        </p:nvSpPr>
        <p:spPr>
          <a:xfrm>
            <a:off x="8271907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49" name="橢圓 48"/>
          <p:cNvSpPr/>
          <p:nvPr/>
        </p:nvSpPr>
        <p:spPr>
          <a:xfrm>
            <a:off x="9113736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橢圓 49"/>
          <p:cNvSpPr/>
          <p:nvPr/>
        </p:nvSpPr>
        <p:spPr>
          <a:xfrm>
            <a:off x="6588249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1" name="橢圓 50"/>
          <p:cNvSpPr/>
          <p:nvPr/>
        </p:nvSpPr>
        <p:spPr>
          <a:xfrm>
            <a:off x="7430078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2" name="橢圓 51"/>
          <p:cNvSpPr/>
          <p:nvPr/>
        </p:nvSpPr>
        <p:spPr>
          <a:xfrm>
            <a:off x="8271907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53" name="橢圓 52"/>
          <p:cNvSpPr/>
          <p:nvPr/>
        </p:nvSpPr>
        <p:spPr>
          <a:xfrm>
            <a:off x="9113736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4" name="橢圓 53"/>
          <p:cNvSpPr/>
          <p:nvPr/>
        </p:nvSpPr>
        <p:spPr>
          <a:xfrm>
            <a:off x="6588249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5" name="橢圓 54"/>
          <p:cNvSpPr/>
          <p:nvPr/>
        </p:nvSpPr>
        <p:spPr>
          <a:xfrm>
            <a:off x="7430078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6" name="橢圓 55"/>
          <p:cNvSpPr/>
          <p:nvPr/>
        </p:nvSpPr>
        <p:spPr>
          <a:xfrm>
            <a:off x="8271907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-4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9113736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3230936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4853091" y="2072367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419269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4102926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2419269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4102926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/>
        </p:nvSpPr>
        <p:spPr>
          <a:xfrm>
            <a:off x="6588250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8271907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6588250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8271907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91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6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9" grpId="0"/>
      <p:bldP spid="3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/>
          </p:nvPr>
        </p:nvGraphicFramePr>
        <p:xfrm>
          <a:off x="1862635" y="2503457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126108" y="5493366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sp>
        <p:nvSpPr>
          <p:cNvPr id="6" name="橢圓 5"/>
          <p:cNvSpPr/>
          <p:nvPr/>
        </p:nvSpPr>
        <p:spPr>
          <a:xfrm>
            <a:off x="8122679" y="308683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7" name="橢圓 6"/>
          <p:cNvSpPr/>
          <p:nvPr/>
        </p:nvSpPr>
        <p:spPr>
          <a:xfrm>
            <a:off x="9094286" y="308683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9094286" y="419513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9" name="橢圓 8"/>
          <p:cNvSpPr/>
          <p:nvPr/>
        </p:nvSpPr>
        <p:spPr>
          <a:xfrm>
            <a:off x="8122679" y="419513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0" name="橢圓 9"/>
          <p:cNvSpPr/>
          <p:nvPr/>
        </p:nvSpPr>
        <p:spPr>
          <a:xfrm>
            <a:off x="8312771" y="3303596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" name="橢圓 10"/>
          <p:cNvSpPr/>
          <p:nvPr/>
        </p:nvSpPr>
        <p:spPr>
          <a:xfrm>
            <a:off x="9319350" y="3281294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9319350" y="4352180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8327112" y="4354671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949894" y="518595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 x 2 image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960728" y="5699910"/>
            <a:ext cx="2267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Each filter </a:t>
            </a:r>
          </a:p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is a channel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4676253" y="2729342"/>
            <a:ext cx="859387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7960727" y="1957288"/>
            <a:ext cx="2280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New image </a:t>
            </a:r>
          </a:p>
          <a:p>
            <a:pPr algn="ctr"/>
            <a:r>
              <a:rPr lang="en-US" altLang="zh-TW" sz="2800" dirty="0"/>
              <a:t>but smaller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5538708" y="2610494"/>
            <a:ext cx="1375221" cy="10670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Conv</a:t>
            </a:r>
            <a:endParaRPr lang="zh-TW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5535639" y="4187993"/>
            <a:ext cx="1378290" cy="10670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Max</a:t>
            </a:r>
          </a:p>
          <a:p>
            <a:pPr algn="ctr"/>
            <a:r>
              <a:rPr lang="en-US" altLang="zh-TW" sz="2800" dirty="0"/>
              <a:t>Pooling</a:t>
            </a:r>
            <a:endParaRPr lang="zh-TW" altLang="en-US" sz="2800" dirty="0"/>
          </a:p>
        </p:txBody>
      </p:sp>
      <p:sp>
        <p:nvSpPr>
          <p:cNvPr id="21" name="向右箭號 20"/>
          <p:cNvSpPr/>
          <p:nvPr/>
        </p:nvSpPr>
        <p:spPr>
          <a:xfrm>
            <a:off x="6902126" y="4289229"/>
            <a:ext cx="859387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右箭號 21"/>
          <p:cNvSpPr/>
          <p:nvPr/>
        </p:nvSpPr>
        <p:spPr>
          <a:xfrm rot="5400000">
            <a:off x="5978983" y="3518706"/>
            <a:ext cx="491601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97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43" y="191530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7393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7393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7393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7393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8948969" y="3414759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8550249" y="1806542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6713870" y="1848548"/>
            <a:ext cx="1856830" cy="18992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05457" y="3568646"/>
            <a:ext cx="2097183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new image</a:t>
            </a:r>
            <a:endParaRPr lang="zh-TW" altLang="en-US" sz="2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098352" y="5210417"/>
            <a:ext cx="4289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The number of the channel is the number of filters</a:t>
            </a:r>
            <a:endParaRPr lang="zh-TW" altLang="en-US" sz="28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2098352" y="4250782"/>
            <a:ext cx="4249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Smaller than the original image</a:t>
            </a:r>
            <a:endParaRPr lang="zh-TW" altLang="en-US" sz="2800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5058848" y="3875087"/>
            <a:ext cx="227007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6713870" y="4002424"/>
            <a:ext cx="1856830" cy="18992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3085969" y="1612084"/>
            <a:ext cx="1947915" cy="1771562"/>
            <a:chOff x="1561968" y="1612084"/>
            <a:chExt cx="1947915" cy="1771562"/>
          </a:xfrm>
        </p:grpSpPr>
        <p:sp>
          <p:nvSpPr>
            <p:cNvPr id="30" name="橢圓 29"/>
            <p:cNvSpPr/>
            <p:nvPr/>
          </p:nvSpPr>
          <p:spPr>
            <a:xfrm>
              <a:off x="1593212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31" name="橢圓 30"/>
            <p:cNvSpPr/>
            <p:nvPr/>
          </p:nvSpPr>
          <p:spPr>
            <a:xfrm>
              <a:off x="2564819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2533575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33" name="橢圓 32"/>
            <p:cNvSpPr/>
            <p:nvPr/>
          </p:nvSpPr>
          <p:spPr>
            <a:xfrm>
              <a:off x="1561968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1783304" y="1828843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-1</a:t>
              </a:r>
              <a:endParaRPr lang="zh-TW" altLang="en-US" sz="24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2789883" y="1806541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2758639" y="2661155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37" name="橢圓 36"/>
            <p:cNvSpPr/>
            <p:nvPr/>
          </p:nvSpPr>
          <p:spPr>
            <a:xfrm>
              <a:off x="1766401" y="2663646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27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27" grpId="0"/>
      <p:bldP spid="28" grpId="0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273703" y="2274348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43" y="191530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2801456" y="1705970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48219" y="6055667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7393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7393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7393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7393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6405210" y="5753403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3678215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152651" y="2562543"/>
            <a:ext cx="4369145" cy="40722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7784067" y="3414978"/>
            <a:ext cx="2097183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new image</a:t>
            </a:r>
            <a:endParaRPr lang="zh-TW" altLang="en-US" sz="2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7679255" y="5630639"/>
            <a:ext cx="2097183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new image</a:t>
            </a:r>
            <a:endParaRPr lang="zh-TW" altLang="en-US" sz="28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Flatten</a:t>
            </a: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791012" y="2473538"/>
            <a:ext cx="1943214" cy="2049364"/>
            <a:chOff x="758373" y="2759289"/>
            <a:chExt cx="1943214" cy="2049364"/>
          </a:xfrm>
        </p:grpSpPr>
        <p:sp>
          <p:nvSpPr>
            <p:cNvPr id="6" name="橢圓 5"/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-1</a:t>
              </a:r>
              <a:endParaRPr lang="zh-TW" altLang="en-US" sz="2400" dirty="0"/>
            </a:p>
          </p:txBody>
        </p:sp>
        <p:sp>
          <p:nvSpPr>
            <p:cNvPr id="11" name="橢圓 10"/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4033007" y="3902849"/>
            <a:ext cx="1364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Flatten</a:t>
            </a:r>
            <a:endParaRPr lang="zh-TW" altLang="en-US" sz="2800" dirty="0"/>
          </a:p>
        </p:txBody>
      </p:sp>
      <p:sp>
        <p:nvSpPr>
          <p:cNvPr id="21" name="橢圓 20"/>
          <p:cNvSpPr/>
          <p:nvPr/>
        </p:nvSpPr>
        <p:spPr>
          <a:xfrm>
            <a:off x="5736000" y="194885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5736000" y="10843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5736000" y="19232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5736000" y="2778220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5736000" y="3615067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5736000" y="440275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5736000" y="5204579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橢圓 27"/>
          <p:cNvSpPr/>
          <p:nvPr/>
        </p:nvSpPr>
        <p:spPr>
          <a:xfrm>
            <a:off x="5736000" y="602927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5" name="向右箭號 4"/>
          <p:cNvSpPr/>
          <p:nvPr/>
        </p:nvSpPr>
        <p:spPr>
          <a:xfrm>
            <a:off x="6511647" y="3190637"/>
            <a:ext cx="558279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右箭號 32"/>
          <p:cNvSpPr/>
          <p:nvPr/>
        </p:nvSpPr>
        <p:spPr>
          <a:xfrm>
            <a:off x="8997526" y="3419072"/>
            <a:ext cx="558279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7125572" y="2724281"/>
            <a:ext cx="3201477" cy="2629618"/>
            <a:chOff x="-2630921" y="4440114"/>
            <a:chExt cx="3201477" cy="2629618"/>
          </a:xfrm>
        </p:grpSpPr>
        <p:pic>
          <p:nvPicPr>
            <p:cNvPr id="30" name="圖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 flipH="1">
              <a:off x="-2630921" y="4440114"/>
              <a:ext cx="3201477" cy="1701788"/>
            </a:xfrm>
            <a:prstGeom prst="rect">
              <a:avLst/>
            </a:prstGeom>
          </p:spPr>
        </p:pic>
        <p:sp>
          <p:nvSpPr>
            <p:cNvPr id="31" name="文字方塊 30"/>
            <p:cNvSpPr txBox="1"/>
            <p:nvPr/>
          </p:nvSpPr>
          <p:spPr>
            <a:xfrm>
              <a:off x="-2630921" y="6238735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sp>
        <p:nvSpPr>
          <p:cNvPr id="34" name="向右箭號 33"/>
          <p:cNvSpPr/>
          <p:nvPr/>
        </p:nvSpPr>
        <p:spPr>
          <a:xfrm>
            <a:off x="3849687" y="3202044"/>
            <a:ext cx="1832676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64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5" grpId="0" animBg="1"/>
      <p:bldP spid="33" grpId="0" animBg="1"/>
      <p:bldP spid="3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CNN for Mnist Data Set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8" y="1504787"/>
            <a:ext cx="6816456" cy="2970027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7188200" y="610304"/>
            <a:ext cx="4953788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Conv2D(): </a:t>
            </a:r>
            <a:r>
              <a:rPr lang="en-US" altLang="zh-TW"/>
              <a:t>2D convolution </a:t>
            </a:r>
            <a:r>
              <a:rPr lang="en-US" altLang="zh-TW" smtClean="0"/>
              <a:t>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filters: </a:t>
            </a:r>
            <a:r>
              <a:rPr lang="en-US" altLang="zh-TW"/>
              <a:t>the dimensionality of the output space (i.e. the number of output filters in the convolution)</a:t>
            </a:r>
            <a:r>
              <a:rPr lang="en-US" altLang="zh-TW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kernel_size: </a:t>
            </a:r>
            <a:r>
              <a:rPr lang="en-US" altLang="zh-TW"/>
              <a:t>the height and width of the 2D convolution </a:t>
            </a:r>
            <a:r>
              <a:rPr lang="en-US" altLang="zh-TW" smtClean="0"/>
              <a:t>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/>
              <a:t>strides</a:t>
            </a:r>
            <a:r>
              <a:rPr lang="en-US" altLang="zh-TW"/>
              <a:t>: </a:t>
            </a:r>
            <a:r>
              <a:rPr lang="en-US" altLang="zh-TW" smtClean="0"/>
              <a:t>specifying </a:t>
            </a:r>
            <a:r>
              <a:rPr lang="en-US" altLang="zh-TW"/>
              <a:t>the strides of the convolution along the height and width.</a:t>
            </a:r>
            <a:endParaRPr lang="en-US" altLang="zh-TW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padding: "valid" means "no padding". "same" results in padding the input such that the output has the same length as the original input.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activation</a:t>
            </a:r>
            <a:r>
              <a:rPr lang="en-US" altLang="zh-TW" smtClean="0"/>
              <a:t>: Activation function to use. If you don't specify anything, no activation is applied (ie. "linear" activation: a(x) = x)</a:t>
            </a:r>
            <a:endParaRPr lang="zh-TW" altLang="en-US"/>
          </a:p>
        </p:txBody>
      </p:sp>
      <p:cxnSp>
        <p:nvCxnSpPr>
          <p:cNvPr id="11" name="直線單箭頭接點 10"/>
          <p:cNvCxnSpPr>
            <a:stCxn id="10" idx="1"/>
          </p:cNvCxnSpPr>
          <p:nvPr/>
        </p:nvCxnSpPr>
        <p:spPr>
          <a:xfrm flipH="1" flipV="1">
            <a:off x="6139122" y="2590803"/>
            <a:ext cx="1049078" cy="4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58405" y="5134619"/>
            <a:ext cx="584200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MaxPooling2D(): Max pooling operation for spatial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pool_size: factors by which to downscale (vertical, horizontal)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strides: Strides values. If "None", it will default to pool_size.</a:t>
            </a:r>
            <a:endParaRPr lang="zh-TW" altLang="en-US"/>
          </a:p>
        </p:txBody>
      </p:sp>
      <p:cxnSp>
        <p:nvCxnSpPr>
          <p:cNvPr id="13" name="直線單箭頭接點 12"/>
          <p:cNvCxnSpPr>
            <a:stCxn id="12" idx="1"/>
          </p:cNvCxnSpPr>
          <p:nvPr/>
        </p:nvCxnSpPr>
        <p:spPr>
          <a:xfrm flipV="1">
            <a:off x="558405" y="3521779"/>
            <a:ext cx="643862" cy="2351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6299987" y="4725858"/>
            <a:ext cx="58420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Flatten(): </a:t>
            </a:r>
            <a:r>
              <a:rPr lang="en-US" altLang="zh-TW"/>
              <a:t>Flattens the input</a:t>
            </a:r>
            <a:r>
              <a:rPr lang="en-US" altLang="zh-TW" smtClean="0"/>
              <a:t>. (here </a:t>
            </a:r>
            <a:r>
              <a:rPr lang="en-US" altLang="zh-TW" smtClean="0"/>
              <a:t>3*3*128 </a:t>
            </a:r>
            <a:r>
              <a:rPr lang="en-US" altLang="zh-TW" smtClean="0"/>
              <a:t>= </a:t>
            </a:r>
            <a:r>
              <a:rPr lang="en-US" altLang="zh-TW" smtClean="0"/>
              <a:t>1152)</a:t>
            </a:r>
            <a:endParaRPr lang="en-US" altLang="zh-TW" smtClean="0"/>
          </a:p>
        </p:txBody>
      </p:sp>
      <p:cxnSp>
        <p:nvCxnSpPr>
          <p:cNvPr id="20" name="直線單箭頭接點 19"/>
          <p:cNvCxnSpPr>
            <a:stCxn id="19" idx="1"/>
          </p:cNvCxnSpPr>
          <p:nvPr/>
        </p:nvCxnSpPr>
        <p:spPr>
          <a:xfrm flipH="1" flipV="1">
            <a:off x="2818701" y="3842158"/>
            <a:ext cx="3481286" cy="1068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702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67" y="382058"/>
            <a:ext cx="5003023" cy="536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53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97" y="374867"/>
            <a:ext cx="9348363" cy="4608193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7187583" y="1313134"/>
            <a:ext cx="485062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>
                <a:ln>
                  <a:solidFill>
                    <a:schemeClr val="tx1"/>
                  </a:solidFill>
                </a:ln>
              </a:rPr>
              <a:t>Reshape image featrues to</a:t>
            </a:r>
            <a:r>
              <a:rPr lang="zh-TW" altLang="en-US" smtClean="0">
                <a:ln>
                  <a:solidFill>
                    <a:schemeClr val="tx1"/>
                  </a:solidFill>
                </a:ln>
              </a:rPr>
              <a:t> </a:t>
            </a:r>
            <a:r>
              <a:rPr lang="en-US" altLang="zh-TW" smtClean="0">
                <a:ln>
                  <a:solidFill>
                    <a:schemeClr val="tx1"/>
                  </a:solidFill>
                </a:ln>
              </a:rPr>
              <a:t>6000*28*28*1 matrix</a:t>
            </a:r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905993" y="1774799"/>
            <a:ext cx="25869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mtClean="0">
                <a:ln>
                  <a:solidFill>
                    <a:schemeClr val="tx1"/>
                  </a:solidFill>
                </a:ln>
              </a:rPr>
              <a:t>Normalize image featrues</a:t>
            </a:r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0" name="直線單箭頭接點 9"/>
          <p:cNvCxnSpPr>
            <a:stCxn id="6" idx="1"/>
          </p:cNvCxnSpPr>
          <p:nvPr/>
        </p:nvCxnSpPr>
        <p:spPr>
          <a:xfrm flipH="1">
            <a:off x="5410200" y="1497800"/>
            <a:ext cx="1777383" cy="68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7" idx="1"/>
          </p:cNvCxnSpPr>
          <p:nvPr/>
        </p:nvCxnSpPr>
        <p:spPr>
          <a:xfrm flipH="1" flipV="1">
            <a:off x="5096933" y="1774799"/>
            <a:ext cx="2809060" cy="184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411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6" y="124783"/>
            <a:ext cx="5630061" cy="630643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062" y="1507448"/>
            <a:ext cx="5668166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36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53" y="41158"/>
            <a:ext cx="6196755" cy="668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5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CNN for CIFAR-10 Dataset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The CIFAR-10 dataset consists of 60000 32x32 colour images in 10 classes, with 6000 images per class. There are 50000 training images and 10000 test images. </a:t>
            </a:r>
          </a:p>
          <a:p>
            <a:r>
              <a:rPr lang="en-US" altLang="zh-TW" smtClean="0">
                <a:hlinkClick r:id="rId2"/>
              </a:rPr>
              <a:t>http://www.cs.toronto.edu/~kriz/cifar.html</a:t>
            </a:r>
            <a:endParaRPr lang="en-US" altLang="zh-TW" smtClean="0"/>
          </a:p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445" y="2971799"/>
            <a:ext cx="4684555" cy="3640667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6837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162984"/>
            <a:ext cx="5362575" cy="57531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892800" y="3132667"/>
            <a:ext cx="3877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mtClean="0"/>
              <a:t>5000 images, size: 32x32, 3 colors(RGB)</a:t>
            </a:r>
            <a:endParaRPr lang="zh-TW" altLang="en-US"/>
          </a:p>
        </p:txBody>
      </p:sp>
      <p:cxnSp>
        <p:nvCxnSpPr>
          <p:cNvPr id="7" name="直線單箭頭接點 6"/>
          <p:cNvCxnSpPr>
            <a:stCxn id="5" idx="1"/>
          </p:cNvCxnSpPr>
          <p:nvPr/>
        </p:nvCxnSpPr>
        <p:spPr>
          <a:xfrm flipH="1">
            <a:off x="3124200" y="3317333"/>
            <a:ext cx="2768600" cy="24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1" name="群組 20"/>
          <p:cNvGrpSpPr/>
          <p:nvPr/>
        </p:nvGrpSpPr>
        <p:grpSpPr>
          <a:xfrm>
            <a:off x="10139931" y="2379134"/>
            <a:ext cx="1095335" cy="2512539"/>
            <a:chOff x="10139931" y="2379134"/>
            <a:chExt cx="1095335" cy="2512539"/>
          </a:xfrm>
        </p:grpSpPr>
        <p:sp>
          <p:nvSpPr>
            <p:cNvPr id="10" name="平行四邊形 9"/>
            <p:cNvSpPr/>
            <p:nvPr/>
          </p:nvSpPr>
          <p:spPr>
            <a:xfrm>
              <a:off x="10549465" y="2379134"/>
              <a:ext cx="685801" cy="482600"/>
            </a:xfrm>
            <a:prstGeom prst="parallelogram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平行四邊形 10"/>
            <p:cNvSpPr/>
            <p:nvPr/>
          </p:nvSpPr>
          <p:spPr>
            <a:xfrm>
              <a:off x="10405080" y="2455334"/>
              <a:ext cx="737053" cy="524933"/>
            </a:xfrm>
            <a:prstGeom prst="parallelogram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平行四邊形 11"/>
            <p:cNvSpPr/>
            <p:nvPr/>
          </p:nvSpPr>
          <p:spPr>
            <a:xfrm>
              <a:off x="10255329" y="2535766"/>
              <a:ext cx="768275" cy="520701"/>
            </a:xfrm>
            <a:prstGeom prst="parallelogram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平行四邊形 12"/>
            <p:cNvSpPr/>
            <p:nvPr/>
          </p:nvSpPr>
          <p:spPr>
            <a:xfrm>
              <a:off x="10524069" y="3111500"/>
              <a:ext cx="685801" cy="482600"/>
            </a:xfrm>
            <a:prstGeom prst="parallelogram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平行四邊形 13"/>
            <p:cNvSpPr/>
            <p:nvPr/>
          </p:nvSpPr>
          <p:spPr>
            <a:xfrm>
              <a:off x="10379684" y="3187700"/>
              <a:ext cx="737053" cy="524933"/>
            </a:xfrm>
            <a:prstGeom prst="parallelogram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平行四邊形 14"/>
            <p:cNvSpPr/>
            <p:nvPr/>
          </p:nvSpPr>
          <p:spPr>
            <a:xfrm>
              <a:off x="10229933" y="3268132"/>
              <a:ext cx="768275" cy="520701"/>
            </a:xfrm>
            <a:prstGeom prst="parallelogram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平行四邊形 15"/>
            <p:cNvSpPr/>
            <p:nvPr/>
          </p:nvSpPr>
          <p:spPr>
            <a:xfrm>
              <a:off x="10434067" y="3843866"/>
              <a:ext cx="685801" cy="482600"/>
            </a:xfrm>
            <a:prstGeom prst="parallelogram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平行四邊形 16"/>
            <p:cNvSpPr/>
            <p:nvPr/>
          </p:nvSpPr>
          <p:spPr>
            <a:xfrm>
              <a:off x="10289682" y="3920066"/>
              <a:ext cx="737053" cy="524933"/>
            </a:xfrm>
            <a:prstGeom prst="parallelogram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平行四邊形 17"/>
            <p:cNvSpPr/>
            <p:nvPr/>
          </p:nvSpPr>
          <p:spPr>
            <a:xfrm>
              <a:off x="10139931" y="4000498"/>
              <a:ext cx="768275" cy="520701"/>
            </a:xfrm>
            <a:prstGeom prst="parallelogram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10352386" y="4491563"/>
              <a:ext cx="3609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smtClean="0"/>
                <a:t>…</a:t>
              </a:r>
              <a:endParaRPr lang="zh-TW" altLang="en-US" sz="2000"/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8095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53" y="168803"/>
            <a:ext cx="4314825" cy="282892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53" y="3067050"/>
            <a:ext cx="4286250" cy="4191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4"/>
          <a:srcRect r="11319"/>
          <a:stretch/>
        </p:blipFill>
        <p:spPr>
          <a:xfrm>
            <a:off x="340253" y="3555472"/>
            <a:ext cx="4291014" cy="21717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68" y="73471"/>
            <a:ext cx="4184750" cy="662366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49400" y="2421467"/>
            <a:ext cx="1490133" cy="1608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563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7" y="346075"/>
            <a:ext cx="9420225" cy="5810250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59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" y="141816"/>
            <a:ext cx="3848100" cy="32385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75" y="27516"/>
            <a:ext cx="4514850" cy="67056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30867" y="2345267"/>
            <a:ext cx="1066801" cy="1862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239935" y="601134"/>
            <a:ext cx="541865" cy="1693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5477933" y="5655733"/>
            <a:ext cx="762002" cy="84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5042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96837"/>
            <a:ext cx="2133600" cy="381952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984" y="0"/>
            <a:ext cx="7734300" cy="4181475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77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7" y="84133"/>
            <a:ext cx="4162425" cy="465772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444999" y="3877730"/>
            <a:ext cx="75014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/>
              <a:t>Saving </a:t>
            </a:r>
            <a:r>
              <a:rPr lang="en-US" altLang="zh-TW" b="1" smtClean="0"/>
              <a:t>whole model </a:t>
            </a:r>
            <a:r>
              <a:rPr lang="en-US" altLang="zh-TW" smtClean="0"/>
              <a:t>(architecture + weights + training </a:t>
            </a:r>
            <a:r>
              <a:rPr lang="en-US" altLang="zh-TW"/>
              <a:t>configuration</a:t>
            </a:r>
            <a:r>
              <a:rPr lang="en-US" altLang="zh-TW" smtClean="0"/>
              <a:t> + optimizer state) </a:t>
            </a:r>
            <a:r>
              <a:rPr lang="en-US" altLang="zh-TW"/>
              <a:t>into a single HDF5 file</a:t>
            </a:r>
            <a:endParaRPr lang="zh-TW" altLang="en-US"/>
          </a:p>
        </p:txBody>
      </p:sp>
      <p:cxnSp>
        <p:nvCxnSpPr>
          <p:cNvPr id="7" name="直線單箭頭接點 6"/>
          <p:cNvCxnSpPr>
            <a:stCxn id="6" idx="1"/>
          </p:cNvCxnSpPr>
          <p:nvPr/>
        </p:nvCxnSpPr>
        <p:spPr>
          <a:xfrm flipH="1">
            <a:off x="3166533" y="4200896"/>
            <a:ext cx="1278466" cy="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4444999" y="304797"/>
            <a:ext cx="75014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/>
              <a:t>save the </a:t>
            </a:r>
            <a:r>
              <a:rPr lang="en-US" altLang="zh-TW" b="1"/>
              <a:t>architecture of a model</a:t>
            </a:r>
            <a:r>
              <a:rPr lang="en-US" altLang="zh-TW"/>
              <a:t>, and not its weights or its training configuration</a:t>
            </a:r>
            <a:endParaRPr lang="zh-TW" altLang="en-US"/>
          </a:p>
        </p:txBody>
      </p:sp>
      <p:cxnSp>
        <p:nvCxnSpPr>
          <p:cNvPr id="13" name="直線單箭頭接點 12"/>
          <p:cNvCxnSpPr>
            <a:stCxn id="12" idx="1"/>
          </p:cNvCxnSpPr>
          <p:nvPr/>
        </p:nvCxnSpPr>
        <p:spPr>
          <a:xfrm flipH="1">
            <a:off x="3166533" y="627963"/>
            <a:ext cx="1278466" cy="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444999" y="1606515"/>
            <a:ext cx="75014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/>
              <a:t>save the </a:t>
            </a:r>
            <a:r>
              <a:rPr lang="en-US" altLang="zh-TW" b="1"/>
              <a:t>architecture of a model</a:t>
            </a:r>
            <a:r>
              <a:rPr lang="en-US" altLang="zh-TW"/>
              <a:t>, and not its weights or its training configuration</a:t>
            </a:r>
            <a:endParaRPr lang="zh-TW" altLang="en-US"/>
          </a:p>
        </p:txBody>
      </p:sp>
      <p:cxnSp>
        <p:nvCxnSpPr>
          <p:cNvPr id="15" name="直線單箭頭接點 14"/>
          <p:cNvCxnSpPr>
            <a:stCxn id="14" idx="1"/>
          </p:cNvCxnSpPr>
          <p:nvPr/>
        </p:nvCxnSpPr>
        <p:spPr>
          <a:xfrm flipH="1">
            <a:off x="3166533" y="1929681"/>
            <a:ext cx="1278466" cy="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444999" y="3178199"/>
            <a:ext cx="75014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/>
              <a:t>save </a:t>
            </a:r>
            <a:r>
              <a:rPr lang="en-US" altLang="zh-TW" smtClean="0"/>
              <a:t>only the</a:t>
            </a:r>
            <a:r>
              <a:rPr lang="en-US" altLang="zh-TW"/>
              <a:t> </a:t>
            </a:r>
            <a:r>
              <a:rPr lang="en-US" altLang="zh-TW" b="1" smtClean="0"/>
              <a:t>weights </a:t>
            </a:r>
            <a:r>
              <a:rPr lang="en-US" altLang="zh-TW" b="1"/>
              <a:t>of a </a:t>
            </a:r>
            <a:r>
              <a:rPr lang="en-US" altLang="zh-TW" b="1" smtClean="0"/>
              <a:t>model</a:t>
            </a:r>
            <a:endParaRPr lang="zh-TW" altLang="en-US"/>
          </a:p>
        </p:txBody>
      </p:sp>
      <p:cxnSp>
        <p:nvCxnSpPr>
          <p:cNvPr id="17" name="直線單箭頭接點 16"/>
          <p:cNvCxnSpPr>
            <a:stCxn id="16" idx="1"/>
          </p:cNvCxnSpPr>
          <p:nvPr/>
        </p:nvCxnSpPr>
        <p:spPr>
          <a:xfrm flipH="1">
            <a:off x="4072467" y="3362865"/>
            <a:ext cx="372532" cy="2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87" y="5755754"/>
            <a:ext cx="3981450" cy="962025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87" y="5251294"/>
            <a:ext cx="3076575" cy="390525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4444999" y="5895353"/>
            <a:ext cx="75014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/>
              <a:t>load the </a:t>
            </a:r>
            <a:r>
              <a:rPr lang="en-US" altLang="zh-TW" b="1"/>
              <a:t>weights</a:t>
            </a:r>
            <a:r>
              <a:rPr lang="en-US" altLang="zh-TW"/>
              <a:t> </a:t>
            </a:r>
            <a:r>
              <a:rPr lang="en-US" altLang="zh-TW" smtClean="0"/>
              <a:t>into </a:t>
            </a:r>
            <a:r>
              <a:rPr lang="en-US" altLang="zh-TW"/>
              <a:t>a model with the </a:t>
            </a:r>
            <a:r>
              <a:rPr lang="en-US" altLang="zh-TW" i="1"/>
              <a:t>same</a:t>
            </a:r>
            <a:r>
              <a:rPr lang="en-US" altLang="zh-TW"/>
              <a:t> architecture</a:t>
            </a:r>
            <a:endParaRPr lang="zh-TW" altLang="en-US"/>
          </a:p>
        </p:txBody>
      </p:sp>
      <p:cxnSp>
        <p:nvCxnSpPr>
          <p:cNvPr id="24" name="直線單箭頭接點 23"/>
          <p:cNvCxnSpPr>
            <a:stCxn id="23" idx="1"/>
          </p:cNvCxnSpPr>
          <p:nvPr/>
        </p:nvCxnSpPr>
        <p:spPr>
          <a:xfrm flipH="1">
            <a:off x="4072467" y="6080019"/>
            <a:ext cx="372532" cy="2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4444999" y="5261891"/>
            <a:ext cx="75014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/>
              <a:t>Load </a:t>
            </a:r>
            <a:r>
              <a:rPr lang="en-US" altLang="zh-TW" b="1" smtClean="0"/>
              <a:t>whole model</a:t>
            </a:r>
            <a:endParaRPr lang="zh-TW" altLang="en-US"/>
          </a:p>
        </p:txBody>
      </p:sp>
      <p:cxnSp>
        <p:nvCxnSpPr>
          <p:cNvPr id="26" name="直線單箭頭接點 25"/>
          <p:cNvCxnSpPr>
            <a:stCxn id="25" idx="1"/>
          </p:cNvCxnSpPr>
          <p:nvPr/>
        </p:nvCxnSpPr>
        <p:spPr>
          <a:xfrm flipH="1">
            <a:off x="4072467" y="5446557"/>
            <a:ext cx="372532" cy="2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7" name="圖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87" y="4825126"/>
            <a:ext cx="3810000" cy="342900"/>
          </a:xfrm>
          <a:prstGeom prst="rect">
            <a:avLst/>
          </a:prstGeom>
        </p:spPr>
      </p:pic>
      <p:sp>
        <p:nvSpPr>
          <p:cNvPr id="28" name="文字方塊 27"/>
          <p:cNvSpPr txBox="1"/>
          <p:nvPr/>
        </p:nvSpPr>
        <p:spPr>
          <a:xfrm>
            <a:off x="4444999" y="4788191"/>
            <a:ext cx="75014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/>
              <a:t>build a fresh model </a:t>
            </a:r>
            <a:r>
              <a:rPr lang="en-US" altLang="zh-TW" smtClean="0"/>
              <a:t>from a file</a:t>
            </a:r>
            <a:endParaRPr lang="zh-TW" altLang="en-US"/>
          </a:p>
        </p:txBody>
      </p:sp>
      <p:cxnSp>
        <p:nvCxnSpPr>
          <p:cNvPr id="29" name="直線單箭頭接點 28"/>
          <p:cNvCxnSpPr>
            <a:stCxn id="28" idx="1"/>
          </p:cNvCxnSpPr>
          <p:nvPr/>
        </p:nvCxnSpPr>
        <p:spPr>
          <a:xfrm flipH="1">
            <a:off x="4072467" y="4972857"/>
            <a:ext cx="372532" cy="2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81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CNN</a:t>
            </a:r>
            <a:r>
              <a:rPr lang="zh-TW" altLang="en-US" smtClean="0"/>
              <a:t> </a:t>
            </a:r>
            <a:r>
              <a:rPr lang="en-US" altLang="zh-TW" smtClean="0"/>
              <a:t>for CT </a:t>
            </a:r>
            <a:r>
              <a:rPr lang="en-US" altLang="zh-TW"/>
              <a:t>Medical Images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A </a:t>
            </a:r>
            <a:r>
              <a:rPr lang="en-US" altLang="zh-TW"/>
              <a:t>tiny subset of images from the cancer imaging </a:t>
            </a:r>
            <a:r>
              <a:rPr lang="en-US" altLang="zh-TW" smtClean="0"/>
              <a:t>archive</a:t>
            </a:r>
          </a:p>
          <a:p>
            <a:r>
              <a:rPr lang="en-US" altLang="zh-TW" smtClean="0"/>
              <a:t>Middle </a:t>
            </a:r>
            <a:r>
              <a:rPr lang="en-US" altLang="zh-TW"/>
              <a:t>slice of all CT </a:t>
            </a:r>
            <a:r>
              <a:rPr lang="en-US" altLang="zh-TW" smtClean="0"/>
              <a:t>images</a:t>
            </a:r>
          </a:p>
          <a:p>
            <a:r>
              <a:rPr lang="en-US" altLang="zh-TW"/>
              <a:t>A</a:t>
            </a:r>
            <a:r>
              <a:rPr lang="en-US" altLang="zh-TW" smtClean="0"/>
              <a:t>ssociated </a:t>
            </a:r>
            <a:r>
              <a:rPr lang="en-US" altLang="zh-TW"/>
              <a:t>with using contrast and patient </a:t>
            </a:r>
            <a:r>
              <a:rPr lang="en-US" altLang="zh-TW" smtClean="0"/>
              <a:t>age</a:t>
            </a:r>
          </a:p>
          <a:p>
            <a:r>
              <a:rPr lang="en-US" altLang="zh-TW" smtClean="0"/>
              <a:t>Predict if using contrast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049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" y="33868"/>
            <a:ext cx="8957956" cy="671406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629400" y="6378603"/>
            <a:ext cx="534246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/>
              <a:t>Transform string values TRUE/FALSE to integer 1 / 0</a:t>
            </a:r>
            <a:endParaRPr lang="zh-TW" altLang="en-US"/>
          </a:p>
        </p:txBody>
      </p:sp>
      <p:cxnSp>
        <p:nvCxnSpPr>
          <p:cNvPr id="6" name="直線單箭頭接點 5"/>
          <p:cNvCxnSpPr>
            <a:stCxn id="5" idx="1"/>
          </p:cNvCxnSpPr>
          <p:nvPr/>
        </p:nvCxnSpPr>
        <p:spPr>
          <a:xfrm flipH="1" flipV="1">
            <a:off x="5384802" y="6561667"/>
            <a:ext cx="1244598" cy="1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170768" y="1497274"/>
            <a:ext cx="88011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/>
              <a:t>Set </a:t>
            </a:r>
            <a:r>
              <a:rPr lang="en-US" altLang="zh-TW"/>
              <a:t>the backend of matplotlib to the 'inline' </a:t>
            </a:r>
            <a:r>
              <a:rPr lang="en-US" altLang="zh-TW" smtClean="0"/>
              <a:t>backend.</a:t>
            </a:r>
          </a:p>
          <a:p>
            <a:r>
              <a:rPr lang="en-US" altLang="zh-TW" smtClean="0"/>
              <a:t>The </a:t>
            </a:r>
            <a:r>
              <a:rPr lang="en-US" altLang="zh-TW"/>
              <a:t>output of plotting commands is displayed inline within frontends like the Jupyter notebook, directly below the code cell that produced it</a:t>
            </a:r>
            <a:r>
              <a:rPr lang="en-US" altLang="zh-TW" smtClean="0"/>
              <a:t>. </a:t>
            </a:r>
            <a:r>
              <a:rPr lang="en-US" altLang="zh-TW"/>
              <a:t> The resulting plots will then also be stored in the notebook document.</a:t>
            </a:r>
            <a:endParaRPr lang="zh-TW" altLang="en-US"/>
          </a:p>
        </p:txBody>
      </p:sp>
      <p:cxnSp>
        <p:nvCxnSpPr>
          <p:cNvPr id="11" name="直線單箭頭接點 10"/>
          <p:cNvCxnSpPr>
            <a:stCxn id="10" idx="1"/>
          </p:cNvCxnSpPr>
          <p:nvPr/>
        </p:nvCxnSpPr>
        <p:spPr>
          <a:xfrm flipH="1">
            <a:off x="2065870" y="2097439"/>
            <a:ext cx="1104898" cy="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8952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50283"/>
            <a:ext cx="4800600" cy="33909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621867" y="739803"/>
            <a:ext cx="63669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/>
              <a:t>Return a </a:t>
            </a:r>
            <a:r>
              <a:rPr lang="en-US" altLang="zh-TW" smtClean="0"/>
              <a:t>list </a:t>
            </a:r>
            <a:r>
              <a:rPr lang="en-US" altLang="zh-TW"/>
              <a:t>of path names that </a:t>
            </a:r>
            <a:r>
              <a:rPr lang="en-US" altLang="zh-TW" smtClean="0"/>
              <a:t>match a pattern of path</a:t>
            </a:r>
            <a:r>
              <a:rPr lang="en-US" altLang="zh-TW"/>
              <a:t> </a:t>
            </a:r>
            <a:endParaRPr lang="zh-TW" altLang="en-US"/>
          </a:p>
        </p:txBody>
      </p:sp>
      <p:cxnSp>
        <p:nvCxnSpPr>
          <p:cNvPr id="4" name="直線單箭頭接點 3"/>
          <p:cNvCxnSpPr>
            <a:stCxn id="3" idx="1"/>
          </p:cNvCxnSpPr>
          <p:nvPr/>
        </p:nvCxnSpPr>
        <p:spPr>
          <a:xfrm flipH="1" flipV="1">
            <a:off x="4377269" y="922867"/>
            <a:ext cx="1244598" cy="1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34" y="1292199"/>
            <a:ext cx="4057650" cy="543877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9838267" y="1505985"/>
            <a:ext cx="2150533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/>
              <a:t>exapnd_dims: Insert </a:t>
            </a:r>
            <a:r>
              <a:rPr lang="en-US" altLang="zh-TW"/>
              <a:t>a new axis, corresponding to a given position in the array shape</a:t>
            </a:r>
            <a:r>
              <a:rPr lang="en-US" altLang="zh-TW" smtClean="0"/>
              <a:t>.</a:t>
            </a:r>
          </a:p>
          <a:p>
            <a:r>
              <a:rPr lang="en-US" altLang="zh-TW" smtClean="0"/>
              <a:t>[: :2][: :2]: select array elements with stepwise 2. Downsize to half.</a:t>
            </a:r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9389533" y="1505985"/>
            <a:ext cx="4487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9838267" y="5644752"/>
            <a:ext cx="215053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mtClean="0"/>
              <a:t>Read all images into an array</a:t>
            </a:r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9294284" y="5967918"/>
            <a:ext cx="543983" cy="1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39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0"/>
            <a:ext cx="6830483" cy="681182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995" y="113771"/>
            <a:ext cx="4181475" cy="641032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481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5" y="75670"/>
            <a:ext cx="5019675" cy="282892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5" y="2904595"/>
            <a:ext cx="4524375" cy="34956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221" y="101069"/>
            <a:ext cx="3324225" cy="191452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221" y="2015594"/>
            <a:ext cx="6030912" cy="475658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3097" y="245003"/>
            <a:ext cx="3431318" cy="669924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91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Powerful </a:t>
            </a:r>
            <a:r>
              <a:rPr lang="en-US" altLang="zh-TW"/>
              <a:t>CNN Architectures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hlinkClick r:id="rId2"/>
              </a:rPr>
              <a:t>https://</a:t>
            </a:r>
            <a:r>
              <a:rPr lang="en-US" altLang="zh-TW" smtClean="0">
                <a:hlinkClick r:id="rId2"/>
              </a:rPr>
              <a:t>medium.com/datadriveninvestor/five-powerful-cnn-architectures-b939c9ddd57b</a:t>
            </a:r>
            <a:endParaRPr lang="en-US" altLang="zh-TW" smtClean="0"/>
          </a:p>
          <a:p>
            <a:r>
              <a:rPr lang="en-US" altLang="zh-TW">
                <a:hlinkClick r:id="rId3"/>
              </a:rPr>
              <a:t>https://</a:t>
            </a:r>
            <a:r>
              <a:rPr lang="en-US" altLang="zh-TW" smtClean="0">
                <a:hlinkClick r:id="rId3"/>
              </a:rPr>
              <a:t>ithelp.ithome.com.tw/articles/10192162</a:t>
            </a:r>
            <a:endParaRPr lang="en-US" altLang="zh-TW" smtClean="0"/>
          </a:p>
          <a:p>
            <a:r>
              <a:rPr lang="en-US" altLang="zh-TW" smtClean="0"/>
              <a:t>DenseNet</a:t>
            </a:r>
          </a:p>
          <a:p>
            <a:pPr lvl="1"/>
            <a:r>
              <a:rPr lang="en-US" altLang="zh-TW">
                <a:hlinkClick r:id="rId4"/>
              </a:rPr>
              <a:t>https://</a:t>
            </a:r>
            <a:r>
              <a:rPr lang="en-US" altLang="zh-TW" smtClean="0">
                <a:hlinkClick r:id="rId4"/>
              </a:rPr>
              <a:t>iter01.com/568757.html</a:t>
            </a:r>
            <a:endParaRPr lang="en-US" altLang="zh-TW" smtClean="0"/>
          </a:p>
          <a:p>
            <a:r>
              <a:rPr lang="en-US" altLang="zh-TW"/>
              <a:t>Image Segmentation </a:t>
            </a:r>
            <a:endParaRPr lang="en-US" altLang="zh-TW" smtClean="0"/>
          </a:p>
          <a:p>
            <a:pPr lvl="1"/>
            <a:r>
              <a:rPr lang="en-US" altLang="zh-TW">
                <a:hlinkClick r:id="rId5"/>
              </a:rPr>
              <a:t>https://medium.com/ching-i/%E5%BD%B1%E5%83%8F%E5%88%86%E5%89%B2-image-segmentation-%</a:t>
            </a:r>
            <a:r>
              <a:rPr lang="en-US" altLang="zh-TW" smtClean="0">
                <a:hlinkClick r:id="rId5"/>
              </a:rPr>
              <a:t>E8%AA%9E%E7%BE%A9%E5%88%86%E5%89%B2-semantic-segmentation-1-53a1dde9ed92</a:t>
            </a:r>
            <a:endParaRPr lang="en-US" altLang="zh-TW" smtClean="0"/>
          </a:p>
          <a:p>
            <a:pPr lvl="1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BDBB-532E-44C1-98B0-384CEFF18477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0670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17348</TotalTime>
  <Words>1856</Words>
  <Application>Microsoft Office PowerPoint</Application>
  <PresentationFormat>寬螢幕</PresentationFormat>
  <Paragraphs>861</Paragraphs>
  <Slides>42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8" baseType="lpstr">
      <vt:lpstr>新細明體</vt:lpstr>
      <vt:lpstr>Arial</vt:lpstr>
      <vt:lpstr>Calibri</vt:lpstr>
      <vt:lpstr>Calibri Light</vt:lpstr>
      <vt:lpstr>Wingdings</vt:lpstr>
      <vt:lpstr>Office 佈景主題</vt:lpstr>
      <vt:lpstr>Convolutional Neural Networks</vt:lpstr>
      <vt:lpstr>Convolutional Neural Networks</vt:lpstr>
      <vt:lpstr>Why CNN for Image</vt:lpstr>
      <vt:lpstr>Why CNN for Image</vt:lpstr>
      <vt:lpstr>Why CNN for Image</vt:lpstr>
      <vt:lpstr>Why CNN for Image</vt:lpstr>
      <vt:lpstr>The whole CNN</vt:lpstr>
      <vt:lpstr>The whole CNN</vt:lpstr>
      <vt:lpstr>The whole CNN</vt:lpstr>
      <vt:lpstr>PowerPoint 簡報</vt:lpstr>
      <vt:lpstr>PowerPoint 簡報</vt:lpstr>
      <vt:lpstr>CNN – Convolution</vt:lpstr>
      <vt:lpstr>CNN – Convolution</vt:lpstr>
      <vt:lpstr>CNN – Convolution</vt:lpstr>
      <vt:lpstr>CNN – Convolution</vt:lpstr>
      <vt:lpstr>CNN – Convolution</vt:lpstr>
      <vt:lpstr>PowerPoint 簡報</vt:lpstr>
      <vt:lpstr>PowerPoint 簡報</vt:lpstr>
      <vt:lpstr>CNN – Convolution</vt:lpstr>
      <vt:lpstr>CNN – Max Pooling</vt:lpstr>
      <vt:lpstr>CNN – Max Pooling</vt:lpstr>
      <vt:lpstr>The whole CNN</vt:lpstr>
      <vt:lpstr>The whole CNN</vt:lpstr>
      <vt:lpstr>Flatten</vt:lpstr>
      <vt:lpstr>CNN for Mnist Data Set</vt:lpstr>
      <vt:lpstr>PowerPoint 簡報</vt:lpstr>
      <vt:lpstr>PowerPoint 簡報</vt:lpstr>
      <vt:lpstr>PowerPoint 簡報</vt:lpstr>
      <vt:lpstr>PowerPoint 簡報</vt:lpstr>
      <vt:lpstr>CNN for CIFAR-10 Dataset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CNN for CT Medical Images</vt:lpstr>
      <vt:lpstr>PowerPoint 簡報</vt:lpstr>
      <vt:lpstr>PowerPoint 簡報</vt:lpstr>
      <vt:lpstr>PowerPoint 簡報</vt:lpstr>
      <vt:lpstr>PowerPoint 簡報</vt:lpstr>
      <vt:lpstr>Powerful CNN 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denislin</dc:creator>
  <cp:lastModifiedBy>denislin</cp:lastModifiedBy>
  <cp:revision>78</cp:revision>
  <dcterms:created xsi:type="dcterms:W3CDTF">2019-08-18T07:34:14Z</dcterms:created>
  <dcterms:modified xsi:type="dcterms:W3CDTF">2022-11-08T05:26:23Z</dcterms:modified>
</cp:coreProperties>
</file>