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3" r:id="rId9"/>
    <p:sldId id="262" r:id="rId10"/>
    <p:sldId id="264" r:id="rId11"/>
    <p:sldId id="268" r:id="rId12"/>
    <p:sldId id="266" r:id="rId13"/>
    <p:sldId id="267" r:id="rId14"/>
    <p:sldId id="269" r:id="rId15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138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 smtClean="0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E044824C-B4DD-4338-8A9F-389AF3D4CB25}" type="datetimeFigureOut">
              <a:rPr lang="zh-TW" altLang="en-US" smtClean="0"/>
              <a:pPr/>
              <a:t>2019/10/15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0120EAD1-68FA-4379-BB0E-746A9B56E6B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4824C-B4DD-4338-8A9F-389AF3D4CB25}" type="datetimeFigureOut">
              <a:rPr lang="zh-TW" altLang="en-US" smtClean="0"/>
              <a:pPr/>
              <a:t>2019/10/15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EAD1-68FA-4379-BB0E-746A9B56E6B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4824C-B4DD-4338-8A9F-389AF3D4CB25}" type="datetimeFigureOut">
              <a:rPr lang="zh-TW" altLang="en-US" smtClean="0"/>
              <a:pPr/>
              <a:t>2019/10/15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EAD1-68FA-4379-BB0E-746A9B56E6B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4824C-B4DD-4338-8A9F-389AF3D4CB25}" type="datetimeFigureOut">
              <a:rPr lang="zh-TW" altLang="en-US" smtClean="0"/>
              <a:pPr/>
              <a:t>2019/10/15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EAD1-68FA-4379-BB0E-746A9B56E6B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E044824C-B4DD-4338-8A9F-389AF3D4CB25}" type="datetimeFigureOut">
              <a:rPr lang="zh-TW" altLang="en-US" smtClean="0"/>
              <a:pPr/>
              <a:t>2019/10/15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0120EAD1-68FA-4379-BB0E-746A9B56E6BF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E044824C-B4DD-4338-8A9F-389AF3D4CB25}" type="datetimeFigureOut">
              <a:rPr lang="zh-TW" altLang="en-US" smtClean="0"/>
              <a:pPr/>
              <a:t>2019/10/15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0120EAD1-68FA-4379-BB0E-746A9B56E6B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4824C-B4DD-4338-8A9F-389AF3D4CB25}" type="datetimeFigureOut">
              <a:rPr lang="zh-TW" altLang="en-US" smtClean="0"/>
              <a:pPr/>
              <a:t>2019/10/15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EAD1-68FA-4379-BB0E-746A9B56E6B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4824C-B4DD-4338-8A9F-389AF3D4CB25}" type="datetimeFigureOut">
              <a:rPr lang="zh-TW" altLang="en-US" smtClean="0"/>
              <a:pPr/>
              <a:t>2019/10/15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EAD1-68FA-4379-BB0E-746A9B56E6B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 smtClean="0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4824C-B4DD-4338-8A9F-389AF3D4CB25}" type="datetimeFigureOut">
              <a:rPr lang="zh-TW" altLang="en-US" smtClean="0"/>
              <a:pPr/>
              <a:t>2019/10/15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EAD1-68FA-4379-BB0E-746A9B56E6B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4824C-B4DD-4338-8A9F-389AF3D4CB25}" type="datetimeFigureOut">
              <a:rPr lang="zh-TW" altLang="en-US" smtClean="0"/>
              <a:pPr/>
              <a:t>2019/10/15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EAD1-68FA-4379-BB0E-746A9B56E6B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4824C-B4DD-4338-8A9F-389AF3D4CB25}" type="datetimeFigureOut">
              <a:rPr lang="zh-TW" altLang="en-US" smtClean="0"/>
              <a:pPr/>
              <a:t>2019/10/15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EAD1-68FA-4379-BB0E-746A9B56E6B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  <a:p>
            <a:pPr lvl="1" eaLnBrk="1" latinLnBrk="0" hangingPunct="1"/>
            <a:r>
              <a:rPr kumimoji="0" lang="zh-TW" altLang="en-US" smtClean="0"/>
              <a:t>第二層</a:t>
            </a:r>
          </a:p>
          <a:p>
            <a:pPr lvl="2" eaLnBrk="1" latinLnBrk="0" hangingPunct="1"/>
            <a:r>
              <a:rPr kumimoji="0" lang="zh-TW" altLang="en-US" smtClean="0"/>
              <a:t>第三層</a:t>
            </a:r>
          </a:p>
          <a:p>
            <a:pPr lvl="3" eaLnBrk="1" latinLnBrk="0" hangingPunct="1"/>
            <a:r>
              <a:rPr kumimoji="0" lang="zh-TW" altLang="en-US" smtClean="0"/>
              <a:t>第四層</a:t>
            </a:r>
          </a:p>
          <a:p>
            <a:pPr lvl="4" eaLnBrk="1" latinLnBrk="0" hangingPunct="1"/>
            <a:r>
              <a:rPr kumimoji="0" lang="zh-TW" altLang="en-US" smtClean="0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E044824C-B4DD-4338-8A9F-389AF3D4CB25}" type="datetimeFigureOut">
              <a:rPr lang="zh-TW" altLang="en-US" smtClean="0"/>
              <a:pPr/>
              <a:t>2019/10/15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0120EAD1-68FA-4379-BB0E-746A9B56E6B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4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8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0.w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Clustering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Clustering Problem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There is no class to be predicted rather divide instances into natural groups</a:t>
            </a:r>
          </a:p>
          <a:p>
            <a:r>
              <a:rPr lang="en-US" altLang="zh-TW" dirty="0" smtClean="0"/>
              <a:t>Given a training set {x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, . . . , </a:t>
            </a:r>
            <a:r>
              <a:rPr lang="en-US" altLang="zh-TW" dirty="0" err="1" smtClean="0"/>
              <a:t>x</a:t>
            </a:r>
            <a:r>
              <a:rPr lang="en-US" altLang="zh-TW" baseline="-25000" dirty="0" err="1" smtClean="0"/>
              <a:t>m</a:t>
            </a:r>
            <a:r>
              <a:rPr lang="en-US" altLang="zh-TW" dirty="0" smtClean="0"/>
              <a:t>}, but no labels {y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, …, </a:t>
            </a:r>
            <a:r>
              <a:rPr lang="en-US" altLang="zh-TW" dirty="0" err="1" smtClean="0"/>
              <a:t>y</a:t>
            </a:r>
            <a:r>
              <a:rPr lang="en-US" altLang="zh-TW" baseline="-25000" dirty="0" err="1" smtClean="0"/>
              <a:t>m</a:t>
            </a:r>
            <a:r>
              <a:rPr lang="en-US" altLang="zh-TW" dirty="0" smtClean="0"/>
              <a:t>} are given, want to group the data into cohesive clusters.</a:t>
            </a:r>
          </a:p>
          <a:p>
            <a:pPr lvl="1"/>
            <a:r>
              <a:rPr lang="en-US" altLang="zh-TW" dirty="0" smtClean="0"/>
              <a:t>Unsupervised learning</a:t>
            </a:r>
          </a:p>
          <a:p>
            <a:pPr lvl="1"/>
            <a:r>
              <a:rPr lang="en-US" altLang="zh-TW" dirty="0" smtClean="0"/>
              <a:t>Group data according to similarity</a:t>
            </a:r>
            <a:endParaRPr lang="zh-TW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Distance Metric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Typically use a distance metric to judge similarity</a:t>
            </a:r>
          </a:p>
          <a:p>
            <a:r>
              <a:rPr lang="en-US" altLang="zh-TW" dirty="0" smtClean="0"/>
              <a:t>A distance metric satisfy</a:t>
            </a:r>
          </a:p>
          <a:p>
            <a:pPr lvl="1"/>
            <a:r>
              <a:rPr lang="es-ES" altLang="zh-TW" dirty="0" smtClean="0"/>
              <a:t>d(x, y) = 0 iff x = y</a:t>
            </a:r>
          </a:p>
          <a:p>
            <a:pPr lvl="1"/>
            <a:r>
              <a:rPr lang="en-US" altLang="zh-TW" dirty="0" smtClean="0"/>
              <a:t>d(x, y) = d(y, x)</a:t>
            </a:r>
          </a:p>
          <a:p>
            <a:pPr lvl="2"/>
            <a:r>
              <a:rPr lang="en-US" altLang="zh-TW" dirty="0" smtClean="0"/>
              <a:t>Some applications use asymmetric distances</a:t>
            </a:r>
          </a:p>
          <a:p>
            <a:pPr lvl="1"/>
            <a:r>
              <a:rPr lang="en-US" altLang="zh-TW" dirty="0" smtClean="0"/>
              <a:t>d(x, y) + d(y, z) &gt; d(x, z)</a:t>
            </a:r>
          </a:p>
          <a:p>
            <a:r>
              <a:rPr lang="en-US" altLang="zh-TW" dirty="0" smtClean="0"/>
              <a:t>Non-real value metrics</a:t>
            </a:r>
          </a:p>
          <a:p>
            <a:pPr lvl="1"/>
            <a:r>
              <a:rPr lang="en-US" altLang="zh-TW" dirty="0" smtClean="0"/>
              <a:t>E.g. string edit distance</a:t>
            </a:r>
            <a:endParaRPr lang="zh-TW" altLang="en-US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Clustering Types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143116"/>
            <a:ext cx="8229600" cy="4500594"/>
          </a:xfrm>
        </p:spPr>
        <p:txBody>
          <a:bodyPr>
            <a:normAutofit lnSpcReduction="10000"/>
          </a:bodyPr>
          <a:lstStyle/>
          <a:p>
            <a:r>
              <a:rPr lang="en-US" altLang="zh-TW" dirty="0" smtClean="0"/>
              <a:t>Flat clustering</a:t>
            </a:r>
          </a:p>
          <a:p>
            <a:pPr lvl="1"/>
            <a:r>
              <a:rPr lang="en-US" altLang="zh-TW" dirty="0" smtClean="0"/>
              <a:t>Group instances into </a:t>
            </a:r>
            <a:r>
              <a:rPr lang="en-US" altLang="zh-TW" i="1" dirty="0" smtClean="0"/>
              <a:t>k</a:t>
            </a:r>
            <a:r>
              <a:rPr lang="en-US" altLang="zh-TW" dirty="0" smtClean="0"/>
              <a:t> clusters directly</a:t>
            </a:r>
          </a:p>
          <a:p>
            <a:pPr lvl="1"/>
            <a:r>
              <a:rPr lang="en-US" altLang="zh-TW" dirty="0" smtClean="0"/>
              <a:t>E.g. EM, k-means</a:t>
            </a:r>
          </a:p>
          <a:p>
            <a:r>
              <a:rPr lang="en-US" altLang="zh-TW" dirty="0" smtClean="0"/>
              <a:t>Hierarchical clustering</a:t>
            </a:r>
          </a:p>
          <a:p>
            <a:pPr lvl="1"/>
            <a:r>
              <a:rPr lang="en-US" altLang="zh-TW" dirty="0" smtClean="0"/>
              <a:t>Try to build a tree over the instances</a:t>
            </a:r>
          </a:p>
          <a:p>
            <a:pPr lvl="1"/>
            <a:r>
              <a:rPr lang="en-US" altLang="zh-TW" dirty="0" smtClean="0"/>
              <a:t>Bottom-up (agglomerative)</a:t>
            </a:r>
          </a:p>
          <a:p>
            <a:pPr lvl="2"/>
            <a:r>
              <a:rPr lang="en-US" altLang="zh-TW" dirty="0" smtClean="0"/>
              <a:t>Start with </a:t>
            </a:r>
            <a:r>
              <a:rPr lang="en-US" altLang="zh-TW" i="1" dirty="0" smtClean="0"/>
              <a:t>N</a:t>
            </a:r>
            <a:r>
              <a:rPr lang="en-US" altLang="zh-TW" dirty="0" smtClean="0"/>
              <a:t> groups, each containing one instance</a:t>
            </a:r>
          </a:p>
          <a:p>
            <a:pPr lvl="2"/>
            <a:r>
              <a:rPr lang="en-US" altLang="zh-TW" dirty="0" smtClean="0"/>
              <a:t>Merge similar groups, until there is a single group</a:t>
            </a:r>
          </a:p>
          <a:p>
            <a:pPr lvl="1"/>
            <a:r>
              <a:rPr lang="en-US" altLang="zh-TW" dirty="0" smtClean="0"/>
              <a:t>Top-down (divisive)</a:t>
            </a:r>
          </a:p>
          <a:p>
            <a:pPr lvl="2"/>
            <a:r>
              <a:rPr lang="en-US" altLang="zh-TW" dirty="0" smtClean="0"/>
              <a:t>Start with a single group containing all instances</a:t>
            </a:r>
          </a:p>
          <a:p>
            <a:pPr lvl="2"/>
            <a:r>
              <a:rPr lang="en-US" altLang="zh-TW" dirty="0" smtClean="0"/>
              <a:t>Divide large groups into smaller groups</a:t>
            </a:r>
            <a:endParaRPr lang="zh-TW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Flat Clustering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Want low </a:t>
            </a:r>
            <a:r>
              <a:rPr lang="en-US" altLang="zh-TW" dirty="0" err="1" smtClean="0"/>
              <a:t>intercluster</a:t>
            </a:r>
            <a:r>
              <a:rPr lang="en-US" altLang="zh-TW" dirty="0" smtClean="0"/>
              <a:t> similarity</a:t>
            </a:r>
          </a:p>
          <a:p>
            <a:pPr lvl="1"/>
            <a:endParaRPr lang="en-US" altLang="zh-TW" dirty="0" smtClean="0"/>
          </a:p>
          <a:p>
            <a:pPr lvl="1"/>
            <a:r>
              <a:rPr lang="en-US" altLang="zh-TW" dirty="0" smtClean="0"/>
              <a:t>                                            should be low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Want high </a:t>
            </a:r>
            <a:r>
              <a:rPr lang="en-US" altLang="zh-TW" dirty="0" err="1" smtClean="0"/>
              <a:t>intracluster</a:t>
            </a:r>
            <a:r>
              <a:rPr lang="en-US" altLang="zh-TW" dirty="0" smtClean="0"/>
              <a:t> similarity</a:t>
            </a:r>
          </a:p>
          <a:p>
            <a:endParaRPr lang="en-US" altLang="zh-TW" dirty="0" smtClean="0"/>
          </a:p>
          <a:p>
            <a:pPr lvl="1"/>
            <a:r>
              <a:rPr lang="en-US" altLang="zh-TW" dirty="0" smtClean="0"/>
              <a:t>                                            should be high</a:t>
            </a:r>
            <a:endParaRPr lang="zh-TW" altLang="en-US" dirty="0"/>
          </a:p>
        </p:txBody>
      </p:sp>
      <p:graphicFrame>
        <p:nvGraphicFramePr>
          <p:cNvPr id="4" name="物件 3"/>
          <p:cNvGraphicFramePr>
            <a:graphicFrameLocks noChangeAspect="1"/>
          </p:cNvGraphicFramePr>
          <p:nvPr/>
        </p:nvGraphicFramePr>
        <p:xfrm>
          <a:off x="1571604" y="2928934"/>
          <a:ext cx="2857519" cy="9749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方程式" r:id="rId3" imgW="1079280" imgH="368280" progId="Equation.3">
                  <p:embed/>
                </p:oleObj>
              </mc:Choice>
              <mc:Fallback>
                <p:oleObj name="方程式" r:id="rId3" imgW="1079280" imgH="3682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604" y="2928934"/>
                        <a:ext cx="2857519" cy="97491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3"/>
          <p:cNvGraphicFramePr>
            <a:graphicFrameLocks noChangeAspect="1"/>
          </p:cNvGraphicFramePr>
          <p:nvPr/>
        </p:nvGraphicFramePr>
        <p:xfrm>
          <a:off x="1714480" y="4786322"/>
          <a:ext cx="2520950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方程式" r:id="rId5" imgW="952200" imgH="368280" progId="Equation.3">
                  <p:embed/>
                </p:oleObj>
              </mc:Choice>
              <mc:Fallback>
                <p:oleObj name="方程式" r:id="rId5" imgW="952200" imgH="3682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4480" y="4786322"/>
                        <a:ext cx="2520950" cy="974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K-Means Clustering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altLang="zh-TW" dirty="0" smtClean="0"/>
              <a:t>Find </a:t>
            </a:r>
            <a:r>
              <a:rPr lang="tr-TR" altLang="zh-TW" i="1" dirty="0" smtClean="0"/>
              <a:t>k</a:t>
            </a:r>
            <a:r>
              <a:rPr lang="tr-TR" altLang="zh-TW" dirty="0" smtClean="0"/>
              <a:t> reference vectors</a:t>
            </a:r>
            <a:r>
              <a:rPr lang="en-US" altLang="zh-TW" dirty="0" smtClean="0"/>
              <a:t>, </a:t>
            </a:r>
            <a:r>
              <a:rPr lang="tr-TR" altLang="zh-TW" dirty="0" smtClean="0"/>
              <a:t> </a:t>
            </a:r>
            <a:r>
              <a:rPr lang="tr-TR" altLang="zh-TW" b="1" i="1" dirty="0" smtClean="0"/>
              <a:t>m</a:t>
            </a:r>
            <a:r>
              <a:rPr lang="tr-TR" altLang="zh-TW" i="1" baseline="-25000" dirty="0" smtClean="0"/>
              <a:t>j</a:t>
            </a:r>
            <a:r>
              <a:rPr lang="tr-TR" altLang="zh-TW" dirty="0" smtClean="0"/>
              <a:t>, </a:t>
            </a:r>
            <a:r>
              <a:rPr lang="tr-TR" altLang="zh-TW" i="1" dirty="0" smtClean="0"/>
              <a:t>j </a:t>
            </a:r>
            <a:r>
              <a:rPr lang="tr-TR" altLang="zh-TW" dirty="0" smtClean="0"/>
              <a:t>=1,...,</a:t>
            </a:r>
            <a:r>
              <a:rPr lang="tr-TR" altLang="zh-TW" i="1" dirty="0" smtClean="0"/>
              <a:t>k</a:t>
            </a:r>
            <a:r>
              <a:rPr lang="en-US" altLang="zh-TW" i="1" dirty="0" smtClean="0"/>
              <a:t>,</a:t>
            </a:r>
            <a:r>
              <a:rPr lang="tr-TR" altLang="zh-TW" dirty="0" smtClean="0"/>
              <a:t> which best represent data</a:t>
            </a:r>
            <a:endParaRPr lang="en-US" altLang="zh-TW" dirty="0" smtClean="0"/>
          </a:p>
          <a:p>
            <a:r>
              <a:rPr lang="tr-TR" altLang="zh-TW" dirty="0" smtClean="0"/>
              <a:t>Use nearest (most similar) reference</a:t>
            </a:r>
          </a:p>
          <a:p>
            <a:endParaRPr lang="en-US" altLang="zh-TW" dirty="0" smtClean="0"/>
          </a:p>
          <a:p>
            <a:endParaRPr lang="en-US" altLang="zh-TW" dirty="0" smtClean="0"/>
          </a:p>
          <a:p>
            <a:r>
              <a:rPr lang="en-US" altLang="zh-TW" dirty="0" smtClean="0"/>
              <a:t>Minimize r</a:t>
            </a:r>
            <a:r>
              <a:rPr lang="tr-TR" altLang="zh-TW" dirty="0" smtClean="0"/>
              <a:t>econstruction error</a:t>
            </a:r>
            <a:endParaRPr lang="zh-TW" altLang="en-US" dirty="0"/>
          </a:p>
        </p:txBody>
      </p:sp>
      <p:graphicFrame>
        <p:nvGraphicFramePr>
          <p:cNvPr id="18434" name="Object 2"/>
          <p:cNvGraphicFramePr>
            <a:graphicFrameLocks noChangeAspect="1"/>
          </p:cNvGraphicFramePr>
          <p:nvPr/>
        </p:nvGraphicFramePr>
        <p:xfrm>
          <a:off x="2071671" y="5137150"/>
          <a:ext cx="5000660" cy="16597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7" name="Equation" r:id="rId3" imgW="2450880" imgH="812520" progId="Equation.3">
                  <p:embed/>
                </p:oleObj>
              </mc:Choice>
              <mc:Fallback>
                <p:oleObj name="Equation" r:id="rId3" imgW="2450880" imgH="81252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1671" y="5137150"/>
                        <a:ext cx="5000660" cy="165974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6" name="Object 4"/>
          <p:cNvGraphicFramePr>
            <a:graphicFrameLocks noChangeAspect="1"/>
          </p:cNvGraphicFramePr>
          <p:nvPr/>
        </p:nvGraphicFramePr>
        <p:xfrm>
          <a:off x="2214546" y="3786190"/>
          <a:ext cx="3887787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8" name="Equation" r:id="rId5" imgW="1676160" imgH="317160" progId="Equation.3">
                  <p:embed/>
                </p:oleObj>
              </mc:Choice>
              <mc:Fallback>
                <p:oleObj name="Equation" r:id="rId5" imgW="1676160" imgH="31716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4546" y="3786190"/>
                        <a:ext cx="3887787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K-Means Clustering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Propose clusters, then iteratively fix errors</a:t>
            </a:r>
          </a:p>
          <a:p>
            <a:pPr lvl="1"/>
            <a:r>
              <a:rPr lang="en-US" altLang="zh-TW" dirty="0" smtClean="0"/>
              <a:t>Specify in advance the number of clusters</a:t>
            </a:r>
          </a:p>
          <a:p>
            <a:pPr lvl="1"/>
            <a:r>
              <a:rPr lang="en-US" altLang="zh-TW" dirty="0" smtClean="0"/>
              <a:t>Initialize cluster </a:t>
            </a:r>
            <a:r>
              <a:rPr lang="en-US" altLang="zh-TW" dirty="0" err="1" smtClean="0"/>
              <a:t>centroids</a:t>
            </a:r>
            <a:r>
              <a:rPr lang="en-US" altLang="zh-TW" dirty="0" smtClean="0"/>
              <a:t> {m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,…</a:t>
            </a:r>
            <a:r>
              <a:rPr lang="en-US" altLang="zh-TW" dirty="0" err="1" smtClean="0"/>
              <a:t>m</a:t>
            </a:r>
            <a:r>
              <a:rPr lang="en-US" altLang="zh-TW" baseline="-25000" dirty="0" err="1" smtClean="0"/>
              <a:t>k</a:t>
            </a:r>
            <a:r>
              <a:rPr lang="en-US" altLang="zh-TW" dirty="0" smtClean="0"/>
              <a:t>}</a:t>
            </a:r>
          </a:p>
          <a:p>
            <a:pPr lvl="1"/>
            <a:r>
              <a:rPr lang="en-US" altLang="zh-TW" dirty="0" smtClean="0"/>
              <a:t>Assign each instance to the closest </a:t>
            </a:r>
            <a:r>
              <a:rPr lang="en-US" altLang="zh-TW" dirty="0" err="1" smtClean="0"/>
              <a:t>centroids</a:t>
            </a:r>
            <a:endParaRPr lang="en-US" altLang="zh-TW" dirty="0" smtClean="0"/>
          </a:p>
          <a:p>
            <a:pPr lvl="1"/>
            <a:r>
              <a:rPr lang="en-US" altLang="zh-TW" dirty="0" err="1" smtClean="0"/>
              <a:t>Recompute</a:t>
            </a:r>
            <a:r>
              <a:rPr lang="en-US" altLang="zh-TW" dirty="0" smtClean="0"/>
              <a:t> the </a:t>
            </a:r>
            <a:r>
              <a:rPr lang="en-US" altLang="zh-TW" dirty="0" err="1" smtClean="0"/>
              <a:t>centroids</a:t>
            </a:r>
            <a:r>
              <a:rPr lang="en-US" altLang="zh-TW" dirty="0" smtClean="0"/>
              <a:t> as the means of the data points</a:t>
            </a:r>
          </a:p>
          <a:p>
            <a:pPr lvl="1"/>
            <a:r>
              <a:rPr lang="en-US" altLang="zh-TW" dirty="0" smtClean="0"/>
              <a:t>If assignments have changed, go to (3)</a:t>
            </a:r>
            <a:endParaRPr lang="zh-TW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750" y="1671638"/>
            <a:ext cx="8249609" cy="3829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1357290" y="4143380"/>
            <a:ext cx="3714776" cy="857256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1357290" y="2565400"/>
            <a:ext cx="6715172" cy="1506542"/>
          </a:xfrm>
          <a:prstGeom prst="rect">
            <a:avLst/>
          </a:prstGeom>
          <a:noFill/>
          <a:ln w="9525">
            <a:solidFill>
              <a:srgbClr val="66FF33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33450" y="419100"/>
            <a:ext cx="7277100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46236"/>
            <a:ext cx="8229600" cy="4997473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k-means only finds local minimum</a:t>
            </a:r>
          </a:p>
          <a:p>
            <a:r>
              <a:rPr lang="en-US" altLang="zh-TW" dirty="0" smtClean="0"/>
              <a:t>The final </a:t>
            </a:r>
            <a:r>
              <a:rPr lang="en-US" altLang="zh-TW" i="1" dirty="0" smtClean="0"/>
              <a:t>m</a:t>
            </a:r>
            <a:r>
              <a:rPr lang="en-US" altLang="zh-TW" i="1" baseline="-25000" dirty="0" smtClean="0"/>
              <a:t>i</a:t>
            </a:r>
            <a:r>
              <a:rPr lang="en-US" altLang="zh-TW" dirty="0" smtClean="0"/>
              <a:t> highly depend on the initial </a:t>
            </a:r>
            <a:r>
              <a:rPr lang="en-US" altLang="zh-TW" i="1" dirty="0" smtClean="0"/>
              <a:t>m</a:t>
            </a:r>
            <a:r>
              <a:rPr lang="en-US" altLang="zh-TW" i="1" baseline="-25000" dirty="0" smtClean="0"/>
              <a:t>i</a:t>
            </a:r>
          </a:p>
          <a:p>
            <a:r>
              <a:rPr lang="en-US" altLang="zh-TW" dirty="0" smtClean="0"/>
              <a:t>Initialization</a:t>
            </a:r>
          </a:p>
          <a:p>
            <a:pPr lvl="1"/>
            <a:r>
              <a:rPr lang="en-US" altLang="zh-TW" dirty="0" smtClean="0"/>
              <a:t>Randomly select </a:t>
            </a:r>
            <a:r>
              <a:rPr lang="en-US" altLang="zh-TW" i="1" dirty="0" smtClean="0"/>
              <a:t>k</a:t>
            </a:r>
            <a:r>
              <a:rPr lang="en-US" altLang="zh-TW" dirty="0" smtClean="0"/>
              <a:t> instances</a:t>
            </a:r>
          </a:p>
          <a:p>
            <a:pPr lvl="1"/>
            <a:r>
              <a:rPr lang="en-US" altLang="zh-TW" dirty="0" smtClean="0"/>
              <a:t>Random points drawn from </a:t>
            </a:r>
            <a:r>
              <a:rPr lang="en-US" altLang="zh-TW" smtClean="0"/>
              <a:t>a “reasonable</a:t>
            </a:r>
            <a:r>
              <a:rPr lang="en-US" altLang="zh-TW" dirty="0" smtClean="0"/>
              <a:t>" input space</a:t>
            </a:r>
          </a:p>
          <a:p>
            <a:pPr lvl="1"/>
            <a:r>
              <a:rPr lang="en-US" altLang="zh-TW" dirty="0" smtClean="0"/>
              <a:t>Add small random vectors to the mean of all instances</a:t>
            </a:r>
          </a:p>
          <a:p>
            <a:pPr lvl="1"/>
            <a:r>
              <a:rPr lang="en-US" altLang="zh-TW" dirty="0" smtClean="0"/>
              <a:t>Divide instances into k groups, and then take the means of these groups</a:t>
            </a:r>
          </a:p>
          <a:p>
            <a:pPr lvl="1"/>
            <a:r>
              <a:rPr lang="en-US" altLang="zh-TW" dirty="0" smtClean="0"/>
              <a:t>…</a:t>
            </a:r>
            <a:endParaRPr lang="zh-TW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altLang="zh-TW" dirty="0" smtClean="0"/>
              <a:t>Agglomerative Clustering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Bottom-up strategy:</a:t>
            </a:r>
          </a:p>
          <a:p>
            <a:pPr lvl="1"/>
            <a:r>
              <a:rPr lang="en-US" altLang="zh-TW" dirty="0" smtClean="0"/>
              <a:t>Put every element into its own cluster</a:t>
            </a:r>
          </a:p>
          <a:p>
            <a:pPr lvl="1"/>
            <a:r>
              <a:rPr lang="en-US" altLang="zh-TW" dirty="0" smtClean="0"/>
              <a:t>Merge two most closest clusters</a:t>
            </a:r>
          </a:p>
          <a:p>
            <a:pPr lvl="1"/>
            <a:r>
              <a:rPr lang="en-US" altLang="zh-TW" dirty="0" smtClean="0"/>
              <a:t>If #cluster &gt; 1, go to (2)</a:t>
            </a:r>
          </a:p>
          <a:p>
            <a:r>
              <a:rPr lang="tr-TR" altLang="zh-TW" dirty="0" smtClean="0"/>
              <a:t>Distance measure between instances </a:t>
            </a:r>
            <a:r>
              <a:rPr lang="tr-TR" altLang="zh-TW" b="1" i="1" dirty="0" smtClean="0"/>
              <a:t>x</a:t>
            </a:r>
            <a:r>
              <a:rPr lang="tr-TR" altLang="zh-TW" i="1" baseline="30000" dirty="0" smtClean="0"/>
              <a:t>r</a:t>
            </a:r>
            <a:r>
              <a:rPr lang="tr-TR" altLang="zh-TW" dirty="0" smtClean="0"/>
              <a:t> and </a:t>
            </a:r>
            <a:r>
              <a:rPr lang="tr-TR" altLang="zh-TW" b="1" i="1" dirty="0" smtClean="0"/>
              <a:t>x</a:t>
            </a:r>
            <a:r>
              <a:rPr lang="tr-TR" altLang="zh-TW" i="1" baseline="30000" dirty="0" smtClean="0"/>
              <a:t>s</a:t>
            </a:r>
            <a:endParaRPr lang="en-US" altLang="zh-TW" i="1" baseline="30000" dirty="0" smtClean="0"/>
          </a:p>
          <a:p>
            <a:pPr lvl="1"/>
            <a:r>
              <a:rPr lang="tr-TR" altLang="zh-TW" dirty="0" smtClean="0"/>
              <a:t>Minkowski (</a:t>
            </a:r>
            <a:r>
              <a:rPr lang="tr-TR" altLang="zh-TW" i="1" dirty="0" smtClean="0"/>
              <a:t>L</a:t>
            </a:r>
            <a:r>
              <a:rPr lang="tr-TR" altLang="zh-TW" i="1" baseline="-25000" dirty="0" smtClean="0"/>
              <a:t>p</a:t>
            </a:r>
            <a:r>
              <a:rPr lang="tr-TR" altLang="zh-TW" dirty="0" smtClean="0"/>
              <a:t>) (Euclidean for </a:t>
            </a:r>
            <a:r>
              <a:rPr lang="tr-TR" altLang="zh-TW" i="1" dirty="0" smtClean="0"/>
              <a:t>p </a:t>
            </a:r>
            <a:r>
              <a:rPr lang="tr-TR" altLang="zh-TW" dirty="0" smtClean="0"/>
              <a:t>= 2)</a:t>
            </a:r>
            <a:endParaRPr lang="en-US" altLang="zh-TW" dirty="0" smtClean="0"/>
          </a:p>
          <a:p>
            <a:pPr lvl="1"/>
            <a:endParaRPr lang="en-US" altLang="zh-TW" dirty="0" smtClean="0"/>
          </a:p>
          <a:p>
            <a:pPr lvl="1"/>
            <a:r>
              <a:rPr lang="tr-TR" altLang="zh-TW" dirty="0" smtClean="0"/>
              <a:t>City-block distance</a:t>
            </a:r>
            <a:endParaRPr lang="en-US" altLang="zh-TW" dirty="0" smtClean="0"/>
          </a:p>
          <a:p>
            <a:endParaRPr lang="en-US" altLang="zh-TW" dirty="0" smtClean="0"/>
          </a:p>
        </p:txBody>
      </p:sp>
      <p:graphicFrame>
        <p:nvGraphicFramePr>
          <p:cNvPr id="20486" name="Object 6"/>
          <p:cNvGraphicFramePr>
            <a:graphicFrameLocks noChangeAspect="1"/>
          </p:cNvGraphicFramePr>
          <p:nvPr/>
        </p:nvGraphicFramePr>
        <p:xfrm>
          <a:off x="4214810" y="5000636"/>
          <a:ext cx="3857649" cy="6429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9" name="Equation" r:id="rId3" imgW="2057400" imgH="342720" progId="Equation.3">
                  <p:embed/>
                </p:oleObj>
              </mc:Choice>
              <mc:Fallback>
                <p:oleObj name="Equation" r:id="rId3" imgW="2057400" imgH="34272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4810" y="5000636"/>
                        <a:ext cx="3857649" cy="6429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8" name="Object 8"/>
          <p:cNvGraphicFramePr>
            <a:graphicFrameLocks noChangeAspect="1"/>
          </p:cNvGraphicFramePr>
          <p:nvPr/>
        </p:nvGraphicFramePr>
        <p:xfrm>
          <a:off x="4214810" y="5857892"/>
          <a:ext cx="3429024" cy="610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0" name="Equation" r:id="rId5" imgW="1714320" imgH="304560" progId="Equation.3">
                  <p:embed/>
                </p:oleObj>
              </mc:Choice>
              <mc:Fallback>
                <p:oleObj name="Equation" r:id="rId5" imgW="1714320" imgH="30456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4810" y="5857892"/>
                        <a:ext cx="3429024" cy="6104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altLang="zh-TW" dirty="0" smtClean="0"/>
              <a:t>Agglomerative Clustering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altLang="zh-TW" dirty="0" smtClean="0"/>
              <a:t>Distance between two groups </a:t>
            </a:r>
            <a:r>
              <a:rPr lang="tr-TR" altLang="zh-TW" dirty="0" smtClean="0">
                <a:latin typeface="Lucida Calligraphy" pitchFamily="66" charset="0"/>
              </a:rPr>
              <a:t>G</a:t>
            </a:r>
            <a:r>
              <a:rPr lang="tr-TR" altLang="zh-TW" i="1" baseline="-25000" dirty="0" smtClean="0"/>
              <a:t>i</a:t>
            </a:r>
            <a:r>
              <a:rPr lang="tr-TR" altLang="zh-TW" dirty="0" smtClean="0"/>
              <a:t> and </a:t>
            </a:r>
            <a:r>
              <a:rPr lang="tr-TR" altLang="zh-TW" dirty="0" smtClean="0">
                <a:latin typeface="Lucida Calligraphy" pitchFamily="66" charset="0"/>
              </a:rPr>
              <a:t>G</a:t>
            </a:r>
            <a:r>
              <a:rPr lang="tr-TR" altLang="zh-TW" i="1" baseline="-25000" dirty="0" smtClean="0"/>
              <a:t>j</a:t>
            </a:r>
            <a:endParaRPr lang="en-US" altLang="zh-TW" i="1" baseline="-25000" dirty="0" smtClean="0"/>
          </a:p>
          <a:p>
            <a:pPr lvl="1"/>
            <a:r>
              <a:rPr lang="tr-TR" altLang="zh-TW" dirty="0" smtClean="0"/>
              <a:t>Single-link:</a:t>
            </a:r>
            <a:endParaRPr lang="en-US" altLang="zh-TW" dirty="0" smtClean="0"/>
          </a:p>
          <a:p>
            <a:pPr lvl="2"/>
            <a:r>
              <a:rPr lang="en-US" altLang="zh-TW" dirty="0" smtClean="0"/>
              <a:t>Results in chaining</a:t>
            </a:r>
          </a:p>
          <a:p>
            <a:pPr lvl="1"/>
            <a:endParaRPr lang="en-US" altLang="zh-TW" dirty="0" smtClean="0"/>
          </a:p>
          <a:p>
            <a:pPr lvl="1"/>
            <a:r>
              <a:rPr lang="tr-TR" altLang="zh-TW" dirty="0" smtClean="0"/>
              <a:t>Complete-link:</a:t>
            </a:r>
            <a:endParaRPr lang="en-US" altLang="zh-TW" dirty="0" smtClean="0"/>
          </a:p>
          <a:p>
            <a:pPr lvl="2"/>
            <a:r>
              <a:rPr lang="en-US" altLang="zh-TW" dirty="0" smtClean="0"/>
              <a:t>Compact clusters</a:t>
            </a:r>
          </a:p>
          <a:p>
            <a:pPr lvl="1"/>
            <a:endParaRPr lang="en-US" altLang="zh-TW" dirty="0" smtClean="0"/>
          </a:p>
          <a:p>
            <a:pPr lvl="1"/>
            <a:r>
              <a:rPr lang="tr-TR" altLang="zh-TW" dirty="0" smtClean="0"/>
              <a:t>Average-link</a:t>
            </a:r>
            <a:r>
              <a:rPr lang="en-US" altLang="zh-TW" dirty="0" smtClean="0"/>
              <a:t>:</a:t>
            </a:r>
            <a:endParaRPr lang="zh-TW" altLang="en-US" dirty="0"/>
          </a:p>
        </p:txBody>
      </p:sp>
      <p:graphicFrame>
        <p:nvGraphicFramePr>
          <p:cNvPr id="19458" name="Object 2"/>
          <p:cNvGraphicFramePr>
            <a:graphicFrameLocks noChangeAspect="1"/>
          </p:cNvGraphicFramePr>
          <p:nvPr/>
        </p:nvGraphicFramePr>
        <p:xfrm>
          <a:off x="4286248" y="3000372"/>
          <a:ext cx="4032250" cy="712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1" name="Equation" r:id="rId3" imgW="1866600" imgH="330120" progId="Equation.3">
                  <p:embed/>
                </p:oleObj>
              </mc:Choice>
              <mc:Fallback>
                <p:oleObj name="Equation" r:id="rId3" imgW="1866600" imgH="33012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6248" y="3000372"/>
                        <a:ext cx="4032250" cy="712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9" name="Object 3"/>
          <p:cNvGraphicFramePr>
            <a:graphicFrameLocks noChangeAspect="1"/>
          </p:cNvGraphicFramePr>
          <p:nvPr/>
        </p:nvGraphicFramePr>
        <p:xfrm>
          <a:off x="4357686" y="4429132"/>
          <a:ext cx="3887787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2" name="Equation" r:id="rId5" imgW="1866600" imgH="330120" progId="Equation.3">
                  <p:embed/>
                </p:oleObj>
              </mc:Choice>
              <mc:Fallback>
                <p:oleObj name="Equation" r:id="rId5" imgW="1866600" imgH="33012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7686" y="4429132"/>
                        <a:ext cx="3887787" cy="687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0" name="Object 4"/>
          <p:cNvGraphicFramePr>
            <a:graphicFrameLocks noChangeAspect="1"/>
          </p:cNvGraphicFramePr>
          <p:nvPr/>
        </p:nvGraphicFramePr>
        <p:xfrm>
          <a:off x="4143372" y="5715016"/>
          <a:ext cx="4522788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3" name="方程式" r:id="rId7" imgW="2171520" imgH="469800" progId="Equation.3">
                  <p:embed/>
                </p:oleObj>
              </mc:Choice>
              <mc:Fallback>
                <p:oleObj name="方程式" r:id="rId7" imgW="2171520" imgH="4698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3372" y="5715016"/>
                        <a:ext cx="4522788" cy="977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397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388" y="2379683"/>
            <a:ext cx="8763000" cy="3419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5398" name="Text Box 6"/>
          <p:cNvSpPr txBox="1">
            <a:spLocks noChangeArrowheads="1"/>
          </p:cNvSpPr>
          <p:nvPr/>
        </p:nvSpPr>
        <p:spPr bwMode="auto">
          <a:xfrm>
            <a:off x="5632450" y="5900758"/>
            <a:ext cx="1758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tr-TR" altLang="zh-TW" sz="2400" i="1"/>
              <a:t>Dendrogram</a:t>
            </a:r>
          </a:p>
        </p:txBody>
      </p:sp>
      <p:sp>
        <p:nvSpPr>
          <p:cNvPr id="315399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altLang="zh-TW" dirty="0"/>
              <a:t>Example: Single-Link Clustering</a:t>
            </a:r>
          </a:p>
        </p:txBody>
      </p:sp>
      <p:sp>
        <p:nvSpPr>
          <p:cNvPr id="315400" name="Oval 8"/>
          <p:cNvSpPr>
            <a:spLocks noChangeArrowheads="1"/>
          </p:cNvSpPr>
          <p:nvPr/>
        </p:nvSpPr>
        <p:spPr bwMode="auto">
          <a:xfrm>
            <a:off x="539750" y="2917845"/>
            <a:ext cx="1223963" cy="19431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15401" name="Oval 9"/>
          <p:cNvSpPr>
            <a:spLocks noChangeArrowheads="1"/>
          </p:cNvSpPr>
          <p:nvPr/>
        </p:nvSpPr>
        <p:spPr bwMode="auto">
          <a:xfrm>
            <a:off x="3924300" y="4214833"/>
            <a:ext cx="360363" cy="360362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15402" name="Oval 10"/>
          <p:cNvSpPr>
            <a:spLocks noChangeArrowheads="1"/>
          </p:cNvSpPr>
          <p:nvPr/>
        </p:nvSpPr>
        <p:spPr bwMode="auto">
          <a:xfrm>
            <a:off x="2627313" y="4070370"/>
            <a:ext cx="720725" cy="1152525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altLang="zh-TW"/>
              <a:t>Choosing k</a:t>
            </a:r>
          </a:p>
        </p:txBody>
      </p:sp>
      <p:sp>
        <p:nvSpPr>
          <p:cNvPr id="317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altLang="zh-TW" dirty="0"/>
              <a:t>Defined by the application, e.g., image quantization</a:t>
            </a:r>
          </a:p>
          <a:p>
            <a:r>
              <a:rPr lang="tr-TR" altLang="zh-TW" dirty="0"/>
              <a:t>Plot data (after PCA) and check for clusters</a:t>
            </a:r>
          </a:p>
          <a:p>
            <a:r>
              <a:rPr lang="tr-TR" altLang="zh-TW" dirty="0"/>
              <a:t>Incremental (leader-cluster) algorithm: Add one at a time until “elbow” (reconstruction error/log likelihood/intergroup distances)</a:t>
            </a:r>
          </a:p>
          <a:p>
            <a:r>
              <a:rPr lang="tr-TR" altLang="zh-TW" dirty="0"/>
              <a:t>Manual check for meaning</a:t>
            </a:r>
          </a:p>
          <a:p>
            <a:endParaRPr lang="tr-TR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都會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都會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1299</TotalTime>
  <Words>455</Words>
  <Application>Microsoft Office PowerPoint</Application>
  <PresentationFormat>如螢幕大小 (4:3)</PresentationFormat>
  <Paragraphs>81</Paragraphs>
  <Slides>14</Slides>
  <Notes>0</Notes>
  <HiddenSlides>0</HiddenSlides>
  <MMClips>0</MMClips>
  <ScaleCrop>false</ScaleCrop>
  <HeadingPairs>
    <vt:vector size="8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2</vt:i4>
      </vt:variant>
      <vt:variant>
        <vt:lpstr>投影片標題</vt:lpstr>
      </vt:variant>
      <vt:variant>
        <vt:i4>14</vt:i4>
      </vt:variant>
    </vt:vector>
  </HeadingPairs>
  <TitlesOfParts>
    <vt:vector size="23" baseType="lpstr">
      <vt:lpstr>微軟正黑體</vt:lpstr>
      <vt:lpstr>新細明體</vt:lpstr>
      <vt:lpstr>Georgia</vt:lpstr>
      <vt:lpstr>Lucida Calligraphy</vt:lpstr>
      <vt:lpstr>Trebuchet MS</vt:lpstr>
      <vt:lpstr>Wingdings 2</vt:lpstr>
      <vt:lpstr>都會</vt:lpstr>
      <vt:lpstr>方程式</vt:lpstr>
      <vt:lpstr>Equation</vt:lpstr>
      <vt:lpstr>Clustering</vt:lpstr>
      <vt:lpstr>Clustering Problem</vt:lpstr>
      <vt:lpstr>Distance Metric</vt:lpstr>
      <vt:lpstr>Clustering Types</vt:lpstr>
      <vt:lpstr>Flat Clustering</vt:lpstr>
      <vt:lpstr>K-Means Clustering</vt:lpstr>
      <vt:lpstr>K-Means Clustering</vt:lpstr>
      <vt:lpstr>PowerPoint 簡報</vt:lpstr>
      <vt:lpstr>PowerPoint 簡報</vt:lpstr>
      <vt:lpstr>PowerPoint 簡報</vt:lpstr>
      <vt:lpstr>Agglomerative Clustering</vt:lpstr>
      <vt:lpstr>Agglomerative Clustering</vt:lpstr>
      <vt:lpstr>Example: Single-Link Clustering</vt:lpstr>
      <vt:lpstr>Choosing 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Clustering</dc:title>
  <dc:creator>denislin</dc:creator>
  <cp:lastModifiedBy>denislin</cp:lastModifiedBy>
  <cp:revision>142</cp:revision>
  <dcterms:created xsi:type="dcterms:W3CDTF">2009-05-11T12:32:03Z</dcterms:created>
  <dcterms:modified xsi:type="dcterms:W3CDTF">2019-10-15T12:04:34Z</dcterms:modified>
</cp:coreProperties>
</file>