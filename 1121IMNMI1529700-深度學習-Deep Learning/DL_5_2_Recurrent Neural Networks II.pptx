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3" r:id="rId3"/>
    <p:sldId id="284" r:id="rId4"/>
    <p:sldId id="285" r:id="rId5"/>
    <p:sldId id="268" r:id="rId6"/>
    <p:sldId id="286" r:id="rId7"/>
    <p:sldId id="269" r:id="rId8"/>
    <p:sldId id="287" r:id="rId9"/>
    <p:sldId id="288" r:id="rId10"/>
    <p:sldId id="292" r:id="rId11"/>
    <p:sldId id="279" r:id="rId12"/>
    <p:sldId id="293" r:id="rId13"/>
    <p:sldId id="281" r:id="rId14"/>
    <p:sldId id="289" r:id="rId15"/>
    <p:sldId id="290" r:id="rId16"/>
    <p:sldId id="294" r:id="rId17"/>
    <p:sldId id="291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4E778-9C34-4F99-AF59-61ADB3AE7B30}" type="datetimeFigureOut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4106E-2C50-4676-9D42-2DD84223EC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1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D280B-F5D7-4231-B133-41EA57DD1C16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70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E3D5-112B-4A1F-8F85-35A03741C41C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06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5A02-BAB3-4A1D-8D79-2C552D179237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85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F91A9-9097-4BCC-B8D9-B2DB28B05567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21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D5169-CB63-444A-B901-7C9DABEBBED5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00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C6BB4-8D34-47D6-9F40-EAFB3F3A6C3F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630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48755-39C8-42E1-8471-D8ED05979007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9593-E5AA-4BFC-BF07-43EBDBBD32F1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63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155D-9559-4A2C-9BEA-A20E7CCB36C2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610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B0F8-745D-4CE3-95D9-DCAD134DCEA1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05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9F558-6B8D-44A2-B23A-B58D8EF3ADA8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57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F32C1-3CDC-48F3-AD83-31321036C998}" type="datetime1">
              <a:rPr lang="zh-TW" altLang="en-US" smtClean="0"/>
              <a:t>2022/12/17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F4775-B25B-44D2-9105-B8B3917847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771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keras.io/api/layers/preprocessing_layers/text/text_vectorization/#textvectorization-clas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eras.io/api/preprocessing/tex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api/layers/preprocessing_layers/text/text_vectorization/#textvectorization-clas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api_docs/python/tf/one_ho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eras.io/api/layers/preprocessing_layers/categorical/category_encodin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mlr.org/proceedings/papers/v37/jozefowicz15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api/layers/recurrent_layers/bidirectional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api/layers/core_layers/embedding/" TargetMode="External"/><Relationship Id="rId2" Type="http://schemas.openxmlformats.org/officeDocument/2006/relationships/hyperlink" Target="https://keras.io/layers/recurrent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mtClean="0"/>
              <a:t>Recurrent Neural </a:t>
            </a:r>
            <a:r>
              <a:rPr lang="en-US" altLang="zh-TW" smtClean="0"/>
              <a:t>Networks</a:t>
            </a:r>
            <a:r>
              <a:rPr lang="zh-TW" altLang="en-US" smtClean="0"/>
              <a:t> </a:t>
            </a:r>
            <a:r>
              <a:rPr lang="en-US" altLang="zh-TW" smtClean="0"/>
              <a:t>(II)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7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Text Processing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42916"/>
            <a:ext cx="10515600" cy="495544"/>
          </a:xfrm>
        </p:spPr>
        <p:txBody>
          <a:bodyPr/>
          <a:lstStyle/>
          <a:p>
            <a:r>
              <a:rPr lang="en-US" altLang="zh-TW" smtClean="0"/>
              <a:t>Text Vectorization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362" y="0"/>
            <a:ext cx="5434621" cy="676035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92" y="4376613"/>
            <a:ext cx="4467849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7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TextVectorization Layer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682154" y="1485629"/>
            <a:ext cx="4671646" cy="5126186"/>
          </a:xfrm>
        </p:spPr>
        <p:txBody>
          <a:bodyPr>
            <a:normAutofit/>
          </a:bodyPr>
          <a:lstStyle/>
          <a:p>
            <a:r>
              <a:rPr lang="en-US" altLang="zh-TW" sz="2400"/>
              <a:t>A preprocessing layer which maps text features to integer </a:t>
            </a:r>
            <a:r>
              <a:rPr lang="en-US" altLang="zh-TW" sz="2400"/>
              <a:t>sequences</a:t>
            </a:r>
            <a:r>
              <a:rPr lang="en-US" altLang="zh-TW" sz="2400" smtClean="0"/>
              <a:t>.</a:t>
            </a:r>
          </a:p>
          <a:p>
            <a:r>
              <a:rPr lang="en-US" altLang="zh-TW" sz="1600" b="1">
                <a:solidFill>
                  <a:srgbClr val="212529"/>
                </a:solidFill>
                <a:latin typeface="Open Sans"/>
              </a:rPr>
              <a:t>max_tokens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: Maximum size of the vocabulary for this layer.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 </a:t>
            </a:r>
            <a:endParaRPr lang="en-US" altLang="zh-TW" sz="1600" smtClean="0">
              <a:solidFill>
                <a:srgbClr val="212529"/>
              </a:solidFill>
              <a:latin typeface="Open Sans"/>
            </a:endParaRPr>
          </a:p>
          <a:p>
            <a:pPr lvl="0"/>
            <a:r>
              <a:rPr lang="zh-TW" altLang="zh-TW" sz="1600" b="1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output_mode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: Optional specification for the output of the layer. Values can be </a:t>
            </a:r>
            <a:r>
              <a:rPr lang="zh-TW" altLang="zh-TW" sz="1600">
                <a:solidFill>
                  <a:srgbClr val="E83E8C"/>
                </a:solidFill>
                <a:latin typeface="Arial Unicode MS"/>
                <a:ea typeface="SFMono-Regular"/>
              </a:rPr>
              <a:t>"int"</a:t>
            </a:r>
            <a:r>
              <a:rPr lang="zh-TW" altLang="zh-TW" sz="1600">
                <a:solidFill>
                  <a:srgbClr val="212529"/>
                </a:solidFill>
                <a:ea typeface="Open Sans"/>
              </a:rPr>
              <a:t>,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 </a:t>
            </a:r>
            <a:r>
              <a:rPr lang="zh-TW" altLang="zh-TW" sz="1600">
                <a:solidFill>
                  <a:srgbClr val="E83E8C"/>
                </a:solidFill>
                <a:latin typeface="Arial Unicode MS"/>
                <a:ea typeface="SFMono-Regular"/>
              </a:rPr>
              <a:t>"multi_hot"</a:t>
            </a:r>
            <a:r>
              <a:rPr lang="zh-TW" altLang="zh-TW" sz="1600">
                <a:solidFill>
                  <a:srgbClr val="212529"/>
                </a:solidFill>
                <a:ea typeface="Open Sans"/>
              </a:rPr>
              <a:t>,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 </a:t>
            </a:r>
            <a:r>
              <a:rPr lang="zh-TW" altLang="zh-TW" sz="1600">
                <a:solidFill>
                  <a:srgbClr val="E83E8C"/>
                </a:solidFill>
                <a:latin typeface="Arial Unicode MS"/>
                <a:ea typeface="SFMono-Regular"/>
              </a:rPr>
              <a:t>"count"</a:t>
            </a:r>
            <a:r>
              <a:rPr lang="zh-TW" altLang="zh-TW" sz="1600">
                <a:solidFill>
                  <a:srgbClr val="212529"/>
                </a:solidFill>
                <a:ea typeface="Open Sans"/>
              </a:rPr>
              <a:t> 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or </a:t>
            </a:r>
            <a:r>
              <a:rPr lang="zh-TW" altLang="zh-TW" sz="1600">
                <a:solidFill>
                  <a:srgbClr val="E83E8C"/>
                </a:solidFill>
                <a:latin typeface="Arial Unicode MS"/>
                <a:ea typeface="SFMono-Regular"/>
              </a:rPr>
              <a:t>"tf_idf"</a:t>
            </a:r>
            <a:r>
              <a:rPr lang="zh-TW" altLang="zh-TW" sz="1600"/>
              <a:t> </a:t>
            </a:r>
            <a:endParaRPr lang="zh-TW" altLang="zh-TW" sz="1600">
              <a:latin typeface="Arial" panose="020B0604020202020204" pitchFamily="34" charset="0"/>
            </a:endParaRPr>
          </a:p>
          <a:p>
            <a:pPr lvl="0"/>
            <a:r>
              <a:rPr lang="zh-TW" altLang="zh-TW" sz="1600" b="1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output_sequence_length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: Only valid in INT mode. If set, the output will have its time dimension padded or truncated to exactly </a:t>
            </a:r>
            <a:r>
              <a:rPr lang="zh-TW" altLang="zh-TW" sz="1600">
                <a:solidFill>
                  <a:srgbClr val="E83E8C"/>
                </a:solidFill>
                <a:latin typeface="Arial Unicode MS"/>
                <a:ea typeface="SFMono-Regular"/>
              </a:rPr>
              <a:t>output_sequence_length</a:t>
            </a:r>
            <a:r>
              <a:rPr lang="zh-TW" altLang="zh-TW" sz="1600">
                <a:solidFill>
                  <a:srgbClr val="212529"/>
                </a:solidFill>
                <a:ea typeface="Open Sans"/>
              </a:rPr>
              <a:t> </a:t>
            </a:r>
            <a:r>
              <a:rPr lang="zh-TW" altLang="zh-TW" sz="1600">
                <a:solidFill>
                  <a:srgbClr val="212529"/>
                </a:solidFill>
                <a:latin typeface="Arial" panose="020B0604020202020204" pitchFamily="34" charset="0"/>
                <a:ea typeface="Open Sans"/>
              </a:rPr>
              <a:t>values</a:t>
            </a:r>
            <a:r>
              <a:rPr lang="zh-TW" altLang="zh-TW" sz="1600">
                <a:latin typeface="Arial" panose="020B0604020202020204" pitchFamily="34" charset="0"/>
              </a:rPr>
              <a:t> </a:t>
            </a:r>
          </a:p>
          <a:p>
            <a:r>
              <a:rPr lang="en-US" altLang="zh-TW" sz="1600" b="1">
                <a:solidFill>
                  <a:srgbClr val="212529"/>
                </a:solidFill>
                <a:latin typeface="Open Sans"/>
              </a:rPr>
              <a:t>standardize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: Optional specification for standardization to apply to the input 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text</a:t>
            </a:r>
            <a:r>
              <a:rPr lang="en-US" altLang="zh-TW" sz="1600" smtClean="0">
                <a:solidFill>
                  <a:srgbClr val="212529"/>
                </a:solidFill>
                <a:latin typeface="Open Sans"/>
              </a:rPr>
              <a:t>.</a:t>
            </a:r>
          </a:p>
          <a:p>
            <a:r>
              <a:rPr lang="en-US" altLang="zh-TW" sz="1600" b="1">
                <a:solidFill>
                  <a:srgbClr val="212529"/>
                </a:solidFill>
                <a:latin typeface="Open Sans"/>
              </a:rPr>
              <a:t>split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: Optional specification for splitting the input </a:t>
            </a:r>
            <a:r>
              <a:rPr lang="en-US" altLang="zh-TW" sz="1600">
                <a:solidFill>
                  <a:srgbClr val="212529"/>
                </a:solidFill>
                <a:latin typeface="Open Sans"/>
              </a:rPr>
              <a:t>text</a:t>
            </a:r>
            <a:r>
              <a:rPr lang="en-US" altLang="zh-TW" sz="1600" smtClean="0">
                <a:solidFill>
                  <a:srgbClr val="212529"/>
                </a:solidFill>
                <a:latin typeface="Open Sans"/>
              </a:rPr>
              <a:t>.</a:t>
            </a:r>
          </a:p>
          <a:p>
            <a:endParaRPr lang="en-US" altLang="zh-TW" sz="1600">
              <a:solidFill>
                <a:srgbClr val="212529"/>
              </a:solidFill>
              <a:latin typeface="Open Sans"/>
            </a:endParaRPr>
          </a:p>
          <a:p>
            <a:r>
              <a:rPr lang="en-US" altLang="zh-TW" sz="1600">
                <a:hlinkClick r:id="rId2"/>
              </a:rPr>
              <a:t>https://keras.io/api/layers/preprocessing_layers/text/text_vectorization</a:t>
            </a:r>
            <a:r>
              <a:rPr lang="en-US" altLang="zh-TW" sz="1600">
                <a:hlinkClick r:id="rId2"/>
              </a:rPr>
              <a:t>/#</a:t>
            </a:r>
            <a:r>
              <a:rPr lang="en-US" altLang="zh-TW" sz="1600" smtClean="0">
                <a:hlinkClick r:id="rId2"/>
              </a:rPr>
              <a:t>textvectorization-class</a:t>
            </a:r>
            <a:endParaRPr lang="en-US" altLang="zh-TW" sz="1600" smtClean="0"/>
          </a:p>
          <a:p>
            <a:endParaRPr lang="zh-TW" altLang="en-US" sz="160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485629"/>
            <a:ext cx="5508365" cy="426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655776" y="181272"/>
            <a:ext cx="4698023" cy="5995691"/>
          </a:xfrm>
        </p:spPr>
        <p:txBody>
          <a:bodyPr>
            <a:normAutofit/>
          </a:bodyPr>
          <a:lstStyle/>
          <a:p>
            <a:r>
              <a:rPr lang="en-US" altLang="zh-TW" sz="2000"/>
              <a:t>The vocabulary </a:t>
            </a:r>
            <a:r>
              <a:rPr lang="en-US" altLang="zh-TW" sz="2000"/>
              <a:t>for </a:t>
            </a:r>
            <a:r>
              <a:rPr lang="en-US" altLang="zh-TW" sz="2000" smtClean="0"/>
              <a:t>the</a:t>
            </a:r>
            <a:r>
              <a:rPr lang="zh-TW" altLang="en-US" sz="2000" smtClean="0"/>
              <a:t> </a:t>
            </a:r>
            <a:r>
              <a:rPr lang="en-US" altLang="zh-TW" sz="2000"/>
              <a:t>TextVectorization</a:t>
            </a:r>
            <a:r>
              <a:rPr lang="en-US" altLang="zh-TW" sz="2000" smtClean="0"/>
              <a:t> </a:t>
            </a:r>
            <a:r>
              <a:rPr lang="en-US" altLang="zh-TW" sz="2000"/>
              <a:t>layer must be either supplied on construction or learned via adapt(). When this layer is adapted, it will analyze the dataset, determine the frequency of individual string values, and create a vocabulary from them.</a:t>
            </a:r>
            <a:endParaRPr lang="zh-TW" altLang="en-US" sz="200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53" y="181272"/>
            <a:ext cx="5725324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08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IMDB Data Set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IMDB movie review</a:t>
            </a:r>
          </a:p>
          <a:p>
            <a:pPr lvl="1"/>
            <a:r>
              <a:rPr lang="en-US" altLang="zh-TW" smtClean="0"/>
              <a:t>Positive or negative</a:t>
            </a:r>
          </a:p>
          <a:p>
            <a:pPr lvl="1"/>
            <a:r>
              <a:rPr lang="en-US" altLang="zh-TW" smtClean="0"/>
              <a:t>25000 training </a:t>
            </a:r>
          </a:p>
          <a:p>
            <a:pPr lvl="2"/>
            <a:r>
              <a:rPr lang="en-US" altLang="zh-TW" smtClean="0"/>
              <a:t>0 ~12499: positive, 12500 ~ 24999: negative</a:t>
            </a:r>
          </a:p>
          <a:p>
            <a:pPr lvl="1"/>
            <a:r>
              <a:rPr lang="en-US" altLang="zh-TW" smtClean="0"/>
              <a:t>25000 testing</a:t>
            </a:r>
          </a:p>
          <a:p>
            <a:pPr lvl="2"/>
            <a:r>
              <a:rPr lang="en-US" altLang="zh-TW" smtClean="0"/>
              <a:t>0 ~12499: positive, 12500 ~ 24999: negative</a:t>
            </a:r>
          </a:p>
          <a:p>
            <a:pPr lvl="1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40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59" y="167054"/>
            <a:ext cx="9984741" cy="63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8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8598877" y="1160583"/>
            <a:ext cx="161031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mtClean="0"/>
              <a:t>Download data</a:t>
            </a:r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598877" y="2781475"/>
            <a:ext cx="236539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mtClean="0"/>
              <a:t>Extract compressed file</a:t>
            </a:r>
            <a:endParaRPr lang="zh-TW" altLang="en-US"/>
          </a:p>
        </p:txBody>
      </p:sp>
      <p:cxnSp>
        <p:nvCxnSpPr>
          <p:cNvPr id="9" name="直線單箭頭接點 8"/>
          <p:cNvCxnSpPr>
            <a:stCxn id="4" idx="1"/>
          </p:cNvCxnSpPr>
          <p:nvPr/>
        </p:nvCxnSpPr>
        <p:spPr>
          <a:xfrm flipH="1">
            <a:off x="7991520" y="1345249"/>
            <a:ext cx="607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1"/>
          </p:cNvCxnSpPr>
          <p:nvPr/>
        </p:nvCxnSpPr>
        <p:spPr>
          <a:xfrm flipH="1">
            <a:off x="7991520" y="2966141"/>
            <a:ext cx="607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5" y="187570"/>
            <a:ext cx="7783757" cy="5442864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07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90" y="73081"/>
            <a:ext cx="4298980" cy="290752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90" y="2980604"/>
            <a:ext cx="9762377" cy="387739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67785" y="141848"/>
            <a:ext cx="66464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smtClean="0"/>
              <a:t>text_dataset_from_directory():</a:t>
            </a:r>
            <a:r>
              <a:rPr lang="zh-TW" altLang="en-US" sz="2400" smtClean="0"/>
              <a:t> </a:t>
            </a:r>
            <a:r>
              <a:rPr lang="en-US" altLang="zh-TW" sz="2400"/>
              <a:t>Generates a tf.data.Dataset from text files in a </a:t>
            </a:r>
            <a:r>
              <a:rPr lang="en-US" altLang="zh-TW" sz="2400"/>
              <a:t>directory</a:t>
            </a:r>
            <a:r>
              <a:rPr lang="en-US" altLang="zh-TW" sz="2400" smtClean="0"/>
              <a:t>.</a:t>
            </a:r>
          </a:p>
          <a:p>
            <a:r>
              <a:rPr lang="en-US" altLang="zh-TW" sz="2400">
                <a:hlinkClick r:id="rId4"/>
              </a:rPr>
              <a:t>https://</a:t>
            </a:r>
            <a:r>
              <a:rPr lang="en-US" altLang="zh-TW" sz="2400">
                <a:hlinkClick r:id="rId4"/>
              </a:rPr>
              <a:t>keras.io/api/preprocessing/text</a:t>
            </a:r>
            <a:r>
              <a:rPr lang="en-US" altLang="zh-TW" sz="2400" smtClean="0">
                <a:hlinkClick r:id="rId4"/>
              </a:rPr>
              <a:t>/</a:t>
            </a:r>
            <a:endParaRPr lang="en-US" altLang="zh-TW" sz="2400" smtClean="0"/>
          </a:p>
          <a:p>
            <a:endParaRPr lang="en-US" altLang="zh-TW" sz="2400"/>
          </a:p>
        </p:txBody>
      </p:sp>
    </p:spTree>
    <p:extLst>
      <p:ext uri="{BB962C8B-B14F-4D97-AF65-F5344CB8AC3E}">
        <p14:creationId xmlns:p14="http://schemas.microsoft.com/office/powerpoint/2010/main" val="355370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63" y="214773"/>
            <a:ext cx="4258101" cy="461953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802629" y="214773"/>
            <a:ext cx="707092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TW" sz="2400" smtClean="0"/>
              <a:t>TextVectorization:</a:t>
            </a:r>
            <a:r>
              <a:rPr lang="zh-TW" altLang="en-US" sz="2400" smtClean="0"/>
              <a:t> </a:t>
            </a:r>
            <a:r>
              <a:rPr lang="en-US" altLang="zh-TW" sz="2400"/>
              <a:t>A preprocessing layer which maps text features to integer </a:t>
            </a:r>
            <a:r>
              <a:rPr lang="en-US" altLang="zh-TW" sz="2400"/>
              <a:t>sequences</a:t>
            </a:r>
            <a:r>
              <a:rPr lang="en-US" altLang="zh-TW" sz="2400" smtClean="0"/>
              <a:t>.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TW" sz="2400"/>
              <a:t>The vocabulary for the layer must be either supplied on construction or learned via </a:t>
            </a:r>
            <a:r>
              <a:rPr lang="en-US" altLang="zh-TW" sz="2400"/>
              <a:t>adapt</a:t>
            </a:r>
            <a:r>
              <a:rPr lang="en-US" altLang="zh-TW" sz="2400" smtClean="0"/>
              <a:t>().</a:t>
            </a:r>
            <a:r>
              <a:rPr lang="zh-TW" altLang="en-US" sz="2400" smtClean="0"/>
              <a:t> </a:t>
            </a:r>
            <a:r>
              <a:rPr lang="en-US" altLang="zh-TW" sz="2400" smtClean="0"/>
              <a:t>The </a:t>
            </a:r>
            <a:r>
              <a:rPr lang="en-US" altLang="zh-TW" sz="2400"/>
              <a:t>most frequent terms will be used to create the </a:t>
            </a:r>
            <a:r>
              <a:rPr lang="en-US" altLang="zh-TW" sz="2400"/>
              <a:t>vocabulary</a:t>
            </a:r>
            <a:r>
              <a:rPr lang="en-US" altLang="zh-TW" sz="2400" smtClean="0"/>
              <a:t>.</a:t>
            </a:r>
          </a:p>
          <a:p>
            <a:r>
              <a:rPr lang="en-US" altLang="zh-TW" sz="2400"/>
              <a:t>Standardize each example (usually lowercasing + punctuation </a:t>
            </a:r>
            <a:r>
              <a:rPr lang="en-US" altLang="zh-TW" sz="2400"/>
              <a:t>stripping</a:t>
            </a:r>
            <a:r>
              <a:rPr lang="en-US" altLang="zh-TW" sz="2400" smtClean="0"/>
              <a:t>)</a:t>
            </a: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TW" sz="2400"/>
              <a:t>The processing of each example contains the following steps:</a:t>
            </a:r>
          </a:p>
          <a:p>
            <a:pPr marL="627063" indent="-354013">
              <a:buFont typeface="+mj-lt"/>
              <a:buAutoNum type="arabicPeriod"/>
            </a:pPr>
            <a:r>
              <a:rPr lang="en-US" altLang="zh-TW" sz="2400"/>
              <a:t>Split each example into substrings (usually words)</a:t>
            </a:r>
          </a:p>
          <a:p>
            <a:pPr marL="627063" indent="-354013">
              <a:buFont typeface="+mj-lt"/>
              <a:buAutoNum type="arabicPeriod"/>
            </a:pPr>
            <a:r>
              <a:rPr lang="en-US" altLang="zh-TW" sz="2400"/>
              <a:t>Recombine substrings into tokens (usually ngrams)</a:t>
            </a:r>
          </a:p>
          <a:p>
            <a:pPr marL="627063" indent="-354013">
              <a:buFont typeface="+mj-lt"/>
              <a:buAutoNum type="arabicPeriod"/>
            </a:pPr>
            <a:r>
              <a:rPr lang="en-US" altLang="zh-TW" sz="2400"/>
              <a:t>Index tokens (associate a unique int value with each token)</a:t>
            </a:r>
          </a:p>
          <a:p>
            <a:pPr marL="627063" indent="-354013">
              <a:buFont typeface="+mj-lt"/>
              <a:buAutoNum type="arabicPeriod"/>
            </a:pPr>
            <a:r>
              <a:rPr lang="en-US" altLang="zh-TW" sz="2400"/>
              <a:t>Transform each example using this index, either into a vector of ints or a dense float </a:t>
            </a:r>
            <a:r>
              <a:rPr lang="en-US" altLang="zh-TW" sz="2400"/>
              <a:t>vector</a:t>
            </a:r>
            <a:r>
              <a:rPr lang="en-US" altLang="zh-TW" sz="2400" smtClean="0"/>
              <a:t>.</a:t>
            </a:r>
          </a:p>
          <a:p>
            <a:r>
              <a:rPr lang="en-US" altLang="zh-TW" sz="2400">
                <a:hlinkClick r:id="rId3"/>
              </a:rPr>
              <a:t>https://keras.io/api/layers/preprocessing_layers/text/text_vectorization</a:t>
            </a:r>
            <a:r>
              <a:rPr lang="en-US" altLang="zh-TW" sz="2400">
                <a:hlinkClick r:id="rId3"/>
              </a:rPr>
              <a:t>/#</a:t>
            </a:r>
            <a:r>
              <a:rPr lang="en-US" altLang="zh-TW" sz="2400" smtClean="0">
                <a:hlinkClick r:id="rId3"/>
              </a:rPr>
              <a:t>textvectorization-class</a:t>
            </a:r>
            <a:endParaRPr lang="en-US" altLang="zh-TW" sz="2400" smtClean="0"/>
          </a:p>
          <a:p>
            <a:pPr marL="273050"/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76026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19" y="317922"/>
            <a:ext cx="5632556" cy="6403553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114197" y="294650"/>
            <a:ext cx="580029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>
                <a:hlinkClick r:id="rId3"/>
              </a:rPr>
              <a:t>https</a:t>
            </a:r>
            <a:r>
              <a:rPr lang="en-US" altLang="zh-TW">
                <a:hlinkClick r:id="rId3"/>
              </a:rPr>
              <a:t>://</a:t>
            </a:r>
            <a:r>
              <a:rPr lang="en-US" altLang="zh-TW" smtClean="0">
                <a:hlinkClick r:id="rId3"/>
              </a:rPr>
              <a:t>www.tensorflow.org/api_docs/python/tf/one_hot</a:t>
            </a:r>
            <a:endParaRPr lang="en-US" altLang="zh-TW" smtClean="0"/>
          </a:p>
          <a:p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mtClean="0"/>
              <a:t>One-hot </a:t>
            </a:r>
            <a:r>
              <a:rPr lang="en-US" altLang="zh-TW"/>
              <a:t>encoding </a:t>
            </a:r>
            <a:r>
              <a:rPr lang="en-US" altLang="zh-TW" smtClean="0"/>
              <a:t>data</a:t>
            </a:r>
            <a:endParaRPr lang="en-US" altLang="zh-TW"/>
          </a:p>
          <a:p>
            <a:r>
              <a:rPr lang="en-US" altLang="zh-TW"/>
              <a:t>&gt;&gt;&gt; layer = tf.keras.layers.CategoryEncoding(</a:t>
            </a:r>
          </a:p>
          <a:p>
            <a:r>
              <a:rPr lang="en-US" altLang="zh-TW"/>
              <a:t>...           num_tokens=4, output_mode="one_hot")</a:t>
            </a:r>
          </a:p>
          <a:p>
            <a:r>
              <a:rPr lang="en-US" altLang="zh-TW"/>
              <a:t>&gt;&gt;&gt; layer([3, 2, 0, 1])</a:t>
            </a:r>
          </a:p>
          <a:p>
            <a:r>
              <a:rPr lang="en-US" altLang="zh-TW"/>
              <a:t>&lt;tf.Tensor: shape=(4, 4), dtype=float32, numpy=</a:t>
            </a:r>
          </a:p>
          <a:p>
            <a:r>
              <a:rPr lang="en-US" altLang="zh-TW"/>
              <a:t>  array([[0., 0., 0., 1.],</a:t>
            </a:r>
          </a:p>
          <a:p>
            <a:r>
              <a:rPr lang="en-US" altLang="zh-TW"/>
              <a:t>         [0., 0., 1., 0.],</a:t>
            </a:r>
          </a:p>
          <a:p>
            <a:r>
              <a:rPr lang="en-US" altLang="zh-TW"/>
              <a:t>         [1., 0., 0., 0.],</a:t>
            </a:r>
          </a:p>
          <a:p>
            <a:r>
              <a:rPr lang="en-US" altLang="zh-TW"/>
              <a:t>         [0., 1., 0., 0.]], dtype=float32)&gt;</a:t>
            </a:r>
          </a:p>
          <a:p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/>
              <a:t>Multi-hot encoding data</a:t>
            </a:r>
          </a:p>
          <a:p>
            <a:r>
              <a:rPr lang="en-US" altLang="zh-TW"/>
              <a:t>&gt;&gt;&gt; layer = tf.keras.layers.CategoryEncoding(</a:t>
            </a:r>
          </a:p>
          <a:p>
            <a:r>
              <a:rPr lang="en-US" altLang="zh-TW"/>
              <a:t>...           num_tokens=4, output_mode="multi_hot")</a:t>
            </a:r>
          </a:p>
          <a:p>
            <a:r>
              <a:rPr lang="en-US" altLang="zh-TW"/>
              <a:t>&gt;&gt;&gt; layer([[0, 1], [0, 0], [1, 2], [3, 1]])</a:t>
            </a:r>
          </a:p>
          <a:p>
            <a:r>
              <a:rPr lang="en-US" altLang="zh-TW"/>
              <a:t>&lt;tf.Tensor: shape=(4, 4), dtype=float32, numpy=</a:t>
            </a:r>
          </a:p>
          <a:p>
            <a:r>
              <a:rPr lang="en-US" altLang="zh-TW"/>
              <a:t>  array([[1., 1., 0., 0.],</a:t>
            </a:r>
          </a:p>
          <a:p>
            <a:r>
              <a:rPr lang="en-US" altLang="zh-TW"/>
              <a:t>         [1., 0., 0., 0.],</a:t>
            </a:r>
          </a:p>
          <a:p>
            <a:r>
              <a:rPr lang="en-US" altLang="zh-TW"/>
              <a:t>         [0., 1., 1., 0.],</a:t>
            </a:r>
          </a:p>
          <a:p>
            <a:r>
              <a:rPr lang="en-US" altLang="zh-TW"/>
              <a:t>         [0., 1., 0., 1.]], dtype=float32)&gt;</a:t>
            </a:r>
          </a:p>
          <a:p>
            <a:r>
              <a:rPr lang="en-US" altLang="zh-TW">
                <a:hlinkClick r:id="rId4"/>
              </a:rPr>
              <a:t>https://</a:t>
            </a:r>
            <a:r>
              <a:rPr lang="en-US" altLang="zh-TW">
                <a:hlinkClick r:id="rId4"/>
              </a:rPr>
              <a:t>keras.io/api/layers/preprocessing_layers/categorical/category_encoding</a:t>
            </a:r>
            <a:r>
              <a:rPr lang="en-US" altLang="zh-TW" smtClean="0">
                <a:hlinkClick r:id="rId4"/>
              </a:rPr>
              <a:t>/</a:t>
            </a:r>
            <a:endParaRPr lang="en-US" altLang="zh-TW" smtClean="0"/>
          </a:p>
        </p:txBody>
      </p:sp>
    </p:spTree>
    <p:extLst>
      <p:ext uri="{BB962C8B-B14F-4D97-AF65-F5344CB8AC3E}">
        <p14:creationId xmlns:p14="http://schemas.microsoft.com/office/powerpoint/2010/main" val="4235022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22031" y="369277"/>
            <a:ext cx="11350869" cy="5807686"/>
          </a:xfrm>
        </p:spPr>
        <p:txBody>
          <a:bodyPr>
            <a:normAutofit/>
          </a:bodyPr>
          <a:lstStyle/>
          <a:p>
            <a:r>
              <a:rPr lang="en-US" altLang="zh-TW" sz="2400"/>
              <a:t>keras.layers.LSTM(units, activation='tanh', recurrent_activation='sigmoid', use_bias=</a:t>
            </a:r>
            <a:r>
              <a:rPr lang="en-US" altLang="zh-TW" sz="2400" b="1"/>
              <a:t>True</a:t>
            </a:r>
            <a:r>
              <a:rPr lang="en-US" altLang="zh-TW" sz="2400"/>
              <a:t>, kernel_initializer='glorot_uniform', recurrent_initializer='orthogonal', bias_initializer='zeros', unit_forget_bias=</a:t>
            </a:r>
            <a:r>
              <a:rPr lang="en-US" altLang="zh-TW" sz="2400" b="1"/>
              <a:t>True</a:t>
            </a:r>
            <a:r>
              <a:rPr lang="en-US" altLang="zh-TW" sz="2400"/>
              <a:t>, kernel_regularizer=</a:t>
            </a:r>
            <a:r>
              <a:rPr lang="en-US" altLang="zh-TW" sz="2400" b="1"/>
              <a:t>None</a:t>
            </a:r>
            <a:r>
              <a:rPr lang="en-US" altLang="zh-TW" sz="2400"/>
              <a:t>, recurrent_regularizer=</a:t>
            </a:r>
            <a:r>
              <a:rPr lang="en-US" altLang="zh-TW" sz="2400" b="1"/>
              <a:t>None</a:t>
            </a:r>
            <a:r>
              <a:rPr lang="en-US" altLang="zh-TW" sz="2400"/>
              <a:t>, bias_regularizer=</a:t>
            </a:r>
            <a:r>
              <a:rPr lang="en-US" altLang="zh-TW" sz="2400" b="1"/>
              <a:t>None</a:t>
            </a:r>
            <a:r>
              <a:rPr lang="en-US" altLang="zh-TW" sz="2400"/>
              <a:t>, activity_regularizer=</a:t>
            </a:r>
            <a:r>
              <a:rPr lang="en-US" altLang="zh-TW" sz="2400" b="1"/>
              <a:t>None</a:t>
            </a:r>
            <a:r>
              <a:rPr lang="en-US" altLang="zh-TW" sz="2400"/>
              <a:t>, kernel_constraint=</a:t>
            </a:r>
            <a:r>
              <a:rPr lang="en-US" altLang="zh-TW" sz="2400" b="1"/>
              <a:t>None</a:t>
            </a:r>
            <a:r>
              <a:rPr lang="en-US" altLang="zh-TW" sz="2400"/>
              <a:t>, recurrent_constraint=</a:t>
            </a:r>
            <a:r>
              <a:rPr lang="en-US" altLang="zh-TW" sz="2400" b="1"/>
              <a:t>None</a:t>
            </a:r>
            <a:r>
              <a:rPr lang="en-US" altLang="zh-TW" sz="2400"/>
              <a:t>, bias_constraint=</a:t>
            </a:r>
            <a:r>
              <a:rPr lang="en-US" altLang="zh-TW" sz="2400" b="1"/>
              <a:t>None</a:t>
            </a:r>
            <a:r>
              <a:rPr lang="en-US" altLang="zh-TW" sz="2400"/>
              <a:t>, dropout=0.0, recurrent_dropout=0.0, implementation=2, return_sequences=</a:t>
            </a:r>
            <a:r>
              <a:rPr lang="en-US" altLang="zh-TW" sz="2400" b="1"/>
              <a:t>False</a:t>
            </a:r>
            <a:r>
              <a:rPr lang="en-US" altLang="zh-TW" sz="2400"/>
              <a:t>, return_state=</a:t>
            </a:r>
            <a:r>
              <a:rPr lang="en-US" altLang="zh-TW" sz="2400" b="1"/>
              <a:t>False</a:t>
            </a:r>
            <a:r>
              <a:rPr lang="en-US" altLang="zh-TW" sz="2400"/>
              <a:t>, go_backwards=</a:t>
            </a:r>
            <a:r>
              <a:rPr lang="en-US" altLang="zh-TW" sz="2400" b="1"/>
              <a:t>False</a:t>
            </a:r>
            <a:r>
              <a:rPr lang="en-US" altLang="zh-TW" sz="2400"/>
              <a:t>, stateful=</a:t>
            </a:r>
            <a:r>
              <a:rPr lang="en-US" altLang="zh-TW" sz="2400" b="1"/>
              <a:t>False</a:t>
            </a:r>
            <a:r>
              <a:rPr lang="en-US" altLang="zh-TW" sz="2400"/>
              <a:t>, unroll=</a:t>
            </a:r>
            <a:r>
              <a:rPr lang="en-US" altLang="zh-TW" sz="2400" b="1"/>
              <a:t>False</a:t>
            </a:r>
            <a:r>
              <a:rPr lang="en-US" altLang="zh-TW" sz="2400" smtClean="0"/>
              <a:t>)</a:t>
            </a:r>
          </a:p>
          <a:p>
            <a:r>
              <a:rPr lang="en-US" altLang="zh-TW" sz="2400"/>
              <a:t>Long Short-Term Memory layer - Hochreiter 1997</a:t>
            </a:r>
            <a:r>
              <a:rPr lang="en-US" altLang="zh-TW" sz="2400" smtClean="0"/>
              <a:t>.</a:t>
            </a:r>
          </a:p>
          <a:p>
            <a:pPr lvl="1"/>
            <a:r>
              <a:rPr kumimoji="0" lang="zh-TW" altLang="zh-TW" sz="1800" b="1" i="0" u="none" strike="noStrike" cap="none" normalizeH="0" baseline="0" smtClean="0">
                <a:ln>
                  <a:noFill/>
                </a:ln>
                <a:effectLst/>
                <a:latin typeface="Arial" panose="020B0604020202020204" pitchFamily="34" charset="0"/>
                <a:ea typeface="Lato"/>
              </a:rPr>
              <a:t>recurrent_activation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: Activation function to use for the recurrent step. Default: hard sigmoid (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hard_sigmoid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). If you pass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None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, no activation is applied (ie. "linear" activation: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  <a:ea typeface="Lato"/>
              </a:rPr>
              <a:t>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a(x) = x</a:t>
            </a:r>
            <a:r>
              <a:rPr kumimoji="0" lang="zh-TW" altLang="zh-TW" sz="1800" b="0" i="0" u="none" strike="noStrike" cap="none" normalizeH="0" baseline="0" smtClean="0">
                <a:ln>
                  <a:noFill/>
                </a:ln>
                <a:solidFill>
                  <a:srgbClr val="404040"/>
                </a:solidFill>
                <a:effectLst/>
                <a:ea typeface="Lato"/>
              </a:rPr>
              <a:t>).</a:t>
            </a:r>
            <a:r>
              <a:rPr kumimoji="0" lang="zh-TW" altLang="zh-TW" sz="105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05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zh-TW" altLang="zh-TW" sz="1800" b="1">
                <a:latin typeface="Arial" panose="020B0604020202020204" pitchFamily="34" charset="0"/>
                <a:ea typeface="Lato"/>
              </a:rPr>
              <a:t>unit_forget_bias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Boolean. If True, add 1 to the bias of the forget gate at initialization. Setting it to true will also force </a:t>
            </a:r>
            <a:r>
              <a:rPr kumimoji="0" lang="zh-TW" altLang="zh-TW" sz="11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bias_initializer="zeros"</a:t>
            </a:r>
            <a:r>
              <a:rPr lang="zh-TW" altLang="zh-TW" sz="1800">
                <a:solidFill>
                  <a:srgbClr val="404040"/>
                </a:solidFill>
                <a:ea typeface="Lato"/>
              </a:rPr>
              <a:t>. This is recommended in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 </a:t>
            </a:r>
            <a:r>
              <a:rPr lang="zh-TW" altLang="zh-TW" sz="1800">
                <a:solidFill>
                  <a:srgbClr val="8E4A4A"/>
                </a:solidFill>
                <a:latin typeface="Arial" panose="020B0604020202020204" pitchFamily="34" charset="0"/>
                <a:ea typeface="Lato"/>
                <a:hlinkClick r:id="rId2"/>
              </a:rPr>
              <a:t>Jozefowicz et al. (2015)</a:t>
            </a:r>
            <a:r>
              <a:rPr lang="zh-TW" altLang="zh-TW" sz="18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.</a:t>
            </a:r>
            <a:r>
              <a:rPr kumimoji="0" lang="zh-TW" altLang="zh-TW" sz="105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TW" sz="105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lang="en-US" altLang="zh-TW" sz="1800" b="1"/>
              <a:t>implementation</a:t>
            </a:r>
            <a:r>
              <a:rPr lang="en-US" altLang="zh-TW" sz="1800"/>
              <a:t>: Implementation mode, either 1 or 2. Mode 1 will structure its operations as a larger number of smaller dot products and additions, whereas mode 2 will batch them into fewer, larger operations. These modes will have different performance profiles on different hardware and for different applications.</a:t>
            </a:r>
            <a:endParaRPr kumimoji="0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zh-TW" altLang="zh-TW">
              <a:latin typeface="Arial" panose="020B0604020202020204" pitchFamily="34" charset="0"/>
            </a:endParaRPr>
          </a:p>
          <a:p>
            <a:pPr lvl="1"/>
            <a:endParaRPr lang="zh-TW" altLang="en-US" sz="16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82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316523" y="272562"/>
            <a:ext cx="11764108" cy="647113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/>
              <a:t>keras.layers.SimpleRNN(units, activation='tanh', use_bias=</a:t>
            </a:r>
            <a:r>
              <a:rPr lang="en-US" altLang="zh-TW" b="1"/>
              <a:t>True</a:t>
            </a:r>
            <a:r>
              <a:rPr lang="en-US" altLang="zh-TW"/>
              <a:t>, kernel_initializer='glorot_uniform', recurrent_initializer='orthogonal', bias_initializer='zeros', kernel_regularizer=</a:t>
            </a:r>
            <a:r>
              <a:rPr lang="en-US" altLang="zh-TW" b="1"/>
              <a:t>None</a:t>
            </a:r>
            <a:r>
              <a:rPr lang="en-US" altLang="zh-TW"/>
              <a:t>, recurrent_regularizer=</a:t>
            </a:r>
            <a:r>
              <a:rPr lang="en-US" altLang="zh-TW" b="1"/>
              <a:t>None</a:t>
            </a:r>
            <a:r>
              <a:rPr lang="en-US" altLang="zh-TW"/>
              <a:t>, bias_regularizer=</a:t>
            </a:r>
            <a:r>
              <a:rPr lang="en-US" altLang="zh-TW" b="1"/>
              <a:t>None</a:t>
            </a:r>
            <a:r>
              <a:rPr lang="en-US" altLang="zh-TW"/>
              <a:t>, activity_regularizer=</a:t>
            </a:r>
            <a:r>
              <a:rPr lang="en-US" altLang="zh-TW" b="1"/>
              <a:t>None</a:t>
            </a:r>
            <a:r>
              <a:rPr lang="en-US" altLang="zh-TW"/>
              <a:t>, kernel_constraint=</a:t>
            </a:r>
            <a:r>
              <a:rPr lang="en-US" altLang="zh-TW" b="1"/>
              <a:t>None</a:t>
            </a:r>
            <a:r>
              <a:rPr lang="en-US" altLang="zh-TW"/>
              <a:t>, recurrent_constraint=</a:t>
            </a:r>
            <a:r>
              <a:rPr lang="en-US" altLang="zh-TW" b="1"/>
              <a:t>None</a:t>
            </a:r>
            <a:r>
              <a:rPr lang="en-US" altLang="zh-TW"/>
              <a:t>, bias_constraint=</a:t>
            </a:r>
            <a:r>
              <a:rPr lang="en-US" altLang="zh-TW" b="1"/>
              <a:t>None</a:t>
            </a:r>
            <a:r>
              <a:rPr lang="en-US" altLang="zh-TW"/>
              <a:t>, dropout=0.0, recurrent_dropout=0.0, return_sequences=</a:t>
            </a:r>
            <a:r>
              <a:rPr lang="en-US" altLang="zh-TW" b="1"/>
              <a:t>False</a:t>
            </a:r>
            <a:r>
              <a:rPr lang="en-US" altLang="zh-TW"/>
              <a:t>, return_state=</a:t>
            </a:r>
            <a:r>
              <a:rPr lang="en-US" altLang="zh-TW" b="1"/>
              <a:t>False</a:t>
            </a:r>
            <a:r>
              <a:rPr lang="en-US" altLang="zh-TW"/>
              <a:t>, go_backwards=</a:t>
            </a:r>
            <a:r>
              <a:rPr lang="en-US" altLang="zh-TW" b="1"/>
              <a:t>False</a:t>
            </a:r>
            <a:r>
              <a:rPr lang="en-US" altLang="zh-TW"/>
              <a:t>, stateful=</a:t>
            </a:r>
            <a:r>
              <a:rPr lang="en-US" altLang="zh-TW" b="1"/>
              <a:t>False</a:t>
            </a:r>
            <a:r>
              <a:rPr lang="en-US" altLang="zh-TW"/>
              <a:t>, unroll=</a:t>
            </a:r>
            <a:r>
              <a:rPr lang="en-US" altLang="zh-TW" b="1"/>
              <a:t>False</a:t>
            </a:r>
            <a:r>
              <a:rPr lang="en-US" altLang="zh-TW" smtClean="0"/>
              <a:t>)</a:t>
            </a:r>
            <a:endParaRPr kumimoji="0" lang="zh-TW" altLang="zh-TW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/>
              <a:t>Fully-connected RNN where the output is to be fed back to input.</a:t>
            </a:r>
            <a:endParaRPr lang="en-US" altLang="zh-TW" b="1" smtClean="0"/>
          </a:p>
          <a:p>
            <a:pPr lvl="1"/>
            <a:r>
              <a:rPr lang="zh-TW" altLang="zh-TW" b="1" smtClean="0"/>
              <a:t>units</a:t>
            </a:r>
            <a:r>
              <a:rPr lang="zh-TW" altLang="zh-TW" smtClean="0"/>
              <a:t>: Positive integer, dimensionality of the output space.</a:t>
            </a:r>
          </a:p>
          <a:p>
            <a:pPr lvl="1"/>
            <a:r>
              <a:rPr lang="zh-TW" altLang="zh-TW" b="1" smtClean="0"/>
              <a:t>activation</a:t>
            </a:r>
            <a:r>
              <a:rPr lang="zh-TW" altLang="zh-TW" smtClean="0"/>
              <a:t>: Activation function to use. Default: hyperbolic tangent (tanh). If you pass None, no activation is applied (ie. "linear" activation: a(x) = x).</a:t>
            </a:r>
          </a:p>
          <a:p>
            <a:pPr lvl="1"/>
            <a:r>
              <a:rPr lang="zh-TW" altLang="zh-TW" b="1" smtClean="0"/>
              <a:t>use_bias</a:t>
            </a:r>
            <a:r>
              <a:rPr lang="zh-TW" altLang="zh-TW" smtClean="0"/>
              <a:t>: Boolean, whether the layer uses a bias vector.</a:t>
            </a:r>
          </a:p>
          <a:p>
            <a:pPr lvl="1"/>
            <a:r>
              <a:rPr lang="en-US" altLang="zh-TW" b="1" smtClean="0"/>
              <a:t>dropout</a:t>
            </a:r>
            <a:r>
              <a:rPr lang="en-US" altLang="zh-TW" smtClean="0"/>
              <a:t>: Float between 0 and 1. Fraction of the units to drop for the linear transformation of the inputs.</a:t>
            </a:r>
          </a:p>
          <a:p>
            <a:pPr lvl="1"/>
            <a:r>
              <a:rPr lang="en-US" altLang="zh-TW" b="1" smtClean="0"/>
              <a:t>recurrent_dropout</a:t>
            </a:r>
            <a:r>
              <a:rPr lang="en-US" altLang="zh-TW"/>
              <a:t>: Float between 0 and 1. Fraction of the units to drop for the linear transformation of the recurrent state.</a:t>
            </a:r>
          </a:p>
          <a:p>
            <a:pPr lvl="1"/>
            <a:r>
              <a:rPr lang="en-US" altLang="zh-TW" b="1"/>
              <a:t>return_sequences</a:t>
            </a:r>
            <a:r>
              <a:rPr lang="en-US" altLang="zh-TW"/>
              <a:t>: Boolean. Whether to return the last output in the output sequence, or the full sequence.</a:t>
            </a:r>
          </a:p>
          <a:p>
            <a:pPr lvl="1"/>
            <a:r>
              <a:rPr lang="en-US" altLang="zh-TW" b="1"/>
              <a:t>return_state</a:t>
            </a:r>
            <a:r>
              <a:rPr lang="en-US" altLang="zh-TW"/>
              <a:t>: Boolean. Whether to return the last state in addition to the output.</a:t>
            </a:r>
          </a:p>
          <a:p>
            <a:pPr lvl="1"/>
            <a:r>
              <a:rPr lang="en-US" altLang="zh-TW" b="1"/>
              <a:t>go_backwards</a:t>
            </a:r>
            <a:r>
              <a:rPr lang="en-US" altLang="zh-TW"/>
              <a:t>: Boolean (default False). If True, process the input sequence backwards and return the reversed sequence.</a:t>
            </a:r>
          </a:p>
          <a:p>
            <a:pPr lvl="1"/>
            <a:r>
              <a:rPr lang="en-US" altLang="zh-TW" b="1"/>
              <a:t>stateful</a:t>
            </a:r>
            <a:r>
              <a:rPr lang="en-US" altLang="zh-TW"/>
              <a:t>: Boolean (default False). If True, the last state for each sample at index i in a batch will be used as initial state for the sample of index i in the following batch.</a:t>
            </a:r>
          </a:p>
          <a:p>
            <a:pPr lvl="1"/>
            <a:r>
              <a:rPr lang="en-US" altLang="zh-TW" b="1"/>
              <a:t>unroll</a:t>
            </a:r>
            <a:r>
              <a:rPr lang="en-US" altLang="zh-TW"/>
              <a:t>: Boolean (default False). If True, the network will be unrolled, else a symbolic loop will be used. Unrolling can speed-up a RNN, although it tends to be more memory-intensive. Unrolling is only suitable for short sequences</a:t>
            </a:r>
            <a:r>
              <a:rPr lang="en-US" altLang="zh-TW" smtClean="0"/>
              <a:t>.</a:t>
            </a:r>
            <a:r>
              <a:rPr lang="en-US" altLang="zh-TW" sz="2400" smtClean="0"/>
              <a:t/>
            </a:r>
            <a:br>
              <a:rPr lang="en-US" altLang="zh-TW" sz="2400" smtClean="0"/>
            </a:br>
            <a:endParaRPr kumimoji="0" lang="zh-TW" altLang="zh-TW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TW" altLang="en-US" sz="240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177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Bidirectional LSTM (biLSTM)</a:t>
            </a:r>
            <a:endParaRPr lang="zh-TW" altLang="en-US"/>
          </a:p>
        </p:txBody>
      </p:sp>
      <p:pic>
        <p:nvPicPr>
          <p:cNvPr id="7172" name="Picture 4" descr="http://ai2-s2-public.s3.amazonaws.com/figures/2017-08-08/f7bdb849dafe17c952bfd88b879e01f74cf59d78/4-Figure3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41" y="1690688"/>
            <a:ext cx="61722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6362341" y="1894593"/>
            <a:ext cx="5593937" cy="384720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TW" sz="2400" smtClean="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Bidirectional()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 smtClean="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layer</a:t>
            </a:r>
            <a:r>
              <a:rPr lang="zh-TW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 </a:t>
            </a:r>
            <a:r>
              <a:rPr kumimoji="0" lang="zh-TW" altLang="zh-TW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SFMono-Regular"/>
              </a:rPr>
              <a:t>Recurrent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 </a:t>
            </a:r>
            <a:r>
              <a:rPr lang="zh-TW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instance.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merge_mode</a:t>
            </a:r>
            <a:r>
              <a:rPr lang="zh-TW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Mode by which outputs of the forward and backward RNNs will be combined. One of {'sum', 'mul', 'concat', 'ave', None}. If None, the outputs will not be combined, they will be returned as a list.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weights</a:t>
            </a:r>
            <a:r>
              <a:rPr lang="zh-TW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: Initial weights to load in the Bidirectional </a:t>
            </a:r>
            <a:r>
              <a:rPr lang="zh-TW" altLang="zh-TW" sz="2000" smtClean="0">
                <a:solidFill>
                  <a:srgbClr val="404040"/>
                </a:solidFill>
                <a:latin typeface="Arial" panose="020B0604020202020204" pitchFamily="34" charset="0"/>
                <a:ea typeface="Lato"/>
              </a:rPr>
              <a:t>model</a:t>
            </a:r>
            <a:endParaRPr lang="en-US" altLang="zh-TW" sz="2000" smtClean="0">
              <a:solidFill>
                <a:srgbClr val="404040"/>
              </a:solidFill>
              <a:latin typeface="Arial" panose="020B0604020202020204" pitchFamily="34" charset="0"/>
              <a:ea typeface="Lat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  <a:hlinkClick r:id="rId3"/>
              </a:rPr>
              <a:t>https://</a:t>
            </a:r>
            <a:r>
              <a:rPr lang="en-US" altLang="zh-TW" sz="2000">
                <a:solidFill>
                  <a:srgbClr val="404040"/>
                </a:solidFill>
                <a:latin typeface="Arial" panose="020B0604020202020204" pitchFamily="34" charset="0"/>
                <a:ea typeface="Lato"/>
                <a:hlinkClick r:id="rId3"/>
              </a:rPr>
              <a:t>keras.io/api/layers/recurrent_layers/bidirectional</a:t>
            </a:r>
            <a:r>
              <a:rPr lang="en-US" altLang="zh-TW" sz="2000" smtClean="0">
                <a:solidFill>
                  <a:srgbClr val="404040"/>
                </a:solidFill>
                <a:latin typeface="Arial" panose="020B0604020202020204" pitchFamily="34" charset="0"/>
                <a:ea typeface="Lato"/>
                <a:hlinkClick r:id="rId3"/>
              </a:rPr>
              <a:t>/</a:t>
            </a:r>
            <a:endParaRPr lang="en-US" altLang="zh-TW" sz="2000" smtClean="0">
              <a:solidFill>
                <a:srgbClr val="404040"/>
              </a:solidFill>
              <a:latin typeface="Arial" panose="020B0604020202020204" pitchFamily="34" charset="0"/>
              <a:ea typeface="Lat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TW" altLang="zh-TW" sz="2000">
              <a:solidFill>
                <a:srgbClr val="404040"/>
              </a:solidFill>
              <a:latin typeface="Arial" panose="020B0604020202020204" pitchFamily="34" charset="0"/>
              <a:ea typeface="Lato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48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1" y="0"/>
            <a:ext cx="8433179" cy="673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8" y="68973"/>
            <a:ext cx="6671717" cy="654284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945" y="68973"/>
            <a:ext cx="5235347" cy="538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16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272955" y="293152"/>
            <a:ext cx="11409528" cy="61247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altLang="zh-TW" sz="2800"/>
              <a:t>Embedding </a:t>
            </a:r>
            <a:r>
              <a:rPr lang="en-US" altLang="zh-TW" sz="2800"/>
              <a:t>layer</a:t>
            </a:r>
          </a:p>
          <a:p>
            <a:pPr marL="450850" lvl="1" indent="-176213">
              <a:buFont typeface="Arial" panose="020B0604020202020204" pitchFamily="34" charset="0"/>
              <a:buChar char="•"/>
            </a:pPr>
            <a:r>
              <a:rPr lang="en-US" altLang="zh-TW" sz="2400"/>
              <a:t>Turns </a:t>
            </a:r>
            <a:r>
              <a:rPr lang="en-US" altLang="zh-TW" sz="2400"/>
              <a:t>positive </a:t>
            </a:r>
            <a:r>
              <a:rPr lang="en-US" altLang="zh-TW" sz="2400"/>
              <a:t>integers (indexes) into dense vectors of fixed size</a:t>
            </a:r>
            <a:r>
              <a:rPr lang="en-US" altLang="zh-TW" sz="2400" smtClean="0"/>
              <a:t>.</a:t>
            </a:r>
          </a:p>
          <a:p>
            <a:pPr marL="450850" lvl="1" indent="-176213">
              <a:buFont typeface="Arial" panose="020B0604020202020204" pitchFamily="34" charset="0"/>
              <a:buChar char="•"/>
            </a:pPr>
            <a:r>
              <a:rPr lang="en-US" altLang="zh-TW" sz="2400" smtClean="0"/>
              <a:t>Word </a:t>
            </a:r>
            <a:r>
              <a:rPr lang="en-US" altLang="zh-TW" sz="2400"/>
              <a:t>embeddings give us a way to use an efficient, dense representation in which similar words have a similar encoding</a:t>
            </a:r>
            <a:r>
              <a:rPr lang="en-US" altLang="zh-TW" sz="2400" smtClean="0"/>
              <a:t>.</a:t>
            </a:r>
          </a:p>
          <a:p>
            <a:pPr marL="450850" lvl="1" indent="-176213">
              <a:buFont typeface="Arial" panose="020B0604020202020204" pitchFamily="34" charset="0"/>
              <a:buChar char="•"/>
            </a:pPr>
            <a:r>
              <a:rPr lang="en-US" altLang="zh-TW" sz="2400" smtClean="0"/>
              <a:t>Word embedding vectors </a:t>
            </a:r>
            <a:r>
              <a:rPr lang="en-US" altLang="zh-TW" sz="2400"/>
              <a:t>are learned as the model trains</a:t>
            </a:r>
            <a:r>
              <a:rPr lang="en-US" altLang="zh-TW" sz="2400" smtClean="0"/>
              <a:t>.</a:t>
            </a:r>
          </a:p>
          <a:p>
            <a:endParaRPr lang="en-US" altLang="zh-TW" sz="2000" b="1" smtClean="0"/>
          </a:p>
          <a:p>
            <a:pPr marL="273050"/>
            <a:r>
              <a:rPr lang="en-US" altLang="zh-TW" sz="2000" b="1" smtClean="0"/>
              <a:t>input_dim</a:t>
            </a:r>
            <a:r>
              <a:rPr lang="en-US" altLang="zh-TW" sz="2000"/>
              <a:t>: int &gt; 0. Size of the vocabulary, i.e. maximum integer index + 1.</a:t>
            </a:r>
          </a:p>
          <a:p>
            <a:pPr marL="273050"/>
            <a:r>
              <a:rPr lang="en-US" altLang="zh-TW" sz="2000" b="1"/>
              <a:t>output_dim</a:t>
            </a:r>
            <a:r>
              <a:rPr lang="en-US" altLang="zh-TW" sz="2000"/>
              <a:t>: int &gt;= 0. Dimension of the dense embedding.</a:t>
            </a:r>
          </a:p>
          <a:p>
            <a:pPr marL="273050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2000" b="1" smtClean="0">
                <a:solidFill>
                  <a:srgbClr val="404040"/>
                </a:solidFill>
                <a:ea typeface="Lato"/>
              </a:rPr>
              <a:t>mask</a:t>
            </a:r>
            <a:r>
              <a:rPr lang="zh-TW" altLang="zh-TW" sz="2000" b="1">
                <a:solidFill>
                  <a:srgbClr val="404040"/>
                </a:solidFill>
                <a:ea typeface="Lato"/>
              </a:rPr>
              <a:t>_zero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: Whether or not the input value 0 is a special "padding" value that should be masked out. This is useful when using </a:t>
            </a:r>
            <a:r>
              <a:rPr lang="zh-TW" altLang="zh-TW" sz="2000">
                <a:solidFill>
                  <a:srgbClr val="8E4A4A"/>
                </a:solidFill>
                <a:ea typeface="Lato"/>
                <a:hlinkClick r:id="rId2"/>
              </a:rPr>
              <a:t>recurrent layers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 which may take variable length input. If this is </a:t>
            </a:r>
            <a:r>
              <a:rPr kumimoji="0" lang="zh-TW" altLang="zh-TW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ea typeface="SFMono-Regular"/>
              </a:rPr>
              <a:t>True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 then all subsequent layers in the model need to support masking or an exception will be raised. If mask_zero is set to True, as a consequence, index 0 cannot be used in the vocabulary (input_dim should equal size of vocabulary + 1).</a:t>
            </a:r>
          </a:p>
          <a:p>
            <a:pPr marL="273050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2000" b="1">
                <a:solidFill>
                  <a:srgbClr val="404040"/>
                </a:solidFill>
                <a:ea typeface="Lato"/>
              </a:rPr>
              <a:t>input_length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: Length of input sequences, when it is constant. This argument is required if you are going to connect </a:t>
            </a:r>
            <a:r>
              <a:rPr kumimoji="0" lang="zh-TW" altLang="zh-TW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ea typeface="SFMono-Regular"/>
              </a:rPr>
              <a:t>Flatten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 then </a:t>
            </a:r>
            <a:r>
              <a:rPr kumimoji="0" lang="zh-TW" altLang="zh-TW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ea typeface="SFMono-Regular"/>
              </a:rPr>
              <a:t>Dense</a:t>
            </a:r>
            <a:r>
              <a:rPr lang="zh-TW" altLang="zh-TW" sz="2000">
                <a:solidFill>
                  <a:srgbClr val="404040"/>
                </a:solidFill>
                <a:ea typeface="Lato"/>
              </a:rPr>
              <a:t> layers upstream (without it, the shape of the dense outputs cannot be computed)</a:t>
            </a:r>
            <a:r>
              <a:rPr lang="zh-TW" altLang="zh-TW" sz="2000" smtClean="0">
                <a:solidFill>
                  <a:srgbClr val="404040"/>
                </a:solidFill>
                <a:ea typeface="Lato"/>
              </a:rPr>
              <a:t>.</a:t>
            </a:r>
            <a:endParaRPr lang="en-US" altLang="zh-TW" sz="2000" smtClean="0">
              <a:solidFill>
                <a:srgbClr val="404040"/>
              </a:solidFill>
              <a:ea typeface="Lato"/>
            </a:endParaRPr>
          </a:p>
          <a:p>
            <a:pPr marL="273050"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 sz="2000">
              <a:solidFill>
                <a:srgbClr val="404040"/>
              </a:solidFill>
            </a:endParaRPr>
          </a:p>
          <a:p>
            <a:pPr marL="273050"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2400">
                <a:hlinkClick r:id="rId3"/>
              </a:rPr>
              <a:t>https://</a:t>
            </a:r>
            <a:r>
              <a:rPr lang="en-US" altLang="zh-TW" sz="2400">
                <a:hlinkClick r:id="rId3"/>
              </a:rPr>
              <a:t>keras.io/api/layers/core_layers/embedding</a:t>
            </a:r>
            <a:r>
              <a:rPr lang="en-US" altLang="zh-TW" sz="2400" smtClean="0">
                <a:hlinkClick r:id="rId3"/>
              </a:rPr>
              <a:t>/</a:t>
            </a: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73890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F4775-B25B-44D2-9105-B8B39178471B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0" y="35168"/>
            <a:ext cx="6239746" cy="679227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022" y="35167"/>
            <a:ext cx="5416063" cy="552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27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14468</TotalTime>
  <Words>736</Words>
  <Application>Microsoft Office PowerPoint</Application>
  <PresentationFormat>寬螢幕</PresentationFormat>
  <Paragraphs>106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Arial Unicode MS</vt:lpstr>
      <vt:lpstr>Lato</vt:lpstr>
      <vt:lpstr>Open Sans</vt:lpstr>
      <vt:lpstr>SFMono-Regular</vt:lpstr>
      <vt:lpstr>新細明體</vt:lpstr>
      <vt:lpstr>Arial</vt:lpstr>
      <vt:lpstr>Calibri</vt:lpstr>
      <vt:lpstr>Calibri Light</vt:lpstr>
      <vt:lpstr>Office 佈景主題</vt:lpstr>
      <vt:lpstr>Recurrent Neural Networks (II)</vt:lpstr>
      <vt:lpstr>Text Processing</vt:lpstr>
      <vt:lpstr>TextVectorization Layer</vt:lpstr>
      <vt:lpstr>PowerPoint 簡報</vt:lpstr>
      <vt:lpstr>IMDB Data Set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Bidirectional LSTM (biLSTM)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Recurrent Neural Networks</dc:title>
  <dc:creator>denislin</dc:creator>
  <cp:lastModifiedBy>denislin</cp:lastModifiedBy>
  <cp:revision>65</cp:revision>
  <dcterms:created xsi:type="dcterms:W3CDTF">2019-12-14T13:34:16Z</dcterms:created>
  <dcterms:modified xsi:type="dcterms:W3CDTF">2022-12-26T11:22:24Z</dcterms:modified>
</cp:coreProperties>
</file>