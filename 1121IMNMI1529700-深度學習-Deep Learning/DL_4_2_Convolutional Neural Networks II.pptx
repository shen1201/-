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2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96C7-9ABD-446D-97CB-468BEC87FC67}" type="datetimeFigureOut">
              <a:rPr lang="zh-TW" altLang="en-US" smtClean="0"/>
              <a:t>2022/12/5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92B38-6B49-4BA9-A385-F7CDEBF40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7722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96C7-9ABD-446D-97CB-468BEC87FC67}" type="datetimeFigureOut">
              <a:rPr lang="zh-TW" altLang="en-US" smtClean="0"/>
              <a:t>2022/12/5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92B38-6B49-4BA9-A385-F7CDEBF40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292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96C7-9ABD-446D-97CB-468BEC87FC67}" type="datetimeFigureOut">
              <a:rPr lang="zh-TW" altLang="en-US" smtClean="0"/>
              <a:t>2022/12/5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92B38-6B49-4BA9-A385-F7CDEBF40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1420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96C7-9ABD-446D-97CB-468BEC87FC67}" type="datetimeFigureOut">
              <a:rPr lang="zh-TW" altLang="en-US" smtClean="0"/>
              <a:t>2022/12/5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92B38-6B49-4BA9-A385-F7CDEBF40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6070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96C7-9ABD-446D-97CB-468BEC87FC67}" type="datetimeFigureOut">
              <a:rPr lang="zh-TW" altLang="en-US" smtClean="0"/>
              <a:t>2022/12/5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92B38-6B49-4BA9-A385-F7CDEBF40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2425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96C7-9ABD-446D-97CB-468BEC87FC67}" type="datetimeFigureOut">
              <a:rPr lang="zh-TW" altLang="en-US" smtClean="0"/>
              <a:t>2022/12/5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92B38-6B49-4BA9-A385-F7CDEBF40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7685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96C7-9ABD-446D-97CB-468BEC87FC67}" type="datetimeFigureOut">
              <a:rPr lang="zh-TW" altLang="en-US" smtClean="0"/>
              <a:t>2022/12/5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92B38-6B49-4BA9-A385-F7CDEBF40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6974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96C7-9ABD-446D-97CB-468BEC87FC67}" type="datetimeFigureOut">
              <a:rPr lang="zh-TW" altLang="en-US" smtClean="0"/>
              <a:t>2022/12/5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92B38-6B49-4BA9-A385-F7CDEBF40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3245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96C7-9ABD-446D-97CB-468BEC87FC67}" type="datetimeFigureOut">
              <a:rPr lang="zh-TW" altLang="en-US" smtClean="0"/>
              <a:t>2022/12/5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92B38-6B49-4BA9-A385-F7CDEBF40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7234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96C7-9ABD-446D-97CB-468BEC87FC67}" type="datetimeFigureOut">
              <a:rPr lang="zh-TW" altLang="en-US" smtClean="0"/>
              <a:t>2022/12/5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92B38-6B49-4BA9-A385-F7CDEBF40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0566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96C7-9ABD-446D-97CB-468BEC87FC67}" type="datetimeFigureOut">
              <a:rPr lang="zh-TW" altLang="en-US" smtClean="0"/>
              <a:t>2022/12/5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92B38-6B49-4BA9-A385-F7CDEBF40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962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296C7-9ABD-446D-97CB-468BEC87FC67}" type="datetimeFigureOut">
              <a:rPr lang="zh-TW" altLang="en-US" smtClean="0"/>
              <a:t>2022/12/5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92B38-6B49-4BA9-A385-F7CDEBF404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8641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www.robots.ox.ac.uk/~vgg/data/pet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com/ching-i/batch-normalization-%E4%BB%8B%E7%B4%B9-135a24928f1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mtClean="0"/>
              <a:t>Convolutional Neural Networks (II)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0418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Image Segmentation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/>
              <a:t>Partitioning an image into multiple image segments, also known as image regions or image objects (sets of pixels). </a:t>
            </a:r>
          </a:p>
          <a:p>
            <a:r>
              <a:rPr lang="en-US" altLang="zh-TW" smtClean="0"/>
              <a:t>Locate </a:t>
            </a:r>
            <a:r>
              <a:rPr lang="en-US" altLang="zh-TW"/>
              <a:t>objects and</a:t>
            </a:r>
            <a:r>
              <a:rPr lang="en-US" altLang="zh-TW"/>
              <a:t> </a:t>
            </a:r>
            <a:r>
              <a:rPr lang="en-US" altLang="zh-TW" smtClean="0"/>
              <a:t>boundaries</a:t>
            </a:r>
          </a:p>
          <a:p>
            <a:r>
              <a:rPr lang="en-US" altLang="zh-TW" smtClean="0"/>
              <a:t>Assigning a label to every pixel in an image such that pixels with the same label share certain characteristics.</a:t>
            </a:r>
          </a:p>
        </p:txBody>
      </p:sp>
      <p:pic>
        <p:nvPicPr>
          <p:cNvPr id="1030" name="Picture 6" descr="https://miro.medium.com/max/630/1*hzVd5Kx01DuDCQGf45g4P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599" y="4068544"/>
            <a:ext cx="4258734" cy="2724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7570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533400"/>
            <a:ext cx="10515600" cy="5643563"/>
          </a:xfrm>
        </p:spPr>
        <p:txBody>
          <a:bodyPr/>
          <a:lstStyle/>
          <a:p>
            <a:r>
              <a:rPr lang="en-US" altLang="zh-TW" smtClean="0"/>
              <a:t>The Oxford-IIIT Pet Dataset</a:t>
            </a:r>
          </a:p>
          <a:p>
            <a:pPr lvl="1"/>
            <a:r>
              <a:rPr lang="en-US" altLang="zh-TW" smtClean="0">
                <a:hlinkClick r:id="rId2"/>
              </a:rPr>
              <a:t>http://www.robots.ox.ac.uk/~vgg/data/pets</a:t>
            </a:r>
            <a:endParaRPr lang="en-US" altLang="zh-TW" smtClean="0"/>
          </a:p>
          <a:p>
            <a:pPr lvl="1"/>
            <a:r>
              <a:rPr lang="en-US" altLang="zh-TW" smtClean="0"/>
              <a:t>Cats and Dogs </a:t>
            </a:r>
          </a:p>
          <a:p>
            <a:pPr lvl="1"/>
            <a:r>
              <a:rPr lang="en-US" altLang="zh-TW" smtClean="0"/>
              <a:t>Pixel level segmentation (Trimap)</a:t>
            </a:r>
          </a:p>
          <a:p>
            <a:pPr lvl="2"/>
            <a:r>
              <a:rPr lang="en-US" altLang="zh-TW" smtClean="0"/>
              <a:t>1: Foreground</a:t>
            </a:r>
          </a:p>
          <a:p>
            <a:pPr lvl="2"/>
            <a:r>
              <a:rPr lang="en-US" altLang="zh-TW" smtClean="0"/>
              <a:t>2:Background</a:t>
            </a:r>
          </a:p>
          <a:p>
            <a:pPr lvl="2"/>
            <a:r>
              <a:rPr lang="en-US" altLang="zh-TW" smtClean="0"/>
              <a:t>3: Not classified</a:t>
            </a:r>
            <a:endParaRPr lang="zh-TW" altLang="en-US"/>
          </a:p>
        </p:txBody>
      </p:sp>
      <p:pic>
        <p:nvPicPr>
          <p:cNvPr id="4" name="Picture 2" descr="https://ithelp.ithome.com.tw/upload/images/20200920/20001976hbOMAeiRDJ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34" y="3605130"/>
            <a:ext cx="1998133" cy="1790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ttps://ithelp.ithome.com.tw/upload/images/20200920/20001976aQCrzPbRYK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600" y="3605130"/>
            <a:ext cx="1998133" cy="1790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4339760" y="5536068"/>
            <a:ext cx="1649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mtClean="0"/>
              <a:t>Labeling (mask)</a:t>
            </a:r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1693557" y="5536068"/>
            <a:ext cx="1540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mtClean="0"/>
              <a:t>Original image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7306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862" y="74899"/>
            <a:ext cx="4283475" cy="3201701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281801" y="2840647"/>
            <a:ext cx="16144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mtClean="0"/>
              <a:t>Download data</a:t>
            </a:r>
          </a:p>
          <a:p>
            <a:r>
              <a:rPr lang="en-US" altLang="zh-TW" smtClean="0"/>
              <a:t>decompression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281801" y="6143828"/>
            <a:ext cx="2434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mtClean="0"/>
              <a:t>Make list of path of files</a:t>
            </a:r>
            <a:endParaRPr lang="zh-TW" altLang="en-US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862" y="3403600"/>
            <a:ext cx="4926847" cy="3305581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9375805" y="2715887"/>
            <a:ext cx="27158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mtClean="0"/>
              <a:t>Show mask</a:t>
            </a:r>
          </a:p>
          <a:p>
            <a:r>
              <a:rPr lang="en-US" altLang="zh-TW" smtClean="0"/>
              <a:t>1,2,3 </a:t>
            </a:r>
            <a:r>
              <a:rPr lang="en-US" altLang="zh-TW" smtClean="0">
                <a:sym typeface="Wingdings" panose="05000000000000000000" pitchFamily="2" charset="2"/>
              </a:rPr>
              <a:t> 0,1,2  0,127,254</a:t>
            </a:r>
            <a:endParaRPr lang="zh-TW" altLang="en-US"/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00" y="74899"/>
            <a:ext cx="5439534" cy="2619741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500" y="3841913"/>
            <a:ext cx="4695825" cy="2238375"/>
          </a:xfrm>
          <a:prstGeom prst="rect">
            <a:avLst/>
          </a:prstGeom>
        </p:spPr>
      </p:pic>
      <p:cxnSp>
        <p:nvCxnSpPr>
          <p:cNvPr id="16" name="直線單箭頭接點 15"/>
          <p:cNvCxnSpPr>
            <a:stCxn id="11" idx="2"/>
          </p:cNvCxnSpPr>
          <p:nvPr/>
        </p:nvCxnSpPr>
        <p:spPr>
          <a:xfrm flipH="1">
            <a:off x="10346267" y="3362218"/>
            <a:ext cx="387442" cy="204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54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03" y="188581"/>
            <a:ext cx="5569745" cy="5204686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5875866" y="2765524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mtClean="0"/>
              <a:t>1,2,3 </a:t>
            </a:r>
            <a:r>
              <a:rPr lang="en-US" altLang="zh-TW" smtClean="0">
                <a:sym typeface="Wingdings" panose="05000000000000000000" pitchFamily="2" charset="2"/>
              </a:rPr>
              <a:t> 0,1,2</a:t>
            </a:r>
            <a:endParaRPr lang="zh-TW" altLang="en-US"/>
          </a:p>
        </p:txBody>
      </p:sp>
      <p:cxnSp>
        <p:nvCxnSpPr>
          <p:cNvPr id="7" name="直線單箭頭接點 6"/>
          <p:cNvCxnSpPr>
            <a:stCxn id="5" idx="1"/>
          </p:cNvCxnSpPr>
          <p:nvPr/>
        </p:nvCxnSpPr>
        <p:spPr>
          <a:xfrm flipH="1">
            <a:off x="3437467" y="2950190"/>
            <a:ext cx="2438399" cy="13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5875866" y="1893457"/>
            <a:ext cx="3848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mtClean="0"/>
              <a:t>Load image, then transform to an array</a:t>
            </a:r>
            <a:endParaRPr lang="zh-TW" altLang="en-US"/>
          </a:p>
        </p:txBody>
      </p:sp>
      <p:cxnSp>
        <p:nvCxnSpPr>
          <p:cNvPr id="9" name="直線單箭頭接點 8"/>
          <p:cNvCxnSpPr>
            <a:stCxn id="8" idx="1"/>
          </p:cNvCxnSpPr>
          <p:nvPr/>
        </p:nvCxnSpPr>
        <p:spPr>
          <a:xfrm flipH="1" flipV="1">
            <a:off x="5173133" y="2074333"/>
            <a:ext cx="702733" cy="3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5875866" y="3268259"/>
            <a:ext cx="5207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mtClean="0"/>
              <a:t>Create an array of shape (num_imgs, 200, 200,3)</a:t>
            </a:r>
            <a:endParaRPr lang="zh-TW" altLang="en-US"/>
          </a:p>
        </p:txBody>
      </p:sp>
      <p:cxnSp>
        <p:nvCxnSpPr>
          <p:cNvPr id="15" name="直線單箭頭接點 14"/>
          <p:cNvCxnSpPr>
            <a:stCxn id="14" idx="1"/>
          </p:cNvCxnSpPr>
          <p:nvPr/>
        </p:nvCxnSpPr>
        <p:spPr>
          <a:xfrm flipH="1">
            <a:off x="5689600" y="3452925"/>
            <a:ext cx="186266" cy="9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5875866" y="3540287"/>
            <a:ext cx="5207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mtClean="0"/>
              <a:t>Create an array of shape (num_imgs, 200, 200,1)</a:t>
            </a:r>
            <a:endParaRPr lang="zh-TW" altLang="en-US"/>
          </a:p>
        </p:txBody>
      </p:sp>
      <p:cxnSp>
        <p:nvCxnSpPr>
          <p:cNvPr id="19" name="直線單箭頭接點 18"/>
          <p:cNvCxnSpPr>
            <a:stCxn id="18" idx="1"/>
          </p:cNvCxnSpPr>
          <p:nvPr/>
        </p:nvCxnSpPr>
        <p:spPr>
          <a:xfrm flipH="1">
            <a:off x="5689600" y="3724953"/>
            <a:ext cx="186266" cy="9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5875866" y="3938474"/>
            <a:ext cx="5207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mtClean="0"/>
              <a:t>Load images and masks into arrays</a:t>
            </a:r>
            <a:endParaRPr lang="zh-TW" altLang="en-US"/>
          </a:p>
        </p:txBody>
      </p:sp>
      <p:cxnSp>
        <p:nvCxnSpPr>
          <p:cNvPr id="21" name="直線單箭頭接點 20"/>
          <p:cNvCxnSpPr>
            <a:stCxn id="20" idx="1"/>
          </p:cNvCxnSpPr>
          <p:nvPr/>
        </p:nvCxnSpPr>
        <p:spPr>
          <a:xfrm flipH="1">
            <a:off x="5689600" y="4123140"/>
            <a:ext cx="186266" cy="9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5875866" y="4521327"/>
            <a:ext cx="5207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mtClean="0"/>
              <a:t>Split training and validation images</a:t>
            </a:r>
            <a:endParaRPr lang="zh-TW" altLang="en-US"/>
          </a:p>
        </p:txBody>
      </p:sp>
      <p:cxnSp>
        <p:nvCxnSpPr>
          <p:cNvPr id="23" name="直線單箭頭接點 22"/>
          <p:cNvCxnSpPr>
            <a:stCxn id="22" idx="1"/>
          </p:cNvCxnSpPr>
          <p:nvPr/>
        </p:nvCxnSpPr>
        <p:spPr>
          <a:xfrm flipH="1">
            <a:off x="5689600" y="4705993"/>
            <a:ext cx="186266" cy="9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086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88" y="101805"/>
            <a:ext cx="6762145" cy="4828686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084" y="101805"/>
            <a:ext cx="4342835" cy="6430414"/>
          </a:xfrm>
          <a:prstGeom prst="rect">
            <a:avLst/>
          </a:prstGeom>
        </p:spPr>
      </p:pic>
      <p:sp>
        <p:nvSpPr>
          <p:cNvPr id="4" name="文字方塊 3"/>
          <p:cNvSpPr txBox="1"/>
          <p:nvPr/>
        </p:nvSpPr>
        <p:spPr>
          <a:xfrm>
            <a:off x="290588" y="5181599"/>
            <a:ext cx="60577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>
              <a:buFont typeface="Arial" panose="020B0604020202020204" pitchFamily="34" charset="0"/>
              <a:buChar char="•"/>
            </a:pPr>
            <a:r>
              <a:rPr lang="en-US" altLang="zh-TW" smtClean="0"/>
              <a:t>Conv2DTranspose: </a:t>
            </a:r>
            <a:r>
              <a:rPr lang="en-US" altLang="zh-TW"/>
              <a:t>Transposed convolution layer (sometimes called </a:t>
            </a:r>
            <a:r>
              <a:rPr lang="en-US" altLang="zh-TW"/>
              <a:t>Deconvolution</a:t>
            </a:r>
            <a:r>
              <a:rPr lang="en-US" altLang="zh-TW" smtClean="0"/>
              <a:t>).</a:t>
            </a:r>
          </a:p>
          <a:p>
            <a:pPr marL="635000" lvl="1" indent="-177800">
              <a:buFont typeface="Arial" panose="020B0604020202020204" pitchFamily="34" charset="0"/>
              <a:buChar char="•"/>
            </a:pPr>
            <a:r>
              <a:rPr lang="en-US" altLang="zh-TW" smtClean="0"/>
              <a:t>upsampling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2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42" y="137447"/>
            <a:ext cx="5583712" cy="195382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741" y="2192867"/>
            <a:ext cx="4458322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159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Residual Connection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 a type of skip-connection that learn residual functions with reference to the layer inputs, instead of learning unreferenced functions.</a:t>
            </a:r>
          </a:p>
          <a:p>
            <a:r>
              <a:rPr lang="en-US" altLang="zh-TW"/>
              <a:t>Formally, denoting the desired underlying mapping as </a:t>
            </a:r>
            <a:r>
              <a:rPr lang="en-US" altLang="zh-TW" i="1"/>
              <a:t>H</a:t>
            </a:r>
            <a:r>
              <a:rPr lang="en-US" altLang="zh-TW"/>
              <a:t>(x), we let the stacked nonlinear layers fit another mapping of </a:t>
            </a:r>
            <a:r>
              <a:rPr lang="en-US" altLang="zh-TW" i="1"/>
              <a:t>F</a:t>
            </a:r>
            <a:r>
              <a:rPr lang="en-US" altLang="zh-TW"/>
              <a:t>(x):=</a:t>
            </a:r>
            <a:r>
              <a:rPr lang="en-US" altLang="zh-TW" i="1"/>
              <a:t>H</a:t>
            </a:r>
            <a:r>
              <a:rPr lang="en-US" altLang="zh-TW"/>
              <a:t>(x)−x. The original mapping is recast into </a:t>
            </a:r>
            <a:r>
              <a:rPr lang="en-US" altLang="zh-TW" i="1"/>
              <a:t>F</a:t>
            </a:r>
            <a:r>
              <a:rPr lang="en-US" altLang="zh-TW"/>
              <a:t>(x)+x.</a:t>
            </a:r>
          </a:p>
          <a:p>
            <a:endParaRPr lang="zh-TW" altLang="en-US"/>
          </a:p>
        </p:txBody>
      </p:sp>
      <p:pic>
        <p:nvPicPr>
          <p:cNvPr id="4098" name="Picture 2" descr="https://production-media.paperswithcode.com/methods/resnet-e154826147716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149196"/>
            <a:ext cx="3848591" cy="216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6368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83" y="243682"/>
            <a:ext cx="5221668" cy="4125117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5806418" y="243683"/>
            <a:ext cx="49445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>
              <a:buFont typeface="Arial" panose="020B0604020202020204" pitchFamily="34" charset="0"/>
              <a:buChar char="•"/>
            </a:pPr>
            <a:r>
              <a:rPr lang="en-US" altLang="zh-TW" i="1" smtClean="0"/>
              <a:t>Residual</a:t>
            </a:r>
            <a:r>
              <a:rPr lang="en-US" altLang="zh-TW" smtClean="0"/>
              <a:t> has only 32 channels, but the output of the second </a:t>
            </a:r>
            <a:r>
              <a:rPr lang="en-US" altLang="zh-TW" i="1" smtClean="0"/>
              <a:t>Conv2D</a:t>
            </a:r>
            <a:r>
              <a:rPr lang="en-US" altLang="zh-TW" smtClean="0"/>
              <a:t> has 64</a:t>
            </a:r>
            <a:r>
              <a:rPr lang="en-US" altLang="zh-TW" smtClean="0"/>
              <a:t> channels.  Use 64 1x1 filters (no activation) to change the shape of </a:t>
            </a:r>
            <a:r>
              <a:rPr lang="en-US" altLang="zh-TW" i="1" smtClean="0"/>
              <a:t>residual</a:t>
            </a:r>
            <a:r>
              <a:rPr lang="en-US" altLang="zh-TW" smtClean="0"/>
              <a:t> to 64 channels.</a:t>
            </a:r>
            <a:endParaRPr lang="zh-TW" altLang="en-US"/>
          </a:p>
        </p:txBody>
      </p:sp>
      <p:cxnSp>
        <p:nvCxnSpPr>
          <p:cNvPr id="8" name="直線接點 7"/>
          <p:cNvCxnSpPr/>
          <p:nvPr/>
        </p:nvCxnSpPr>
        <p:spPr>
          <a:xfrm>
            <a:off x="2404533" y="2099733"/>
            <a:ext cx="245534" cy="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2527300" y="4106333"/>
            <a:ext cx="9525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5806418" y="2906004"/>
            <a:ext cx="4944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>
              <a:buFont typeface="Arial" panose="020B0604020202020204" pitchFamily="34" charset="0"/>
              <a:buChar char="•"/>
            </a:pPr>
            <a:r>
              <a:rPr lang="en-US" altLang="zh-TW" smtClean="0"/>
              <a:t>Has maxpooling after the second </a:t>
            </a:r>
            <a:r>
              <a:rPr lang="en-US" altLang="zh-TW" i="1" smtClean="0"/>
              <a:t>Conv2D</a:t>
            </a:r>
            <a:endParaRPr lang="en-US" altLang="zh-TW" smtClean="0"/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US" altLang="zh-TW" smtClean="0"/>
              <a:t>Use strides=2 to downsampling </a:t>
            </a:r>
            <a:r>
              <a:rPr lang="en-US" altLang="zh-TW" i="1" smtClean="0"/>
              <a:t>residual</a:t>
            </a:r>
            <a:r>
              <a:rPr lang="en-US" altLang="zh-TW" smtClean="0"/>
              <a:t>.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8786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602" y="64524"/>
            <a:ext cx="6143938" cy="6751141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83" y="64524"/>
            <a:ext cx="5325218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617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Batch Normalization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Batch normalization applies a transformation that maintains the mean </a:t>
            </a:r>
            <a:r>
              <a:rPr lang="en-US" altLang="zh-TW"/>
              <a:t>output </a:t>
            </a:r>
            <a:r>
              <a:rPr lang="en-US" altLang="zh-TW" smtClean="0"/>
              <a:t>(</a:t>
            </a:r>
            <a:r>
              <a:rPr lang="en-US" altLang="zh-TW"/>
              <a:t>of the current batch </a:t>
            </a:r>
            <a:r>
              <a:rPr lang="en-US" altLang="zh-TW"/>
              <a:t>of </a:t>
            </a:r>
            <a:r>
              <a:rPr lang="en-US" altLang="zh-TW" smtClean="0"/>
              <a:t>inputs) close </a:t>
            </a:r>
            <a:r>
              <a:rPr lang="en-US" altLang="zh-TW"/>
              <a:t>to 0 and the output standard </a:t>
            </a:r>
            <a:r>
              <a:rPr lang="en-US" altLang="zh-TW"/>
              <a:t>deviation </a:t>
            </a:r>
            <a:r>
              <a:rPr lang="en-US" altLang="zh-TW" smtClean="0"/>
              <a:t>close </a:t>
            </a:r>
            <a:r>
              <a:rPr lang="en-US" altLang="zh-TW"/>
              <a:t>to </a:t>
            </a:r>
            <a:r>
              <a:rPr lang="en-US" altLang="zh-TW"/>
              <a:t>1</a:t>
            </a:r>
            <a:r>
              <a:rPr lang="en-US" altLang="zh-TW" smtClean="0"/>
              <a:t>. </a:t>
            </a:r>
          </a:p>
          <a:p>
            <a:r>
              <a:rPr lang="en-US" altLang="zh-TW" smtClean="0">
                <a:hlinkClick r:id="rId2"/>
              </a:rPr>
              <a:t>https://medium.com/ching-i/batch-normalization-%E4%BB%8B%E7%B4%B9-135a24928f12</a:t>
            </a:r>
            <a:endParaRPr lang="en-US" altLang="zh-TW" smtClean="0"/>
          </a:p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9186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223</Words>
  <Application>Microsoft Office PowerPoint</Application>
  <PresentationFormat>寬螢幕</PresentationFormat>
  <Paragraphs>36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新細明體</vt:lpstr>
      <vt:lpstr>Arial</vt:lpstr>
      <vt:lpstr>Calibri</vt:lpstr>
      <vt:lpstr>Calibri Light</vt:lpstr>
      <vt:lpstr>Wingdings</vt:lpstr>
      <vt:lpstr>Office 佈景主題</vt:lpstr>
      <vt:lpstr>Convolutional Neural Networks (II)</vt:lpstr>
      <vt:lpstr>Image Segmentation</vt:lpstr>
      <vt:lpstr>PowerPoint 簡報</vt:lpstr>
      <vt:lpstr>PowerPoint 簡報</vt:lpstr>
      <vt:lpstr>PowerPoint 簡報</vt:lpstr>
      <vt:lpstr>PowerPoint 簡報</vt:lpstr>
      <vt:lpstr>PowerPoint 簡報</vt:lpstr>
      <vt:lpstr>Residual Connection</vt:lpstr>
      <vt:lpstr>PowerPoint 簡報</vt:lpstr>
      <vt:lpstr>PowerPoint 簡報</vt:lpstr>
      <vt:lpstr>Batch Normalization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Convolutional Neural Networks (II)</dc:title>
  <dc:creator>denislin</dc:creator>
  <cp:lastModifiedBy>denislin</cp:lastModifiedBy>
  <cp:revision>27</cp:revision>
  <dcterms:created xsi:type="dcterms:W3CDTF">2022-12-05T11:36:23Z</dcterms:created>
  <dcterms:modified xsi:type="dcterms:W3CDTF">2022-12-05T13:36:46Z</dcterms:modified>
</cp:coreProperties>
</file>