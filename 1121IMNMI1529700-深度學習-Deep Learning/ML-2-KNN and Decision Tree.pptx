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 autoAdjust="0"/>
    <p:restoredTop sz="94118" autoAdjust="0"/>
  </p:normalViewPr>
  <p:slideViewPr>
    <p:cSldViewPr>
      <p:cViewPr varScale="1">
        <p:scale>
          <a:sx n="60" d="100"/>
          <a:sy n="60" d="100"/>
        </p:scale>
        <p:origin x="76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TW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TW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TW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FDDB133-5112-482B-9F4B-31B9EDA0A4C2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0E6D19-9418-42A6-BA73-024A1E0071FC}" type="slidenum">
              <a:rPr lang="en-US" altLang="zh-TW"/>
              <a:pPr/>
              <a:t>1</a:t>
            </a:fld>
            <a:endParaRPr lang="en-US" altLang="zh-TW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4E32BB-2107-4843-9539-6678E8E79526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575769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D1B41A9-878D-4A6C-9D27-5F267F78223A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772755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043408-E2AC-4421-AD77-C3AB322FB818}" type="slidenum">
              <a:rPr lang="en-US" altLang="zh-TW"/>
              <a:pPr/>
              <a:t>5</a:t>
            </a:fld>
            <a:endParaRPr lang="en-US" altLang="zh-TW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269797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F4D806-750F-4F4E-80AC-1125736F76E1}" type="slidenum">
              <a:rPr lang="en-US" altLang="zh-TW"/>
              <a:pPr/>
              <a:t>6</a:t>
            </a:fld>
            <a:endParaRPr lang="en-US" altLang="zh-TW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279509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346B39B-9853-4697-A10B-9AC4AD8822AD}" type="slidenum">
              <a:rPr lang="en-US" altLang="zh-TW"/>
              <a:pPr/>
              <a:t>7</a:t>
            </a:fld>
            <a:endParaRPr lang="en-US" altLang="zh-TW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7861414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6A90DC-53C2-482E-83DE-4A78EF7FD9FF}" type="slidenum">
              <a:rPr lang="en-US" altLang="zh-TW"/>
              <a:pPr/>
              <a:t>8</a:t>
            </a:fld>
            <a:endParaRPr lang="en-US" altLang="zh-TW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9783993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AE9CC2-D28C-4277-943B-29257ACECF74}" type="slidenum">
              <a:rPr lang="en-US" altLang="zh-TW"/>
              <a:pPr/>
              <a:t>9</a:t>
            </a:fld>
            <a:endParaRPr lang="en-US" altLang="zh-TW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0734842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7B529C-9820-448A-92EA-23C453735B65}" type="slidenum">
              <a:rPr lang="en-US" altLang="zh-TW"/>
              <a:pPr/>
              <a:t>10</a:t>
            </a:fld>
            <a:endParaRPr lang="en-US" altLang="zh-TW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3403199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10B6D7-B412-450C-8A34-36BEE861CE3C}" type="slidenum">
              <a:rPr lang="en-US" altLang="zh-TW"/>
              <a:pPr/>
              <a:t>11</a:t>
            </a:fld>
            <a:endParaRPr lang="en-US" altLang="zh-TW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2865453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99398C2-B660-4206-B6FD-66EB38D765FF}" type="slidenum">
              <a:rPr lang="en-US" altLang="zh-TW"/>
              <a:pPr/>
              <a:t>12</a:t>
            </a:fld>
            <a:endParaRPr lang="en-US" altLang="zh-TW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4249871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C1EA22-95C3-433A-A22B-A8682EF69DDD}" type="slidenum">
              <a:rPr lang="en-US" altLang="zh-TW"/>
              <a:pPr/>
              <a:t>13</a:t>
            </a:fld>
            <a:endParaRPr lang="en-US" altLang="zh-TW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8144315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9AC45A-7DAC-4B59-8327-2C6289611630}" type="slidenum">
              <a:rPr lang="en-US" altLang="zh-TW"/>
              <a:pPr/>
              <a:t>14</a:t>
            </a:fld>
            <a:endParaRPr lang="en-US" altLang="zh-TW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5140536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A13098-E01F-4E7B-8838-85ADD59783F3}" type="slidenum">
              <a:rPr lang="en-US" altLang="zh-TW"/>
              <a:pPr/>
              <a:t>15</a:t>
            </a:fld>
            <a:endParaRPr lang="en-US" altLang="zh-TW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3207780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C492D1-19CA-4DB5-8D7C-5FDA14A55AA4}" type="slidenum">
              <a:rPr lang="en-US" altLang="zh-TW"/>
              <a:pPr/>
              <a:t>16</a:t>
            </a:fld>
            <a:endParaRPr lang="en-US" altLang="zh-TW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7030361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F64953-9768-485A-A536-BD1EDD8D307C}" type="slidenum">
              <a:rPr lang="en-US" altLang="zh-TW"/>
              <a:pPr/>
              <a:t>17</a:t>
            </a:fld>
            <a:endParaRPr lang="en-US" altLang="zh-TW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0741278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9E2F8F-3C6B-4156-A4EA-6AADDD51B91D}" type="slidenum">
              <a:rPr lang="en-US" altLang="zh-TW"/>
              <a:pPr/>
              <a:t>18</a:t>
            </a:fld>
            <a:endParaRPr lang="en-US" altLang="zh-TW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3589585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F03B14F-42A2-4F9D-8639-FD8375951CDA}" type="slidenum">
              <a:rPr lang="en-US" altLang="zh-TW"/>
              <a:pPr/>
              <a:t>19</a:t>
            </a:fld>
            <a:endParaRPr lang="en-US" altLang="zh-TW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8462553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535151-B68E-48FE-B081-87991FA5824C}" type="slidenum">
              <a:rPr lang="en-US" altLang="zh-TW"/>
              <a:pPr/>
              <a:t>20</a:t>
            </a:fld>
            <a:endParaRPr lang="en-US" altLang="zh-TW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9957816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DDB133-5112-482B-9F4B-31B9EDA0A4C2}" type="slidenum">
              <a:rPr lang="en-US" altLang="zh-TW" smtClean="0"/>
              <a:pPr/>
              <a:t>51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83917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altLang="zh-TW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altLang="zh-TW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0297673-AEF2-4466-AD50-F83E0BDBFE17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36928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74E4A-ABC9-4949-BCAE-DAD61F41136F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68577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DC954073-4AE3-4A00-AFF9-5496853E3665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416097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2A637-383F-4D43-AB0B-A850CE8A5CA7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11362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45E49-A75C-4CE7-B6FC-D82A16A09BAE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72089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D43DC-1DD9-4A6D-96B0-4EDCC831D76C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26464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B245A-C98B-462D-B44F-7A75DE629D9F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07846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altLang="zh-TW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6B2BFE9-E872-44BF-B81B-D997FA317D3B}" type="slidenum">
              <a:rPr lang="en-US" altLang="zh-TW" smtClean="0"/>
              <a:pPr/>
              <a:t>‹#›</a:t>
            </a:fld>
            <a:endParaRPr lang="en-US" altLang="zh-TW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32966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28A6A3-AD36-40BB-A7EB-28C96EDD7591}" type="slidenum">
              <a:rPr lang="en-US" altLang="zh-TW" smtClean="0"/>
              <a:pPr/>
              <a:t>‹#›</a:t>
            </a:fld>
            <a:endParaRPr lang="en-US" altLang="zh-TW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55884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2D314-E7B1-469F-B4D2-7EDF8BF8D7A8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38839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1EDBA-08EC-466E-934B-BAA683153B73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26842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8EC8B3-D132-4901-8702-B7FECD976010}" type="slidenum">
              <a:rPr lang="en-US" altLang="zh-TW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4569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10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14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2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notesSlide" Target="../notesSlides/notesSlide17.xml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8.wmf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3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2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3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30.wmf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31.wmf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71600" y="2130425"/>
            <a:ext cx="7200800" cy="1470025"/>
          </a:xfrm>
        </p:spPr>
        <p:txBody>
          <a:bodyPr anchor="ctr"/>
          <a:lstStyle/>
          <a:p>
            <a:r>
              <a:rPr lang="en-US" altLang="zh-TW" sz="4400" smtClean="0"/>
              <a:t>KNN</a:t>
            </a:r>
            <a:r>
              <a:rPr lang="zh-TW" altLang="en-US" sz="4400" smtClean="0"/>
              <a:t> </a:t>
            </a:r>
            <a:r>
              <a:rPr lang="en-US" altLang="zh-TW" sz="4400" smtClean="0"/>
              <a:t>and </a:t>
            </a:r>
            <a:r>
              <a:rPr lang="en-US" altLang="zh-TW" sz="4400"/>
              <a:t>Decision </a:t>
            </a:r>
            <a:r>
              <a:rPr lang="en-US" altLang="zh-TW" sz="4400" smtClean="0"/>
              <a:t>Tree</a:t>
            </a:r>
            <a:endParaRPr lang="en-US" altLang="zh-TW" sz="4400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altLang="zh-TW" sz="3200"/>
              <a:t>Wen-Cheng Lin</a:t>
            </a:r>
          </a:p>
          <a:p>
            <a:r>
              <a:rPr lang="en-US" altLang="zh-TW"/>
              <a:t>Department of Medical Informatics</a:t>
            </a:r>
          </a:p>
          <a:p>
            <a:r>
              <a:rPr lang="en-US" altLang="zh-TW"/>
              <a:t>Tzu Chi University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KNN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9060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Instance Based Learning</a:t>
            </a:r>
            <a:endParaRPr lang="en-US" altLang="zh-TW" smtClean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Key idea</a:t>
            </a:r>
          </a:p>
          <a:p>
            <a:pPr lvl="1" eaLnBrk="1" hangingPunct="1"/>
            <a:r>
              <a:rPr lang="en-US" altLang="zh-TW" sz="2400" smtClean="0"/>
              <a:t>Just store all training examples (</a:t>
            </a:r>
            <a:r>
              <a:rPr lang="en-US" altLang="zh-TW" sz="2400" i="1" smtClean="0"/>
              <a:t>x</a:t>
            </a:r>
            <a:r>
              <a:rPr lang="en-US" altLang="zh-TW" sz="2400" i="1" baseline="-25000" smtClean="0"/>
              <a:t>i</a:t>
            </a:r>
            <a:r>
              <a:rPr lang="en-US" altLang="zh-TW" sz="2400" smtClean="0"/>
              <a:t>,</a:t>
            </a:r>
            <a:r>
              <a:rPr lang="en-US" altLang="zh-TW" sz="2400" i="1" smtClean="0"/>
              <a:t>f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x</a:t>
            </a:r>
            <a:r>
              <a:rPr lang="en-US" altLang="zh-TW" sz="2400" i="1" baseline="-25000" smtClean="0"/>
              <a:t>i</a:t>
            </a:r>
            <a:r>
              <a:rPr lang="en-US" altLang="zh-TW" sz="2400" smtClean="0"/>
              <a:t>))</a:t>
            </a:r>
          </a:p>
          <a:p>
            <a:pPr lvl="1" eaLnBrk="1" hangingPunct="1"/>
            <a:r>
              <a:rPr lang="en-US" altLang="zh-TW" sz="2400" smtClean="0"/>
              <a:t>Generalizing beyond these examples is postponed until a new instance must classified</a:t>
            </a:r>
          </a:p>
          <a:p>
            <a:pPr lvl="2" eaLnBrk="1" hangingPunct="1"/>
            <a:r>
              <a:rPr lang="en-US" altLang="zh-TW" sz="2000" smtClean="0"/>
              <a:t>Each time a new query instance is encountered, its relationship to the previously stored examples is examined in order to assign a target function value for the new instance</a:t>
            </a:r>
          </a:p>
          <a:p>
            <a:pPr lvl="1" eaLnBrk="1" hangingPunct="1"/>
            <a:endParaRPr lang="en-US" altLang="zh-TW" sz="2400" smtClean="0"/>
          </a:p>
        </p:txBody>
      </p:sp>
    </p:spTree>
    <p:extLst>
      <p:ext uri="{BB962C8B-B14F-4D97-AF65-F5344CB8AC3E}">
        <p14:creationId xmlns:p14="http://schemas.microsoft.com/office/powerpoint/2010/main" val="932994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Instance Based Learning</a:t>
            </a:r>
            <a:endParaRPr lang="en-US" altLang="zh-TW" smtClean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400" smtClean="0"/>
              <a:t>Can construct a different approximation to the target function for each distinct query instance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smtClean="0"/>
              <a:t>Disadvantage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smtClean="0"/>
              <a:t>The cost of classifying new instances can be high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1800" smtClean="0"/>
              <a:t>Computation takes place at classification time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smtClean="0"/>
              <a:t>Consider all attributes when attempting to retrieve similar training examples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1800" smtClean="0"/>
              <a:t>If the target concept dependents on only a few  attributes, the instances that are truly most similar may be a large distance apart</a:t>
            </a:r>
          </a:p>
        </p:txBody>
      </p:sp>
    </p:spTree>
    <p:extLst>
      <p:ext uri="{BB962C8B-B14F-4D97-AF65-F5344CB8AC3E}">
        <p14:creationId xmlns:p14="http://schemas.microsoft.com/office/powerpoint/2010/main" val="3595694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i="1" smtClean="0"/>
              <a:t>k</a:t>
            </a:r>
            <a:r>
              <a:rPr lang="en-US" altLang="zh-TW" smtClean="0"/>
              <a:t>-Nearest Neighbor</a:t>
            </a:r>
          </a:p>
        </p:txBody>
      </p:sp>
      <p:graphicFrame>
        <p:nvGraphicFramePr>
          <p:cNvPr id="1026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0867224"/>
              </p:ext>
            </p:extLst>
          </p:nvPr>
        </p:nvGraphicFramePr>
        <p:xfrm>
          <a:off x="4584676" y="2636912"/>
          <a:ext cx="1139451" cy="314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08" name="方程式" r:id="rId4" imgW="965160" imgH="266400" progId="Equation.3">
                  <p:embed/>
                </p:oleObj>
              </mc:Choice>
              <mc:Fallback>
                <p:oleObj name="方程式" r:id="rId4" imgW="965160" imgH="266400" progId="Equation.3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4676" y="2636912"/>
                        <a:ext cx="1139451" cy="3148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31520" y="1844824"/>
            <a:ext cx="7680325" cy="393223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400" smtClean="0"/>
              <a:t>Nearest neighbor</a:t>
            </a:r>
          </a:p>
          <a:p>
            <a:pPr lvl="1" eaLnBrk="1" hangingPunct="1"/>
            <a:r>
              <a:rPr lang="en-US" altLang="zh-TW" sz="2000" smtClean="0"/>
              <a:t>Given query instance </a:t>
            </a:r>
            <a:r>
              <a:rPr lang="en-US" altLang="zh-TW" sz="2000" i="1" smtClean="0"/>
              <a:t>x</a:t>
            </a:r>
            <a:r>
              <a:rPr lang="en-US" altLang="zh-TW" sz="2000" i="1" baseline="-25000" smtClean="0"/>
              <a:t>q</a:t>
            </a:r>
            <a:r>
              <a:rPr lang="en-US" altLang="zh-TW" sz="2000" smtClean="0"/>
              <a:t>, first locate nearest training example </a:t>
            </a:r>
            <a:r>
              <a:rPr lang="en-US" altLang="zh-TW" sz="2000" i="1" smtClean="0"/>
              <a:t>x</a:t>
            </a:r>
            <a:r>
              <a:rPr lang="en-US" altLang="zh-TW" sz="2000" i="1" baseline="-25000" smtClean="0"/>
              <a:t>n</a:t>
            </a:r>
            <a:r>
              <a:rPr lang="en-US" altLang="zh-TW" sz="2000" smtClean="0"/>
              <a:t>, then estimate </a:t>
            </a:r>
          </a:p>
          <a:p>
            <a:pPr eaLnBrk="1" hangingPunct="1"/>
            <a:r>
              <a:rPr lang="en-US" altLang="zh-TW" sz="2400" smtClean="0"/>
              <a:t>k-Nearest neighbor</a:t>
            </a:r>
          </a:p>
          <a:p>
            <a:pPr lvl="1" eaLnBrk="1" hangingPunct="1"/>
            <a:r>
              <a:rPr lang="en-US" altLang="zh-TW" sz="2000" smtClean="0"/>
              <a:t>Given </a:t>
            </a:r>
            <a:r>
              <a:rPr lang="en-US" altLang="zh-TW" sz="2000" i="1" smtClean="0"/>
              <a:t>x</a:t>
            </a:r>
            <a:r>
              <a:rPr lang="en-US" altLang="zh-TW" sz="2000" i="1" baseline="-25000" smtClean="0"/>
              <a:t>q</a:t>
            </a:r>
            <a:r>
              <a:rPr lang="en-US" altLang="zh-TW" sz="2000" smtClean="0"/>
              <a:t>, take vote among its </a:t>
            </a:r>
            <a:r>
              <a:rPr lang="en-US" altLang="zh-TW" sz="2000" i="1" smtClean="0"/>
              <a:t>k</a:t>
            </a:r>
            <a:r>
              <a:rPr lang="en-US" altLang="zh-TW" sz="2000" smtClean="0"/>
              <a:t> nearest neighbors (if discrete-valued target function)</a:t>
            </a:r>
          </a:p>
          <a:p>
            <a:pPr lvl="1" eaLnBrk="1" hangingPunct="1"/>
            <a:r>
              <a:rPr lang="en-US" altLang="zh-TW" sz="2000" smtClean="0"/>
              <a:t>Take mean of </a:t>
            </a:r>
            <a:r>
              <a:rPr lang="en-US" altLang="zh-TW" sz="2000" i="1" smtClean="0"/>
              <a:t>f </a:t>
            </a:r>
            <a:r>
              <a:rPr lang="en-US" altLang="zh-TW" sz="2000" smtClean="0"/>
              <a:t>values of </a:t>
            </a:r>
            <a:r>
              <a:rPr lang="en-US" altLang="zh-TW" sz="2000" i="1" smtClean="0"/>
              <a:t>k</a:t>
            </a:r>
            <a:r>
              <a:rPr lang="en-US" altLang="zh-TW" sz="2000" smtClean="0"/>
              <a:t> nearest neighbors (if real-valued)</a:t>
            </a:r>
          </a:p>
          <a:p>
            <a:pPr eaLnBrk="1" hangingPunct="1"/>
            <a:endParaRPr lang="en-US" altLang="zh-TW" sz="2400" smtClean="0"/>
          </a:p>
        </p:txBody>
      </p:sp>
      <p:graphicFrame>
        <p:nvGraphicFramePr>
          <p:cNvPr id="1027" name="Object 6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629352955"/>
              </p:ext>
            </p:extLst>
          </p:nvPr>
        </p:nvGraphicFramePr>
        <p:xfrm>
          <a:off x="2555776" y="4509120"/>
          <a:ext cx="1872208" cy="988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09" name="方程式" r:id="rId6" imgW="1155600" imgH="609480" progId="Equation.3">
                  <p:embed/>
                </p:oleObj>
              </mc:Choice>
              <mc:Fallback>
                <p:oleObj name="方程式" r:id="rId6" imgW="1155600" imgH="609480" progId="Equation.3">
                  <p:embed/>
                  <p:pic>
                    <p:nvPicPr>
                      <p:cNvPr id="102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4509120"/>
                        <a:ext cx="1872208" cy="9881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5907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i="1" smtClean="0"/>
              <a:t>k</a:t>
            </a:r>
            <a:r>
              <a:rPr lang="en-US" altLang="zh-TW" smtClean="0"/>
              <a:t>-Nearest Neighbor</a:t>
            </a:r>
          </a:p>
        </p:txBody>
      </p:sp>
      <p:graphicFrame>
        <p:nvGraphicFramePr>
          <p:cNvPr id="2050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0579866"/>
              </p:ext>
            </p:extLst>
          </p:nvPr>
        </p:nvGraphicFramePr>
        <p:xfrm>
          <a:off x="1331640" y="3501008"/>
          <a:ext cx="2711670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09" name="方程式" r:id="rId4" imgW="2019240" imgH="482400" progId="Equation.3">
                  <p:embed/>
                </p:oleObj>
              </mc:Choice>
              <mc:Fallback>
                <p:oleObj name="方程式" r:id="rId4" imgW="2019240" imgH="482400" progId="Equation.3">
                  <p:embed/>
                  <p:pic>
                    <p:nvPicPr>
                      <p:cNvPr id="205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501008"/>
                        <a:ext cx="2711670" cy="6480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32155" y="2132856"/>
            <a:ext cx="7680325" cy="393223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400" smtClean="0"/>
              <a:t>Euclidean distance</a:t>
            </a:r>
          </a:p>
          <a:p>
            <a:pPr lvl="1" eaLnBrk="1" hangingPunct="1"/>
            <a:r>
              <a:rPr lang="en-US" altLang="zh-TW" sz="2000" i="1" smtClean="0"/>
              <a:t>x</a:t>
            </a:r>
            <a:r>
              <a:rPr lang="en-US" altLang="zh-TW" sz="2000" smtClean="0"/>
              <a:t>: (</a:t>
            </a:r>
            <a:r>
              <a:rPr lang="en-US" altLang="zh-TW" sz="2000" i="1" smtClean="0"/>
              <a:t>a</a:t>
            </a:r>
            <a:r>
              <a:rPr lang="en-US" altLang="zh-TW" sz="2000" i="1" baseline="-25000" smtClean="0"/>
              <a:t>1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x</a:t>
            </a:r>
            <a:r>
              <a:rPr lang="en-US" altLang="zh-TW" sz="2000" smtClean="0"/>
              <a:t>), </a:t>
            </a:r>
            <a:r>
              <a:rPr lang="en-US" altLang="zh-TW" sz="2000" i="1" smtClean="0"/>
              <a:t>a</a:t>
            </a:r>
            <a:r>
              <a:rPr lang="en-US" altLang="zh-TW" sz="2000" i="1" baseline="-25000" smtClean="0"/>
              <a:t>2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x</a:t>
            </a:r>
            <a:r>
              <a:rPr lang="en-US" altLang="zh-TW" sz="2000" smtClean="0"/>
              <a:t>), …, </a:t>
            </a:r>
            <a:r>
              <a:rPr lang="en-US" altLang="zh-TW" sz="2000" i="1" smtClean="0"/>
              <a:t>a</a:t>
            </a:r>
            <a:r>
              <a:rPr lang="en-US" altLang="zh-TW" sz="2000" i="1" baseline="-25000" smtClean="0"/>
              <a:t>n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x</a:t>
            </a:r>
            <a:r>
              <a:rPr lang="en-US" altLang="zh-TW" sz="2000" smtClean="0"/>
              <a:t>))</a:t>
            </a:r>
          </a:p>
          <a:p>
            <a:pPr lvl="2" eaLnBrk="1" hangingPunct="1"/>
            <a:r>
              <a:rPr lang="en-US" altLang="zh-TW" sz="1800" i="1" smtClean="0"/>
              <a:t>a</a:t>
            </a:r>
            <a:r>
              <a:rPr lang="en-US" altLang="zh-TW" sz="1800" i="1" baseline="-25000" smtClean="0"/>
              <a:t>r</a:t>
            </a:r>
            <a:r>
              <a:rPr lang="en-US" altLang="zh-TW" sz="1800" smtClean="0"/>
              <a:t>(</a:t>
            </a:r>
            <a:r>
              <a:rPr lang="en-US" altLang="zh-TW" sz="1800" i="1" smtClean="0"/>
              <a:t>x</a:t>
            </a:r>
            <a:r>
              <a:rPr lang="en-US" altLang="zh-TW" sz="1800" smtClean="0"/>
              <a:t>): the value of the </a:t>
            </a:r>
            <a:r>
              <a:rPr lang="en-US" altLang="zh-TW" sz="1800" i="1" smtClean="0"/>
              <a:t>r</a:t>
            </a:r>
            <a:r>
              <a:rPr lang="en-US" altLang="zh-TW" sz="1800" smtClean="0"/>
              <a:t>th attribute of instance </a:t>
            </a:r>
            <a:r>
              <a:rPr lang="en-US" altLang="zh-TW" sz="1800" i="1" smtClean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237365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44758" y="2014194"/>
            <a:ext cx="7680325" cy="393223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400" smtClean="0"/>
              <a:t>Training algorithm</a:t>
            </a:r>
          </a:p>
          <a:p>
            <a:pPr lvl="1" eaLnBrk="1" hangingPunct="1"/>
            <a:r>
              <a:rPr lang="en-US" altLang="zh-TW" sz="2000" smtClean="0"/>
              <a:t>For each training example (</a:t>
            </a:r>
            <a:r>
              <a:rPr lang="en-US" altLang="zh-TW" sz="2000" i="1" smtClean="0"/>
              <a:t>x</a:t>
            </a:r>
            <a:r>
              <a:rPr lang="en-US" altLang="zh-TW" sz="2000" smtClean="0"/>
              <a:t>,</a:t>
            </a:r>
            <a:r>
              <a:rPr lang="en-US" altLang="zh-TW" sz="2000" i="1" smtClean="0"/>
              <a:t>f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x</a:t>
            </a:r>
            <a:r>
              <a:rPr lang="en-US" altLang="zh-TW" sz="2000" smtClean="0"/>
              <a:t>)), add the example to the list </a:t>
            </a:r>
            <a:r>
              <a:rPr lang="en-US" altLang="zh-TW" sz="2000" i="1" smtClean="0"/>
              <a:t>training-examples</a:t>
            </a:r>
          </a:p>
          <a:p>
            <a:pPr eaLnBrk="1" hangingPunct="1"/>
            <a:r>
              <a:rPr lang="en-US" altLang="zh-TW" sz="2400" smtClean="0"/>
              <a:t>Classification algorithm</a:t>
            </a:r>
          </a:p>
          <a:p>
            <a:pPr lvl="1" eaLnBrk="1" hangingPunct="1"/>
            <a:r>
              <a:rPr lang="en-US" altLang="zh-TW" sz="2000" smtClean="0"/>
              <a:t>Let </a:t>
            </a:r>
            <a:r>
              <a:rPr lang="en-US" altLang="zh-TW" sz="2000" i="1" smtClean="0"/>
              <a:t>x</a:t>
            </a:r>
            <a:r>
              <a:rPr lang="en-US" altLang="zh-TW" sz="2000" i="1" baseline="-25000" smtClean="0"/>
              <a:t>1</a:t>
            </a:r>
            <a:r>
              <a:rPr lang="en-US" altLang="zh-TW" sz="2000" smtClean="0"/>
              <a:t>,…,</a:t>
            </a:r>
            <a:r>
              <a:rPr lang="en-US" altLang="zh-TW" sz="2000" i="1" smtClean="0"/>
              <a:t>x</a:t>
            </a:r>
            <a:r>
              <a:rPr lang="en-US" altLang="zh-TW" sz="2000" i="1" baseline="-25000" smtClean="0"/>
              <a:t>k</a:t>
            </a:r>
            <a:r>
              <a:rPr lang="en-US" altLang="zh-TW" sz="2000" smtClean="0"/>
              <a:t> denote the </a:t>
            </a:r>
            <a:r>
              <a:rPr lang="en-US" altLang="zh-TW" sz="2000" i="1" smtClean="0"/>
              <a:t>k</a:t>
            </a:r>
            <a:r>
              <a:rPr lang="en-US" altLang="zh-TW" sz="2000" smtClean="0"/>
              <a:t> instances from </a:t>
            </a:r>
            <a:r>
              <a:rPr lang="en-US" altLang="zh-TW" sz="2000" i="1" smtClean="0"/>
              <a:t>training-examples</a:t>
            </a:r>
            <a:r>
              <a:rPr lang="en-US" altLang="zh-TW" sz="2000" smtClean="0"/>
              <a:t> that are nearest to </a:t>
            </a:r>
            <a:r>
              <a:rPr lang="en-US" altLang="zh-TW" sz="2000" i="1" smtClean="0"/>
              <a:t>x</a:t>
            </a:r>
            <a:r>
              <a:rPr lang="en-US" altLang="zh-TW" sz="2000" i="1" baseline="-25000" smtClean="0"/>
              <a:t>q</a:t>
            </a:r>
          </a:p>
          <a:p>
            <a:pPr lvl="1" eaLnBrk="1" hangingPunct="1"/>
            <a:r>
              <a:rPr lang="en-US" altLang="zh-TW" sz="2000" smtClean="0"/>
              <a:t>Return</a:t>
            </a:r>
          </a:p>
          <a:p>
            <a:pPr lvl="1" eaLnBrk="1" hangingPunct="1"/>
            <a:endParaRPr lang="en-US" altLang="zh-TW" sz="2000" smtClean="0"/>
          </a:p>
          <a:p>
            <a:pPr lvl="2" eaLnBrk="1" hangingPunct="1"/>
            <a:r>
              <a:rPr lang="en-US" altLang="zh-TW" sz="1800" smtClean="0"/>
              <a:t>where </a:t>
            </a:r>
            <a:r>
              <a:rPr lang="el-GR" altLang="zh-TW" sz="1800" smtClean="0">
                <a:cs typeface="Arial" charset="0"/>
              </a:rPr>
              <a:t>δ</a:t>
            </a:r>
            <a:r>
              <a:rPr lang="en-US" altLang="zh-TW" sz="1800" smtClean="0">
                <a:cs typeface="Arial" charset="0"/>
              </a:rPr>
              <a:t>(a,b)=1 if a=b and </a:t>
            </a:r>
            <a:r>
              <a:rPr lang="el-GR" altLang="zh-TW" sz="1800" smtClean="0">
                <a:cs typeface="Arial" charset="0"/>
              </a:rPr>
              <a:t>δ</a:t>
            </a:r>
            <a:r>
              <a:rPr lang="en-US" altLang="zh-TW" sz="1800" smtClean="0">
                <a:cs typeface="Arial" charset="0"/>
              </a:rPr>
              <a:t>(a,b)=0 otherwise</a:t>
            </a:r>
            <a:endParaRPr lang="el-GR" altLang="zh-TW" sz="1800" smtClean="0">
              <a:cs typeface="Arial" charset="0"/>
            </a:endParaRP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i="1" smtClean="0"/>
              <a:t>k</a:t>
            </a:r>
            <a:r>
              <a:rPr lang="en-US" altLang="zh-TW" smtClean="0"/>
              <a:t>-Nearest Neighbor</a:t>
            </a:r>
          </a:p>
        </p:txBody>
      </p:sp>
      <p:graphicFrame>
        <p:nvGraphicFramePr>
          <p:cNvPr id="3074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9938989"/>
              </p:ext>
            </p:extLst>
          </p:nvPr>
        </p:nvGraphicFramePr>
        <p:xfrm>
          <a:off x="2267743" y="4293096"/>
          <a:ext cx="2609231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33" name="方程式" r:id="rId4" imgW="1955520" imgH="431640" progId="Equation.3">
                  <p:embed/>
                </p:oleObj>
              </mc:Choice>
              <mc:Fallback>
                <p:oleObj name="方程式" r:id="rId4" imgW="1955520" imgH="431640" progId="Equation.3">
                  <p:embed/>
                  <p:pic>
                    <p:nvPicPr>
                      <p:cNvPr id="307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3" y="4293096"/>
                        <a:ext cx="2609231" cy="5760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76442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Voronoi Diagram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3316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648" y="2055232"/>
            <a:ext cx="5832251" cy="2139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7" name="Text Box 6"/>
          <p:cNvSpPr txBox="1">
            <a:spLocks noChangeArrowheads="1"/>
          </p:cNvSpPr>
          <p:nvPr/>
        </p:nvSpPr>
        <p:spPr bwMode="auto">
          <a:xfrm>
            <a:off x="4427538" y="4292600"/>
            <a:ext cx="4319587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2400"/>
              <a:t>1-NN</a:t>
            </a:r>
          </a:p>
          <a:p>
            <a:r>
              <a:rPr lang="en-US" altLang="zh-TW" sz="2000"/>
              <a:t>The convex polygon surrounding each training example indicates the region of instance space closest to that point</a:t>
            </a:r>
          </a:p>
        </p:txBody>
      </p:sp>
      <p:sp>
        <p:nvSpPr>
          <p:cNvPr id="13318" name="Text Box 8"/>
          <p:cNvSpPr txBox="1">
            <a:spLocks noChangeArrowheads="1"/>
          </p:cNvSpPr>
          <p:nvPr/>
        </p:nvSpPr>
        <p:spPr bwMode="auto">
          <a:xfrm>
            <a:off x="1979613" y="4219575"/>
            <a:ext cx="124301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/>
              <a:t>1-NN: +</a:t>
            </a:r>
          </a:p>
          <a:p>
            <a:r>
              <a:rPr lang="en-US" altLang="zh-TW" sz="2400"/>
              <a:t>5-NN: -</a:t>
            </a:r>
          </a:p>
        </p:txBody>
      </p:sp>
    </p:spTree>
    <p:extLst>
      <p:ext uri="{BB962C8B-B14F-4D97-AF65-F5344CB8AC3E}">
        <p14:creationId xmlns:p14="http://schemas.microsoft.com/office/powerpoint/2010/main" val="2288681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When to Consider Neighbor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400" smtClean="0"/>
              <a:t>Instances map to points in </a:t>
            </a:r>
            <a:r>
              <a:rPr lang="en-US" altLang="zh-TW" sz="2400" i="1" smtClean="0"/>
              <a:t>R</a:t>
            </a:r>
            <a:r>
              <a:rPr lang="en-US" altLang="zh-TW" sz="2400" i="1" baseline="30000" smtClean="0"/>
              <a:t>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smtClean="0"/>
              <a:t>Lots of training data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smtClean="0"/>
              <a:t>Advantages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smtClean="0"/>
              <a:t>Training is very fast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smtClean="0"/>
              <a:t>Learn complex target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smtClean="0"/>
              <a:t>Don’t lose information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smtClean="0"/>
              <a:t>Disadvantages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smtClean="0"/>
              <a:t>Slow at query time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smtClean="0"/>
              <a:t>Easily fooled by irrelevant attributes</a:t>
            </a:r>
          </a:p>
        </p:txBody>
      </p:sp>
    </p:spTree>
    <p:extLst>
      <p:ext uri="{BB962C8B-B14F-4D97-AF65-F5344CB8AC3E}">
        <p14:creationId xmlns:p14="http://schemas.microsoft.com/office/powerpoint/2010/main" val="2989352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36712" y="2102644"/>
            <a:ext cx="7680325" cy="393223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Might want weight nearer neighbors more heavily...</a:t>
            </a:r>
          </a:p>
          <a:p>
            <a:pPr eaLnBrk="1" hangingPunct="1"/>
            <a:endParaRPr lang="en-US" altLang="zh-TW" sz="2800" smtClean="0"/>
          </a:p>
          <a:p>
            <a:pPr lvl="1" eaLnBrk="1" hangingPunct="1">
              <a:buFontTx/>
              <a:buNone/>
            </a:pPr>
            <a:endParaRPr lang="en-US" altLang="zh-TW" sz="2400" smtClean="0"/>
          </a:p>
          <a:p>
            <a:pPr lvl="1" eaLnBrk="1" hangingPunct="1">
              <a:buFontTx/>
              <a:buNone/>
            </a:pPr>
            <a:endParaRPr lang="en-US" altLang="zh-TW" sz="2400" smtClean="0"/>
          </a:p>
          <a:p>
            <a:pPr lvl="1" eaLnBrk="1" hangingPunct="1">
              <a:buFontTx/>
              <a:buNone/>
            </a:pPr>
            <a:endParaRPr lang="en-US" altLang="zh-TW" sz="2400" smtClean="0"/>
          </a:p>
          <a:p>
            <a:pPr lvl="1" eaLnBrk="1" hangingPunct="1">
              <a:buFontTx/>
              <a:buNone/>
            </a:pPr>
            <a:r>
              <a:rPr lang="en-US" altLang="zh-TW" sz="2400" smtClean="0"/>
              <a:t>where</a:t>
            </a:r>
          </a:p>
          <a:p>
            <a:pPr eaLnBrk="1" hangingPunct="1"/>
            <a:endParaRPr lang="en-US" altLang="zh-TW" sz="2800" smtClean="0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Distance Weighted </a:t>
            </a:r>
            <a:r>
              <a:rPr lang="en-US" altLang="zh-TW" i="1" smtClean="0"/>
              <a:t>k</a:t>
            </a:r>
            <a:r>
              <a:rPr lang="en-US" altLang="zh-TW" smtClean="0"/>
              <a:t>NN</a:t>
            </a:r>
          </a:p>
        </p:txBody>
      </p:sp>
      <p:graphicFrame>
        <p:nvGraphicFramePr>
          <p:cNvPr id="4099" name="Object 10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3866650"/>
              </p:ext>
            </p:extLst>
          </p:nvPr>
        </p:nvGraphicFramePr>
        <p:xfrm>
          <a:off x="2987675" y="4636527"/>
          <a:ext cx="2160389" cy="1008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03" name="方程式" r:id="rId4" imgW="952200" imgH="444240" progId="Equation.3">
                  <p:embed/>
                </p:oleObj>
              </mc:Choice>
              <mc:Fallback>
                <p:oleObj name="方程式" r:id="rId4" imgW="952200" imgH="444240" progId="Equation.3">
                  <p:embed/>
                  <p:pic>
                    <p:nvPicPr>
                      <p:cNvPr id="4099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4636527"/>
                        <a:ext cx="2160389" cy="10081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7652110"/>
              </p:ext>
            </p:extLst>
          </p:nvPr>
        </p:nvGraphicFramePr>
        <p:xfrm>
          <a:off x="2987675" y="2491463"/>
          <a:ext cx="3960589" cy="82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04" name="方程式" r:id="rId6" imgW="2082600" imgH="431640" progId="Equation.3">
                  <p:embed/>
                </p:oleObj>
              </mc:Choice>
              <mc:Fallback>
                <p:oleObj name="方程式" r:id="rId6" imgW="2082600" imgH="431640" progId="Equation.3">
                  <p:embed/>
                  <p:pic>
                    <p:nvPicPr>
                      <p:cNvPr id="409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2491463"/>
                        <a:ext cx="3960589" cy="8216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7425643"/>
              </p:ext>
            </p:extLst>
          </p:nvPr>
        </p:nvGraphicFramePr>
        <p:xfrm>
          <a:off x="2987675" y="3501008"/>
          <a:ext cx="2160389" cy="1027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05" name="方程式" r:id="rId8" imgW="1282680" imgH="609480" progId="Equation.3">
                  <p:embed/>
                </p:oleObj>
              </mc:Choice>
              <mc:Fallback>
                <p:oleObj name="方程式" r:id="rId8" imgW="1282680" imgH="609480" progId="Equation.3">
                  <p:embed/>
                  <p:pic>
                    <p:nvPicPr>
                      <p:cNvPr id="410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3501008"/>
                        <a:ext cx="2160389" cy="10272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1793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Distance Weighted </a:t>
            </a:r>
            <a:r>
              <a:rPr lang="en-US" altLang="zh-TW" i="1" smtClean="0"/>
              <a:t>k</a:t>
            </a:r>
            <a:r>
              <a:rPr lang="en-US" altLang="zh-TW" smtClean="0"/>
              <a:t>NN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It can use all training examples to have an influence on the classification of the </a:t>
            </a:r>
            <a:r>
              <a:rPr lang="en-US" altLang="zh-TW" sz="2800" i="1" smtClean="0"/>
              <a:t>x</a:t>
            </a:r>
            <a:r>
              <a:rPr lang="en-US" altLang="zh-TW" sz="2800" i="1" baseline="-25000" smtClean="0"/>
              <a:t>q</a:t>
            </a:r>
          </a:p>
          <a:p>
            <a:pPr eaLnBrk="1" hangingPunct="1">
              <a:buFontTx/>
              <a:buNone/>
            </a:pPr>
            <a:r>
              <a:rPr lang="en-US" altLang="zh-TW" sz="2800" smtClean="0">
                <a:sym typeface="Wingdings" pitchFamily="2" charset="2"/>
              </a:rPr>
              <a:t>    </a:t>
            </a:r>
            <a:r>
              <a:rPr lang="en-US" altLang="zh-TW" sz="2800" smtClean="0"/>
              <a:t>global method</a:t>
            </a:r>
          </a:p>
          <a:p>
            <a:pPr eaLnBrk="1" hangingPunct="1"/>
            <a:r>
              <a:rPr lang="en-US" altLang="zh-TW" sz="2800" smtClean="0"/>
              <a:t>It is robust to noisy training data</a:t>
            </a:r>
          </a:p>
          <a:p>
            <a:pPr lvl="1" eaLnBrk="1" hangingPunct="1"/>
            <a:r>
              <a:rPr lang="en-US" altLang="zh-TW" sz="2400" smtClean="0"/>
              <a:t>It can smooth out the impact of isolated noisy training examples</a:t>
            </a:r>
          </a:p>
          <a:p>
            <a:pPr eaLnBrk="1" hangingPunct="1"/>
            <a:endParaRPr lang="en-US" altLang="zh-TW" sz="2800" smtClean="0"/>
          </a:p>
        </p:txBody>
      </p:sp>
    </p:spTree>
    <p:extLst>
      <p:ext uri="{BB962C8B-B14F-4D97-AF65-F5344CB8AC3E}">
        <p14:creationId xmlns:p14="http://schemas.microsoft.com/office/powerpoint/2010/main" val="3252457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Curse of Dimensionality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Imagine instances described by 20 attributes, but only 2 are relevant to target function</a:t>
            </a:r>
          </a:p>
          <a:p>
            <a:pPr eaLnBrk="1" hangingPunct="1"/>
            <a:r>
              <a:rPr lang="en-US" altLang="zh-TW" sz="2800" smtClean="0"/>
              <a:t>Curse of dimensionality</a:t>
            </a:r>
            <a:endParaRPr lang="en-US" altLang="zh-TW" sz="2800" i="1" smtClean="0"/>
          </a:p>
          <a:p>
            <a:pPr lvl="1" eaLnBrk="1" hangingPunct="1"/>
            <a:r>
              <a:rPr lang="en-US" altLang="zh-TW" sz="2400" smtClean="0"/>
              <a:t>The distance between neighbors will be dominated by the large number of irrelevant attributes</a:t>
            </a:r>
          </a:p>
          <a:p>
            <a:pPr lvl="1" eaLnBrk="1" hangingPunct="1"/>
            <a:r>
              <a:rPr lang="en-US" altLang="zh-TW" sz="2400" smtClean="0"/>
              <a:t>The nearest neighbor is easily mislead when high-dimensional </a:t>
            </a:r>
            <a:r>
              <a:rPr lang="en-US" altLang="zh-TW" sz="2400" i="1" smtClean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419599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Curse of Dimensionality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One approach</a:t>
            </a:r>
          </a:p>
          <a:p>
            <a:pPr lvl="1" eaLnBrk="1" hangingPunct="1"/>
            <a:r>
              <a:rPr lang="en-US" altLang="zh-TW" sz="2400" smtClean="0"/>
              <a:t>Stretch </a:t>
            </a:r>
            <a:r>
              <a:rPr lang="en-US" altLang="zh-TW" sz="2400" i="1" smtClean="0"/>
              <a:t>j</a:t>
            </a:r>
            <a:r>
              <a:rPr lang="en-US" altLang="zh-TW" sz="2400" smtClean="0"/>
              <a:t>th axis by weight </a:t>
            </a:r>
            <a:r>
              <a:rPr lang="en-US" altLang="zh-TW" sz="2400" i="1" smtClean="0"/>
              <a:t>z</a:t>
            </a:r>
            <a:r>
              <a:rPr lang="en-US" altLang="zh-TW" sz="2400" i="1" baseline="-25000" smtClean="0"/>
              <a:t>j</a:t>
            </a:r>
            <a:r>
              <a:rPr lang="en-US" altLang="zh-TW" sz="2400" smtClean="0"/>
              <a:t>, where </a:t>
            </a:r>
            <a:r>
              <a:rPr lang="en-US" altLang="zh-TW" sz="2400" i="1" smtClean="0"/>
              <a:t>z</a:t>
            </a:r>
            <a:r>
              <a:rPr lang="en-US" altLang="zh-TW" sz="2400" i="1" baseline="-25000" smtClean="0"/>
              <a:t>1</a:t>
            </a:r>
            <a:r>
              <a:rPr lang="en-US" altLang="zh-TW" sz="2400" smtClean="0"/>
              <a:t>, ..., </a:t>
            </a:r>
            <a:r>
              <a:rPr lang="en-US" altLang="zh-TW" sz="2400" i="1" smtClean="0"/>
              <a:t>z</a:t>
            </a:r>
            <a:r>
              <a:rPr lang="en-US" altLang="zh-TW" sz="2400" i="1" baseline="-25000" smtClean="0"/>
              <a:t>n</a:t>
            </a:r>
            <a:r>
              <a:rPr lang="en-US" altLang="zh-TW" sz="2400" smtClean="0"/>
              <a:t> chosen to minimize prediction error</a:t>
            </a:r>
          </a:p>
          <a:p>
            <a:pPr lvl="1" eaLnBrk="1" hangingPunct="1"/>
            <a:r>
              <a:rPr lang="en-US" altLang="zh-TW" sz="2400" smtClean="0"/>
              <a:t>Use cross-validation to automatically choose weights </a:t>
            </a:r>
            <a:r>
              <a:rPr lang="en-US" altLang="zh-TW" sz="2400" i="1" smtClean="0"/>
              <a:t>z</a:t>
            </a:r>
            <a:r>
              <a:rPr lang="en-US" altLang="zh-TW" sz="2400" i="1" baseline="-25000" smtClean="0"/>
              <a:t>1</a:t>
            </a:r>
            <a:r>
              <a:rPr lang="en-US" altLang="zh-TW" sz="2400" smtClean="0"/>
              <a:t>, ..., </a:t>
            </a:r>
            <a:r>
              <a:rPr lang="en-US" altLang="zh-TW" sz="2400" i="1" smtClean="0"/>
              <a:t>z</a:t>
            </a:r>
            <a:r>
              <a:rPr lang="en-US" altLang="zh-TW" sz="2400" i="1" baseline="-25000" smtClean="0"/>
              <a:t>n</a:t>
            </a:r>
          </a:p>
          <a:p>
            <a:pPr lvl="1" eaLnBrk="1" hangingPunct="1"/>
            <a:r>
              <a:rPr lang="en-US" altLang="zh-TW" sz="2400" smtClean="0"/>
              <a:t>Note setting </a:t>
            </a:r>
            <a:r>
              <a:rPr lang="en-US" altLang="zh-TW" sz="2400" i="1" smtClean="0"/>
              <a:t>z</a:t>
            </a:r>
            <a:r>
              <a:rPr lang="en-US" altLang="zh-TW" sz="2400" i="1" baseline="-25000" smtClean="0"/>
              <a:t>j</a:t>
            </a:r>
            <a:r>
              <a:rPr lang="en-US" altLang="zh-TW" sz="2400" smtClean="0"/>
              <a:t> to zero eliminates this dimension altogether</a:t>
            </a:r>
          </a:p>
          <a:p>
            <a:pPr lvl="1" eaLnBrk="1" hangingPunct="1"/>
            <a:r>
              <a:rPr lang="en-US" altLang="zh-TW" sz="2400" smtClean="0"/>
              <a:t>Leave-one-out cross validation</a:t>
            </a:r>
          </a:p>
          <a:p>
            <a:pPr lvl="2" eaLnBrk="1" hangingPunct="1"/>
            <a:r>
              <a:rPr lang="en-US" altLang="zh-TW" sz="2000" smtClean="0"/>
              <a:t>1 test data, </a:t>
            </a:r>
            <a:r>
              <a:rPr lang="en-US" altLang="zh-TW" sz="2000" i="1" smtClean="0"/>
              <a:t>m</a:t>
            </a:r>
            <a:r>
              <a:rPr lang="en-US" altLang="zh-TW" sz="2000" smtClean="0"/>
              <a:t>-1 training data</a:t>
            </a:r>
          </a:p>
        </p:txBody>
      </p:sp>
    </p:spTree>
    <p:extLst>
      <p:ext uri="{BB962C8B-B14F-4D97-AF65-F5344CB8AC3E}">
        <p14:creationId xmlns:p14="http://schemas.microsoft.com/office/powerpoint/2010/main" val="426125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31520" y="2229644"/>
            <a:ext cx="7680325" cy="393223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Note </a:t>
            </a:r>
            <a:r>
              <a:rPr lang="en-US" altLang="zh-TW" sz="2800" i="1" smtClean="0"/>
              <a:t>k</a:t>
            </a:r>
            <a:r>
              <a:rPr lang="en-US" altLang="zh-TW" sz="2800" smtClean="0"/>
              <a:t>NN forms local approximation to </a:t>
            </a:r>
            <a:r>
              <a:rPr lang="en-US" altLang="zh-TW" sz="2800" i="1" smtClean="0"/>
              <a:t>f </a:t>
            </a:r>
            <a:r>
              <a:rPr lang="en-US" altLang="zh-TW" sz="2800" smtClean="0"/>
              <a:t>for each query point </a:t>
            </a:r>
            <a:r>
              <a:rPr lang="en-US" altLang="zh-TW" sz="2800" i="1" smtClean="0"/>
              <a:t>x</a:t>
            </a:r>
            <a:r>
              <a:rPr lang="en-US" altLang="zh-TW" sz="2800" i="1" baseline="-25000" smtClean="0"/>
              <a:t>q</a:t>
            </a:r>
          </a:p>
          <a:p>
            <a:pPr eaLnBrk="1" hangingPunct="1"/>
            <a:r>
              <a:rPr lang="en-US" altLang="zh-TW" sz="2800" smtClean="0"/>
              <a:t>Why not form an explicit approximation </a:t>
            </a:r>
            <a:r>
              <a:rPr lang="en-US" altLang="zh-TW" sz="2800" i="1" smtClean="0"/>
              <a:t>f</a:t>
            </a:r>
            <a:r>
              <a:rPr lang="en-US" altLang="zh-TW" sz="2800" smtClean="0"/>
              <a:t>(x) for region surrounding </a:t>
            </a:r>
            <a:r>
              <a:rPr lang="en-US" altLang="zh-TW" sz="2800" i="1" smtClean="0"/>
              <a:t>x</a:t>
            </a:r>
            <a:r>
              <a:rPr lang="en-US" altLang="zh-TW" sz="2800" i="1" baseline="-25000" smtClean="0"/>
              <a:t>q</a:t>
            </a:r>
          </a:p>
          <a:p>
            <a:pPr lvl="1" eaLnBrk="1" hangingPunct="1"/>
            <a:r>
              <a:rPr lang="en-US" altLang="zh-TW" sz="2400" smtClean="0"/>
              <a:t>Fit linear, quadratic, or other function to </a:t>
            </a:r>
            <a:r>
              <a:rPr lang="en-US" altLang="zh-TW" sz="2400" i="1" smtClean="0"/>
              <a:t>k</a:t>
            </a:r>
            <a:r>
              <a:rPr lang="en-US" altLang="zh-TW" sz="2400" smtClean="0"/>
              <a:t> nearest neighbors</a:t>
            </a:r>
          </a:p>
          <a:p>
            <a:pPr lvl="1" eaLnBrk="1" hangingPunct="1"/>
            <a:r>
              <a:rPr lang="en-US" altLang="zh-TW" sz="2400" smtClean="0"/>
              <a:t>Produces “piecewise approximation” to </a:t>
            </a:r>
            <a:r>
              <a:rPr lang="en-US" altLang="zh-TW" sz="2400" i="1" smtClean="0"/>
              <a:t>f</a:t>
            </a:r>
          </a:p>
          <a:p>
            <a:pPr eaLnBrk="1" hangingPunct="1"/>
            <a:endParaRPr lang="en-US" altLang="zh-TW" sz="2800" smtClean="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Locally Weighted Regression</a:t>
            </a:r>
          </a:p>
        </p:txBody>
      </p:sp>
      <p:graphicFrame>
        <p:nvGraphicFramePr>
          <p:cNvPr id="5122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7317785"/>
              </p:ext>
            </p:extLst>
          </p:nvPr>
        </p:nvGraphicFramePr>
        <p:xfrm>
          <a:off x="1547664" y="5517232"/>
          <a:ext cx="3456384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81" name="方程式" r:id="rId4" imgW="2031840" imgH="253800" progId="Equation.3">
                  <p:embed/>
                </p:oleObj>
              </mc:Choice>
              <mc:Fallback>
                <p:oleObj name="方程式" r:id="rId4" imgW="2031840" imgH="253800" progId="Equation.3">
                  <p:embed/>
                  <p:pic>
                    <p:nvPicPr>
                      <p:cNvPr id="512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5517232"/>
                        <a:ext cx="3456384" cy="4320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9550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32155" y="2102644"/>
            <a:ext cx="7680325" cy="3932237"/>
          </a:xfrm>
        </p:spPr>
        <p:txBody>
          <a:bodyPr>
            <a:normAutofit/>
          </a:bodyPr>
          <a:lstStyle/>
          <a:p>
            <a:pPr marL="609600" indent="-609600" eaLnBrk="1" hangingPunct="1"/>
            <a:r>
              <a:rPr lang="en-US" altLang="zh-TW" sz="2800" smtClean="0"/>
              <a:t>Several choices of error to minimize</a:t>
            </a:r>
          </a:p>
          <a:p>
            <a:pPr marL="990600" lvl="1" indent="-533400" eaLnBrk="1" hangingPunct="1">
              <a:buFontTx/>
              <a:buAutoNum type="arabicPeriod"/>
            </a:pPr>
            <a:r>
              <a:rPr lang="en-US" altLang="zh-TW" sz="2400" smtClean="0"/>
              <a:t>Squared error over </a:t>
            </a:r>
            <a:r>
              <a:rPr lang="en-US" altLang="zh-TW" sz="2400" i="1" smtClean="0"/>
              <a:t>k</a:t>
            </a:r>
            <a:r>
              <a:rPr lang="en-US" altLang="zh-TW" sz="2400" smtClean="0"/>
              <a:t> nearest neighbors</a:t>
            </a:r>
          </a:p>
          <a:p>
            <a:pPr marL="990600" lvl="1" indent="-533400" eaLnBrk="1" hangingPunct="1">
              <a:buFontTx/>
              <a:buAutoNum type="arabicPeriod"/>
            </a:pPr>
            <a:endParaRPr lang="en-US" altLang="zh-TW" sz="2400" smtClean="0"/>
          </a:p>
          <a:p>
            <a:pPr marL="990600" lvl="1" indent="-533400" eaLnBrk="1" hangingPunct="1">
              <a:buFontTx/>
              <a:buAutoNum type="arabicPeriod"/>
            </a:pPr>
            <a:endParaRPr lang="en-US" altLang="zh-TW" sz="2400" smtClean="0"/>
          </a:p>
          <a:p>
            <a:pPr marL="990600" lvl="1" indent="-533400" eaLnBrk="1" hangingPunct="1">
              <a:buFontTx/>
              <a:buAutoNum type="arabicPeriod"/>
            </a:pPr>
            <a:r>
              <a:rPr lang="en-US" altLang="zh-TW" sz="2400" smtClean="0"/>
              <a:t>Distance-weighted squared error over all neighbors</a:t>
            </a:r>
          </a:p>
          <a:p>
            <a:pPr marL="990600" lvl="1" indent="-533400" eaLnBrk="1" hangingPunct="1">
              <a:buFontTx/>
              <a:buAutoNum type="arabicPeriod"/>
            </a:pPr>
            <a:endParaRPr lang="en-US" altLang="zh-TW" sz="2400" smtClean="0"/>
          </a:p>
          <a:p>
            <a:pPr marL="990600" lvl="1" indent="-533400" eaLnBrk="1" hangingPunct="1">
              <a:buFontTx/>
              <a:buAutoNum type="arabicPeriod"/>
            </a:pPr>
            <a:r>
              <a:rPr lang="en-US" altLang="zh-TW" sz="2400" smtClean="0"/>
              <a:t>Combine 1 and 2</a:t>
            </a:r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Locally Weighted Regression</a:t>
            </a:r>
          </a:p>
        </p:txBody>
      </p:sp>
      <p:graphicFrame>
        <p:nvGraphicFramePr>
          <p:cNvPr id="6146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9045536"/>
              </p:ext>
            </p:extLst>
          </p:nvPr>
        </p:nvGraphicFramePr>
        <p:xfrm>
          <a:off x="2843808" y="3055144"/>
          <a:ext cx="3220358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1" name="方程式" r:id="rId4" imgW="2044440" imgH="457200" progId="Equation.3">
                  <p:embed/>
                </p:oleObj>
              </mc:Choice>
              <mc:Fallback>
                <p:oleObj name="方程式" r:id="rId4" imgW="2044440" imgH="457200" progId="Equation.3">
                  <p:embed/>
                  <p:pic>
                    <p:nvPicPr>
                      <p:cNvPr id="614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3055144"/>
                        <a:ext cx="3220358" cy="7200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0655449"/>
              </p:ext>
            </p:extLst>
          </p:nvPr>
        </p:nvGraphicFramePr>
        <p:xfrm>
          <a:off x="3635896" y="4386126"/>
          <a:ext cx="3884737" cy="67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2" name="方程式" r:id="rId6" imgW="2400120" imgH="419040" progId="Equation.3">
                  <p:embed/>
                </p:oleObj>
              </mc:Choice>
              <mc:Fallback>
                <p:oleObj name="方程式" r:id="rId6" imgW="2400120" imgH="419040" progId="Equation.3">
                  <p:embed/>
                  <p:pic>
                    <p:nvPicPr>
                      <p:cNvPr id="614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896" y="4386126"/>
                        <a:ext cx="3884737" cy="6778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9314609"/>
              </p:ext>
            </p:extLst>
          </p:nvPr>
        </p:nvGraphicFramePr>
        <p:xfrm>
          <a:off x="2843808" y="5694211"/>
          <a:ext cx="4915222" cy="831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3" name="方程式" r:id="rId8" imgW="2705040" imgH="457200" progId="Equation.3">
                  <p:embed/>
                </p:oleObj>
              </mc:Choice>
              <mc:Fallback>
                <p:oleObj name="方程式" r:id="rId8" imgW="2705040" imgH="457200" progId="Equation.3">
                  <p:embed/>
                  <p:pic>
                    <p:nvPicPr>
                      <p:cNvPr id="6148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5694211"/>
                        <a:ext cx="4915222" cy="8311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0927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Locally Weighted Regression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For criterion 3, use gradient descent</a:t>
            </a:r>
          </a:p>
        </p:txBody>
      </p:sp>
      <p:graphicFrame>
        <p:nvGraphicFramePr>
          <p:cNvPr id="7170" name="Object 6"/>
          <p:cNvGraphicFramePr>
            <a:graphicFrameLocks noChangeAspect="1"/>
          </p:cNvGraphicFramePr>
          <p:nvPr/>
        </p:nvGraphicFramePr>
        <p:xfrm>
          <a:off x="1544638" y="2770188"/>
          <a:ext cx="5741987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29" name="方程式" r:id="rId4" imgW="2781000" imgH="393480" progId="Equation.3">
                  <p:embed/>
                </p:oleObj>
              </mc:Choice>
              <mc:Fallback>
                <p:oleObj name="方程式" r:id="rId4" imgW="2781000" imgH="393480" progId="Equation.3">
                  <p:embed/>
                  <p:pic>
                    <p:nvPicPr>
                      <p:cNvPr id="71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4638" y="2770188"/>
                        <a:ext cx="5741987" cy="777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1599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Radial Basis Function Networks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Global approximation to target function, in terms of linear combination of local approximations</a:t>
            </a:r>
          </a:p>
          <a:p>
            <a:pPr eaLnBrk="1" hangingPunct="1"/>
            <a:r>
              <a:rPr lang="en-US" altLang="zh-TW" sz="2800" smtClean="0"/>
              <a:t>Used, e.g., for image classification, and computer animation</a:t>
            </a:r>
          </a:p>
          <a:p>
            <a:pPr eaLnBrk="1" hangingPunct="1"/>
            <a:r>
              <a:rPr lang="en-US" altLang="zh-TW" sz="2800" smtClean="0"/>
              <a:t>A different kind of neural networks</a:t>
            </a:r>
          </a:p>
          <a:p>
            <a:pPr eaLnBrk="1" hangingPunct="1"/>
            <a:r>
              <a:rPr lang="en-US" altLang="zh-TW" sz="2800" smtClean="0"/>
              <a:t>Closely related to distance-weighted regression, but “eager” instead of “lazy”</a:t>
            </a:r>
          </a:p>
        </p:txBody>
      </p:sp>
    </p:spTree>
    <p:extLst>
      <p:ext uri="{BB962C8B-B14F-4D97-AF65-F5344CB8AC3E}">
        <p14:creationId xmlns:p14="http://schemas.microsoft.com/office/powerpoint/2010/main" val="344625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32155" y="2102644"/>
            <a:ext cx="7680325" cy="3932237"/>
          </a:xfrm>
        </p:spPr>
        <p:txBody>
          <a:bodyPr>
            <a:normAutofit/>
          </a:bodyPr>
          <a:lstStyle/>
          <a:p>
            <a:pPr eaLnBrk="1" hangingPunct="1"/>
            <a:endParaRPr lang="en-US" altLang="zh-TW" sz="2400" smtClean="0"/>
          </a:p>
          <a:p>
            <a:pPr eaLnBrk="1" hangingPunct="1"/>
            <a:endParaRPr lang="en-US" altLang="zh-TW" sz="2400" smtClean="0"/>
          </a:p>
          <a:p>
            <a:pPr eaLnBrk="1" hangingPunct="1"/>
            <a:endParaRPr lang="en-US" altLang="zh-TW" sz="2400" smtClean="0"/>
          </a:p>
          <a:p>
            <a:pPr eaLnBrk="1" hangingPunct="1"/>
            <a:r>
              <a:rPr lang="en-US" altLang="zh-TW" sz="2400" smtClean="0"/>
              <a:t>where </a:t>
            </a:r>
            <a:r>
              <a:rPr lang="en-US" altLang="zh-TW" sz="2400" i="1" smtClean="0"/>
              <a:t>a</a:t>
            </a:r>
            <a:r>
              <a:rPr lang="en-US" altLang="zh-TW" sz="2400" i="1" baseline="-25000" smtClean="0"/>
              <a:t>i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x</a:t>
            </a:r>
            <a:r>
              <a:rPr lang="en-US" altLang="zh-TW" sz="2400" smtClean="0"/>
              <a:t>) are the attributes describing instance </a:t>
            </a:r>
            <a:r>
              <a:rPr lang="en-US" altLang="zh-TW" sz="2400" i="1" smtClean="0"/>
              <a:t>x</a:t>
            </a:r>
            <a:r>
              <a:rPr lang="en-US" altLang="zh-TW" sz="2400" smtClean="0"/>
              <a:t>, and</a:t>
            </a:r>
          </a:p>
          <a:p>
            <a:pPr eaLnBrk="1" hangingPunct="1"/>
            <a:endParaRPr lang="en-US" altLang="zh-TW" sz="2400" smtClean="0"/>
          </a:p>
          <a:p>
            <a:pPr eaLnBrk="1" hangingPunct="1"/>
            <a:r>
              <a:rPr lang="en-US" altLang="zh-TW" sz="2400" smtClean="0"/>
              <a:t>One common choice for </a:t>
            </a:r>
            <a:r>
              <a:rPr lang="en-US" altLang="zh-TW" sz="2400" i="1" smtClean="0"/>
              <a:t>K</a:t>
            </a:r>
            <a:r>
              <a:rPr lang="en-US" altLang="zh-TW" sz="2400" i="1" baseline="-25000" smtClean="0"/>
              <a:t>u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d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x</a:t>
            </a:r>
            <a:r>
              <a:rPr lang="en-US" altLang="zh-TW" sz="2400" i="1" baseline="-25000" smtClean="0"/>
              <a:t>u</a:t>
            </a:r>
            <a:r>
              <a:rPr lang="en-US" altLang="zh-TW" sz="2400" smtClean="0"/>
              <a:t>,</a:t>
            </a:r>
            <a:r>
              <a:rPr lang="en-US" altLang="zh-TW" sz="2400" i="1" smtClean="0"/>
              <a:t>x</a:t>
            </a:r>
            <a:r>
              <a:rPr lang="en-US" altLang="zh-TW" sz="2400" smtClean="0"/>
              <a:t>)) is Gaussian kernel function</a:t>
            </a: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Radial Basis Function Networks</a:t>
            </a:r>
          </a:p>
        </p:txBody>
      </p:sp>
      <p:graphicFrame>
        <p:nvGraphicFramePr>
          <p:cNvPr id="8194" name="Object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3674501"/>
              </p:ext>
            </p:extLst>
          </p:nvPr>
        </p:nvGraphicFramePr>
        <p:xfrm>
          <a:off x="2123728" y="3954205"/>
          <a:ext cx="3138586" cy="730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76" name="方程式" r:id="rId4" imgW="1854000" imgH="431640" progId="Equation.3">
                  <p:embed/>
                </p:oleObj>
              </mc:Choice>
              <mc:Fallback>
                <p:oleObj name="方程式" r:id="rId4" imgW="1854000" imgH="431640" progId="Equation.3">
                  <p:embed/>
                  <p:pic>
                    <p:nvPicPr>
                      <p:cNvPr id="819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3954205"/>
                        <a:ext cx="3138586" cy="7309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198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059832" y="1715433"/>
            <a:ext cx="2635250" cy="177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19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4900437"/>
              </p:ext>
            </p:extLst>
          </p:nvPr>
        </p:nvGraphicFramePr>
        <p:xfrm>
          <a:off x="3347863" y="5445224"/>
          <a:ext cx="3547263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77" name="方程式" r:id="rId7" imgW="1562040" imgH="380880" progId="Equation.3">
                  <p:embed/>
                </p:oleObj>
              </mc:Choice>
              <mc:Fallback>
                <p:oleObj name="方程式" r:id="rId7" imgW="1562040" imgH="380880" progId="Equation.3">
                  <p:embed/>
                  <p:pic>
                    <p:nvPicPr>
                      <p:cNvPr id="819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3" y="5445224"/>
                        <a:ext cx="3547263" cy="8640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07523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smtClean="0"/>
              <a:t>Training Radial Basis Function Networks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400" smtClean="0"/>
              <a:t>Q1: What </a:t>
            </a:r>
            <a:r>
              <a:rPr lang="en-US" altLang="zh-TW" sz="2400" i="1" smtClean="0"/>
              <a:t>x</a:t>
            </a:r>
            <a:r>
              <a:rPr lang="en-US" altLang="zh-TW" sz="2400" i="1" baseline="-25000" smtClean="0"/>
              <a:t>u</a:t>
            </a:r>
            <a:r>
              <a:rPr lang="en-US" altLang="zh-TW" sz="2400" smtClean="0"/>
              <a:t> to use for each kernel function </a:t>
            </a:r>
            <a:r>
              <a:rPr lang="en-US" altLang="zh-TW" sz="2400" i="1" smtClean="0"/>
              <a:t>K</a:t>
            </a:r>
            <a:r>
              <a:rPr lang="en-US" altLang="zh-TW" sz="2400" i="1" baseline="-25000" smtClean="0"/>
              <a:t>u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d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x</a:t>
            </a:r>
            <a:r>
              <a:rPr lang="en-US" altLang="zh-TW" sz="2400" i="1" baseline="-25000" smtClean="0"/>
              <a:t>u</a:t>
            </a:r>
            <a:r>
              <a:rPr lang="en-US" altLang="zh-TW" sz="2400" smtClean="0"/>
              <a:t>,</a:t>
            </a:r>
            <a:r>
              <a:rPr lang="en-US" altLang="zh-TW" sz="2400" i="1" smtClean="0"/>
              <a:t>x</a:t>
            </a:r>
            <a:r>
              <a:rPr lang="en-US" altLang="zh-TW" sz="2400" smtClean="0"/>
              <a:t>))?</a:t>
            </a:r>
          </a:p>
          <a:p>
            <a:pPr lvl="1" eaLnBrk="1" hangingPunct="1"/>
            <a:r>
              <a:rPr lang="en-US" altLang="zh-TW" sz="2000" smtClean="0"/>
              <a:t>Use all training examples</a:t>
            </a:r>
          </a:p>
          <a:p>
            <a:pPr lvl="2" eaLnBrk="1" hangingPunct="1"/>
            <a:r>
              <a:rPr lang="en-US" altLang="zh-TW" sz="1800" smtClean="0"/>
              <a:t>Allocate a kernel function for each training example</a:t>
            </a:r>
          </a:p>
          <a:p>
            <a:pPr lvl="2" eaLnBrk="1" hangingPunct="1"/>
            <a:r>
              <a:rPr lang="en-US" altLang="zh-TW" sz="1800" smtClean="0"/>
              <a:t>Not efficient</a:t>
            </a:r>
          </a:p>
          <a:p>
            <a:pPr lvl="1" eaLnBrk="1" hangingPunct="1"/>
            <a:r>
              <a:rPr lang="en-US" altLang="zh-TW" sz="2000" smtClean="0"/>
              <a:t>Use a subset of training examples</a:t>
            </a:r>
          </a:p>
          <a:p>
            <a:pPr lvl="2" eaLnBrk="1" hangingPunct="1"/>
            <a:r>
              <a:rPr lang="en-US" altLang="zh-TW" sz="1800" smtClean="0"/>
              <a:t>Scatter uniformly throughout instance space</a:t>
            </a:r>
          </a:p>
          <a:p>
            <a:pPr lvl="2" eaLnBrk="1" hangingPunct="1"/>
            <a:r>
              <a:rPr lang="en-US" altLang="zh-TW" sz="1800" smtClean="0"/>
              <a:t>Or use training instances (reflects instance distribution)</a:t>
            </a:r>
          </a:p>
          <a:p>
            <a:pPr lvl="3" eaLnBrk="1" hangingPunct="1"/>
            <a:r>
              <a:rPr lang="en-US" altLang="zh-TW" sz="1800" smtClean="0"/>
              <a:t>Randomly select a subset of training examples, thereby sampling the underlying distribution</a:t>
            </a:r>
          </a:p>
          <a:p>
            <a:pPr lvl="3" eaLnBrk="1" hangingPunct="1"/>
            <a:r>
              <a:rPr lang="en-US" altLang="zh-TW" sz="1800" smtClean="0"/>
              <a:t>Clustering, add a kernel function centered at each cluster</a:t>
            </a:r>
          </a:p>
        </p:txBody>
      </p:sp>
    </p:spTree>
    <p:extLst>
      <p:ext uri="{BB962C8B-B14F-4D97-AF65-F5344CB8AC3E}">
        <p14:creationId xmlns:p14="http://schemas.microsoft.com/office/powerpoint/2010/main" val="3443470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smtClean="0"/>
              <a:t>Training Radial Basis Function Networks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Q2: How to train weights (assume here Gaussian </a:t>
            </a:r>
            <a:r>
              <a:rPr lang="en-US" altLang="zh-TW" sz="2800" i="1" smtClean="0"/>
              <a:t>K</a:t>
            </a:r>
            <a:r>
              <a:rPr lang="en-US" altLang="zh-TW" sz="2800" i="1" baseline="-25000" smtClean="0"/>
              <a:t>u</a:t>
            </a:r>
            <a:r>
              <a:rPr lang="en-US" altLang="zh-TW" sz="2800" smtClean="0"/>
              <a:t>)?</a:t>
            </a:r>
          </a:p>
          <a:p>
            <a:pPr lvl="1" eaLnBrk="1" hangingPunct="1"/>
            <a:r>
              <a:rPr lang="en-US" altLang="zh-TW" sz="2400" smtClean="0"/>
              <a:t>First choose variance and perhaps mean for each </a:t>
            </a:r>
            <a:r>
              <a:rPr lang="en-US" altLang="zh-TW" sz="2400" i="1" smtClean="0"/>
              <a:t>K</a:t>
            </a:r>
            <a:r>
              <a:rPr lang="en-US" altLang="zh-TW" sz="2400" i="1" baseline="-25000" smtClean="0"/>
              <a:t>u</a:t>
            </a:r>
            <a:endParaRPr lang="en-US" altLang="zh-TW" sz="2400" smtClean="0"/>
          </a:p>
          <a:p>
            <a:pPr lvl="2" eaLnBrk="1" hangingPunct="1"/>
            <a:r>
              <a:rPr lang="en-US" altLang="zh-TW" sz="2000" smtClean="0"/>
              <a:t>e.g., use EM</a:t>
            </a:r>
          </a:p>
          <a:p>
            <a:pPr lvl="1" eaLnBrk="1" hangingPunct="1"/>
            <a:r>
              <a:rPr lang="en-US" altLang="zh-TW" sz="2400" smtClean="0"/>
              <a:t>Then hold </a:t>
            </a:r>
            <a:r>
              <a:rPr lang="en-US" altLang="zh-TW" sz="2400" i="1" smtClean="0"/>
              <a:t>K</a:t>
            </a:r>
            <a:r>
              <a:rPr lang="en-US" altLang="zh-TW" sz="2400" i="1" baseline="-25000" smtClean="0"/>
              <a:t>u</a:t>
            </a:r>
            <a:r>
              <a:rPr lang="en-US" altLang="zh-TW" sz="2400" smtClean="0"/>
              <a:t> fixed and train linear output layer</a:t>
            </a:r>
          </a:p>
          <a:p>
            <a:pPr lvl="2" eaLnBrk="1" hangingPunct="1"/>
            <a:r>
              <a:rPr lang="en-US" altLang="zh-TW" sz="2000" smtClean="0"/>
              <a:t>efficient methods to fit linear function</a:t>
            </a:r>
          </a:p>
        </p:txBody>
      </p:sp>
    </p:spTree>
    <p:extLst>
      <p:ext uri="{BB962C8B-B14F-4D97-AF65-F5344CB8AC3E}">
        <p14:creationId xmlns:p14="http://schemas.microsoft.com/office/powerpoint/2010/main" val="3803687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Decision Tree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1101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PlayTennis Problem</a:t>
            </a:r>
            <a:endParaRPr lang="zh-TW" altLang="en-US" smtClean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50" y="1928813"/>
            <a:ext cx="5786438" cy="408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04548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>
                <a:solidFill>
                  <a:schemeClr val="tx1"/>
                </a:solidFill>
              </a:rPr>
              <a:t>Decision Tree for </a:t>
            </a:r>
            <a:r>
              <a:rPr lang="en-US" altLang="zh-TW" i="1">
                <a:solidFill>
                  <a:schemeClr val="tx1"/>
                </a:solidFill>
              </a:rPr>
              <a:t>PlayTennis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7259" y="2079496"/>
            <a:ext cx="7509481" cy="45342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51870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tx1"/>
                </a:solidFill>
              </a:rPr>
              <a:t>Decision Tree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731520" y="2103120"/>
            <a:ext cx="7680960" cy="4422224"/>
          </a:xfrm>
        </p:spPr>
        <p:txBody>
          <a:bodyPr>
            <a:noAutofit/>
          </a:bodyPr>
          <a:lstStyle/>
          <a:p>
            <a:r>
              <a:rPr lang="en-US" altLang="zh-TW" sz="2800" smtClean="0"/>
              <a:t>Decision tree representation</a:t>
            </a:r>
          </a:p>
          <a:p>
            <a:pPr lvl="1"/>
            <a:r>
              <a:rPr lang="en-US" altLang="zh-TW" sz="2400" smtClean="0"/>
              <a:t>Each internal node tests an attribute</a:t>
            </a:r>
          </a:p>
          <a:p>
            <a:pPr lvl="1"/>
            <a:r>
              <a:rPr lang="en-US" altLang="zh-TW" sz="2400" smtClean="0"/>
              <a:t>Each branch corresponds to attribute value</a:t>
            </a:r>
          </a:p>
          <a:p>
            <a:pPr lvl="1"/>
            <a:r>
              <a:rPr lang="en-US" altLang="zh-TW" sz="2400" smtClean="0"/>
              <a:t>Each leaf node assigns a classification</a:t>
            </a:r>
          </a:p>
          <a:p>
            <a:r>
              <a:rPr lang="en-US" altLang="zh-TW" sz="2800" smtClean="0"/>
              <a:t>Classify new instance</a:t>
            </a:r>
          </a:p>
          <a:p>
            <a:pPr lvl="1"/>
            <a:r>
              <a:rPr lang="en-US" altLang="zh-TW" sz="2400" smtClean="0"/>
              <a:t>Start at the root node and move down to a leaf, test the attribute specified by this node, then moving down to the tree branch corresponding to the value of the attribute in the instance.</a:t>
            </a:r>
          </a:p>
        </p:txBody>
      </p:sp>
    </p:spTree>
    <p:extLst>
      <p:ext uri="{BB962C8B-B14F-4D97-AF65-F5344CB8AC3E}">
        <p14:creationId xmlns:p14="http://schemas.microsoft.com/office/powerpoint/2010/main" val="806281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tx1"/>
                </a:solidFill>
              </a:rPr>
              <a:t>Decision Tree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2800" smtClean="0"/>
              <a:t>Decision trees represent a disjunction of conjunctions of constraints on the attribute values of instances</a:t>
            </a:r>
          </a:p>
          <a:p>
            <a:pPr lvl="1"/>
            <a:r>
              <a:rPr lang="en-US" altLang="zh-TW" sz="2400" smtClean="0"/>
              <a:t>Each path from the root to a leaf corresponds to a conjunction of attribute tests</a:t>
            </a:r>
          </a:p>
          <a:p>
            <a:pPr lvl="1"/>
            <a:r>
              <a:rPr lang="en-US" altLang="zh-TW" sz="2400" smtClean="0"/>
              <a:t>The tree itself corresponds to a disjunction of these conjunctions</a:t>
            </a:r>
          </a:p>
          <a:p>
            <a:pPr lvl="2"/>
            <a:r>
              <a:rPr lang="en-US" altLang="zh-TW" sz="2000" smtClean="0"/>
              <a:t>(</a:t>
            </a:r>
            <a:r>
              <a:rPr lang="en-US" altLang="zh-TW" sz="2000" i="1" smtClean="0"/>
              <a:t>Outlook</a:t>
            </a:r>
            <a:r>
              <a:rPr lang="en-US" altLang="zh-TW" sz="2000" smtClean="0"/>
              <a:t>=</a:t>
            </a:r>
            <a:r>
              <a:rPr lang="en-US" altLang="zh-TW" sz="2000" i="1" smtClean="0"/>
              <a:t>Sunny</a:t>
            </a:r>
            <a:r>
              <a:rPr lang="en-US" altLang="zh-TW" sz="2000" smtClean="0"/>
              <a:t> </a:t>
            </a:r>
            <a:r>
              <a:rPr lang="en-US" altLang="zh-TW" sz="2000" smtClean="0">
                <a:latin typeface="SymbolMT" charset="-120"/>
                <a:ea typeface="SymbolMT" charset="-120"/>
              </a:rPr>
              <a:t>∧ </a:t>
            </a:r>
            <a:r>
              <a:rPr lang="en-US" altLang="zh-TW" sz="2000" i="1" smtClean="0"/>
              <a:t>Humidity</a:t>
            </a:r>
            <a:r>
              <a:rPr lang="en-US" altLang="zh-TW" sz="2000" smtClean="0">
                <a:ea typeface="SymbolMT" charset="-120"/>
              </a:rPr>
              <a:t>=</a:t>
            </a:r>
            <a:r>
              <a:rPr lang="en-US" altLang="zh-TW" sz="2000" i="1" smtClean="0"/>
              <a:t>Normal</a:t>
            </a:r>
            <a:r>
              <a:rPr lang="en-US" altLang="zh-TW" sz="2000" smtClean="0">
                <a:ea typeface="SymbolMT" charset="-120"/>
              </a:rPr>
              <a:t>) </a:t>
            </a:r>
            <a:br>
              <a:rPr lang="en-US" altLang="zh-TW" sz="2000" smtClean="0">
                <a:ea typeface="SymbolMT" charset="-120"/>
              </a:rPr>
            </a:br>
            <a:r>
              <a:rPr lang="en-US" altLang="zh-TW" sz="2000" smtClean="0">
                <a:latin typeface="SymbolMT" charset="-120"/>
                <a:ea typeface="SymbolMT" charset="-120"/>
              </a:rPr>
              <a:t>∨</a:t>
            </a:r>
            <a:r>
              <a:rPr lang="en-US" altLang="zh-TW" sz="2000" smtClean="0">
                <a:ea typeface="SymbolMT" charset="-120"/>
              </a:rPr>
              <a:t> (</a:t>
            </a:r>
            <a:r>
              <a:rPr lang="en-US" altLang="zh-TW" sz="2000" i="1" smtClean="0">
                <a:ea typeface="SymbolMT" charset="-120"/>
              </a:rPr>
              <a:t>Outlook</a:t>
            </a:r>
            <a:r>
              <a:rPr lang="en-US" altLang="zh-TW" sz="2000" smtClean="0">
                <a:ea typeface="SymbolMT" charset="-120"/>
              </a:rPr>
              <a:t>=</a:t>
            </a:r>
            <a:r>
              <a:rPr lang="en-US" altLang="zh-TW" sz="2000" i="1" smtClean="0">
                <a:ea typeface="SymbolMT" charset="-120"/>
              </a:rPr>
              <a:t>Overcast</a:t>
            </a:r>
            <a:r>
              <a:rPr lang="en-US" altLang="zh-TW" sz="2000" smtClean="0">
                <a:ea typeface="SymbolMT" charset="-120"/>
              </a:rPr>
              <a:t>) </a:t>
            </a:r>
            <a:br>
              <a:rPr lang="en-US" altLang="zh-TW" sz="2000" smtClean="0">
                <a:ea typeface="SymbolMT" charset="-120"/>
              </a:rPr>
            </a:br>
            <a:r>
              <a:rPr lang="en-US" altLang="zh-TW" sz="2000" smtClean="0">
                <a:latin typeface="SymbolMT" charset="-120"/>
                <a:ea typeface="SymbolMT" charset="-120"/>
              </a:rPr>
              <a:t>∨</a:t>
            </a:r>
            <a:r>
              <a:rPr lang="en-US" altLang="zh-TW" sz="2000" smtClean="0">
                <a:ea typeface="SymbolMT" charset="-120"/>
              </a:rPr>
              <a:t> (</a:t>
            </a:r>
            <a:r>
              <a:rPr lang="en-US" altLang="zh-TW" sz="2000" i="1" smtClean="0">
                <a:ea typeface="SymbolMT" charset="-120"/>
              </a:rPr>
              <a:t>Outlook</a:t>
            </a:r>
            <a:r>
              <a:rPr lang="en-US" altLang="zh-TW" sz="2000" smtClean="0">
                <a:ea typeface="SymbolMT" charset="-120"/>
              </a:rPr>
              <a:t>=</a:t>
            </a:r>
            <a:r>
              <a:rPr lang="en-US" altLang="zh-TW" sz="2000" i="1" smtClean="0">
                <a:ea typeface="SymbolMT" charset="-120"/>
              </a:rPr>
              <a:t>Rain</a:t>
            </a:r>
            <a:r>
              <a:rPr lang="en-US" altLang="zh-TW" sz="2000" smtClean="0">
                <a:ea typeface="SymbolMT" charset="-120"/>
              </a:rPr>
              <a:t> </a:t>
            </a:r>
            <a:r>
              <a:rPr lang="en-US" altLang="zh-TW" sz="2000" smtClean="0">
                <a:latin typeface="SymbolMT" charset="-120"/>
                <a:ea typeface="SymbolMT" charset="-120"/>
              </a:rPr>
              <a:t>∧ </a:t>
            </a:r>
            <a:r>
              <a:rPr lang="en-US" altLang="zh-TW" sz="2000" i="1" smtClean="0">
                <a:ea typeface="SymbolMT" charset="-120"/>
              </a:rPr>
              <a:t>Wind</a:t>
            </a:r>
            <a:r>
              <a:rPr lang="en-US" altLang="zh-TW" sz="2000" smtClean="0">
                <a:ea typeface="SymbolMT" charset="-120"/>
              </a:rPr>
              <a:t>=</a:t>
            </a:r>
            <a:r>
              <a:rPr lang="en-US" altLang="zh-TW" sz="2000" i="1" smtClean="0">
                <a:ea typeface="SymbolMT" charset="-120"/>
              </a:rPr>
              <a:t>Weak</a:t>
            </a:r>
            <a:r>
              <a:rPr lang="en-US" altLang="zh-TW" sz="2000" smtClean="0">
                <a:ea typeface="SymbolMT" charset="-120"/>
              </a:rPr>
              <a:t>)</a:t>
            </a:r>
            <a:endParaRPr lang="en-US" altLang="zh-TW" sz="2000" smtClean="0">
              <a:latin typeface="SymbolMT" charset="-120"/>
              <a:ea typeface="SymbolMT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02280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tx1"/>
                </a:solidFill>
              </a:rPr>
              <a:t>Appropriate Problem for Decision Tree Learning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smtClean="0"/>
              <a:t>Instances are represented by attribute-value pairs</a:t>
            </a:r>
          </a:p>
          <a:p>
            <a:r>
              <a:rPr lang="en-US" altLang="zh-TW" sz="2800" smtClean="0"/>
              <a:t>Target function has discrete output values</a:t>
            </a:r>
          </a:p>
          <a:p>
            <a:pPr lvl="1"/>
            <a:r>
              <a:rPr lang="en-US" altLang="zh-TW" sz="2400" i="1" smtClean="0"/>
              <a:t>Yes</a:t>
            </a:r>
            <a:r>
              <a:rPr lang="en-US" altLang="zh-TW" sz="2400" smtClean="0"/>
              <a:t> or </a:t>
            </a:r>
            <a:r>
              <a:rPr lang="en-US" altLang="zh-TW" sz="2400" i="1" smtClean="0"/>
              <a:t>no</a:t>
            </a:r>
            <a:r>
              <a:rPr lang="en-US" altLang="zh-TW" sz="2400" smtClean="0"/>
              <a:t> in </a:t>
            </a:r>
            <a:r>
              <a:rPr lang="en-US" altLang="zh-TW" sz="2400" i="1" smtClean="0"/>
              <a:t>PlayTennis</a:t>
            </a:r>
            <a:r>
              <a:rPr lang="en-US" altLang="zh-TW" sz="2400" smtClean="0"/>
              <a:t> problem</a:t>
            </a:r>
          </a:p>
          <a:p>
            <a:r>
              <a:rPr lang="en-US" altLang="zh-TW" sz="2800" smtClean="0"/>
              <a:t>Disjunctive descriptions may be required</a:t>
            </a:r>
          </a:p>
          <a:p>
            <a:pPr lvl="1"/>
            <a:r>
              <a:rPr lang="en-US" altLang="zh-TW" sz="2400" smtClean="0"/>
              <a:t>Decision trees naturally represent disjunctive expressions</a:t>
            </a:r>
          </a:p>
        </p:txBody>
      </p:sp>
    </p:spTree>
    <p:extLst>
      <p:ext uri="{BB962C8B-B14F-4D97-AF65-F5344CB8AC3E}">
        <p14:creationId xmlns:p14="http://schemas.microsoft.com/office/powerpoint/2010/main" val="5641041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tx1"/>
                </a:solidFill>
              </a:rPr>
              <a:t>Appropriate Problem for Decision Tree Learning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TW" sz="2800" smtClean="0"/>
              <a:t>The training data may contain errors</a:t>
            </a:r>
          </a:p>
          <a:p>
            <a:pPr lvl="1">
              <a:lnSpc>
                <a:spcPct val="90000"/>
              </a:lnSpc>
            </a:pPr>
            <a:r>
              <a:rPr lang="en-US" altLang="zh-TW" sz="2400" smtClean="0"/>
              <a:t>Decision tree learning methods are robust to errors in classifications of training examples and errors in the attribute values of training examples</a:t>
            </a:r>
          </a:p>
          <a:p>
            <a:pPr>
              <a:lnSpc>
                <a:spcPct val="90000"/>
              </a:lnSpc>
            </a:pPr>
            <a:r>
              <a:rPr lang="en-US" altLang="zh-TW" sz="2800" smtClean="0"/>
              <a:t>The training data may contain missing attribute values</a:t>
            </a:r>
          </a:p>
          <a:p>
            <a:pPr>
              <a:lnSpc>
                <a:spcPct val="90000"/>
              </a:lnSpc>
            </a:pPr>
            <a:r>
              <a:rPr lang="en-US" altLang="zh-TW" sz="2800" smtClean="0"/>
              <a:t>Examples</a:t>
            </a:r>
          </a:p>
          <a:p>
            <a:pPr lvl="1">
              <a:lnSpc>
                <a:spcPct val="90000"/>
              </a:lnSpc>
            </a:pPr>
            <a:r>
              <a:rPr lang="en-US" altLang="zh-TW" sz="2400" smtClean="0"/>
              <a:t>Classify medical patients by their disease</a:t>
            </a:r>
          </a:p>
          <a:p>
            <a:pPr lvl="1">
              <a:lnSpc>
                <a:spcPct val="90000"/>
              </a:lnSpc>
            </a:pPr>
            <a:r>
              <a:rPr lang="en-US" altLang="zh-TW" sz="2400" smtClean="0"/>
              <a:t>Classify equipment malfunctions by their cause</a:t>
            </a:r>
          </a:p>
        </p:txBody>
      </p:sp>
    </p:spTree>
    <p:extLst>
      <p:ext uri="{BB962C8B-B14F-4D97-AF65-F5344CB8AC3E}">
        <p14:creationId xmlns:p14="http://schemas.microsoft.com/office/powerpoint/2010/main" val="34071351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tx1"/>
                </a:solidFill>
              </a:rPr>
              <a:t>Basic Decision Tree Learning Algorithm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TW" sz="2800" smtClean="0"/>
              <a:t>Top-down, greedy search through the space of possible decision trees</a:t>
            </a:r>
          </a:p>
          <a:p>
            <a:pPr>
              <a:lnSpc>
                <a:spcPct val="90000"/>
              </a:lnSpc>
            </a:pPr>
            <a:r>
              <a:rPr lang="en-US" altLang="zh-TW" sz="2800" smtClean="0"/>
              <a:t>ID3</a:t>
            </a:r>
          </a:p>
          <a:p>
            <a:pPr lvl="1">
              <a:lnSpc>
                <a:spcPct val="90000"/>
              </a:lnSpc>
            </a:pPr>
            <a:r>
              <a:rPr lang="en-US" altLang="zh-TW" sz="2400" smtClean="0"/>
              <a:t>“Which attribute should be tested at the root?”</a:t>
            </a:r>
          </a:p>
          <a:p>
            <a:pPr lvl="1">
              <a:lnSpc>
                <a:spcPct val="90000"/>
              </a:lnSpc>
            </a:pPr>
            <a:r>
              <a:rPr lang="en-US" altLang="zh-TW" sz="2400" smtClean="0"/>
              <a:t>Each attribute is evaluated using a statistical test to determine how well it alone classifies the training examples</a:t>
            </a:r>
          </a:p>
          <a:p>
            <a:pPr lvl="1">
              <a:lnSpc>
                <a:spcPct val="90000"/>
              </a:lnSpc>
            </a:pPr>
            <a:r>
              <a:rPr lang="en-US" altLang="zh-TW" sz="2400" smtClean="0"/>
              <a:t>The best attribute is selected and used as the test at the root node</a:t>
            </a:r>
          </a:p>
          <a:p>
            <a:pPr lvl="1">
              <a:lnSpc>
                <a:spcPct val="90000"/>
              </a:lnSpc>
            </a:pPr>
            <a:r>
              <a:rPr lang="en-US" altLang="zh-TW" sz="2400" smtClean="0"/>
              <a:t>Create descendant and sort the training examples to the appropriate descendant node</a:t>
            </a:r>
          </a:p>
        </p:txBody>
      </p:sp>
    </p:spTree>
    <p:extLst>
      <p:ext uri="{BB962C8B-B14F-4D97-AF65-F5344CB8AC3E}">
        <p14:creationId xmlns:p14="http://schemas.microsoft.com/office/powerpoint/2010/main" val="7756972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tx1"/>
                </a:solidFill>
              </a:rPr>
              <a:t>ID3 Algorithm Specialized to Learn Boolean-Valued Functions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731520" y="2103120"/>
            <a:ext cx="7680960" cy="435021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altLang="zh-TW" sz="2400" smtClean="0"/>
              <a:t>ID3(</a:t>
            </a:r>
            <a:r>
              <a:rPr lang="en-US" altLang="zh-TW" sz="2400" i="1" smtClean="0"/>
              <a:t>Examples, Target_attribute, Attributes</a:t>
            </a:r>
            <a:r>
              <a:rPr lang="en-US" altLang="zh-TW" sz="2400" smtClean="0"/>
              <a:t>)</a:t>
            </a:r>
          </a:p>
          <a:p>
            <a:pPr lvl="1">
              <a:lnSpc>
                <a:spcPct val="85000"/>
              </a:lnSpc>
              <a:spcBef>
                <a:spcPct val="0"/>
              </a:spcBef>
            </a:pPr>
            <a:r>
              <a:rPr lang="en-US" altLang="zh-TW" sz="2000" smtClean="0"/>
              <a:t>Create a </a:t>
            </a:r>
            <a:r>
              <a:rPr lang="en-US" altLang="zh-TW" sz="2000" i="1" smtClean="0"/>
              <a:t>Root </a:t>
            </a:r>
            <a:r>
              <a:rPr lang="en-US" altLang="zh-TW" sz="2000" smtClean="0"/>
              <a:t>node for the tree</a:t>
            </a:r>
          </a:p>
          <a:p>
            <a:pPr lvl="1">
              <a:lnSpc>
                <a:spcPct val="85000"/>
              </a:lnSpc>
              <a:spcBef>
                <a:spcPct val="0"/>
              </a:spcBef>
            </a:pPr>
            <a:r>
              <a:rPr lang="en-US" altLang="zh-TW" sz="2000" smtClean="0"/>
              <a:t>If all </a:t>
            </a:r>
            <a:r>
              <a:rPr lang="en-US" altLang="zh-TW" sz="2000" i="1" smtClean="0"/>
              <a:t>Examples </a:t>
            </a:r>
            <a:r>
              <a:rPr lang="en-US" altLang="zh-TW" sz="2000" smtClean="0"/>
              <a:t>are positive, return the single-node </a:t>
            </a:r>
            <a:r>
              <a:rPr lang="en-US" altLang="zh-TW" sz="2000" i="1" smtClean="0"/>
              <a:t>Root</a:t>
            </a:r>
            <a:r>
              <a:rPr lang="en-US" altLang="zh-TW" sz="2000" smtClean="0"/>
              <a:t>, with label = +</a:t>
            </a:r>
          </a:p>
          <a:p>
            <a:pPr lvl="1">
              <a:lnSpc>
                <a:spcPct val="85000"/>
              </a:lnSpc>
              <a:spcBef>
                <a:spcPct val="0"/>
              </a:spcBef>
            </a:pPr>
            <a:r>
              <a:rPr lang="en-US" altLang="zh-TW" sz="2000" smtClean="0"/>
              <a:t>If all </a:t>
            </a:r>
            <a:r>
              <a:rPr lang="en-US" altLang="zh-TW" sz="2000" i="1" smtClean="0"/>
              <a:t>Examples </a:t>
            </a:r>
            <a:r>
              <a:rPr lang="en-US" altLang="zh-TW" sz="2000" smtClean="0"/>
              <a:t>are negative, return the single-node </a:t>
            </a:r>
            <a:r>
              <a:rPr lang="en-US" altLang="zh-TW" sz="2000" i="1" smtClean="0"/>
              <a:t>Root</a:t>
            </a:r>
            <a:r>
              <a:rPr lang="en-US" altLang="zh-TW" sz="2000" smtClean="0"/>
              <a:t>, with label = -</a:t>
            </a:r>
          </a:p>
          <a:p>
            <a:pPr lvl="1">
              <a:lnSpc>
                <a:spcPct val="85000"/>
              </a:lnSpc>
              <a:spcBef>
                <a:spcPct val="0"/>
              </a:spcBef>
            </a:pPr>
            <a:r>
              <a:rPr lang="en-US" altLang="zh-TW" sz="2000" smtClean="0"/>
              <a:t>If </a:t>
            </a:r>
            <a:r>
              <a:rPr lang="en-US" altLang="zh-TW" sz="2000" i="1" smtClean="0"/>
              <a:t>Attributes </a:t>
            </a:r>
            <a:r>
              <a:rPr lang="en-US" altLang="zh-TW" sz="2000" smtClean="0"/>
              <a:t>is empty, return the single-node tree </a:t>
            </a:r>
            <a:r>
              <a:rPr lang="en-US" altLang="zh-TW" sz="2000" i="1" smtClean="0"/>
              <a:t>Root</a:t>
            </a:r>
            <a:r>
              <a:rPr lang="en-US" altLang="zh-TW" sz="2000" smtClean="0"/>
              <a:t>, with label = most common value of </a:t>
            </a:r>
            <a:r>
              <a:rPr lang="en-US" altLang="zh-TW" sz="2000" i="1" smtClean="0"/>
              <a:t>Target_attribute </a:t>
            </a:r>
            <a:r>
              <a:rPr lang="en-US" altLang="zh-TW" sz="2000" smtClean="0"/>
              <a:t>in </a:t>
            </a:r>
            <a:r>
              <a:rPr lang="en-US" altLang="zh-TW" sz="2000" i="1" smtClean="0"/>
              <a:t>Examples</a:t>
            </a:r>
          </a:p>
          <a:p>
            <a:pPr lvl="1">
              <a:lnSpc>
                <a:spcPct val="85000"/>
              </a:lnSpc>
              <a:spcBef>
                <a:spcPct val="0"/>
              </a:spcBef>
            </a:pPr>
            <a:r>
              <a:rPr lang="en-US" altLang="zh-TW" sz="2000" smtClean="0"/>
              <a:t>Otherwise Begin</a:t>
            </a:r>
          </a:p>
          <a:p>
            <a:pPr lvl="2">
              <a:lnSpc>
                <a:spcPct val="85000"/>
              </a:lnSpc>
              <a:spcBef>
                <a:spcPct val="0"/>
              </a:spcBef>
            </a:pPr>
            <a:r>
              <a:rPr lang="en-US" altLang="zh-TW" sz="1800" i="1" smtClean="0"/>
              <a:t>A </a:t>
            </a:r>
            <a:r>
              <a:rPr lang="en-US" altLang="zh-TW" sz="1800" smtClean="0"/>
              <a:t>←the attribute from </a:t>
            </a:r>
            <a:r>
              <a:rPr lang="en-US" altLang="zh-TW" sz="1800" i="1" smtClean="0"/>
              <a:t>Attributes </a:t>
            </a:r>
            <a:r>
              <a:rPr lang="en-US" altLang="zh-TW" sz="1800" smtClean="0"/>
              <a:t>that best classifies </a:t>
            </a:r>
            <a:r>
              <a:rPr lang="en-US" altLang="zh-TW" sz="1800" i="1" smtClean="0"/>
              <a:t>Examples</a:t>
            </a:r>
          </a:p>
          <a:p>
            <a:pPr lvl="2">
              <a:lnSpc>
                <a:spcPct val="85000"/>
              </a:lnSpc>
              <a:spcBef>
                <a:spcPct val="0"/>
              </a:spcBef>
            </a:pPr>
            <a:r>
              <a:rPr lang="en-US" altLang="zh-TW" sz="1800" smtClean="0"/>
              <a:t>The decision attribute for </a:t>
            </a:r>
            <a:r>
              <a:rPr lang="en-US" altLang="zh-TW" sz="1800" i="1" smtClean="0"/>
              <a:t>Root </a:t>
            </a:r>
            <a:r>
              <a:rPr lang="en-US" altLang="zh-TW" sz="1800" smtClean="0"/>
              <a:t>← </a:t>
            </a:r>
            <a:r>
              <a:rPr lang="en-US" altLang="zh-TW" sz="1800" i="1" smtClean="0"/>
              <a:t>A</a:t>
            </a:r>
          </a:p>
          <a:p>
            <a:pPr lvl="2">
              <a:lnSpc>
                <a:spcPct val="85000"/>
              </a:lnSpc>
              <a:spcBef>
                <a:spcPct val="0"/>
              </a:spcBef>
            </a:pPr>
            <a:r>
              <a:rPr lang="en-US" altLang="zh-TW" sz="1800" smtClean="0"/>
              <a:t>For each possible value, </a:t>
            </a:r>
            <a:r>
              <a:rPr lang="en-US" altLang="zh-TW" sz="1800" i="1" smtClean="0"/>
              <a:t>v</a:t>
            </a:r>
            <a:r>
              <a:rPr lang="en-US" altLang="zh-TW" sz="1800" i="1" baseline="-25000" smtClean="0"/>
              <a:t>i</a:t>
            </a:r>
            <a:r>
              <a:rPr lang="en-US" altLang="zh-TW" sz="1800" smtClean="0"/>
              <a:t>, of </a:t>
            </a:r>
            <a:r>
              <a:rPr lang="en-US" altLang="zh-TW" sz="1800" i="1" smtClean="0"/>
              <a:t>A</a:t>
            </a:r>
            <a:r>
              <a:rPr lang="en-US" altLang="zh-TW" sz="1800" smtClean="0"/>
              <a:t>,</a:t>
            </a:r>
          </a:p>
          <a:p>
            <a:pPr lvl="3">
              <a:lnSpc>
                <a:spcPct val="85000"/>
              </a:lnSpc>
              <a:spcBef>
                <a:spcPct val="0"/>
              </a:spcBef>
            </a:pPr>
            <a:r>
              <a:rPr lang="en-US" altLang="zh-TW" sz="1600" smtClean="0"/>
              <a:t>Add a new tree branch below </a:t>
            </a:r>
            <a:r>
              <a:rPr lang="en-US" altLang="zh-TW" sz="1600" i="1" smtClean="0"/>
              <a:t>Root</a:t>
            </a:r>
            <a:r>
              <a:rPr lang="en-US" altLang="zh-TW" sz="1600" smtClean="0"/>
              <a:t>, corresponding to the test </a:t>
            </a:r>
            <a:r>
              <a:rPr lang="en-US" altLang="zh-TW" sz="1600" i="1" smtClean="0"/>
              <a:t>A</a:t>
            </a:r>
            <a:r>
              <a:rPr lang="en-US" altLang="zh-TW" sz="1600" smtClean="0"/>
              <a:t>=</a:t>
            </a:r>
            <a:r>
              <a:rPr lang="en-US" altLang="zh-TW" sz="1600" i="1" smtClean="0"/>
              <a:t>v</a:t>
            </a:r>
            <a:r>
              <a:rPr lang="en-US" altLang="zh-TW" sz="1600" i="1" baseline="-25000" smtClean="0"/>
              <a:t>i</a:t>
            </a:r>
          </a:p>
          <a:p>
            <a:pPr lvl="3">
              <a:lnSpc>
                <a:spcPct val="85000"/>
              </a:lnSpc>
              <a:spcBef>
                <a:spcPct val="0"/>
              </a:spcBef>
            </a:pPr>
            <a:r>
              <a:rPr lang="en-US" altLang="zh-TW" sz="1600" smtClean="0"/>
              <a:t>Let </a:t>
            </a:r>
            <a:r>
              <a:rPr lang="en-US" altLang="zh-TW" sz="1600" i="1" smtClean="0"/>
              <a:t>Examples</a:t>
            </a:r>
            <a:r>
              <a:rPr lang="en-US" altLang="zh-TW" sz="1600" i="1" baseline="-25000" smtClean="0"/>
              <a:t>vi</a:t>
            </a:r>
            <a:r>
              <a:rPr lang="en-US" altLang="zh-TW" sz="1600" i="1" smtClean="0"/>
              <a:t> </a:t>
            </a:r>
            <a:r>
              <a:rPr lang="en-US" altLang="zh-TW" sz="1600" smtClean="0"/>
              <a:t>be the subset of </a:t>
            </a:r>
            <a:r>
              <a:rPr lang="en-US" altLang="zh-TW" sz="1600" i="1" smtClean="0"/>
              <a:t>Examples </a:t>
            </a:r>
            <a:r>
              <a:rPr lang="en-US" altLang="zh-TW" sz="1600" smtClean="0"/>
              <a:t>that have value </a:t>
            </a:r>
            <a:r>
              <a:rPr lang="en-US" altLang="zh-TW" sz="1600" i="1" smtClean="0"/>
              <a:t>v</a:t>
            </a:r>
            <a:r>
              <a:rPr lang="en-US" altLang="zh-TW" sz="1600" i="1" baseline="-25000" smtClean="0"/>
              <a:t>i</a:t>
            </a:r>
            <a:r>
              <a:rPr lang="en-US" altLang="zh-TW" sz="1600" i="1" smtClean="0"/>
              <a:t> </a:t>
            </a:r>
            <a:r>
              <a:rPr lang="en-US" altLang="zh-TW" sz="1600" smtClean="0"/>
              <a:t>for </a:t>
            </a:r>
            <a:r>
              <a:rPr lang="en-US" altLang="zh-TW" sz="1600" i="1" smtClean="0"/>
              <a:t>A</a:t>
            </a:r>
          </a:p>
          <a:p>
            <a:pPr lvl="3">
              <a:lnSpc>
                <a:spcPct val="85000"/>
              </a:lnSpc>
              <a:spcBef>
                <a:spcPct val="0"/>
              </a:spcBef>
            </a:pPr>
            <a:r>
              <a:rPr lang="en-US" altLang="zh-TW" sz="1600" smtClean="0"/>
              <a:t>If </a:t>
            </a:r>
            <a:r>
              <a:rPr lang="en-US" altLang="zh-TW" sz="1600" i="1" smtClean="0"/>
              <a:t>Examples</a:t>
            </a:r>
            <a:r>
              <a:rPr lang="en-US" altLang="zh-TW" sz="1600" i="1" baseline="-25000" smtClean="0"/>
              <a:t>vi</a:t>
            </a:r>
            <a:r>
              <a:rPr lang="en-US" altLang="zh-TW" sz="1600" i="1" smtClean="0"/>
              <a:t> </a:t>
            </a:r>
            <a:r>
              <a:rPr lang="en-US" altLang="zh-TW" sz="1600" smtClean="0"/>
              <a:t>is empty</a:t>
            </a:r>
          </a:p>
          <a:p>
            <a:pPr lvl="4">
              <a:lnSpc>
                <a:spcPct val="85000"/>
              </a:lnSpc>
              <a:spcBef>
                <a:spcPct val="0"/>
              </a:spcBef>
            </a:pPr>
            <a:r>
              <a:rPr lang="en-US" altLang="zh-TW" sz="1600" smtClean="0"/>
              <a:t>Then below this new branch add a leaf node with label = most common value of </a:t>
            </a:r>
            <a:r>
              <a:rPr lang="en-US" altLang="zh-TW" sz="1600" i="1" smtClean="0"/>
              <a:t>Target_attribute in Examples</a:t>
            </a:r>
          </a:p>
          <a:p>
            <a:pPr lvl="4">
              <a:lnSpc>
                <a:spcPct val="85000"/>
              </a:lnSpc>
              <a:spcBef>
                <a:spcPct val="0"/>
              </a:spcBef>
            </a:pPr>
            <a:r>
              <a:rPr lang="en-US" altLang="zh-TW" sz="1600" smtClean="0"/>
              <a:t>Else below this new branch add the subtree </a:t>
            </a:r>
            <a:br>
              <a:rPr lang="en-US" altLang="zh-TW" sz="1600" smtClean="0"/>
            </a:br>
            <a:r>
              <a:rPr lang="en-US" altLang="zh-TW" sz="1600" smtClean="0"/>
              <a:t>ID3(</a:t>
            </a:r>
            <a:r>
              <a:rPr lang="en-US" altLang="zh-TW" sz="1600" i="1" smtClean="0"/>
              <a:t>Examples</a:t>
            </a:r>
            <a:r>
              <a:rPr lang="en-US" altLang="zh-TW" sz="1600" i="1" baseline="-25000" smtClean="0"/>
              <a:t>vi</a:t>
            </a:r>
            <a:r>
              <a:rPr lang="en-US" altLang="zh-TW" sz="1600" smtClean="0"/>
              <a:t>, </a:t>
            </a:r>
            <a:r>
              <a:rPr lang="en-US" altLang="zh-TW" sz="1600" i="1" smtClean="0"/>
              <a:t>Target_attribute</a:t>
            </a:r>
            <a:r>
              <a:rPr lang="en-US" altLang="zh-TW" sz="1600" smtClean="0"/>
              <a:t>, </a:t>
            </a:r>
            <a:r>
              <a:rPr lang="en-US" altLang="zh-TW" sz="1600" i="1" smtClean="0"/>
              <a:t>Attributes-</a:t>
            </a:r>
            <a:r>
              <a:rPr lang="en-US" altLang="zh-TW" sz="1600" smtClean="0"/>
              <a:t>{</a:t>
            </a:r>
            <a:r>
              <a:rPr lang="en-US" altLang="zh-TW" sz="1600" i="1" smtClean="0"/>
              <a:t>A</a:t>
            </a:r>
            <a:r>
              <a:rPr lang="en-US" altLang="zh-TW" sz="1600" smtClean="0"/>
              <a:t>})</a:t>
            </a:r>
          </a:p>
          <a:p>
            <a:pPr lvl="1">
              <a:lnSpc>
                <a:spcPct val="85000"/>
              </a:lnSpc>
              <a:spcBef>
                <a:spcPct val="0"/>
              </a:spcBef>
            </a:pPr>
            <a:r>
              <a:rPr lang="en-US" altLang="zh-TW" sz="2000" smtClean="0"/>
              <a:t>End</a:t>
            </a:r>
          </a:p>
          <a:p>
            <a:pPr lvl="1">
              <a:lnSpc>
                <a:spcPct val="85000"/>
              </a:lnSpc>
              <a:spcBef>
                <a:spcPct val="0"/>
              </a:spcBef>
            </a:pPr>
            <a:r>
              <a:rPr lang="en-US" altLang="zh-TW" sz="2000" smtClean="0"/>
              <a:t>Return Root</a:t>
            </a:r>
          </a:p>
        </p:txBody>
      </p:sp>
    </p:spTree>
    <p:extLst>
      <p:ext uri="{BB962C8B-B14F-4D97-AF65-F5344CB8AC3E}">
        <p14:creationId xmlns:p14="http://schemas.microsoft.com/office/powerpoint/2010/main" val="35324785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tx1"/>
                </a:solidFill>
              </a:rPr>
              <a:t>Which Attribute </a:t>
            </a:r>
            <a:r>
              <a:rPr lang="en-US" altLang="zh-TW">
                <a:solidFill>
                  <a:schemeClr val="tx1"/>
                </a:solidFill>
              </a:rPr>
              <a:t>Is </a:t>
            </a:r>
            <a:r>
              <a:rPr lang="en-US" altLang="zh-TW" smtClean="0">
                <a:solidFill>
                  <a:schemeClr val="tx1"/>
                </a:solidFill>
              </a:rPr>
              <a:t>Best?</a:t>
            </a:r>
            <a:endParaRPr lang="en-US" altLang="zh-TW" dirty="0">
              <a:solidFill>
                <a:schemeClr val="tx1"/>
              </a:solidFill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smtClean="0"/>
              <a:t>The central choice in ID3 algorithm is selecting which attribute to test at each node in the tree</a:t>
            </a:r>
          </a:p>
          <a:p>
            <a:r>
              <a:rPr lang="en-US" altLang="zh-TW" sz="2800" smtClean="0"/>
              <a:t>We would like to select the attribute that is most useful for classifying examples</a:t>
            </a:r>
          </a:p>
          <a:p>
            <a:r>
              <a:rPr lang="en-US" altLang="zh-TW" sz="2800" smtClean="0"/>
              <a:t>ID3 selects the attribute that provides the highest </a:t>
            </a:r>
            <a:r>
              <a:rPr lang="en-US" altLang="zh-TW" sz="2800" i="1" smtClean="0"/>
              <a:t>information gain</a:t>
            </a:r>
          </a:p>
          <a:p>
            <a:endParaRPr lang="en-US" altLang="zh-TW" sz="2800" smtClean="0"/>
          </a:p>
        </p:txBody>
      </p:sp>
    </p:spTree>
    <p:extLst>
      <p:ext uri="{BB962C8B-B14F-4D97-AF65-F5344CB8AC3E}">
        <p14:creationId xmlns:p14="http://schemas.microsoft.com/office/powerpoint/2010/main" val="32118300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sz="3600" dirty="0">
                <a:solidFill>
                  <a:schemeClr val="tx1"/>
                </a:solidFill>
              </a:rPr>
              <a:t>Entropy (Boolean Classification)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i="1" smtClean="0"/>
              <a:t>S</a:t>
            </a:r>
            <a:r>
              <a:rPr lang="en-US" altLang="zh-TW" sz="2800" smtClean="0"/>
              <a:t> is a sample of training examples</a:t>
            </a:r>
          </a:p>
          <a:p>
            <a:r>
              <a:rPr lang="en-US" altLang="zh-TW" sz="2800" i="1" smtClean="0"/>
              <a:t>p</a:t>
            </a:r>
            <a:r>
              <a:rPr lang="en-US" altLang="zh-TW" sz="2800" baseline="-25000" smtClean="0">
                <a:sym typeface="SymbolPS" pitchFamily="18" charset="2"/>
              </a:rPr>
              <a:t></a:t>
            </a:r>
            <a:r>
              <a:rPr lang="en-US" altLang="zh-TW" sz="2800" smtClean="0"/>
              <a:t> is the proportion of positive examples in </a:t>
            </a:r>
            <a:r>
              <a:rPr lang="en-US" altLang="zh-TW" sz="2800" i="1" smtClean="0"/>
              <a:t>S</a:t>
            </a:r>
          </a:p>
          <a:p>
            <a:r>
              <a:rPr lang="en-US" altLang="zh-TW" sz="2800" i="1" smtClean="0"/>
              <a:t>p</a:t>
            </a:r>
            <a:r>
              <a:rPr lang="en-US" altLang="zh-TW" sz="2800" baseline="-25000" smtClean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⊝</a:t>
            </a:r>
            <a:r>
              <a:rPr lang="en-US" altLang="zh-TW" sz="2800" smtClean="0"/>
              <a:t> is the proportion of negative examples in </a:t>
            </a:r>
            <a:r>
              <a:rPr lang="en-US" altLang="zh-TW" sz="2800" i="1" smtClean="0"/>
              <a:t>S</a:t>
            </a:r>
          </a:p>
          <a:p>
            <a:r>
              <a:rPr lang="en-US" altLang="zh-TW" sz="2800" smtClean="0"/>
              <a:t>Entropy measures the impurity of </a:t>
            </a:r>
            <a:r>
              <a:rPr lang="en-US" altLang="zh-TW" sz="2800" i="1" smtClean="0"/>
              <a:t>S</a:t>
            </a:r>
          </a:p>
          <a:p>
            <a:pPr lvl="1"/>
            <a:r>
              <a:rPr lang="en-US" altLang="zh-TW" sz="2400" i="1" smtClean="0"/>
              <a:t>Entropy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S</a:t>
            </a:r>
            <a:r>
              <a:rPr lang="en-US" altLang="zh-TW" sz="2400" smtClean="0"/>
              <a:t>) </a:t>
            </a:r>
            <a:r>
              <a:rPr lang="en-US" altLang="zh-TW" sz="2400" smtClean="0">
                <a:cs typeface="Arial" pitchFamily="34" charset="0"/>
              </a:rPr>
              <a:t>≡ </a:t>
            </a:r>
            <a:r>
              <a:rPr lang="en-US" altLang="zh-TW" sz="2400" smtClean="0"/>
              <a:t>–</a:t>
            </a:r>
            <a:r>
              <a:rPr lang="en-US" altLang="zh-TW" sz="2400" i="1" smtClean="0"/>
              <a:t>p</a:t>
            </a:r>
            <a:r>
              <a:rPr lang="en-US" altLang="zh-TW" sz="2400" baseline="-25000" smtClean="0">
                <a:sym typeface="SymbolPS" pitchFamily="18" charset="2"/>
              </a:rPr>
              <a:t></a:t>
            </a:r>
            <a:r>
              <a:rPr lang="en-US" altLang="zh-TW" sz="2400" smtClean="0"/>
              <a:t>log</a:t>
            </a:r>
            <a:r>
              <a:rPr lang="en-US" altLang="zh-TW" sz="2400" baseline="-25000" smtClean="0"/>
              <a:t>2</a:t>
            </a:r>
            <a:r>
              <a:rPr lang="en-US" altLang="zh-TW" sz="2400" i="1" smtClean="0"/>
              <a:t>p</a:t>
            </a:r>
            <a:r>
              <a:rPr lang="en-US" altLang="zh-TW" sz="2400" baseline="-25000" smtClean="0">
                <a:sym typeface="SymbolPS" pitchFamily="18" charset="2"/>
              </a:rPr>
              <a:t></a:t>
            </a:r>
            <a:r>
              <a:rPr lang="en-US" altLang="zh-TW" sz="2400" smtClean="0"/>
              <a:t> – </a:t>
            </a:r>
            <a:r>
              <a:rPr lang="en-US" altLang="zh-TW" sz="2400" i="1" smtClean="0"/>
              <a:t>p</a:t>
            </a:r>
            <a:r>
              <a:rPr lang="en-US" altLang="zh-TW" sz="2400" baseline="-25000" smtClean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⊝</a:t>
            </a:r>
            <a:r>
              <a:rPr lang="en-US" altLang="zh-TW" sz="2400" smtClean="0"/>
              <a:t>log</a:t>
            </a:r>
            <a:r>
              <a:rPr lang="en-US" altLang="zh-TW" sz="2400" baseline="-25000" smtClean="0"/>
              <a:t>2</a:t>
            </a:r>
            <a:r>
              <a:rPr lang="en-US" altLang="zh-TW" sz="2400" i="1" smtClean="0"/>
              <a:t>p</a:t>
            </a:r>
            <a:r>
              <a:rPr lang="en-US" altLang="zh-TW" sz="2400" baseline="-25000" smtClean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⊝</a:t>
            </a:r>
            <a:endParaRPr lang="en-US" altLang="zh-TW" sz="2400" smtClean="0"/>
          </a:p>
          <a:p>
            <a:pPr lvl="1"/>
            <a:r>
              <a:rPr lang="en-US" altLang="zh-TW" sz="2400" smtClean="0"/>
              <a:t>0log0=0</a:t>
            </a:r>
          </a:p>
        </p:txBody>
      </p:sp>
    </p:spTree>
    <p:extLst>
      <p:ext uri="{BB962C8B-B14F-4D97-AF65-F5344CB8AC3E}">
        <p14:creationId xmlns:p14="http://schemas.microsoft.com/office/powerpoint/2010/main" val="7798464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sz="3600" dirty="0">
                <a:solidFill>
                  <a:schemeClr val="tx1"/>
                </a:solidFill>
              </a:rPr>
              <a:t>Entropy (Boolean Classification)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TW" sz="2800" i="1" smtClean="0"/>
              <a:t>S</a:t>
            </a:r>
            <a:r>
              <a:rPr lang="en-US" altLang="zh-TW" sz="2800" smtClean="0"/>
              <a:t>: 9 positive, 5 negative examples [9+,5-]</a:t>
            </a:r>
          </a:p>
          <a:p>
            <a:pPr lvl="1">
              <a:lnSpc>
                <a:spcPct val="90000"/>
              </a:lnSpc>
            </a:pPr>
            <a:r>
              <a:rPr lang="en-US" altLang="zh-TW" sz="2400" i="1" smtClean="0"/>
              <a:t>Entropy</a:t>
            </a:r>
            <a:r>
              <a:rPr lang="en-US" altLang="zh-TW" sz="2400" smtClean="0"/>
              <a:t>([9+,5-]) </a:t>
            </a:r>
            <a:br>
              <a:rPr lang="en-US" altLang="zh-TW" sz="2400" smtClean="0"/>
            </a:br>
            <a:r>
              <a:rPr lang="en-US" altLang="zh-TW" sz="2400" smtClean="0"/>
              <a:t>= –(9/14)log</a:t>
            </a:r>
            <a:r>
              <a:rPr lang="en-US" altLang="zh-TW" sz="2400" baseline="-25000" smtClean="0"/>
              <a:t>2</a:t>
            </a:r>
            <a:r>
              <a:rPr lang="en-US" altLang="zh-TW" sz="2400" smtClean="0"/>
              <a:t>(9/14) – (5/14)log</a:t>
            </a:r>
            <a:r>
              <a:rPr lang="en-US" altLang="zh-TW" sz="2400" baseline="-25000" smtClean="0"/>
              <a:t>2</a:t>
            </a:r>
            <a:r>
              <a:rPr lang="en-US" altLang="zh-TW" sz="2400" smtClean="0"/>
              <a:t>(5/14)</a:t>
            </a:r>
            <a:br>
              <a:rPr lang="en-US" altLang="zh-TW" sz="2400" smtClean="0"/>
            </a:br>
            <a:r>
              <a:rPr lang="en-US" altLang="zh-TW" sz="2400" smtClean="0"/>
              <a:t>=0.94</a:t>
            </a:r>
          </a:p>
          <a:p>
            <a:pPr>
              <a:lnSpc>
                <a:spcPct val="90000"/>
              </a:lnSpc>
            </a:pPr>
            <a:r>
              <a:rPr lang="en-US" altLang="zh-TW" sz="2800" smtClean="0"/>
              <a:t>Entropy is 0 if all members of </a:t>
            </a:r>
            <a:r>
              <a:rPr lang="en-US" altLang="zh-TW" sz="2800" i="1" smtClean="0"/>
              <a:t>S</a:t>
            </a:r>
            <a:r>
              <a:rPr lang="en-US" altLang="zh-TW" sz="2800" smtClean="0"/>
              <a:t> belong to the same class</a:t>
            </a:r>
          </a:p>
          <a:p>
            <a:pPr lvl="1">
              <a:lnSpc>
                <a:spcPct val="90000"/>
              </a:lnSpc>
            </a:pPr>
            <a:r>
              <a:rPr lang="en-US" altLang="zh-TW" sz="2400" smtClean="0"/>
              <a:t>All positive</a:t>
            </a:r>
          </a:p>
          <a:p>
            <a:pPr lvl="2">
              <a:lnSpc>
                <a:spcPct val="90000"/>
              </a:lnSpc>
            </a:pPr>
            <a:r>
              <a:rPr lang="en-US" altLang="zh-TW" sz="2000" i="1" smtClean="0"/>
              <a:t>Entropy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S</a:t>
            </a:r>
            <a:r>
              <a:rPr lang="en-US" altLang="zh-TW" sz="2000" smtClean="0"/>
              <a:t>)= -1log</a:t>
            </a:r>
            <a:r>
              <a:rPr lang="en-US" altLang="zh-TW" sz="2000" baseline="-25000" smtClean="0"/>
              <a:t>2</a:t>
            </a:r>
            <a:r>
              <a:rPr lang="en-US" altLang="zh-TW" sz="2000" smtClean="0"/>
              <a:t>(1) – 0log</a:t>
            </a:r>
            <a:r>
              <a:rPr lang="en-US" altLang="zh-TW" sz="2000" baseline="-25000" smtClean="0"/>
              <a:t>2</a:t>
            </a:r>
            <a:r>
              <a:rPr lang="en-US" altLang="zh-TW" sz="2000" smtClean="0"/>
              <a:t>(0)=0</a:t>
            </a:r>
          </a:p>
          <a:p>
            <a:pPr>
              <a:lnSpc>
                <a:spcPct val="90000"/>
              </a:lnSpc>
            </a:pPr>
            <a:r>
              <a:rPr lang="en-US" altLang="zh-TW" sz="2800" smtClean="0"/>
              <a:t>Entropy is 1 when the collection contains an equal number of positive and negative examples</a:t>
            </a:r>
          </a:p>
        </p:txBody>
      </p:sp>
    </p:spTree>
    <p:extLst>
      <p:ext uri="{BB962C8B-B14F-4D97-AF65-F5344CB8AC3E}">
        <p14:creationId xmlns:p14="http://schemas.microsoft.com/office/powerpoint/2010/main" val="36362775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sz="3600" dirty="0">
                <a:solidFill>
                  <a:schemeClr val="tx1"/>
                </a:solidFill>
              </a:rPr>
              <a:t>Entropy (Boolean Classification)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2103120"/>
            <a:ext cx="4706243" cy="4436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864602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tx1"/>
                </a:solidFill>
              </a:rPr>
              <a:t>Entropy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2800" i="1" smtClean="0"/>
              <a:t>Entropy</a:t>
            </a:r>
            <a:r>
              <a:rPr lang="en-US" altLang="zh-TW" sz="2800" smtClean="0"/>
              <a:t>(</a:t>
            </a:r>
            <a:r>
              <a:rPr lang="en-US" altLang="zh-TW" sz="2800" i="1" smtClean="0"/>
              <a:t>S</a:t>
            </a:r>
            <a:r>
              <a:rPr lang="en-US" altLang="zh-TW" sz="2800" smtClean="0"/>
              <a:t>) = expected number of bits needed to encode class (</a:t>
            </a:r>
            <a:r>
              <a:rPr lang="en-US" altLang="zh-TW" sz="2800" smtClean="0">
                <a:sym typeface="SymbolPS" pitchFamily="18" charset="2"/>
              </a:rPr>
              <a:t></a:t>
            </a:r>
            <a:r>
              <a:rPr lang="en-US" altLang="zh-TW" sz="2800" smtClean="0"/>
              <a:t> or </a:t>
            </a:r>
            <a:r>
              <a:rPr lang="en-US" altLang="zh-TW" sz="2800" smtClean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⊝</a:t>
            </a:r>
            <a:r>
              <a:rPr lang="en-US" altLang="zh-TW" sz="2800" smtClean="0"/>
              <a:t>) of randomly drawn member of </a:t>
            </a:r>
            <a:r>
              <a:rPr lang="en-US" altLang="zh-TW" sz="2800" i="1" smtClean="0"/>
              <a:t>S</a:t>
            </a:r>
            <a:r>
              <a:rPr lang="en-US" altLang="zh-TW" sz="2800" smtClean="0"/>
              <a:t> (under the optimal, shortest-length code)</a:t>
            </a:r>
          </a:p>
          <a:p>
            <a:pPr lvl="1"/>
            <a:r>
              <a:rPr lang="en-US" altLang="zh-TW" sz="2400" smtClean="0"/>
              <a:t>Information theory</a:t>
            </a:r>
          </a:p>
          <a:p>
            <a:pPr lvl="2"/>
            <a:r>
              <a:rPr lang="en-US" altLang="zh-TW" sz="2000" smtClean="0"/>
              <a:t>Optimal length code assigns –log</a:t>
            </a:r>
            <a:r>
              <a:rPr lang="en-US" altLang="zh-TW" sz="2000" baseline="-25000" smtClean="0"/>
              <a:t>2</a:t>
            </a:r>
            <a:r>
              <a:rPr lang="en-US" altLang="zh-TW" sz="2000" i="1" smtClean="0"/>
              <a:t>p</a:t>
            </a:r>
            <a:r>
              <a:rPr lang="en-US" altLang="zh-TW" sz="2000" smtClean="0"/>
              <a:t> bits to message having probability </a:t>
            </a:r>
            <a:r>
              <a:rPr lang="en-US" altLang="zh-TW" sz="2000" i="1" smtClean="0"/>
              <a:t>p</a:t>
            </a:r>
          </a:p>
          <a:p>
            <a:pPr lvl="1"/>
            <a:r>
              <a:rPr lang="en-US" altLang="zh-TW" sz="2400" smtClean="0"/>
              <a:t>So expected number of bits to encode </a:t>
            </a:r>
            <a:r>
              <a:rPr lang="en-US" altLang="zh-TW" sz="2400" smtClean="0">
                <a:sym typeface="SymbolPS" pitchFamily="18" charset="2"/>
              </a:rPr>
              <a:t></a:t>
            </a:r>
            <a:r>
              <a:rPr lang="en-US" altLang="zh-TW" sz="2400" smtClean="0"/>
              <a:t> or </a:t>
            </a:r>
            <a:r>
              <a:rPr lang="en-US" altLang="zh-TW" sz="2400" smtClean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⊝</a:t>
            </a:r>
            <a:r>
              <a:rPr lang="en-US" altLang="zh-TW" sz="2400" smtClean="0"/>
              <a:t> of random member of S:</a:t>
            </a:r>
          </a:p>
          <a:p>
            <a:pPr lvl="2"/>
            <a:r>
              <a:rPr lang="en-US" altLang="zh-TW" sz="2000" i="1" smtClean="0"/>
              <a:t>p</a:t>
            </a:r>
            <a:r>
              <a:rPr lang="en-US" altLang="zh-TW" sz="2000" baseline="-25000" smtClean="0">
                <a:sym typeface="SymbolPS" pitchFamily="18" charset="2"/>
              </a:rPr>
              <a:t></a:t>
            </a:r>
            <a:r>
              <a:rPr lang="en-US" altLang="zh-TW" sz="2000" smtClean="0">
                <a:sym typeface="SymbolPS" pitchFamily="18" charset="2"/>
              </a:rPr>
              <a:t>(</a:t>
            </a:r>
            <a:r>
              <a:rPr lang="en-US" altLang="zh-TW" sz="2000" smtClean="0"/>
              <a:t>–</a:t>
            </a:r>
            <a:r>
              <a:rPr lang="en-US" altLang="zh-TW" sz="2000" baseline="-25000" smtClean="0">
                <a:sym typeface="SymbolPS" pitchFamily="18" charset="2"/>
              </a:rPr>
              <a:t> </a:t>
            </a:r>
            <a:r>
              <a:rPr lang="en-US" altLang="zh-TW" sz="2000" smtClean="0"/>
              <a:t>log</a:t>
            </a:r>
            <a:r>
              <a:rPr lang="en-US" altLang="zh-TW" sz="2000" baseline="-25000" smtClean="0"/>
              <a:t>2</a:t>
            </a:r>
            <a:r>
              <a:rPr lang="en-US" altLang="zh-TW" sz="2000" i="1" smtClean="0"/>
              <a:t>p</a:t>
            </a:r>
            <a:r>
              <a:rPr lang="en-US" altLang="zh-TW" sz="2000" baseline="-25000" smtClean="0">
                <a:sym typeface="SymbolPS" pitchFamily="18" charset="2"/>
              </a:rPr>
              <a:t></a:t>
            </a:r>
            <a:r>
              <a:rPr lang="en-US" altLang="zh-TW" sz="2000" smtClean="0">
                <a:sym typeface="SymbolPS" pitchFamily="18" charset="2"/>
              </a:rPr>
              <a:t>)</a:t>
            </a:r>
            <a:r>
              <a:rPr lang="en-US" altLang="zh-TW" sz="2000" smtClean="0"/>
              <a:t> + </a:t>
            </a:r>
            <a:r>
              <a:rPr lang="en-US" altLang="zh-TW" sz="2000" i="1" smtClean="0"/>
              <a:t>p</a:t>
            </a:r>
            <a:r>
              <a:rPr lang="en-US" altLang="zh-TW" sz="2000" baseline="-25000" smtClean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⊝</a:t>
            </a:r>
            <a:r>
              <a:rPr lang="en-US" altLang="zh-TW" sz="2000" smtClean="0">
                <a:ea typeface="Arial Unicode MS" pitchFamily="34" charset="-120"/>
                <a:cs typeface="Arial Unicode MS" pitchFamily="34" charset="-120"/>
              </a:rPr>
              <a:t>(</a:t>
            </a:r>
            <a:r>
              <a:rPr lang="en-US" altLang="zh-TW" sz="2000" smtClean="0"/>
              <a:t>–</a:t>
            </a:r>
            <a:r>
              <a:rPr lang="en-US" altLang="zh-TW" sz="2000" baseline="-25000" smtClean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 </a:t>
            </a:r>
            <a:r>
              <a:rPr lang="en-US" altLang="zh-TW" sz="2000" smtClean="0"/>
              <a:t>log</a:t>
            </a:r>
            <a:r>
              <a:rPr lang="en-US" altLang="zh-TW" sz="2000" baseline="-25000" smtClean="0"/>
              <a:t>2</a:t>
            </a:r>
            <a:r>
              <a:rPr lang="en-US" altLang="zh-TW" sz="2000" i="1" smtClean="0"/>
              <a:t>p</a:t>
            </a:r>
            <a:r>
              <a:rPr lang="en-US" altLang="zh-TW" sz="2000" baseline="-25000" smtClean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⊝</a:t>
            </a:r>
            <a:r>
              <a:rPr lang="en-US" altLang="zh-TW" sz="2000" smtClean="0">
                <a:ea typeface="Arial Unicode MS" pitchFamily="34" charset="-120"/>
                <a:cs typeface="Arial Unicode MS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256004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i="1" smtClean="0"/>
              <a:t>c</a:t>
            </a:r>
            <a:r>
              <a:rPr lang="en-US" altLang="zh-TW" sz="2800" smtClean="0"/>
              <a:t> class</a:t>
            </a:r>
          </a:p>
          <a:p>
            <a:r>
              <a:rPr lang="en-US" altLang="zh-TW" sz="2800" i="1" smtClean="0"/>
              <a:t>p</a:t>
            </a:r>
            <a:r>
              <a:rPr lang="en-US" altLang="zh-TW" sz="2800" i="1" baseline="-25000" smtClean="0"/>
              <a:t>i</a:t>
            </a:r>
            <a:r>
              <a:rPr lang="en-US" altLang="zh-TW" sz="2800" smtClean="0"/>
              <a:t> is the proportion of </a:t>
            </a:r>
            <a:r>
              <a:rPr lang="en-US" altLang="zh-TW" sz="2800" i="1" smtClean="0"/>
              <a:t>S</a:t>
            </a:r>
            <a:r>
              <a:rPr lang="en-US" altLang="zh-TW" sz="2800" smtClean="0"/>
              <a:t> belonging to class </a:t>
            </a:r>
            <a:r>
              <a:rPr lang="en-US" altLang="zh-TW" sz="2800" i="1" smtClean="0"/>
              <a:t>i</a:t>
            </a:r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>
                <a:solidFill>
                  <a:schemeClr val="tx1"/>
                </a:solidFill>
              </a:rPr>
              <a:t>Entropy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160337"/>
              </p:ext>
            </p:extLst>
          </p:nvPr>
        </p:nvGraphicFramePr>
        <p:xfrm>
          <a:off x="1475656" y="3284984"/>
          <a:ext cx="4209653" cy="1000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6" name="Equation" r:id="rId3" imgW="1752480" imgH="431640" progId="Equation.3">
                  <p:embed/>
                </p:oleObj>
              </mc:Choice>
              <mc:Fallback>
                <p:oleObj name="Equation" r:id="rId3" imgW="1752480" imgH="431640" progId="Equation.3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3284984"/>
                        <a:ext cx="4209653" cy="100059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Text Box 6"/>
          <p:cNvSpPr txBox="1">
            <a:spLocks noChangeArrowheads="1"/>
          </p:cNvSpPr>
          <p:nvPr/>
        </p:nvSpPr>
        <p:spPr bwMode="auto">
          <a:xfrm>
            <a:off x="1475656" y="4285581"/>
            <a:ext cx="60372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800"/>
              <a:t>The entropy can be as large as log</a:t>
            </a:r>
            <a:r>
              <a:rPr lang="en-US" altLang="zh-TW" sz="2800" baseline="-25000"/>
              <a:t>2</a:t>
            </a:r>
            <a:r>
              <a:rPr lang="en-US" altLang="zh-TW" sz="2800" i="1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578459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>
                <a:solidFill>
                  <a:schemeClr val="tx1"/>
                </a:solidFill>
              </a:rPr>
              <a:t>Information Gain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i="1" smtClean="0"/>
              <a:t>Gain</a:t>
            </a:r>
            <a:r>
              <a:rPr lang="en-US" altLang="zh-TW" sz="2800" smtClean="0"/>
              <a:t>(</a:t>
            </a:r>
            <a:r>
              <a:rPr lang="en-US" altLang="zh-TW" sz="2800" i="1" smtClean="0"/>
              <a:t>S</a:t>
            </a:r>
            <a:r>
              <a:rPr lang="en-US" altLang="zh-TW" sz="2800" smtClean="0"/>
              <a:t>,</a:t>
            </a:r>
            <a:r>
              <a:rPr lang="en-US" altLang="zh-TW" sz="2800" i="1" smtClean="0"/>
              <a:t>A</a:t>
            </a:r>
            <a:r>
              <a:rPr lang="en-US" altLang="zh-TW" sz="2800" smtClean="0"/>
              <a:t>) = expected reduction in entropy caused by partitioning the examples according to attribute </a:t>
            </a:r>
            <a:r>
              <a:rPr lang="en-US" altLang="zh-TW" sz="2800" i="1" smtClean="0"/>
              <a:t>A</a:t>
            </a:r>
          </a:p>
          <a:p>
            <a:endParaRPr lang="en-US" altLang="zh-TW" sz="2800" smtClean="0"/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158530"/>
              </p:ext>
            </p:extLst>
          </p:nvPr>
        </p:nvGraphicFramePr>
        <p:xfrm>
          <a:off x="931811" y="3501008"/>
          <a:ext cx="6985000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0" name="方程式" r:id="rId3" imgW="3136680" imgH="469800" progId="Equation.3">
                  <p:embed/>
                </p:oleObj>
              </mc:Choice>
              <mc:Fallback>
                <p:oleObj name="方程式" r:id="rId3" imgW="3136680" imgH="469800" progId="Equation.3">
                  <p:embed/>
                  <p:pic>
                    <p:nvPicPr>
                      <p:cNvPr id="205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811" y="3501008"/>
                        <a:ext cx="6985000" cy="1023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" name="Text Box 6"/>
          <p:cNvSpPr txBox="1">
            <a:spLocks noChangeArrowheads="1"/>
          </p:cNvSpPr>
          <p:nvPr/>
        </p:nvSpPr>
        <p:spPr bwMode="auto">
          <a:xfrm>
            <a:off x="935449" y="4793139"/>
            <a:ext cx="770255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i="1"/>
              <a:t>Values</a:t>
            </a:r>
            <a:r>
              <a:rPr lang="en-US" altLang="zh-TW" sz="2400"/>
              <a:t>(</a:t>
            </a:r>
            <a:r>
              <a:rPr lang="en-US" altLang="zh-TW" sz="2400" i="1"/>
              <a:t>A</a:t>
            </a:r>
            <a:r>
              <a:rPr lang="en-US" altLang="zh-TW" sz="2400"/>
              <a:t>) is the set of all possible values for attribute </a:t>
            </a:r>
            <a:r>
              <a:rPr lang="en-US" altLang="zh-TW" sz="2400" i="1"/>
              <a:t>A</a:t>
            </a:r>
          </a:p>
          <a:p>
            <a:r>
              <a:rPr lang="en-US" altLang="zh-TW" sz="2400" i="1"/>
              <a:t>S</a:t>
            </a:r>
            <a:r>
              <a:rPr lang="en-US" altLang="zh-TW" sz="2400" i="1" baseline="-25000"/>
              <a:t>v</a:t>
            </a:r>
            <a:r>
              <a:rPr lang="en-US" altLang="zh-TW" sz="2400"/>
              <a:t> is the subset of </a:t>
            </a:r>
            <a:r>
              <a:rPr lang="en-US" altLang="zh-TW" sz="2400" i="1"/>
              <a:t>S</a:t>
            </a:r>
            <a:r>
              <a:rPr lang="en-US" altLang="zh-TW" sz="2400"/>
              <a:t> for which attribute </a:t>
            </a:r>
            <a:r>
              <a:rPr lang="en-US" altLang="zh-TW" sz="2400" i="1"/>
              <a:t>A</a:t>
            </a:r>
            <a:r>
              <a:rPr lang="en-US" altLang="zh-TW" sz="2400"/>
              <a:t> has value </a:t>
            </a:r>
            <a:r>
              <a:rPr lang="en-US" altLang="zh-TW" sz="2400" i="1"/>
              <a:t>v</a:t>
            </a:r>
            <a:r>
              <a:rPr lang="en-US" altLang="zh-TW" sz="24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966908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smtClean="0"/>
              <a:t>Information gain is the measure used by ID3 to select the best attribute at each step in growing the tree</a:t>
            </a:r>
          </a:p>
          <a:p>
            <a:r>
              <a:rPr lang="en-US" altLang="zh-TW" sz="2400" smtClean="0"/>
              <a:t>Training examples</a:t>
            </a:r>
          </a:p>
        </p:txBody>
      </p:sp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95936" y="3212976"/>
            <a:ext cx="4968875" cy="3509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64255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2262" y="2103120"/>
            <a:ext cx="8499475" cy="437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21573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6628" name="Picture 5"/>
          <p:cNvPicPr>
            <a:picLocks noChangeAspect="1" noChangeArrowheads="1"/>
          </p:cNvPicPr>
          <p:nvPr/>
        </p:nvPicPr>
        <p:blipFill>
          <a:blip r:embed="rId2" cstate="print">
            <a:lum contrast="24000"/>
          </a:blip>
          <a:srcRect/>
          <a:stretch>
            <a:fillRect/>
          </a:stretch>
        </p:blipFill>
        <p:spPr bwMode="auto">
          <a:xfrm>
            <a:off x="1883228" y="1844824"/>
            <a:ext cx="5641522" cy="4835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696355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731520" y="2103120"/>
            <a:ext cx="7680960" cy="4350216"/>
          </a:xfrm>
        </p:spPr>
        <p:txBody>
          <a:bodyPr>
            <a:normAutofit lnSpcReduction="10000"/>
          </a:bodyPr>
          <a:lstStyle/>
          <a:p>
            <a:r>
              <a:rPr lang="en-US" altLang="zh-TW" sz="2800" smtClean="0"/>
              <a:t>Root node</a:t>
            </a:r>
          </a:p>
          <a:p>
            <a:pPr lvl="1"/>
            <a:r>
              <a:rPr lang="en-US" altLang="zh-TW" sz="2400" i="1" smtClean="0"/>
              <a:t>Gain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S</a:t>
            </a:r>
            <a:r>
              <a:rPr lang="en-US" altLang="zh-TW" sz="2400" smtClean="0"/>
              <a:t>,</a:t>
            </a:r>
            <a:r>
              <a:rPr lang="en-US" altLang="zh-TW" sz="2400" i="1" smtClean="0"/>
              <a:t>Outlook</a:t>
            </a:r>
            <a:r>
              <a:rPr lang="en-US" altLang="zh-TW" sz="2400" smtClean="0"/>
              <a:t>)=0.246</a:t>
            </a:r>
          </a:p>
          <a:p>
            <a:pPr lvl="1"/>
            <a:r>
              <a:rPr lang="en-US" altLang="zh-TW" sz="2400" i="1" smtClean="0"/>
              <a:t>Gain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S</a:t>
            </a:r>
            <a:r>
              <a:rPr lang="en-US" altLang="zh-TW" sz="2400" smtClean="0"/>
              <a:t>,</a:t>
            </a:r>
            <a:r>
              <a:rPr lang="en-US" altLang="zh-TW" sz="2400" i="1" smtClean="0"/>
              <a:t>Humidity</a:t>
            </a:r>
            <a:r>
              <a:rPr lang="en-US" altLang="zh-TW" sz="2400" smtClean="0"/>
              <a:t>)=0.151</a:t>
            </a:r>
          </a:p>
          <a:p>
            <a:pPr lvl="1"/>
            <a:r>
              <a:rPr lang="en-US" altLang="zh-TW" sz="2400" i="1" smtClean="0"/>
              <a:t>Gain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S</a:t>
            </a:r>
            <a:r>
              <a:rPr lang="en-US" altLang="zh-TW" sz="2400" smtClean="0"/>
              <a:t>,</a:t>
            </a:r>
            <a:r>
              <a:rPr lang="en-US" altLang="zh-TW" sz="2400" i="1" smtClean="0"/>
              <a:t>Wind</a:t>
            </a:r>
            <a:r>
              <a:rPr lang="en-US" altLang="zh-TW" sz="2400" smtClean="0"/>
              <a:t>)=0.048</a:t>
            </a:r>
          </a:p>
          <a:p>
            <a:pPr lvl="1"/>
            <a:r>
              <a:rPr lang="en-US" altLang="zh-TW" sz="2400" i="1" smtClean="0"/>
              <a:t>Gain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S</a:t>
            </a:r>
            <a:r>
              <a:rPr lang="en-US" altLang="zh-TW" sz="2400" smtClean="0"/>
              <a:t>,</a:t>
            </a:r>
            <a:r>
              <a:rPr lang="en-US" altLang="zh-TW" sz="2400" i="1" smtClean="0"/>
              <a:t>Temperature</a:t>
            </a:r>
            <a:r>
              <a:rPr lang="en-US" altLang="zh-TW" sz="2400" smtClean="0"/>
              <a:t>)=0.029</a:t>
            </a:r>
          </a:p>
          <a:p>
            <a:r>
              <a:rPr lang="en-US" altLang="zh-TW" sz="2800" i="1" smtClean="0"/>
              <a:t>S</a:t>
            </a:r>
            <a:r>
              <a:rPr lang="en-US" altLang="zh-TW" sz="2400" i="1" baseline="-25000" smtClean="0"/>
              <a:t>sunny</a:t>
            </a:r>
            <a:r>
              <a:rPr lang="en-US" altLang="zh-TW" sz="2800" smtClean="0"/>
              <a:t>={D1,D2,D8,D9,D11}</a:t>
            </a:r>
          </a:p>
          <a:p>
            <a:pPr lvl="1"/>
            <a:r>
              <a:rPr lang="en-US" altLang="zh-TW" sz="2400" i="1" smtClean="0"/>
              <a:t>Gain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S</a:t>
            </a:r>
            <a:r>
              <a:rPr lang="en-US" altLang="zh-TW" sz="2400" i="1" baseline="-25000" smtClean="0"/>
              <a:t>sunny</a:t>
            </a:r>
            <a:r>
              <a:rPr lang="en-US" altLang="zh-TW" sz="2400" smtClean="0"/>
              <a:t>,</a:t>
            </a:r>
            <a:r>
              <a:rPr lang="en-US" altLang="zh-TW" sz="2400" i="1" smtClean="0"/>
              <a:t>Humidity</a:t>
            </a:r>
            <a:r>
              <a:rPr lang="en-US" altLang="zh-TW" sz="2400" smtClean="0"/>
              <a:t>)=0.97-(3/5)0.0-(2/5)0.0=0.97</a:t>
            </a:r>
          </a:p>
          <a:p>
            <a:pPr lvl="1"/>
            <a:r>
              <a:rPr lang="en-US" altLang="zh-TW" sz="2400" i="1" smtClean="0"/>
              <a:t>Gain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S</a:t>
            </a:r>
            <a:r>
              <a:rPr lang="en-US" altLang="zh-TW" sz="2400" i="1" baseline="-25000" smtClean="0"/>
              <a:t>sunny</a:t>
            </a:r>
            <a:r>
              <a:rPr lang="en-US" altLang="zh-TW" sz="2400" smtClean="0"/>
              <a:t>, </a:t>
            </a:r>
            <a:r>
              <a:rPr lang="en-US" altLang="zh-TW" sz="2400" i="1" smtClean="0"/>
              <a:t>Temperature</a:t>
            </a:r>
            <a:r>
              <a:rPr lang="en-US" altLang="zh-TW" sz="2400" smtClean="0"/>
              <a:t>)=0.97-(2/5)0.0-(2/5)1.0-(1/5)0.0=0.57</a:t>
            </a:r>
          </a:p>
          <a:p>
            <a:pPr lvl="1"/>
            <a:r>
              <a:rPr lang="en-US" altLang="zh-TW" sz="2400" i="1" smtClean="0"/>
              <a:t>Gain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S</a:t>
            </a:r>
            <a:r>
              <a:rPr lang="en-US" altLang="zh-TW" sz="2400" i="1" baseline="-25000" smtClean="0"/>
              <a:t>sunny</a:t>
            </a:r>
            <a:r>
              <a:rPr lang="en-US" altLang="zh-TW" sz="2400" smtClean="0"/>
              <a:t>,</a:t>
            </a:r>
            <a:r>
              <a:rPr lang="en-US" altLang="zh-TW" sz="2400" i="1" smtClean="0"/>
              <a:t>Wind</a:t>
            </a:r>
            <a:r>
              <a:rPr lang="en-US" altLang="zh-TW" sz="2400" smtClean="0"/>
              <a:t>)=0.97-(2/5)1.0-(3/5)0.918=0.019</a:t>
            </a:r>
          </a:p>
        </p:txBody>
      </p:sp>
    </p:spTree>
    <p:extLst>
      <p:ext uri="{BB962C8B-B14F-4D97-AF65-F5344CB8AC3E}">
        <p14:creationId xmlns:p14="http://schemas.microsoft.com/office/powerpoint/2010/main" val="30196415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err="1">
                <a:solidFill>
                  <a:schemeClr val="tx1"/>
                </a:solidFill>
              </a:rPr>
              <a:t>Overfitting</a:t>
            </a:r>
            <a:r>
              <a:rPr lang="en-US" altLang="zh-TW" dirty="0">
                <a:solidFill>
                  <a:schemeClr val="tx1"/>
                </a:solidFill>
              </a:rPr>
              <a:t> in Decision Trees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smtClean="0"/>
              <a:t>Consider adding noisy training example #15:</a:t>
            </a:r>
          </a:p>
          <a:p>
            <a:pPr lvl="1"/>
            <a:r>
              <a:rPr lang="en-US" altLang="zh-TW" sz="2000" smtClean="0"/>
              <a:t>Sunny, Hot, Normal, Strong, PlayTennis = No</a:t>
            </a:r>
          </a:p>
          <a:p>
            <a:pPr lvl="1"/>
            <a:r>
              <a:rPr lang="en-US" altLang="zh-TW" sz="2000" smtClean="0"/>
              <a:t>What effect on earlier tree?</a:t>
            </a:r>
          </a:p>
          <a:p>
            <a:endParaRPr lang="en-US" altLang="zh-TW" sz="2400" smtClean="0"/>
          </a:p>
        </p:txBody>
      </p:sp>
      <p:pic>
        <p:nvPicPr>
          <p:cNvPr id="34820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60" y="3573016"/>
            <a:ext cx="5060950" cy="303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973313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err="1">
                <a:solidFill>
                  <a:schemeClr val="tx1"/>
                </a:solidFill>
              </a:rPr>
              <a:t>Overfitting</a:t>
            </a:r>
            <a:r>
              <a:rPr lang="en-US" altLang="zh-TW" dirty="0">
                <a:solidFill>
                  <a:schemeClr val="tx1"/>
                </a:solidFill>
              </a:rPr>
              <a:t> in Decision Trees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TW" sz="2400" smtClean="0"/>
              <a:t>The new decision tree </a:t>
            </a:r>
            <a:r>
              <a:rPr lang="en-US" altLang="zh-TW" sz="2400" i="1" smtClean="0"/>
              <a:t>h</a:t>
            </a:r>
            <a:r>
              <a:rPr lang="en-US" altLang="zh-TW" sz="2400" smtClean="0"/>
              <a:t> is more complex than the original tree </a:t>
            </a:r>
            <a:r>
              <a:rPr lang="en-US" altLang="zh-TW" sz="2400" i="1" smtClean="0"/>
              <a:t>h’</a:t>
            </a:r>
          </a:p>
          <a:p>
            <a:pPr lvl="1"/>
            <a:r>
              <a:rPr lang="en-US" altLang="zh-TW" sz="2400" i="1" smtClean="0"/>
              <a:t>h</a:t>
            </a:r>
            <a:r>
              <a:rPr lang="en-US" altLang="zh-TW" sz="2400" smtClean="0"/>
              <a:t> will fit the noisy training examples perfectly, whereas </a:t>
            </a:r>
            <a:r>
              <a:rPr lang="en-US" altLang="zh-TW" sz="2400" i="1" smtClean="0"/>
              <a:t>h’</a:t>
            </a:r>
            <a:r>
              <a:rPr lang="en-US" altLang="zh-TW" sz="2400" smtClean="0"/>
              <a:t> will not</a:t>
            </a:r>
          </a:p>
          <a:p>
            <a:pPr lvl="1"/>
            <a:r>
              <a:rPr lang="en-US" altLang="zh-TW" sz="2400" smtClean="0"/>
              <a:t>We expect </a:t>
            </a:r>
            <a:r>
              <a:rPr lang="en-US" altLang="zh-TW" sz="2400" i="1" smtClean="0"/>
              <a:t>h’</a:t>
            </a:r>
            <a:r>
              <a:rPr lang="en-US" altLang="zh-TW" sz="2400" smtClean="0"/>
              <a:t> to outperform </a:t>
            </a:r>
            <a:r>
              <a:rPr lang="en-US" altLang="zh-TW" sz="2400" i="1" smtClean="0"/>
              <a:t>h</a:t>
            </a:r>
            <a:r>
              <a:rPr lang="en-US" altLang="zh-TW" sz="2400" smtClean="0"/>
              <a:t> over subsequent data</a:t>
            </a:r>
          </a:p>
        </p:txBody>
      </p:sp>
    </p:spTree>
    <p:extLst>
      <p:ext uri="{BB962C8B-B14F-4D97-AF65-F5344CB8AC3E}">
        <p14:creationId xmlns:p14="http://schemas.microsoft.com/office/powerpoint/2010/main" val="14621440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err="1">
                <a:solidFill>
                  <a:schemeClr val="tx1"/>
                </a:solidFill>
              </a:rPr>
              <a:t>Overfitting</a:t>
            </a:r>
            <a:endParaRPr lang="en-US" altLang="zh-TW" dirty="0">
              <a:solidFill>
                <a:schemeClr val="tx1"/>
              </a:solidFill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smtClean="0"/>
              <a:t>A hypothesis overfits the training examples if some other hypothesis that fits the training examples less well actually performs better over the entire distribution of instances</a:t>
            </a:r>
          </a:p>
        </p:txBody>
      </p:sp>
    </p:spTree>
    <p:extLst>
      <p:ext uri="{BB962C8B-B14F-4D97-AF65-F5344CB8AC3E}">
        <p14:creationId xmlns:p14="http://schemas.microsoft.com/office/powerpoint/2010/main" val="11905845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err="1">
                <a:solidFill>
                  <a:schemeClr val="tx1"/>
                </a:solidFill>
              </a:rPr>
              <a:t>Overfitting</a:t>
            </a:r>
            <a:endParaRPr lang="en-US" altLang="zh-TW" dirty="0">
              <a:solidFill>
                <a:schemeClr val="tx1"/>
              </a:solidFill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2800" smtClean="0"/>
              <a:t>Consider error of hypothesis </a:t>
            </a:r>
            <a:r>
              <a:rPr lang="en-US" altLang="zh-TW" sz="2800" i="1" smtClean="0"/>
              <a:t>h</a:t>
            </a:r>
            <a:r>
              <a:rPr lang="en-US" altLang="zh-TW" sz="2800" smtClean="0"/>
              <a:t> over</a:t>
            </a:r>
          </a:p>
          <a:p>
            <a:pPr lvl="1">
              <a:lnSpc>
                <a:spcPct val="90000"/>
              </a:lnSpc>
            </a:pPr>
            <a:r>
              <a:rPr lang="en-US" altLang="zh-TW" sz="2400" smtClean="0"/>
              <a:t>training data: error</a:t>
            </a:r>
            <a:r>
              <a:rPr lang="en-US" altLang="zh-TW" sz="2400" baseline="-25000" smtClean="0"/>
              <a:t>train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h</a:t>
            </a:r>
            <a:r>
              <a:rPr lang="en-US" altLang="zh-TW" sz="2400" smtClean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zh-TW" sz="2400" smtClean="0"/>
              <a:t>entire distribution </a:t>
            </a:r>
            <a:r>
              <a:rPr lang="en-US" altLang="zh-TW" sz="2400" i="1" smtClean="0"/>
              <a:t>D</a:t>
            </a:r>
            <a:r>
              <a:rPr lang="en-US" altLang="zh-TW" sz="2400" smtClean="0"/>
              <a:t> of data: error</a:t>
            </a:r>
            <a:r>
              <a:rPr lang="en-US" altLang="zh-TW" sz="2400" baseline="-25000" smtClean="0"/>
              <a:t>D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h</a:t>
            </a:r>
            <a:r>
              <a:rPr lang="en-US" altLang="zh-TW" sz="2400" smtClean="0"/>
              <a:t>)</a:t>
            </a:r>
          </a:p>
          <a:p>
            <a:pPr>
              <a:lnSpc>
                <a:spcPct val="90000"/>
              </a:lnSpc>
            </a:pPr>
            <a:r>
              <a:rPr lang="en-US" altLang="zh-TW" sz="2800" smtClean="0"/>
              <a:t>Hypothesis </a:t>
            </a:r>
            <a:r>
              <a:rPr lang="en-US" altLang="zh-TW" sz="2800" i="1" smtClean="0"/>
              <a:t>h</a:t>
            </a:r>
            <a:r>
              <a:rPr lang="en-US" altLang="zh-TW" sz="2800" smtClean="0"/>
              <a:t> </a:t>
            </a:r>
            <a:r>
              <a:rPr lang="en-US" altLang="zh-TW" sz="2800" smtClean="0">
                <a:latin typeface="SymbolMT" charset="-120"/>
                <a:ea typeface="SymbolMT" charset="-120"/>
              </a:rPr>
              <a:t>∈</a:t>
            </a:r>
            <a:r>
              <a:rPr lang="en-US" altLang="zh-TW" sz="2800" smtClean="0"/>
              <a:t> </a:t>
            </a:r>
            <a:r>
              <a:rPr lang="en-US" altLang="zh-TW" sz="2800" i="1" smtClean="0"/>
              <a:t>H</a:t>
            </a:r>
            <a:r>
              <a:rPr lang="en-US" altLang="zh-TW" sz="2800" smtClean="0"/>
              <a:t> overfits training data if there is an alternative hypothesis </a:t>
            </a:r>
            <a:r>
              <a:rPr lang="en-US" altLang="zh-TW" sz="2800" i="1" smtClean="0"/>
              <a:t>h’</a:t>
            </a:r>
            <a:r>
              <a:rPr lang="en-US" altLang="zh-TW" sz="2800" smtClean="0"/>
              <a:t> </a:t>
            </a:r>
            <a:r>
              <a:rPr lang="en-US" altLang="zh-TW" sz="2800" smtClean="0">
                <a:latin typeface="SymbolMT" charset="-120"/>
                <a:ea typeface="SymbolMT" charset="-120"/>
              </a:rPr>
              <a:t>∈</a:t>
            </a:r>
            <a:r>
              <a:rPr lang="en-US" altLang="zh-TW" sz="2800" smtClean="0"/>
              <a:t> </a:t>
            </a:r>
            <a:r>
              <a:rPr lang="en-US" altLang="zh-TW" sz="2800" i="1" smtClean="0"/>
              <a:t>H</a:t>
            </a:r>
            <a:r>
              <a:rPr lang="en-US" altLang="zh-TW" sz="2800" smtClean="0"/>
              <a:t> such that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TW" sz="2400" smtClean="0"/>
              <a:t>error</a:t>
            </a:r>
            <a:r>
              <a:rPr lang="en-US" altLang="zh-TW" sz="2400" baseline="-25000" smtClean="0"/>
              <a:t>train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h</a:t>
            </a:r>
            <a:r>
              <a:rPr lang="en-US" altLang="zh-TW" sz="2400" smtClean="0"/>
              <a:t>) &lt; error</a:t>
            </a:r>
            <a:r>
              <a:rPr lang="en-US" altLang="zh-TW" sz="2400" baseline="-25000" smtClean="0"/>
              <a:t>train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h’</a:t>
            </a:r>
            <a:r>
              <a:rPr lang="en-US" altLang="zh-TW" sz="2400" smtClean="0"/>
              <a:t>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TW" sz="2400" smtClean="0"/>
              <a:t>and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TW" sz="2400" smtClean="0"/>
              <a:t>error</a:t>
            </a:r>
            <a:r>
              <a:rPr lang="en-US" altLang="zh-TW" sz="2400" baseline="-25000" smtClean="0"/>
              <a:t>D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h</a:t>
            </a:r>
            <a:r>
              <a:rPr lang="en-US" altLang="zh-TW" sz="2400" smtClean="0"/>
              <a:t>) &gt; error</a:t>
            </a:r>
            <a:r>
              <a:rPr lang="en-US" altLang="zh-TW" sz="2400" baseline="-25000" smtClean="0"/>
              <a:t>D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h’</a:t>
            </a:r>
            <a:r>
              <a:rPr lang="en-US" altLang="zh-TW" sz="240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799650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>
                <a:solidFill>
                  <a:schemeClr val="tx1"/>
                </a:solidFill>
              </a:rPr>
              <a:t>Overfitting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3891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8700" y="2204864"/>
            <a:ext cx="7086600" cy="428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727309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tx1"/>
                </a:solidFill>
              </a:rPr>
              <a:t>Avoiding </a:t>
            </a:r>
            <a:r>
              <a:rPr lang="en-US" altLang="zh-TW" dirty="0" err="1">
                <a:solidFill>
                  <a:schemeClr val="tx1"/>
                </a:solidFill>
              </a:rPr>
              <a:t>Overfitting</a:t>
            </a:r>
            <a:endParaRPr lang="en-US" altLang="zh-TW" dirty="0">
              <a:solidFill>
                <a:schemeClr val="tx1"/>
              </a:solidFill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smtClean="0"/>
              <a:t>Why overfitting occurs?</a:t>
            </a:r>
          </a:p>
          <a:p>
            <a:pPr lvl="1"/>
            <a:r>
              <a:rPr lang="en-US" altLang="zh-TW" sz="2400" smtClean="0"/>
              <a:t>The training examples contain errors</a:t>
            </a:r>
          </a:p>
          <a:p>
            <a:pPr lvl="1"/>
            <a:r>
              <a:rPr lang="en-US" altLang="zh-TW" sz="2400" smtClean="0"/>
              <a:t>The number of training examples is too small to produce a representative sample of the true target function</a:t>
            </a:r>
          </a:p>
          <a:p>
            <a:r>
              <a:rPr lang="en-US" altLang="zh-TW" sz="2800" smtClean="0"/>
              <a:t>How can we avoid overfitting</a:t>
            </a:r>
          </a:p>
          <a:p>
            <a:pPr lvl="1"/>
            <a:r>
              <a:rPr lang="en-US" altLang="zh-TW" sz="2400" smtClean="0"/>
              <a:t>Stop growing when data split not statistically significant</a:t>
            </a:r>
          </a:p>
          <a:p>
            <a:pPr lvl="1"/>
            <a:r>
              <a:rPr lang="en-US" altLang="zh-TW" sz="2400" smtClean="0"/>
              <a:t>Grow full tree then post-prune</a:t>
            </a:r>
          </a:p>
        </p:txBody>
      </p:sp>
    </p:spTree>
    <p:extLst>
      <p:ext uri="{BB962C8B-B14F-4D97-AF65-F5344CB8AC3E}">
        <p14:creationId xmlns:p14="http://schemas.microsoft.com/office/powerpoint/2010/main" val="33485618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>
                <a:solidFill>
                  <a:schemeClr val="tx1"/>
                </a:solidFill>
              </a:rPr>
              <a:t>Avoiding Overfitting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smtClean="0"/>
              <a:t>How to select best tree</a:t>
            </a:r>
          </a:p>
          <a:p>
            <a:pPr lvl="1"/>
            <a:r>
              <a:rPr lang="en-US" altLang="zh-TW" sz="2400" smtClean="0"/>
              <a:t>Measure performance over separate validation data set</a:t>
            </a:r>
          </a:p>
          <a:p>
            <a:pPr lvl="1"/>
            <a:r>
              <a:rPr lang="en-US" altLang="zh-TW" sz="2400" smtClean="0"/>
              <a:t>Use all training data, apply a statistical test to estimate whether expanding (or pruning) a particular node is likely to produce an improvement beyond the training set</a:t>
            </a:r>
          </a:p>
          <a:p>
            <a:pPr lvl="1"/>
            <a:r>
              <a:rPr lang="en-US" altLang="zh-TW" sz="2400" smtClean="0"/>
              <a:t>Minimum Description Length </a:t>
            </a:r>
          </a:p>
          <a:p>
            <a:pPr lvl="2"/>
            <a:r>
              <a:rPr lang="en-US" altLang="zh-TW" sz="2000" smtClean="0"/>
              <a:t>Minimize </a:t>
            </a:r>
            <a:r>
              <a:rPr lang="en-US" altLang="zh-TW" sz="2000" i="1" smtClean="0"/>
              <a:t>size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tree</a:t>
            </a:r>
            <a:r>
              <a:rPr lang="en-US" altLang="zh-TW" sz="2000" smtClean="0"/>
              <a:t>) + </a:t>
            </a:r>
            <a:r>
              <a:rPr lang="en-US" altLang="zh-TW" sz="2000" i="1" smtClean="0"/>
              <a:t>size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misclassifications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tree</a:t>
            </a:r>
            <a:r>
              <a:rPr lang="en-US" altLang="zh-TW" sz="2000" smtClean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41274695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>
                <a:solidFill>
                  <a:schemeClr val="tx1"/>
                </a:solidFill>
              </a:rPr>
              <a:t>Reduced-Error Pruning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731520" y="2103120"/>
            <a:ext cx="7680960" cy="435021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TW" sz="2800" smtClean="0"/>
              <a:t>Consider each of the decision nodes in the tree to be candidates for pruning</a:t>
            </a:r>
          </a:p>
          <a:p>
            <a:pPr>
              <a:lnSpc>
                <a:spcPct val="90000"/>
              </a:lnSpc>
            </a:pPr>
            <a:r>
              <a:rPr lang="en-US" altLang="zh-TW" sz="2800" smtClean="0"/>
              <a:t>Pruning</a:t>
            </a:r>
          </a:p>
          <a:p>
            <a:pPr lvl="1">
              <a:lnSpc>
                <a:spcPct val="90000"/>
              </a:lnSpc>
            </a:pPr>
            <a:r>
              <a:rPr lang="en-US" altLang="zh-TW" sz="2400" smtClean="0"/>
              <a:t>Remove the subtree rooted at the node</a:t>
            </a:r>
          </a:p>
          <a:p>
            <a:pPr lvl="1">
              <a:lnSpc>
                <a:spcPct val="90000"/>
              </a:lnSpc>
            </a:pPr>
            <a:r>
              <a:rPr lang="en-US" altLang="zh-TW" sz="2400" smtClean="0"/>
              <a:t>Make it a leaf node</a:t>
            </a:r>
          </a:p>
          <a:p>
            <a:pPr lvl="1">
              <a:lnSpc>
                <a:spcPct val="90000"/>
              </a:lnSpc>
            </a:pPr>
            <a:r>
              <a:rPr lang="en-US" altLang="zh-TW" sz="2400" smtClean="0"/>
              <a:t>Assign it the most common classification of the training examples affiliated with the node</a:t>
            </a:r>
          </a:p>
          <a:p>
            <a:pPr>
              <a:lnSpc>
                <a:spcPct val="90000"/>
              </a:lnSpc>
            </a:pPr>
            <a:r>
              <a:rPr lang="en-US" altLang="zh-TW" sz="2800" smtClean="0"/>
              <a:t>Nodes are removed only if the resulting pruned tree performs better over the validation set</a:t>
            </a:r>
          </a:p>
        </p:txBody>
      </p:sp>
    </p:spTree>
    <p:extLst>
      <p:ext uri="{BB962C8B-B14F-4D97-AF65-F5344CB8AC3E}">
        <p14:creationId xmlns:p14="http://schemas.microsoft.com/office/powerpoint/2010/main" val="33440836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>
                <a:solidFill>
                  <a:schemeClr val="tx1"/>
                </a:solidFill>
              </a:rPr>
              <a:t>Reduced-Error Pruning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731520" y="2103120"/>
            <a:ext cx="7680960" cy="4350216"/>
          </a:xfrm>
        </p:spPr>
        <p:txBody>
          <a:bodyPr>
            <a:noAutofit/>
          </a:bodyPr>
          <a:lstStyle/>
          <a:p>
            <a:r>
              <a:rPr lang="en-US" altLang="zh-TW" sz="2800" smtClean="0"/>
              <a:t>Split data into training and validation set</a:t>
            </a:r>
          </a:p>
          <a:p>
            <a:r>
              <a:rPr lang="en-US" altLang="zh-TW" sz="2800" smtClean="0"/>
              <a:t>Do until further pruning is harmful</a:t>
            </a:r>
          </a:p>
          <a:p>
            <a:pPr lvl="1"/>
            <a:r>
              <a:rPr lang="en-US" altLang="zh-TW" sz="2400" smtClean="0"/>
              <a:t>Evaluate impact on validation set of pruning each possible node </a:t>
            </a:r>
          </a:p>
          <a:p>
            <a:pPr lvl="1"/>
            <a:r>
              <a:rPr lang="en-US" altLang="zh-TW" sz="2400" smtClean="0"/>
              <a:t>Greedily remove the one that most improves validation set accuracy</a:t>
            </a:r>
          </a:p>
          <a:p>
            <a:r>
              <a:rPr lang="en-US" altLang="zh-TW" sz="2800" smtClean="0"/>
              <a:t>Produces smallest version of most accurate subtree</a:t>
            </a:r>
          </a:p>
          <a:p>
            <a:r>
              <a:rPr lang="en-US" altLang="zh-TW" sz="2800" smtClean="0"/>
              <a:t>What if data is limited?</a:t>
            </a:r>
          </a:p>
        </p:txBody>
      </p:sp>
    </p:spTree>
    <p:extLst>
      <p:ext uri="{BB962C8B-B14F-4D97-AF65-F5344CB8AC3E}">
        <p14:creationId xmlns:p14="http://schemas.microsoft.com/office/powerpoint/2010/main" val="28869450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>
                <a:solidFill>
                  <a:schemeClr val="tx1"/>
                </a:solidFill>
              </a:rPr>
              <a:t>Reduced-Error Pruning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6488" y="1916832"/>
            <a:ext cx="7664450" cy="472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58296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tx1"/>
                </a:solidFill>
              </a:rPr>
              <a:t>Rule Post-Pruning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TW" sz="2800" smtClean="0"/>
              <a:t>Infer the decision tree from the training set (allowing overfitting)</a:t>
            </a:r>
          </a:p>
          <a:p>
            <a:pPr>
              <a:lnSpc>
                <a:spcPct val="90000"/>
              </a:lnSpc>
            </a:pPr>
            <a:r>
              <a:rPr lang="en-US" altLang="zh-TW" sz="2800" smtClean="0"/>
              <a:t>Convert the learned tree into an equivalent set of rules</a:t>
            </a:r>
          </a:p>
          <a:p>
            <a:pPr>
              <a:lnSpc>
                <a:spcPct val="90000"/>
              </a:lnSpc>
            </a:pPr>
            <a:r>
              <a:rPr lang="en-US" altLang="zh-TW" sz="2800" smtClean="0"/>
              <a:t>Prune (generalize) each rule by removing any preconditions</a:t>
            </a:r>
            <a:r>
              <a:rPr lang="en-US" altLang="zh-TW" sz="2800" b="1" smtClean="0"/>
              <a:t> </a:t>
            </a:r>
            <a:r>
              <a:rPr lang="en-US" altLang="zh-TW" sz="2800" smtClean="0"/>
              <a:t>that result in improving its estimated accuracy</a:t>
            </a:r>
          </a:p>
          <a:p>
            <a:pPr>
              <a:lnSpc>
                <a:spcPct val="90000"/>
              </a:lnSpc>
            </a:pPr>
            <a:r>
              <a:rPr lang="en-US" altLang="zh-TW" sz="2800" smtClean="0"/>
              <a:t>Sort the pruned rules by their estimated accuracy, and consider them in this sequence when classifying subsequent instances</a:t>
            </a:r>
          </a:p>
        </p:txBody>
      </p:sp>
    </p:spTree>
    <p:extLst>
      <p:ext uri="{BB962C8B-B14F-4D97-AF65-F5344CB8AC3E}">
        <p14:creationId xmlns:p14="http://schemas.microsoft.com/office/powerpoint/2010/main" val="32492499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>
                <a:solidFill>
                  <a:schemeClr val="tx1"/>
                </a:solidFill>
              </a:rPr>
              <a:t>Rule Post-Pruning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smtClean="0"/>
              <a:t>Estimate rule accuracy</a:t>
            </a:r>
          </a:p>
          <a:p>
            <a:pPr lvl="1"/>
            <a:r>
              <a:rPr lang="en-US" altLang="zh-TW" sz="2400" smtClean="0"/>
              <a:t>Use a validation set</a:t>
            </a:r>
          </a:p>
          <a:p>
            <a:pPr lvl="1"/>
            <a:r>
              <a:rPr lang="en-US" altLang="zh-TW" sz="2400" smtClean="0"/>
              <a:t>Use a pessimistic estimate over the training set (used by C4.5)</a:t>
            </a:r>
          </a:p>
        </p:txBody>
      </p:sp>
      <p:pic>
        <p:nvPicPr>
          <p:cNvPr id="4608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35896" y="3877469"/>
            <a:ext cx="5146675" cy="257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085" name="Text Box 5"/>
          <p:cNvSpPr txBox="1">
            <a:spLocks noChangeArrowheads="1"/>
          </p:cNvSpPr>
          <p:nvPr/>
        </p:nvSpPr>
        <p:spPr bwMode="auto">
          <a:xfrm>
            <a:off x="730871" y="4885129"/>
            <a:ext cx="254093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TW" sz="2000"/>
              <a:t>pessimistic estimate</a:t>
            </a:r>
          </a:p>
        </p:txBody>
      </p:sp>
      <p:sp>
        <p:nvSpPr>
          <p:cNvPr id="46086" name="Line 6"/>
          <p:cNvSpPr>
            <a:spLocks noChangeShapeType="1"/>
          </p:cNvSpPr>
          <p:nvPr/>
        </p:nvSpPr>
        <p:spPr bwMode="auto">
          <a:xfrm flipV="1">
            <a:off x="3271160" y="5085184"/>
            <a:ext cx="2088928" cy="124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 sz="2000"/>
          </a:p>
        </p:txBody>
      </p:sp>
    </p:spTree>
    <p:extLst>
      <p:ext uri="{BB962C8B-B14F-4D97-AF65-F5344CB8AC3E}">
        <p14:creationId xmlns:p14="http://schemas.microsoft.com/office/powerpoint/2010/main" val="5646446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tx1"/>
                </a:solidFill>
              </a:rPr>
              <a:t>Continuous Valued Attributes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smtClean="0"/>
              <a:t>If some of the attributes are continuous</a:t>
            </a:r>
          </a:p>
          <a:p>
            <a:pPr lvl="1"/>
            <a:r>
              <a:rPr lang="en-US" altLang="zh-TW" sz="2400" smtClean="0"/>
              <a:t>Dynamically defining new discrete-valued attributes that partition the continuous attribute value into a discrete set of intervals</a:t>
            </a:r>
          </a:p>
          <a:p>
            <a:pPr lvl="2"/>
            <a:r>
              <a:rPr lang="en-US" altLang="zh-TW" sz="2000" i="1" smtClean="0"/>
              <a:t>A</a:t>
            </a:r>
            <a:r>
              <a:rPr lang="en-US" altLang="zh-TW" sz="2000" i="1" baseline="-25000" smtClean="0"/>
              <a:t>c</a:t>
            </a:r>
            <a:r>
              <a:rPr lang="en-US" altLang="zh-TW" sz="2000" smtClean="0"/>
              <a:t> is true if </a:t>
            </a:r>
            <a:r>
              <a:rPr lang="en-US" altLang="zh-TW" sz="2000" i="1" smtClean="0"/>
              <a:t>A</a:t>
            </a:r>
            <a:r>
              <a:rPr lang="en-US" altLang="zh-TW" sz="2000" smtClean="0"/>
              <a:t>&lt;</a:t>
            </a:r>
            <a:r>
              <a:rPr lang="en-US" altLang="zh-TW" sz="2000" i="1" smtClean="0"/>
              <a:t>c</a:t>
            </a:r>
          </a:p>
          <a:p>
            <a:pPr lvl="1"/>
            <a:r>
              <a:rPr lang="en-US" altLang="zh-TW" sz="2400" smtClean="0"/>
              <a:t>Select the best value for </a:t>
            </a:r>
            <a:r>
              <a:rPr lang="en-US" altLang="zh-TW" sz="2400" i="1" smtClean="0"/>
              <a:t>c</a:t>
            </a:r>
          </a:p>
          <a:p>
            <a:pPr lvl="2"/>
            <a:r>
              <a:rPr lang="en-US" altLang="zh-TW" sz="2000" smtClean="0"/>
              <a:t>Pick </a:t>
            </a:r>
            <a:r>
              <a:rPr lang="en-US" altLang="zh-TW" sz="2000" i="1" smtClean="0"/>
              <a:t>c</a:t>
            </a:r>
            <a:r>
              <a:rPr lang="en-US" altLang="zh-TW" sz="2000" smtClean="0"/>
              <a:t> that produces the greatest information gain</a:t>
            </a:r>
          </a:p>
        </p:txBody>
      </p:sp>
    </p:spTree>
    <p:extLst>
      <p:ext uri="{BB962C8B-B14F-4D97-AF65-F5344CB8AC3E}">
        <p14:creationId xmlns:p14="http://schemas.microsoft.com/office/powerpoint/2010/main" val="1914205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>
                <a:solidFill>
                  <a:schemeClr val="tx1"/>
                </a:solidFill>
              </a:rPr>
              <a:t>Continuous Valued Attributes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smtClean="0"/>
              <a:t>Sort the examples according to the attribute </a:t>
            </a:r>
            <a:r>
              <a:rPr lang="en-US" altLang="zh-TW" sz="2400" i="1" smtClean="0"/>
              <a:t>A</a:t>
            </a:r>
          </a:p>
          <a:p>
            <a:r>
              <a:rPr lang="en-US" altLang="zh-TW" sz="2400" smtClean="0"/>
              <a:t>Identify adjacent examples that differ in their target classification</a:t>
            </a:r>
          </a:p>
          <a:p>
            <a:pPr lvl="1"/>
            <a:r>
              <a:rPr lang="en-US" altLang="zh-TW" sz="2000" smtClean="0"/>
              <a:t>Generate candidate thresholds between the corresponding values of </a:t>
            </a:r>
            <a:r>
              <a:rPr lang="en-US" altLang="zh-TW" sz="2000" i="1" smtClean="0"/>
              <a:t>A</a:t>
            </a:r>
          </a:p>
        </p:txBody>
      </p:sp>
      <p:graphicFrame>
        <p:nvGraphicFramePr>
          <p:cNvPr id="46118" name="Group 38"/>
          <p:cNvGraphicFramePr>
            <a:graphicFrameLocks noGrp="1"/>
          </p:cNvGraphicFramePr>
          <p:nvPr/>
        </p:nvGraphicFramePr>
        <p:xfrm>
          <a:off x="1143000" y="4643438"/>
          <a:ext cx="6408737" cy="914400"/>
        </p:xfrm>
        <a:graphic>
          <a:graphicData uri="http://schemas.openxmlformats.org/drawingml/2006/table">
            <a:tbl>
              <a:tblPr/>
              <a:tblGrid>
                <a:gridCol w="2058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新細明體" pitchFamily="18" charset="-120"/>
                        </a:rPr>
                        <a:t>Temperature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新細明體" pitchFamily="18" charset="-120"/>
                        </a:rPr>
                        <a:t>40    48     60     72     80    90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新細明體" pitchFamily="18" charset="-120"/>
                        </a:rPr>
                        <a:t>PlayTennis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新細明體" pitchFamily="18" charset="-120"/>
                        </a:rPr>
                        <a:t>No   </a:t>
                      </a:r>
                      <a:r>
                        <a:rPr kumimoji="1" lang="en-US" altLang="zh-TW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新細明體" pitchFamily="18" charset="-120"/>
                        </a:rPr>
                        <a:t>No</a:t>
                      </a: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新細明體" pitchFamily="18" charset="-120"/>
                        </a:rPr>
                        <a:t>   Yes   </a:t>
                      </a:r>
                      <a:r>
                        <a:rPr kumimoji="1" lang="en-US" altLang="zh-TW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新細明體" pitchFamily="18" charset="-120"/>
                        </a:rPr>
                        <a:t>Yes</a:t>
                      </a: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新細明體" pitchFamily="18" charset="-120"/>
                        </a:rPr>
                        <a:t>   </a:t>
                      </a:r>
                      <a:r>
                        <a:rPr kumimoji="1" lang="en-US" altLang="zh-TW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新細明體" pitchFamily="18" charset="-120"/>
                        </a:rPr>
                        <a:t>Yes</a:t>
                      </a: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新細明體" pitchFamily="18" charset="-120"/>
                        </a:rPr>
                        <a:t>   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8143" name="Text Box 39"/>
          <p:cNvSpPr txBox="1">
            <a:spLocks noChangeArrowheads="1"/>
          </p:cNvSpPr>
          <p:nvPr/>
        </p:nvSpPr>
        <p:spPr bwMode="auto">
          <a:xfrm>
            <a:off x="3635375" y="5734050"/>
            <a:ext cx="40703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/>
              <a:t>        54                             85</a:t>
            </a:r>
          </a:p>
          <a:p>
            <a:r>
              <a:rPr lang="en-US" altLang="zh-TW" sz="2000" i="1"/>
              <a:t>Temperature</a:t>
            </a:r>
            <a:r>
              <a:rPr lang="en-US" altLang="zh-TW" sz="2000" i="1" baseline="-25000"/>
              <a:t>&gt;54</a:t>
            </a:r>
            <a:r>
              <a:rPr lang="en-US" altLang="zh-TW" sz="2000"/>
              <a:t>      </a:t>
            </a:r>
            <a:r>
              <a:rPr lang="en-US" altLang="zh-TW" sz="2000" i="1"/>
              <a:t>Temperature</a:t>
            </a:r>
            <a:r>
              <a:rPr lang="en-US" altLang="zh-TW" sz="2000" i="1" baseline="-25000"/>
              <a:t>&gt;85</a:t>
            </a:r>
          </a:p>
        </p:txBody>
      </p:sp>
      <p:sp>
        <p:nvSpPr>
          <p:cNvPr id="48144" name="Line 40"/>
          <p:cNvSpPr>
            <a:spLocks noChangeShapeType="1"/>
          </p:cNvSpPr>
          <p:nvPr/>
        </p:nvSpPr>
        <p:spPr bwMode="auto">
          <a:xfrm flipV="1">
            <a:off x="4427538" y="5373688"/>
            <a:ext cx="0" cy="433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145" name="Line 41"/>
          <p:cNvSpPr>
            <a:spLocks noChangeShapeType="1"/>
          </p:cNvSpPr>
          <p:nvPr/>
        </p:nvSpPr>
        <p:spPr bwMode="auto">
          <a:xfrm flipV="1">
            <a:off x="6732588" y="5302250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98038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>
                <a:solidFill>
                  <a:schemeClr val="tx1"/>
                </a:solidFill>
              </a:rPr>
              <a:t>Continuous Valued Attributes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2800" smtClean="0"/>
              <a:t>Compute the information gain associate with each threshold</a:t>
            </a:r>
          </a:p>
          <a:p>
            <a:r>
              <a:rPr lang="en-US" altLang="zh-TW" sz="2800" smtClean="0"/>
              <a:t>Select the candidate attribute that has highest information gain as the new attribute</a:t>
            </a:r>
          </a:p>
          <a:p>
            <a:pPr lvl="1"/>
            <a:r>
              <a:rPr lang="en-US" altLang="zh-TW" sz="2400" i="1" smtClean="0"/>
              <a:t>Gain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S</a:t>
            </a:r>
            <a:r>
              <a:rPr lang="en-US" altLang="zh-TW" sz="2400" smtClean="0"/>
              <a:t>,</a:t>
            </a:r>
            <a:r>
              <a:rPr lang="en-US" altLang="zh-TW" sz="2400" i="1" smtClean="0"/>
              <a:t>Temperature</a:t>
            </a:r>
            <a:r>
              <a:rPr lang="en-US" altLang="zh-TW" sz="2400" i="1" baseline="-25000" smtClean="0"/>
              <a:t>&gt;54</a:t>
            </a:r>
            <a:r>
              <a:rPr lang="en-US" altLang="zh-TW" sz="2400" smtClean="0"/>
              <a:t>)</a:t>
            </a:r>
            <a:r>
              <a:rPr lang="en-US" altLang="zh-TW" sz="2400" i="1" smtClean="0"/>
              <a:t> &gt; Gain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S</a:t>
            </a:r>
            <a:r>
              <a:rPr lang="en-US" altLang="zh-TW" sz="2400" smtClean="0"/>
              <a:t>,</a:t>
            </a:r>
            <a:r>
              <a:rPr lang="en-US" altLang="zh-TW" sz="2400" i="1" smtClean="0"/>
              <a:t>Temperature</a:t>
            </a:r>
            <a:r>
              <a:rPr lang="en-US" altLang="zh-TW" sz="2400" i="1" baseline="-25000" smtClean="0"/>
              <a:t>&gt;85</a:t>
            </a:r>
            <a:r>
              <a:rPr lang="en-US" altLang="zh-TW" sz="2400" smtClean="0"/>
              <a:t>)</a:t>
            </a:r>
          </a:p>
          <a:p>
            <a:pPr lvl="1"/>
            <a:r>
              <a:rPr lang="en-US" altLang="zh-TW" sz="2400" smtClean="0"/>
              <a:t>The new attribute is </a:t>
            </a:r>
            <a:r>
              <a:rPr lang="en-US" altLang="zh-TW" sz="2400" i="1" smtClean="0"/>
              <a:t> Temperature</a:t>
            </a:r>
            <a:r>
              <a:rPr lang="en-US" altLang="zh-TW" sz="2400" i="1" baseline="-25000" smtClean="0"/>
              <a:t>&gt;54</a:t>
            </a:r>
          </a:p>
        </p:txBody>
      </p:sp>
    </p:spTree>
    <p:extLst>
      <p:ext uri="{BB962C8B-B14F-4D97-AF65-F5344CB8AC3E}">
        <p14:creationId xmlns:p14="http://schemas.microsoft.com/office/powerpoint/2010/main" val="837773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>
                <a:solidFill>
                  <a:schemeClr val="tx1"/>
                </a:solidFill>
              </a:rPr>
              <a:t>Attributes with Many Values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smtClean="0"/>
              <a:t>Information gain measure favors attributes with many values</a:t>
            </a:r>
          </a:p>
          <a:p>
            <a:pPr lvl="1"/>
            <a:r>
              <a:rPr lang="en-US" altLang="zh-TW" sz="2400" smtClean="0"/>
              <a:t>Attribute </a:t>
            </a:r>
            <a:r>
              <a:rPr lang="en-US" altLang="zh-TW" sz="2400" i="1" smtClean="0"/>
              <a:t>Date</a:t>
            </a:r>
            <a:r>
              <a:rPr lang="en-US" altLang="zh-TW" sz="2400" smtClean="0"/>
              <a:t> (e.g. 10_Oct_2005)</a:t>
            </a:r>
          </a:p>
          <a:p>
            <a:pPr lvl="2"/>
            <a:r>
              <a:rPr lang="en-US" altLang="zh-TW" sz="2000" smtClean="0"/>
              <a:t>Have highest information gain</a:t>
            </a:r>
          </a:p>
          <a:p>
            <a:pPr lvl="3"/>
            <a:r>
              <a:rPr lang="en-US" altLang="zh-TW" sz="2000" i="1" smtClean="0"/>
              <a:t>Date</a:t>
            </a:r>
            <a:r>
              <a:rPr lang="en-US" altLang="zh-TW" sz="2000" smtClean="0"/>
              <a:t> perfectly predicts the target attribute over the training data</a:t>
            </a:r>
          </a:p>
          <a:p>
            <a:pPr lvl="2"/>
            <a:r>
              <a:rPr lang="en-US" altLang="zh-TW" sz="2000" i="1" smtClean="0"/>
              <a:t>Date</a:t>
            </a:r>
            <a:r>
              <a:rPr lang="en-US" altLang="zh-TW" sz="2000" smtClean="0"/>
              <a:t> will be selected as the decision attribute for the root node</a:t>
            </a:r>
          </a:p>
          <a:p>
            <a:pPr lvl="2"/>
            <a:r>
              <a:rPr lang="en-US" altLang="zh-TW" sz="2000" smtClean="0"/>
              <a:t>The learned decision tree will perfectly classify the training data, but poorly on subsequent examples</a:t>
            </a:r>
          </a:p>
        </p:txBody>
      </p:sp>
    </p:spTree>
    <p:extLst>
      <p:ext uri="{BB962C8B-B14F-4D97-AF65-F5344CB8AC3E}">
        <p14:creationId xmlns:p14="http://schemas.microsoft.com/office/powerpoint/2010/main" val="756114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>
                <a:solidFill>
                  <a:schemeClr val="tx1"/>
                </a:solidFill>
              </a:rPr>
              <a:t>Attributes with Many Values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smtClean="0"/>
              <a:t>Use </a:t>
            </a:r>
            <a:r>
              <a:rPr lang="en-US" altLang="zh-TW" sz="2800" i="1" smtClean="0"/>
              <a:t>GainRatio</a:t>
            </a:r>
            <a:r>
              <a:rPr lang="en-US" altLang="zh-TW" sz="2800" smtClean="0"/>
              <a:t> instead</a:t>
            </a:r>
          </a:p>
          <a:p>
            <a:endParaRPr lang="en-US" altLang="zh-TW" sz="2800" smtClean="0"/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9679725"/>
              </p:ext>
            </p:extLst>
          </p:nvPr>
        </p:nvGraphicFramePr>
        <p:xfrm>
          <a:off x="2030413" y="2581970"/>
          <a:ext cx="5472112" cy="187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12" name="方程式" r:id="rId3" imgW="2603160" imgH="914400" progId="Equation.3">
                  <p:embed/>
                </p:oleObj>
              </mc:Choice>
              <mc:Fallback>
                <p:oleObj name="方程式" r:id="rId3" imgW="2603160" imgH="914400" progId="Equation.3">
                  <p:embed/>
                  <p:pic>
                    <p:nvPicPr>
                      <p:cNvPr id="307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0413" y="2581970"/>
                        <a:ext cx="5472112" cy="187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Text Box 6"/>
          <p:cNvSpPr txBox="1">
            <a:spLocks noChangeArrowheads="1"/>
          </p:cNvSpPr>
          <p:nvPr/>
        </p:nvSpPr>
        <p:spPr bwMode="auto">
          <a:xfrm>
            <a:off x="857250" y="4508500"/>
            <a:ext cx="7818438" cy="178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5113" indent="-265113">
              <a:buFontTx/>
              <a:buChar char="•"/>
            </a:pPr>
            <a:r>
              <a:rPr lang="en-US" altLang="zh-TW" sz="2200" i="1"/>
              <a:t>S</a:t>
            </a:r>
            <a:r>
              <a:rPr lang="en-US" altLang="zh-TW" sz="2200" i="1" baseline="-25000"/>
              <a:t>i</a:t>
            </a:r>
            <a:r>
              <a:rPr lang="en-US" altLang="zh-TW" sz="2200"/>
              <a:t> is the subset of </a:t>
            </a:r>
            <a:r>
              <a:rPr lang="en-US" altLang="zh-TW" sz="2200" i="1"/>
              <a:t>S</a:t>
            </a:r>
            <a:r>
              <a:rPr lang="en-US" altLang="zh-TW" sz="2200"/>
              <a:t> partitioned by the </a:t>
            </a:r>
            <a:r>
              <a:rPr lang="en-US" altLang="zh-TW" sz="2200" i="1"/>
              <a:t>c</a:t>
            </a:r>
            <a:r>
              <a:rPr lang="en-US" altLang="zh-TW" sz="2200"/>
              <a:t>-valued attribute </a:t>
            </a:r>
            <a:r>
              <a:rPr lang="en-US" altLang="zh-TW" sz="2200" i="1"/>
              <a:t>A</a:t>
            </a:r>
            <a:r>
              <a:rPr lang="en-US" altLang="zh-TW" sz="2200"/>
              <a:t> </a:t>
            </a:r>
          </a:p>
          <a:p>
            <a:pPr marL="265113" indent="-265113">
              <a:buFontTx/>
              <a:buChar char="•"/>
            </a:pPr>
            <a:r>
              <a:rPr lang="en-US" altLang="zh-TW" sz="2200" i="1"/>
              <a:t>SpliteInformation</a:t>
            </a:r>
            <a:r>
              <a:rPr lang="en-US" altLang="zh-TW" sz="2200"/>
              <a:t> measures how broadly and uniformly the attribute splits the examples</a:t>
            </a:r>
          </a:p>
          <a:p>
            <a:pPr marL="265113" indent="-265113">
              <a:buFontTx/>
              <a:buChar char="•"/>
            </a:pPr>
            <a:r>
              <a:rPr lang="en-US" altLang="zh-TW" sz="2200"/>
              <a:t>Discourage the selection of attributes with many uniformly distributed values</a:t>
            </a:r>
          </a:p>
        </p:txBody>
      </p:sp>
    </p:spTree>
    <p:extLst>
      <p:ext uri="{BB962C8B-B14F-4D97-AF65-F5344CB8AC3E}">
        <p14:creationId xmlns:p14="http://schemas.microsoft.com/office/powerpoint/2010/main" val="26340492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>
                <a:solidFill>
                  <a:schemeClr val="tx1"/>
                </a:solidFill>
              </a:rPr>
              <a:t>Attributes with Many Values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i="1" smtClean="0"/>
              <a:t>GainRatio</a:t>
            </a:r>
            <a:r>
              <a:rPr lang="en-US" altLang="zh-TW" sz="2800" smtClean="0"/>
              <a:t> will be undefined or very large when |</a:t>
            </a:r>
            <a:r>
              <a:rPr lang="en-US" altLang="zh-TW" sz="2800" i="1" smtClean="0"/>
              <a:t>S</a:t>
            </a:r>
            <a:r>
              <a:rPr lang="en-US" altLang="zh-TW" sz="2800" i="1" baseline="-25000" smtClean="0"/>
              <a:t>i</a:t>
            </a:r>
            <a:r>
              <a:rPr lang="en-US" altLang="zh-TW" sz="2800" smtClean="0"/>
              <a:t>| </a:t>
            </a:r>
            <a:r>
              <a:rPr lang="en-US" altLang="zh-TW" sz="2800" smtClean="0">
                <a:cs typeface="Arial" pitchFamily="34" charset="0"/>
              </a:rPr>
              <a:t>≈</a:t>
            </a:r>
            <a:r>
              <a:rPr lang="en-US" altLang="zh-TW" sz="2800" smtClean="0"/>
              <a:t> |</a:t>
            </a:r>
            <a:r>
              <a:rPr lang="en-US" altLang="zh-TW" sz="2800" i="1" smtClean="0"/>
              <a:t>S</a:t>
            </a:r>
            <a:r>
              <a:rPr lang="en-US" altLang="zh-TW" sz="2800" smtClean="0"/>
              <a:t>| for one of the </a:t>
            </a:r>
            <a:r>
              <a:rPr lang="en-US" altLang="zh-TW" sz="2800" i="1" smtClean="0"/>
              <a:t>S</a:t>
            </a:r>
            <a:r>
              <a:rPr lang="en-US" altLang="zh-TW" sz="2800" i="1" baseline="-25000" smtClean="0"/>
              <a:t>i</a:t>
            </a:r>
            <a:endParaRPr lang="en-US" altLang="zh-TW" sz="2800" smtClean="0"/>
          </a:p>
          <a:p>
            <a:pPr lvl="1"/>
            <a:r>
              <a:rPr lang="en-US" altLang="zh-TW" sz="2400" smtClean="0"/>
              <a:t>Alternative</a:t>
            </a:r>
          </a:p>
          <a:p>
            <a:pPr lvl="2"/>
            <a:r>
              <a:rPr lang="en-US" altLang="zh-TW" sz="2000" smtClean="0"/>
              <a:t>First calculate the </a:t>
            </a:r>
            <a:r>
              <a:rPr lang="en-US" altLang="zh-TW" sz="2000" i="1" smtClean="0"/>
              <a:t>Gain</a:t>
            </a:r>
            <a:r>
              <a:rPr lang="en-US" altLang="zh-TW" sz="2000" smtClean="0"/>
              <a:t> of each attribute, then apply the </a:t>
            </a:r>
            <a:r>
              <a:rPr lang="en-US" altLang="zh-TW" sz="2000" i="1" smtClean="0"/>
              <a:t>GainRatio</a:t>
            </a:r>
            <a:r>
              <a:rPr lang="en-US" altLang="zh-TW" sz="2000" smtClean="0"/>
              <a:t> test only considering those attributes with above average </a:t>
            </a:r>
            <a:r>
              <a:rPr lang="en-US" altLang="zh-TW" sz="2000" i="1" smtClean="0"/>
              <a:t>Gain</a:t>
            </a:r>
            <a:endParaRPr lang="en-US" altLang="zh-TW" sz="2000" smtClean="0"/>
          </a:p>
          <a:p>
            <a:pPr lvl="2"/>
            <a:r>
              <a:rPr lang="en-US" altLang="zh-TW" sz="2000" smtClean="0"/>
              <a:t>Each attribute is evaluated based on the distance between the data partition it creates and the perfect partition</a:t>
            </a:r>
          </a:p>
        </p:txBody>
      </p:sp>
    </p:spTree>
    <p:extLst>
      <p:ext uri="{BB962C8B-B14F-4D97-AF65-F5344CB8AC3E}">
        <p14:creationId xmlns:p14="http://schemas.microsoft.com/office/powerpoint/2010/main" val="141079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>
                <a:solidFill>
                  <a:schemeClr val="tx1"/>
                </a:solidFill>
              </a:rPr>
              <a:t>Unknown Attribute Values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TW" sz="2800" smtClean="0"/>
              <a:t>What if some examples missing values of </a:t>
            </a:r>
            <a:r>
              <a:rPr lang="en-US" altLang="zh-TW" sz="2800" i="1" smtClean="0"/>
              <a:t>A</a:t>
            </a:r>
            <a:r>
              <a:rPr lang="en-US" altLang="zh-TW" sz="2800" smtClean="0"/>
              <a:t>?</a:t>
            </a:r>
          </a:p>
          <a:p>
            <a:pPr lvl="1">
              <a:lnSpc>
                <a:spcPct val="90000"/>
              </a:lnSpc>
            </a:pPr>
            <a:r>
              <a:rPr lang="en-US" altLang="zh-TW" sz="2400" smtClean="0"/>
              <a:t>Use the training example &lt;</a:t>
            </a:r>
            <a:r>
              <a:rPr lang="en-US" altLang="zh-TW" sz="2400" i="1" smtClean="0"/>
              <a:t>x</a:t>
            </a:r>
            <a:r>
              <a:rPr lang="en-US" altLang="zh-TW" sz="2400" smtClean="0"/>
              <a:t>,</a:t>
            </a:r>
            <a:r>
              <a:rPr lang="en-US" altLang="zh-TW" sz="2400" i="1" smtClean="0"/>
              <a:t>c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x</a:t>
            </a:r>
            <a:r>
              <a:rPr lang="en-US" altLang="zh-TW" sz="2400" smtClean="0"/>
              <a:t>)&gt; anyway, sort through tree</a:t>
            </a:r>
          </a:p>
          <a:p>
            <a:pPr lvl="2">
              <a:lnSpc>
                <a:spcPct val="90000"/>
              </a:lnSpc>
            </a:pPr>
            <a:r>
              <a:rPr lang="en-US" altLang="zh-TW" sz="2000" smtClean="0"/>
              <a:t>If node </a:t>
            </a:r>
            <a:r>
              <a:rPr lang="en-US" altLang="zh-TW" sz="2000" i="1" smtClean="0"/>
              <a:t>n </a:t>
            </a:r>
            <a:r>
              <a:rPr lang="en-US" altLang="zh-TW" sz="2000" smtClean="0"/>
              <a:t>tests </a:t>
            </a:r>
            <a:r>
              <a:rPr lang="en-US" altLang="zh-TW" sz="2000" i="1" smtClean="0"/>
              <a:t>A</a:t>
            </a:r>
            <a:r>
              <a:rPr lang="en-US" altLang="zh-TW" sz="2000" smtClean="0"/>
              <a:t>, assign </a:t>
            </a:r>
            <a:r>
              <a:rPr lang="en-US" altLang="zh-TW" sz="2000" i="1" smtClean="0"/>
              <a:t>x</a:t>
            </a:r>
            <a:r>
              <a:rPr lang="en-US" altLang="zh-TW" sz="2000" smtClean="0"/>
              <a:t> the most common value of </a:t>
            </a:r>
            <a:r>
              <a:rPr lang="en-US" altLang="zh-TW" sz="2000" i="1" smtClean="0"/>
              <a:t>A </a:t>
            </a:r>
            <a:r>
              <a:rPr lang="en-US" altLang="zh-TW" sz="2000" smtClean="0"/>
              <a:t>among other examples at node </a:t>
            </a:r>
            <a:r>
              <a:rPr lang="en-US" altLang="zh-TW" sz="2000" i="1" smtClean="0"/>
              <a:t>n</a:t>
            </a:r>
          </a:p>
          <a:p>
            <a:pPr lvl="2">
              <a:lnSpc>
                <a:spcPct val="90000"/>
              </a:lnSpc>
            </a:pPr>
            <a:r>
              <a:rPr lang="en-US" altLang="zh-TW" sz="2000" smtClean="0"/>
              <a:t>Assign </a:t>
            </a:r>
            <a:r>
              <a:rPr lang="en-US" altLang="zh-TW" sz="2000" i="1" smtClean="0"/>
              <a:t>x</a:t>
            </a:r>
            <a:r>
              <a:rPr lang="en-US" altLang="zh-TW" sz="2000" smtClean="0"/>
              <a:t> most common value of </a:t>
            </a:r>
            <a:r>
              <a:rPr lang="en-US" altLang="zh-TW" sz="2000" i="1" smtClean="0"/>
              <a:t>A </a:t>
            </a:r>
            <a:r>
              <a:rPr lang="en-US" altLang="zh-TW" sz="2000" smtClean="0"/>
              <a:t>among other examples at node </a:t>
            </a:r>
            <a:r>
              <a:rPr lang="en-US" altLang="zh-TW" sz="2000" i="1" smtClean="0"/>
              <a:t>n</a:t>
            </a:r>
            <a:r>
              <a:rPr lang="en-US" altLang="zh-TW" sz="2000" smtClean="0"/>
              <a:t> that have the same target value </a:t>
            </a:r>
            <a:r>
              <a:rPr lang="en-US" altLang="zh-TW" sz="2000" i="1" smtClean="0"/>
              <a:t>c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x</a:t>
            </a:r>
            <a:r>
              <a:rPr lang="en-US" altLang="zh-TW" sz="2000" smtClean="0"/>
              <a:t>)</a:t>
            </a:r>
          </a:p>
          <a:p>
            <a:pPr lvl="2">
              <a:lnSpc>
                <a:spcPct val="90000"/>
              </a:lnSpc>
            </a:pPr>
            <a:r>
              <a:rPr lang="en-US" altLang="zh-TW" sz="2000" smtClean="0"/>
              <a:t>Assign probability </a:t>
            </a:r>
            <a:r>
              <a:rPr lang="en-US" altLang="zh-TW" sz="2000" i="1" smtClean="0"/>
              <a:t>p</a:t>
            </a:r>
            <a:r>
              <a:rPr lang="en-US" altLang="zh-TW" sz="2000" i="1" baseline="-25000" smtClean="0"/>
              <a:t>i</a:t>
            </a:r>
            <a:r>
              <a:rPr lang="en-US" altLang="zh-TW" sz="2000" i="1" smtClean="0"/>
              <a:t> </a:t>
            </a:r>
            <a:r>
              <a:rPr lang="en-US" altLang="zh-TW" sz="2000" smtClean="0"/>
              <a:t>to each possible value </a:t>
            </a:r>
            <a:r>
              <a:rPr lang="en-US" altLang="zh-TW" sz="2000" i="1" smtClean="0"/>
              <a:t>v</a:t>
            </a:r>
            <a:r>
              <a:rPr lang="en-US" altLang="zh-TW" sz="2000" i="1" baseline="-25000" smtClean="0"/>
              <a:t>i</a:t>
            </a:r>
            <a:r>
              <a:rPr lang="en-US" altLang="zh-TW" sz="2000" i="1" smtClean="0"/>
              <a:t> </a:t>
            </a:r>
            <a:r>
              <a:rPr lang="en-US" altLang="zh-TW" sz="2000" smtClean="0"/>
              <a:t>of </a:t>
            </a:r>
            <a:r>
              <a:rPr lang="en-US" altLang="zh-TW" sz="2000" i="1" smtClean="0"/>
              <a:t>A</a:t>
            </a:r>
          </a:p>
          <a:p>
            <a:pPr lvl="3">
              <a:lnSpc>
                <a:spcPct val="90000"/>
              </a:lnSpc>
            </a:pPr>
            <a:r>
              <a:rPr lang="en-US" altLang="zh-TW" sz="2000" smtClean="0"/>
              <a:t>assign fraction </a:t>
            </a:r>
            <a:r>
              <a:rPr lang="en-US" altLang="zh-TW" sz="2000" i="1" smtClean="0"/>
              <a:t>p</a:t>
            </a:r>
            <a:r>
              <a:rPr lang="en-US" altLang="zh-TW" sz="2000" i="1" baseline="-25000" smtClean="0"/>
              <a:t>i</a:t>
            </a:r>
            <a:r>
              <a:rPr lang="en-US" altLang="zh-TW" sz="2000" i="1" smtClean="0"/>
              <a:t> </a:t>
            </a:r>
            <a:r>
              <a:rPr lang="en-US" altLang="zh-TW" sz="2000" smtClean="0"/>
              <a:t>of example to each descendant in tree</a:t>
            </a:r>
          </a:p>
          <a:p>
            <a:pPr lvl="1">
              <a:lnSpc>
                <a:spcPct val="90000"/>
              </a:lnSpc>
            </a:pPr>
            <a:r>
              <a:rPr lang="en-US" altLang="zh-TW" sz="2400" smtClean="0"/>
              <a:t>Classify new examples in same fashion</a:t>
            </a:r>
          </a:p>
        </p:txBody>
      </p:sp>
    </p:spTree>
    <p:extLst>
      <p:ext uri="{BB962C8B-B14F-4D97-AF65-F5344CB8AC3E}">
        <p14:creationId xmlns:p14="http://schemas.microsoft.com/office/powerpoint/2010/main" val="30808284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>
                <a:solidFill>
                  <a:schemeClr val="tx1"/>
                </a:solidFill>
              </a:rPr>
              <a:t>Attributes with Costs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smtClean="0"/>
              <a:t>In some learning tasks the instance attributes may have associated costs</a:t>
            </a:r>
          </a:p>
          <a:p>
            <a:pPr lvl="1"/>
            <a:r>
              <a:rPr lang="en-US" altLang="zh-TW" sz="2400" smtClean="0"/>
              <a:t>medical diagnosis, </a:t>
            </a:r>
            <a:r>
              <a:rPr lang="en-US" altLang="zh-TW" sz="2400" i="1" smtClean="0"/>
              <a:t>BloodTest</a:t>
            </a:r>
            <a:r>
              <a:rPr lang="en-US" altLang="zh-TW" sz="2400" smtClean="0"/>
              <a:t> has cost $150</a:t>
            </a:r>
          </a:p>
          <a:p>
            <a:r>
              <a:rPr lang="en-US" altLang="zh-TW" sz="2800" smtClean="0"/>
              <a:t>We would prefer decision trees that use low-cost attributes where possible, relying on high-cost attributes only when needed to produce reliable classifications</a:t>
            </a:r>
          </a:p>
        </p:txBody>
      </p:sp>
    </p:spTree>
    <p:extLst>
      <p:ext uri="{BB962C8B-B14F-4D97-AF65-F5344CB8AC3E}">
        <p14:creationId xmlns:p14="http://schemas.microsoft.com/office/powerpoint/2010/main" val="338879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>
                <a:solidFill>
                  <a:schemeClr val="tx1"/>
                </a:solidFill>
              </a:rPr>
              <a:t>Attributes with Costs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2800" smtClean="0"/>
              <a:t>How to learn a consistent tree with low expected cost ?</a:t>
            </a:r>
          </a:p>
          <a:p>
            <a:pPr lvl="1"/>
            <a:r>
              <a:rPr lang="en-US" altLang="zh-TW" sz="2400" smtClean="0"/>
              <a:t>One approach replace gain by</a:t>
            </a:r>
          </a:p>
          <a:p>
            <a:pPr lvl="2"/>
            <a:r>
              <a:rPr lang="en-US" altLang="zh-TW" sz="2000" smtClean="0"/>
              <a:t>Tan and Schlimmer (1990)</a:t>
            </a:r>
          </a:p>
          <a:p>
            <a:pPr lvl="2"/>
            <a:endParaRPr lang="en-US" altLang="zh-TW" sz="2000" smtClean="0"/>
          </a:p>
          <a:p>
            <a:pPr lvl="2"/>
            <a:endParaRPr lang="en-US" altLang="zh-TW" sz="2000" smtClean="0"/>
          </a:p>
          <a:p>
            <a:pPr lvl="2"/>
            <a:r>
              <a:rPr lang="en-US" altLang="zh-TW" sz="2000" smtClean="0"/>
              <a:t>Nunez (1988)</a:t>
            </a:r>
          </a:p>
          <a:p>
            <a:pPr lvl="2"/>
            <a:endParaRPr lang="en-US" altLang="zh-TW" sz="2000" smtClean="0"/>
          </a:p>
          <a:p>
            <a:pPr lvl="2"/>
            <a:endParaRPr lang="en-US" altLang="zh-TW" sz="2000" smtClean="0"/>
          </a:p>
          <a:p>
            <a:pPr lvl="3"/>
            <a:r>
              <a:rPr lang="en-US" altLang="zh-TW" sz="2000" smtClean="0"/>
              <a:t>where </a:t>
            </a:r>
            <a:r>
              <a:rPr lang="en-US" altLang="zh-TW" sz="2000" i="1" smtClean="0"/>
              <a:t>w</a:t>
            </a:r>
            <a:r>
              <a:rPr lang="en-US" altLang="zh-TW" sz="2000" smtClean="0"/>
              <a:t> </a:t>
            </a:r>
            <a:r>
              <a:rPr lang="en-US" altLang="zh-TW" sz="2000" smtClean="0">
                <a:latin typeface="SymbolMT" charset="-120"/>
                <a:ea typeface="SymbolMT" charset="-120"/>
              </a:rPr>
              <a:t>∈ </a:t>
            </a:r>
            <a:r>
              <a:rPr lang="en-US" altLang="zh-TW" sz="2000" smtClean="0">
                <a:ea typeface="SymbolMT" charset="-120"/>
              </a:rPr>
              <a:t>[0,1]</a:t>
            </a:r>
            <a:r>
              <a:rPr lang="en-US" altLang="zh-TW" sz="2000" smtClean="0"/>
              <a:t> determines importance of cost</a:t>
            </a:r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9173515"/>
              </p:ext>
            </p:extLst>
          </p:nvPr>
        </p:nvGraphicFramePr>
        <p:xfrm>
          <a:off x="5004045" y="3645023"/>
          <a:ext cx="1656212" cy="9288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46" name="方程式" r:id="rId3" imgW="799920" imgH="444240" progId="Equation.3">
                  <p:embed/>
                </p:oleObj>
              </mc:Choice>
              <mc:Fallback>
                <p:oleObj name="方程式" r:id="rId3" imgW="799920" imgH="444240" progId="Equation.3">
                  <p:embed/>
                  <p:pic>
                    <p:nvPicPr>
                      <p:cNvPr id="409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5" y="3645023"/>
                        <a:ext cx="1656212" cy="92888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7693493"/>
              </p:ext>
            </p:extLst>
          </p:nvPr>
        </p:nvGraphicFramePr>
        <p:xfrm>
          <a:off x="5004045" y="4662830"/>
          <a:ext cx="2125483" cy="93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47" name="方程式" r:id="rId5" imgW="939600" imgH="444240" progId="Equation.3">
                  <p:embed/>
                </p:oleObj>
              </mc:Choice>
              <mc:Fallback>
                <p:oleObj name="方程式" r:id="rId5" imgW="939600" imgH="444240" progId="Equation.3">
                  <p:embed/>
                  <p:pic>
                    <p:nvPicPr>
                      <p:cNvPr id="409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5" y="4662830"/>
                        <a:ext cx="2125483" cy="93163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7914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Random </a:t>
            </a:r>
            <a:r>
              <a:rPr lang="en-US" altLang="zh-TW" dirty="0" smtClean="0"/>
              <a:t>Forest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sz="2800" dirty="0" smtClean="0"/>
              <a:t>Construct many decision </a:t>
            </a:r>
            <a:r>
              <a:rPr lang="en-US" altLang="zh-TW" sz="2800" dirty="0"/>
              <a:t>trees at training </a:t>
            </a:r>
            <a:r>
              <a:rPr lang="en-US" altLang="zh-TW" sz="2800" dirty="0" smtClean="0"/>
              <a:t>time</a:t>
            </a:r>
          </a:p>
          <a:p>
            <a:r>
              <a:rPr lang="en-US" altLang="zh-TW" sz="2800" dirty="0" smtClean="0"/>
              <a:t>Output </a:t>
            </a:r>
            <a:r>
              <a:rPr lang="en-US" altLang="zh-TW" sz="2800" dirty="0"/>
              <a:t>the class that is the mode of the classes (classification) or mean prediction (regression) of the individual </a:t>
            </a:r>
            <a:r>
              <a:rPr lang="en-US" altLang="zh-TW" sz="2800" dirty="0" smtClean="0"/>
              <a:t>trees</a:t>
            </a:r>
          </a:p>
          <a:p>
            <a:r>
              <a:rPr lang="en-US" altLang="zh-TW" sz="2800" dirty="0" smtClean="0"/>
              <a:t>Why</a:t>
            </a:r>
          </a:p>
          <a:p>
            <a:pPr lvl="1"/>
            <a:r>
              <a:rPr lang="en-US" altLang="zh-TW" sz="2400" dirty="0" smtClean="0"/>
              <a:t>A decision tree tends to be overfitting training set</a:t>
            </a:r>
          </a:p>
          <a:p>
            <a:pPr lvl="1"/>
            <a:r>
              <a:rPr lang="en-US" altLang="zh-TW" sz="2400" dirty="0" smtClean="0"/>
              <a:t>The </a:t>
            </a:r>
            <a:r>
              <a:rPr lang="en-US" altLang="zh-TW" sz="2400" dirty="0"/>
              <a:t>average of many trees is </a:t>
            </a:r>
            <a:r>
              <a:rPr lang="en-US" altLang="zh-TW" sz="2400" dirty="0" smtClean="0"/>
              <a:t>not </a:t>
            </a:r>
            <a:r>
              <a:rPr lang="en-US" altLang="zh-TW" sz="2400" dirty="0"/>
              <a:t>highly sensitive to noise in </a:t>
            </a:r>
            <a:r>
              <a:rPr lang="en-US" altLang="zh-TW" sz="2400" dirty="0" smtClean="0"/>
              <a:t>training set, </a:t>
            </a:r>
            <a:r>
              <a:rPr lang="en-US" altLang="zh-TW" sz="2400" dirty="0"/>
              <a:t>as long as the trees are not </a:t>
            </a:r>
            <a:r>
              <a:rPr lang="en-US" altLang="zh-TW" sz="2400" dirty="0" smtClean="0"/>
              <a:t>correlated.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349353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Tree Bagging </a:t>
            </a:r>
            <a:r>
              <a:rPr lang="en-US" altLang="zh-TW" sz="4000" dirty="0" smtClean="0"/>
              <a:t>(Bootstrap aggregating)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31520" y="2103120"/>
            <a:ext cx="7680960" cy="4494232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sz="2400" dirty="0" smtClean="0"/>
              <a:t>Given </a:t>
            </a:r>
            <a:r>
              <a:rPr lang="en-US" altLang="zh-TW" sz="2400" dirty="0"/>
              <a:t>a training set </a:t>
            </a:r>
            <a:r>
              <a:rPr lang="en-US" altLang="zh-TW" sz="2400" i="1" dirty="0"/>
              <a:t>X</a:t>
            </a:r>
            <a:r>
              <a:rPr lang="en-US" altLang="zh-TW" sz="2400" dirty="0"/>
              <a:t> = </a:t>
            </a:r>
            <a:r>
              <a:rPr lang="en-US" altLang="zh-TW" sz="2400" i="1" dirty="0"/>
              <a:t>x</a:t>
            </a:r>
            <a:r>
              <a:rPr lang="en-US" altLang="zh-TW" sz="2400" i="1" baseline="-25000" dirty="0"/>
              <a:t>1</a:t>
            </a:r>
            <a:r>
              <a:rPr lang="en-US" altLang="zh-TW" sz="2400" dirty="0"/>
              <a:t>, ..., </a:t>
            </a:r>
            <a:r>
              <a:rPr lang="en-US" altLang="zh-TW" sz="2400" i="1" dirty="0" err="1"/>
              <a:t>x</a:t>
            </a:r>
            <a:r>
              <a:rPr lang="en-US" altLang="zh-TW" sz="2400" i="1" baseline="-25000" dirty="0" err="1"/>
              <a:t>n</a:t>
            </a:r>
            <a:r>
              <a:rPr lang="en-US" altLang="zh-TW" sz="2400" dirty="0"/>
              <a:t> with responses </a:t>
            </a:r>
            <a:r>
              <a:rPr lang="en-US" altLang="zh-TW" sz="2400" i="1" dirty="0"/>
              <a:t>Y</a:t>
            </a:r>
            <a:r>
              <a:rPr lang="en-US" altLang="zh-TW" sz="2400" dirty="0"/>
              <a:t> = </a:t>
            </a:r>
            <a:r>
              <a:rPr lang="en-US" altLang="zh-TW" sz="2400" i="1" dirty="0"/>
              <a:t>y</a:t>
            </a:r>
            <a:r>
              <a:rPr lang="en-US" altLang="zh-TW" sz="2400" i="1" baseline="-25000" dirty="0"/>
              <a:t>1</a:t>
            </a:r>
            <a:r>
              <a:rPr lang="en-US" altLang="zh-TW" sz="2400" dirty="0"/>
              <a:t>, ..., </a:t>
            </a:r>
            <a:r>
              <a:rPr lang="en-US" altLang="zh-TW" sz="2400" i="1" dirty="0" err="1" smtClean="0"/>
              <a:t>y</a:t>
            </a:r>
            <a:r>
              <a:rPr lang="en-US" altLang="zh-TW" sz="2400" i="1" baseline="-25000" dirty="0" err="1" smtClean="0"/>
              <a:t>n</a:t>
            </a:r>
            <a:endParaRPr lang="en-US" altLang="zh-TW" sz="2400" dirty="0"/>
          </a:p>
          <a:p>
            <a:r>
              <a:rPr lang="en-US" altLang="zh-TW" sz="2400" dirty="0" smtClean="0"/>
              <a:t>Bagging </a:t>
            </a:r>
            <a:r>
              <a:rPr lang="en-US" altLang="zh-TW" sz="2400" dirty="0"/>
              <a:t>repeatedly (B times) </a:t>
            </a:r>
            <a:r>
              <a:rPr lang="en-US" altLang="zh-TW" sz="2400" dirty="0">
                <a:solidFill>
                  <a:srgbClr val="FF0000"/>
                </a:solidFill>
              </a:rPr>
              <a:t>selects a random sample with replacement of the training set </a:t>
            </a:r>
            <a:r>
              <a:rPr lang="en-US" altLang="zh-TW" sz="2400" dirty="0"/>
              <a:t>and </a:t>
            </a:r>
            <a:r>
              <a:rPr lang="en-US" altLang="zh-TW" sz="2400" dirty="0">
                <a:solidFill>
                  <a:srgbClr val="FF0000"/>
                </a:solidFill>
              </a:rPr>
              <a:t>fits trees to these </a:t>
            </a:r>
            <a:r>
              <a:rPr lang="en-US" altLang="zh-TW" sz="2400" dirty="0" smtClean="0">
                <a:solidFill>
                  <a:srgbClr val="FF0000"/>
                </a:solidFill>
              </a:rPr>
              <a:t>samples</a:t>
            </a:r>
          </a:p>
          <a:p>
            <a:pPr lvl="1"/>
            <a:r>
              <a:rPr lang="en-US" altLang="zh-TW" sz="2000" dirty="0" smtClean="0"/>
              <a:t>For</a:t>
            </a:r>
            <a:r>
              <a:rPr lang="en-US" altLang="zh-TW" sz="2000" dirty="0"/>
              <a:t> </a:t>
            </a:r>
            <a:r>
              <a:rPr lang="en-US" altLang="zh-TW" sz="2000" i="1" dirty="0"/>
              <a:t>b</a:t>
            </a:r>
            <a:r>
              <a:rPr lang="en-US" altLang="zh-TW" sz="2000" dirty="0"/>
              <a:t> = 1, ..., </a:t>
            </a:r>
            <a:r>
              <a:rPr lang="en-US" altLang="zh-TW" sz="2000" i="1" dirty="0"/>
              <a:t>B</a:t>
            </a:r>
            <a:r>
              <a:rPr lang="en-US" altLang="zh-TW" sz="2000" dirty="0" smtClean="0"/>
              <a:t>:</a:t>
            </a:r>
          </a:p>
          <a:p>
            <a:pPr lvl="2"/>
            <a:r>
              <a:rPr lang="en-US" altLang="zh-TW" sz="1800" dirty="0" smtClean="0"/>
              <a:t>Sample</a:t>
            </a:r>
            <a:r>
              <a:rPr lang="en-US" altLang="zh-TW" sz="1800" dirty="0"/>
              <a:t>, with replacement, </a:t>
            </a:r>
            <a:r>
              <a:rPr lang="en-US" altLang="zh-TW" sz="1800" i="1" dirty="0"/>
              <a:t>n</a:t>
            </a:r>
            <a:r>
              <a:rPr lang="en-US" altLang="zh-TW" sz="1800" dirty="0"/>
              <a:t> training examples from </a:t>
            </a:r>
            <a:r>
              <a:rPr lang="en-US" altLang="zh-TW" sz="1800" i="1" dirty="0"/>
              <a:t>X</a:t>
            </a:r>
            <a:r>
              <a:rPr lang="en-US" altLang="zh-TW" sz="1800" dirty="0"/>
              <a:t>, </a:t>
            </a:r>
            <a:r>
              <a:rPr lang="en-US" altLang="zh-TW" sz="1800" i="1" dirty="0"/>
              <a:t>Y</a:t>
            </a:r>
            <a:r>
              <a:rPr lang="en-US" altLang="zh-TW" sz="1800" dirty="0"/>
              <a:t>; call these </a:t>
            </a:r>
            <a:r>
              <a:rPr lang="en-US" altLang="zh-TW" sz="1800" i="1" dirty="0" err="1"/>
              <a:t>X</a:t>
            </a:r>
            <a:r>
              <a:rPr lang="en-US" altLang="zh-TW" sz="1800" i="1" baseline="-25000" dirty="0" err="1"/>
              <a:t>b</a:t>
            </a:r>
            <a:r>
              <a:rPr lang="en-US" altLang="zh-TW" sz="1800" dirty="0"/>
              <a:t>, </a:t>
            </a:r>
            <a:r>
              <a:rPr lang="en-US" altLang="zh-TW" sz="1800" i="1" dirty="0" err="1"/>
              <a:t>Y</a:t>
            </a:r>
            <a:r>
              <a:rPr lang="en-US" altLang="zh-TW" sz="1800" i="1" baseline="-25000" dirty="0" err="1"/>
              <a:t>b</a:t>
            </a:r>
            <a:r>
              <a:rPr lang="en-US" altLang="zh-TW" sz="1800" dirty="0"/>
              <a:t>.</a:t>
            </a:r>
          </a:p>
          <a:p>
            <a:pPr lvl="2"/>
            <a:r>
              <a:rPr lang="en-US" altLang="zh-TW" sz="1800" dirty="0"/>
              <a:t>Train a classification or regression tree </a:t>
            </a:r>
            <a:r>
              <a:rPr lang="en-US" altLang="zh-TW" sz="1800" i="1" dirty="0"/>
              <a:t>f</a:t>
            </a:r>
            <a:r>
              <a:rPr lang="en-US" altLang="zh-TW" sz="1800" i="1" baseline="-25000" dirty="0"/>
              <a:t>b</a:t>
            </a:r>
            <a:r>
              <a:rPr lang="en-US" altLang="zh-TW" sz="1800" dirty="0"/>
              <a:t> on </a:t>
            </a:r>
            <a:r>
              <a:rPr lang="en-US" altLang="zh-TW" sz="1800" i="1" dirty="0" err="1"/>
              <a:t>X</a:t>
            </a:r>
            <a:r>
              <a:rPr lang="en-US" altLang="zh-TW" sz="1800" i="1" baseline="-25000" dirty="0" err="1"/>
              <a:t>b</a:t>
            </a:r>
            <a:r>
              <a:rPr lang="en-US" altLang="zh-TW" sz="1800" dirty="0"/>
              <a:t>, </a:t>
            </a:r>
            <a:r>
              <a:rPr lang="en-US" altLang="zh-TW" sz="1800" i="1" dirty="0" err="1"/>
              <a:t>Y</a:t>
            </a:r>
            <a:r>
              <a:rPr lang="en-US" altLang="zh-TW" sz="1800" i="1" baseline="-25000" dirty="0" err="1"/>
              <a:t>b</a:t>
            </a:r>
            <a:r>
              <a:rPr lang="en-US" altLang="zh-TW" sz="1800" dirty="0" smtClean="0"/>
              <a:t>.</a:t>
            </a:r>
          </a:p>
          <a:p>
            <a:r>
              <a:rPr lang="en-US" altLang="zh-TW" sz="2400" dirty="0" smtClean="0"/>
              <a:t>Prediction for </a:t>
            </a:r>
            <a:r>
              <a:rPr lang="en-US" altLang="zh-TW" sz="2400" dirty="0"/>
              <a:t>unseen samples </a:t>
            </a:r>
            <a:r>
              <a:rPr lang="en-US" altLang="zh-TW" sz="2400" i="1" dirty="0"/>
              <a:t>x'</a:t>
            </a:r>
            <a:r>
              <a:rPr lang="en-US" altLang="zh-TW" sz="2400" dirty="0"/>
              <a:t> </a:t>
            </a:r>
            <a:endParaRPr lang="en-US" altLang="zh-TW" sz="2400" dirty="0" smtClean="0"/>
          </a:p>
          <a:p>
            <a:pPr lvl="1"/>
            <a:r>
              <a:rPr lang="en-US" altLang="zh-TW" sz="2000" dirty="0" smtClean="0"/>
              <a:t>Averaging </a:t>
            </a:r>
            <a:r>
              <a:rPr lang="en-US" altLang="zh-TW" sz="2000" dirty="0"/>
              <a:t>the predictions from all the individual regression trees on </a:t>
            </a:r>
            <a:r>
              <a:rPr lang="en-US" altLang="zh-TW" sz="2000" i="1" dirty="0" smtClean="0"/>
              <a:t>x'</a:t>
            </a:r>
            <a:endParaRPr lang="en-US" altLang="zh-TW" sz="2000" dirty="0"/>
          </a:p>
          <a:p>
            <a:pPr lvl="1"/>
            <a:r>
              <a:rPr lang="en-US" altLang="zh-TW" sz="2000" dirty="0"/>
              <a:t>or by taking the majority vote in the case of classification </a:t>
            </a:r>
            <a:r>
              <a:rPr lang="en-US" altLang="zh-TW" sz="2000" dirty="0" smtClean="0"/>
              <a:t>trees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416547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From </a:t>
            </a:r>
            <a:r>
              <a:rPr lang="en-US" altLang="zh-TW" sz="4000" dirty="0" smtClean="0"/>
              <a:t>Bagging </a:t>
            </a:r>
            <a:r>
              <a:rPr lang="en-US" altLang="zh-TW" sz="4000" dirty="0"/>
              <a:t>to </a:t>
            </a:r>
            <a:r>
              <a:rPr lang="en-US" altLang="zh-TW" sz="4000" dirty="0" smtClean="0"/>
              <a:t>Random Forests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2800" dirty="0"/>
              <a:t>Random </a:t>
            </a:r>
            <a:r>
              <a:rPr lang="en-US" altLang="zh-TW" sz="2800" dirty="0" smtClean="0"/>
              <a:t>subspace</a:t>
            </a:r>
          </a:p>
          <a:p>
            <a:pPr lvl="1"/>
            <a:r>
              <a:rPr lang="en-US" altLang="zh-TW" sz="2400" dirty="0" smtClean="0"/>
              <a:t>Select a </a:t>
            </a:r>
            <a:r>
              <a:rPr lang="en-US" altLang="zh-TW" sz="2400" dirty="0">
                <a:solidFill>
                  <a:srgbClr val="FF0000"/>
                </a:solidFill>
              </a:rPr>
              <a:t>random subset of the </a:t>
            </a:r>
            <a:r>
              <a:rPr lang="en-US" altLang="zh-TW" sz="2400" dirty="0" smtClean="0">
                <a:solidFill>
                  <a:srgbClr val="FF0000"/>
                </a:solidFill>
              </a:rPr>
              <a:t>features </a:t>
            </a:r>
            <a:r>
              <a:rPr lang="en-US" altLang="zh-TW" sz="2400" dirty="0" smtClean="0"/>
              <a:t>at </a:t>
            </a:r>
            <a:r>
              <a:rPr lang="en-US" altLang="zh-TW" sz="2400" dirty="0"/>
              <a:t>each candidate split in the learning </a:t>
            </a:r>
            <a:r>
              <a:rPr lang="en-US" altLang="zh-TW" sz="2400" dirty="0" smtClean="0"/>
              <a:t>process</a:t>
            </a:r>
          </a:p>
          <a:p>
            <a:pPr lvl="1"/>
            <a:r>
              <a:rPr lang="en-US" altLang="zh-TW" sz="2400" dirty="0" smtClean="0"/>
              <a:t>Typically setting</a:t>
            </a:r>
          </a:p>
          <a:p>
            <a:pPr lvl="2"/>
            <a:r>
              <a:rPr lang="en-US" altLang="zh-TW" sz="2000" dirty="0" smtClean="0"/>
              <a:t>For classification </a:t>
            </a:r>
            <a:r>
              <a:rPr lang="en-US" altLang="zh-TW" sz="2000" dirty="0"/>
              <a:t>problem with </a:t>
            </a:r>
            <a:r>
              <a:rPr lang="en-US" altLang="zh-TW" sz="2000" i="1" dirty="0"/>
              <a:t>p</a:t>
            </a:r>
            <a:r>
              <a:rPr lang="en-US" altLang="zh-TW" sz="2000" dirty="0"/>
              <a:t> features, √</a:t>
            </a:r>
            <a:r>
              <a:rPr lang="en-US" altLang="zh-TW" sz="2000" i="1" dirty="0"/>
              <a:t>p</a:t>
            </a:r>
            <a:r>
              <a:rPr lang="en-US" altLang="zh-TW" sz="2000" dirty="0"/>
              <a:t> (rounded down) features are used in each </a:t>
            </a:r>
            <a:r>
              <a:rPr lang="en-US" altLang="zh-TW" sz="2000" dirty="0" smtClean="0"/>
              <a:t>split.</a:t>
            </a:r>
          </a:p>
          <a:p>
            <a:pPr lvl="2"/>
            <a:r>
              <a:rPr lang="en-US" altLang="zh-TW" sz="2000" dirty="0" smtClean="0"/>
              <a:t>For </a:t>
            </a:r>
            <a:r>
              <a:rPr lang="en-US" altLang="zh-TW" sz="2000" dirty="0"/>
              <a:t>regression </a:t>
            </a:r>
            <a:r>
              <a:rPr lang="en-US" altLang="zh-TW" sz="2000" dirty="0" smtClean="0"/>
              <a:t>problems,</a:t>
            </a:r>
            <a:r>
              <a:rPr lang="en-US" altLang="zh-TW" sz="2000" dirty="0"/>
              <a:t> </a:t>
            </a:r>
            <a:r>
              <a:rPr lang="en-US" altLang="zh-TW" sz="2000" i="1" dirty="0"/>
              <a:t>p/3</a:t>
            </a:r>
            <a:r>
              <a:rPr lang="en-US" altLang="zh-TW" sz="2000" dirty="0"/>
              <a:t> (rounded down) with a minimum node size of 5 as the default.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7601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肥皂">
  <a:themeElements>
    <a:clrScheme name="肥皂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肥皂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肥皂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TM03457510[[fn=肥皂]]</Template>
  <TotalTime>14480</TotalTime>
  <Words>2549</Words>
  <Application>Microsoft Office PowerPoint</Application>
  <PresentationFormat>如螢幕大小 (4:3)</PresentationFormat>
  <Paragraphs>375</Paragraphs>
  <Slides>64</Slides>
  <Notes>20</Notes>
  <HiddenSlides>0</HiddenSlides>
  <MMClips>0</MMClips>
  <ScaleCrop>false</ScaleCrop>
  <HeadingPairs>
    <vt:vector size="8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64</vt:i4>
      </vt:variant>
    </vt:vector>
  </HeadingPairs>
  <TitlesOfParts>
    <vt:vector size="75" baseType="lpstr">
      <vt:lpstr>Arial Unicode MS</vt:lpstr>
      <vt:lpstr>SymbolMT</vt:lpstr>
      <vt:lpstr>SymbolPS</vt:lpstr>
      <vt:lpstr>新細明體</vt:lpstr>
      <vt:lpstr>Arial</vt:lpstr>
      <vt:lpstr>Century Gothic</vt:lpstr>
      <vt:lpstr>Garamond</vt:lpstr>
      <vt:lpstr>Wingdings</vt:lpstr>
      <vt:lpstr>肥皂</vt:lpstr>
      <vt:lpstr>方程式</vt:lpstr>
      <vt:lpstr>Equation</vt:lpstr>
      <vt:lpstr>KNN and Decision Tree</vt:lpstr>
      <vt:lpstr>KNN</vt:lpstr>
      <vt:lpstr>Instance Based Learning</vt:lpstr>
      <vt:lpstr>Instance Based Learning</vt:lpstr>
      <vt:lpstr>k-Nearest Neighbor</vt:lpstr>
      <vt:lpstr>k-Nearest Neighbor</vt:lpstr>
      <vt:lpstr>k-Nearest Neighbor</vt:lpstr>
      <vt:lpstr>Voronoi Diagram</vt:lpstr>
      <vt:lpstr>When to Consider Neighbor</vt:lpstr>
      <vt:lpstr>Distance Weighted kNN</vt:lpstr>
      <vt:lpstr>Distance Weighted kNN</vt:lpstr>
      <vt:lpstr>Curse of Dimensionality</vt:lpstr>
      <vt:lpstr>Curse of Dimensionality</vt:lpstr>
      <vt:lpstr>Locally Weighted Regression</vt:lpstr>
      <vt:lpstr>Locally Weighted Regression</vt:lpstr>
      <vt:lpstr>Locally Weighted Regression</vt:lpstr>
      <vt:lpstr>Radial Basis Function Networks</vt:lpstr>
      <vt:lpstr>Radial Basis Function Networks</vt:lpstr>
      <vt:lpstr>Training Radial Basis Function Networks</vt:lpstr>
      <vt:lpstr>Training Radial Basis Function Networks</vt:lpstr>
      <vt:lpstr>Decision Tree</vt:lpstr>
      <vt:lpstr>PlayTennis Problem</vt:lpstr>
      <vt:lpstr>Decision Tree for PlayTennis</vt:lpstr>
      <vt:lpstr>Decision Tree</vt:lpstr>
      <vt:lpstr>Decision Tree</vt:lpstr>
      <vt:lpstr>Appropriate Problem for Decision Tree Learning</vt:lpstr>
      <vt:lpstr>Appropriate Problem for Decision Tree Learning</vt:lpstr>
      <vt:lpstr>Basic Decision Tree Learning Algorithm</vt:lpstr>
      <vt:lpstr>ID3 Algorithm Specialized to Learn Boolean-Valued Functions</vt:lpstr>
      <vt:lpstr>Which Attribute Is Best?</vt:lpstr>
      <vt:lpstr>Entropy (Boolean Classification)</vt:lpstr>
      <vt:lpstr>Entropy (Boolean Classification)</vt:lpstr>
      <vt:lpstr>Entropy (Boolean Classification)</vt:lpstr>
      <vt:lpstr>Entropy</vt:lpstr>
      <vt:lpstr>Entropy</vt:lpstr>
      <vt:lpstr>Information Gain</vt:lpstr>
      <vt:lpstr>Example</vt:lpstr>
      <vt:lpstr>Example</vt:lpstr>
      <vt:lpstr>Example</vt:lpstr>
      <vt:lpstr>Example</vt:lpstr>
      <vt:lpstr>Overfitting in Decision Trees</vt:lpstr>
      <vt:lpstr>Overfitting in Decision Trees</vt:lpstr>
      <vt:lpstr>Overfitting</vt:lpstr>
      <vt:lpstr>Overfitting</vt:lpstr>
      <vt:lpstr>Overfitting</vt:lpstr>
      <vt:lpstr>Avoiding Overfitting</vt:lpstr>
      <vt:lpstr>Avoiding Overfitting</vt:lpstr>
      <vt:lpstr>Reduced-Error Pruning</vt:lpstr>
      <vt:lpstr>Reduced-Error Pruning</vt:lpstr>
      <vt:lpstr>Reduced-Error Pruning</vt:lpstr>
      <vt:lpstr>Rule Post-Pruning</vt:lpstr>
      <vt:lpstr>Rule Post-Pruning</vt:lpstr>
      <vt:lpstr>Continuous Valued Attributes</vt:lpstr>
      <vt:lpstr>Continuous Valued Attributes</vt:lpstr>
      <vt:lpstr>Continuous Valued Attributes</vt:lpstr>
      <vt:lpstr>Attributes with Many Values</vt:lpstr>
      <vt:lpstr>Attributes with Many Values</vt:lpstr>
      <vt:lpstr>Attributes with Many Values</vt:lpstr>
      <vt:lpstr>Unknown Attribute Values</vt:lpstr>
      <vt:lpstr>Attributes with Costs</vt:lpstr>
      <vt:lpstr>Attributes with Costs</vt:lpstr>
      <vt:lpstr>Random Forest</vt:lpstr>
      <vt:lpstr>Tree Bagging (Bootstrap aggregating)</vt:lpstr>
      <vt:lpstr>From Bagging to Random Forests</vt:lpstr>
    </vt:vector>
  </TitlesOfParts>
  <Company>CMT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creator>denislin</dc:creator>
  <cp:lastModifiedBy>denislin</cp:lastModifiedBy>
  <cp:revision>201</cp:revision>
  <dcterms:created xsi:type="dcterms:W3CDTF">2006-05-03T12:31:43Z</dcterms:created>
  <dcterms:modified xsi:type="dcterms:W3CDTF">2021-09-24T11:27:06Z</dcterms:modified>
</cp:coreProperties>
</file>