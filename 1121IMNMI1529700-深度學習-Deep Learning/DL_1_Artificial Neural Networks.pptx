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06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6" r:id="rId42"/>
    <p:sldId id="295" r:id="rId43"/>
    <p:sldId id="307" r:id="rId44"/>
    <p:sldId id="298" r:id="rId45"/>
    <p:sldId id="297" r:id="rId46"/>
    <p:sldId id="308" r:id="rId47"/>
    <p:sldId id="309" r:id="rId48"/>
    <p:sldId id="310" r:id="rId49"/>
    <p:sldId id="299" r:id="rId50"/>
    <p:sldId id="300" r:id="rId51"/>
    <p:sldId id="301" r:id="rId52"/>
    <p:sldId id="302" r:id="rId53"/>
    <p:sldId id="303" r:id="rId54"/>
    <p:sldId id="305" r:id="rId5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3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E27744-2787-47FA-A524-A53FAEE2997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DAC45BE-1D78-4A0F-AE04-6C8BC3A6960B}" type="slidenum">
              <a:rPr lang="en-US" altLang="zh-TW"/>
              <a:pPr eaLnBrk="1" hangingPunct="1"/>
              <a:t>1</a:t>
            </a:fld>
            <a:endParaRPr lang="en-US" altLang="zh-TW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2A32B27-E317-472E-A540-01EE1FB63E93}" type="slidenum">
              <a:rPr lang="en-US" altLang="zh-TW"/>
              <a:pPr eaLnBrk="1" hangingPunct="1"/>
              <a:t>2</a:t>
            </a:fld>
            <a:endParaRPr lang="en-US" altLang="zh-TW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2D60435-6884-436F-9D4A-0140535195BA}" type="slidenum">
              <a:rPr lang="en-US" altLang="zh-TW"/>
              <a:pPr eaLnBrk="1" hangingPunct="1"/>
              <a:t>3</a:t>
            </a:fld>
            <a:endParaRPr lang="en-US" altLang="zh-TW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6EBFA46-3258-4990-8D5E-9C6E173EA1B8}" type="slidenum">
              <a:rPr lang="en-US" altLang="zh-TW"/>
              <a:pPr eaLnBrk="1" hangingPunct="1"/>
              <a:t>4</a:t>
            </a:fld>
            <a:endParaRPr lang="en-US" altLang="zh-TW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81F6DFF-D165-4BD6-8EE8-52C7C1F178EC}" type="slidenum">
              <a:rPr lang="en-US" altLang="zh-TW"/>
              <a:pPr eaLnBrk="1" hangingPunct="1"/>
              <a:t>5</a:t>
            </a:fld>
            <a:endParaRPr lang="en-US" altLang="zh-TW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5423622-FD0E-493B-A3A1-11D99EEBDADF}" type="slidenum">
              <a:rPr lang="en-US" altLang="zh-TW"/>
              <a:pPr eaLnBrk="1" hangingPunct="1"/>
              <a:t>6</a:t>
            </a:fld>
            <a:endParaRPr lang="en-US" altLang="zh-TW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2E5F287-6335-4A48-A641-5ABFEA33E159}" type="slidenum">
              <a:rPr lang="en-US" altLang="zh-TW"/>
              <a:pPr eaLnBrk="1" hangingPunct="1"/>
              <a:t>7</a:t>
            </a:fld>
            <a:endParaRPr lang="en-US" altLang="zh-TW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2EF7E26-3444-489D-8E52-6460FFBC4806}" type="slidenum">
              <a:rPr lang="en-US" altLang="zh-TW"/>
              <a:pPr eaLnBrk="1" hangingPunct="1"/>
              <a:t>8</a:t>
            </a:fld>
            <a:endParaRPr lang="en-US" altLang="zh-TW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081DF0C-4F8F-4F86-B5BE-E3416F9EEFDF}" type="slidenum">
              <a:rPr lang="en-US" altLang="zh-TW"/>
              <a:pPr eaLnBrk="1" hangingPunct="1"/>
              <a:t>9</a:t>
            </a:fld>
            <a:endParaRPr lang="en-US" altLang="zh-TW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86455E2-4C39-4DB4-911B-FDA8014689D7}" type="slidenum">
              <a:rPr lang="en-US" altLang="zh-TW"/>
              <a:pPr eaLnBrk="1" hangingPunct="1"/>
              <a:t>10</a:t>
            </a:fld>
            <a:endParaRPr lang="en-US" altLang="zh-TW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0348B95-DE17-4F44-B1B9-67C7BEA1A3A9}" type="slidenum">
              <a:rPr lang="en-US" altLang="zh-TW"/>
              <a:pPr eaLnBrk="1" hangingPunct="1"/>
              <a:t>11</a:t>
            </a:fld>
            <a:endParaRPr lang="en-US" altLang="zh-TW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2AC9F52-E942-4033-A580-78D9C805402D}" type="slidenum">
              <a:rPr lang="en-US" altLang="zh-TW"/>
              <a:pPr eaLnBrk="1" hangingPunct="1"/>
              <a:t>12</a:t>
            </a:fld>
            <a:endParaRPr lang="en-US" altLang="zh-TW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F5FC192-2466-4863-B7C0-4511ACA47298}" type="slidenum">
              <a:rPr lang="en-US" altLang="zh-TW"/>
              <a:pPr eaLnBrk="1" hangingPunct="1"/>
              <a:t>13</a:t>
            </a:fld>
            <a:endParaRPr lang="en-US" altLang="zh-TW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F24E140-4E79-40B9-A310-127542CDC7CF}" type="slidenum">
              <a:rPr lang="en-US" altLang="zh-TW"/>
              <a:pPr eaLnBrk="1" hangingPunct="1"/>
              <a:t>14</a:t>
            </a:fld>
            <a:endParaRPr lang="en-US" altLang="zh-TW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E1921BA-09AC-4201-95BE-1174ED1CFD93}" type="slidenum">
              <a:rPr lang="en-US" altLang="zh-TW"/>
              <a:pPr eaLnBrk="1" hangingPunct="1"/>
              <a:t>15</a:t>
            </a:fld>
            <a:endParaRPr lang="en-US" altLang="zh-TW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11B19BE-58B7-4AA0-8BD5-DFCB07EEFB35}" type="slidenum">
              <a:rPr lang="en-US" altLang="zh-TW"/>
              <a:pPr eaLnBrk="1" hangingPunct="1"/>
              <a:t>16</a:t>
            </a:fld>
            <a:endParaRPr lang="en-US" altLang="zh-TW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B6475DF-1691-4377-A43C-114812722BAF}" type="slidenum">
              <a:rPr lang="en-US" altLang="zh-TW"/>
              <a:pPr eaLnBrk="1" hangingPunct="1"/>
              <a:t>17</a:t>
            </a:fld>
            <a:endParaRPr lang="en-US" altLang="zh-TW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BC70A21-42B3-4E75-B431-6586FE58F422}" type="slidenum">
              <a:rPr lang="en-US" altLang="zh-TW"/>
              <a:pPr eaLnBrk="1" hangingPunct="1"/>
              <a:t>18</a:t>
            </a:fld>
            <a:endParaRPr lang="en-US" altLang="zh-TW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E3432B3-9038-498E-A95A-64ED0586722F}" type="slidenum">
              <a:rPr lang="en-US" altLang="zh-TW"/>
              <a:pPr eaLnBrk="1" hangingPunct="1"/>
              <a:t>19</a:t>
            </a:fld>
            <a:endParaRPr lang="en-US" altLang="zh-TW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971FF61C-5986-4809-B39D-7EBB6DBE5DF1}" type="slidenum">
              <a:rPr lang="en-US" altLang="zh-TW"/>
              <a:pPr eaLnBrk="1" hangingPunct="1"/>
              <a:t>20</a:t>
            </a:fld>
            <a:endParaRPr lang="en-US" altLang="zh-TW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279A40-7597-48A9-BEDC-EC21A21756DD}" type="slidenum">
              <a:rPr lang="en-US" altLang="zh-TW"/>
              <a:pPr eaLnBrk="1" hangingPunct="1"/>
              <a:t>21</a:t>
            </a:fld>
            <a:endParaRPr lang="en-US" altLang="zh-TW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437BCC3-45B2-496A-8FC6-FFECBA7FF459}" type="slidenum">
              <a:rPr lang="en-US" altLang="zh-TW"/>
              <a:pPr eaLnBrk="1" hangingPunct="1"/>
              <a:t>22</a:t>
            </a:fld>
            <a:endParaRPr lang="en-US" altLang="zh-TW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F508567-EB37-42AB-9647-7804AC6C1FD4}" type="slidenum">
              <a:rPr lang="en-US" altLang="zh-TW"/>
              <a:pPr eaLnBrk="1" hangingPunct="1"/>
              <a:t>23</a:t>
            </a:fld>
            <a:endParaRPr lang="en-US" altLang="zh-TW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9A93E69E-C6B0-448C-9E9D-0B9CFF5620F1}" type="slidenum">
              <a:rPr lang="en-US" altLang="zh-TW"/>
              <a:pPr eaLnBrk="1" hangingPunct="1"/>
              <a:t>24</a:t>
            </a:fld>
            <a:endParaRPr lang="en-US" altLang="zh-TW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A2D6730-5053-4B86-8296-B411BF8CC558}" type="slidenum">
              <a:rPr lang="en-US" altLang="zh-TW"/>
              <a:pPr eaLnBrk="1" hangingPunct="1"/>
              <a:t>25</a:t>
            </a:fld>
            <a:endParaRPr lang="en-US" altLang="zh-TW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C8B78D5-91AD-4D85-AC01-EFAA13A092B6}" type="slidenum">
              <a:rPr lang="en-US" altLang="zh-TW"/>
              <a:pPr eaLnBrk="1" hangingPunct="1"/>
              <a:t>26</a:t>
            </a:fld>
            <a:endParaRPr lang="en-US" altLang="zh-TW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6F27F7-39A0-460A-AF8A-B16F83290551}" type="slidenum">
              <a:rPr lang="en-US" altLang="zh-TW"/>
              <a:pPr eaLnBrk="1" hangingPunct="1"/>
              <a:t>27</a:t>
            </a:fld>
            <a:endParaRPr lang="en-US" altLang="zh-TW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62F68D7-7BE6-42B2-A43B-E090A23FEF6B}" type="slidenum">
              <a:rPr lang="en-US" altLang="zh-TW"/>
              <a:pPr eaLnBrk="1" hangingPunct="1"/>
              <a:t>28</a:t>
            </a:fld>
            <a:endParaRPr lang="en-US" altLang="zh-TW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BC2243F-EE6A-41F9-8BD3-E8800173608A}" type="slidenum">
              <a:rPr lang="en-US" altLang="zh-TW"/>
              <a:pPr eaLnBrk="1" hangingPunct="1"/>
              <a:t>29</a:t>
            </a:fld>
            <a:endParaRPr lang="en-US" altLang="zh-TW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C89130B-96A2-4BFE-B85B-54A3A338632C}" type="slidenum">
              <a:rPr lang="en-US" altLang="zh-TW"/>
              <a:pPr eaLnBrk="1" hangingPunct="1"/>
              <a:t>30</a:t>
            </a:fld>
            <a:endParaRPr lang="en-US" altLang="zh-TW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D8AE238-368B-4313-A73F-A650B82034C6}" type="slidenum">
              <a:rPr lang="en-US" altLang="zh-TW"/>
              <a:pPr eaLnBrk="1" hangingPunct="1"/>
              <a:t>32</a:t>
            </a:fld>
            <a:endParaRPr lang="en-US" altLang="zh-TW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136BAFE-495B-4FAD-A23D-DBA38666EFEC}" type="slidenum">
              <a:rPr lang="en-US" altLang="zh-TW"/>
              <a:pPr eaLnBrk="1" hangingPunct="1"/>
              <a:t>33</a:t>
            </a:fld>
            <a:endParaRPr lang="en-US" altLang="zh-TW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997753EC-7AC1-4E0F-9685-3CA211279F12}" type="slidenum">
              <a:rPr lang="en-US" altLang="zh-TW"/>
              <a:pPr eaLnBrk="1" hangingPunct="1"/>
              <a:t>34</a:t>
            </a:fld>
            <a:endParaRPr lang="en-US" altLang="zh-TW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3E2A3E7-BE2D-4780-B457-0B490CFA5B26}" type="slidenum">
              <a:rPr lang="en-US" altLang="zh-TW"/>
              <a:pPr eaLnBrk="1" hangingPunct="1"/>
              <a:t>35</a:t>
            </a:fld>
            <a:endParaRPr lang="en-US" altLang="zh-TW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CF3398F-1253-43BF-BB38-E5505BD84D56}" type="slidenum">
              <a:rPr lang="en-US" altLang="zh-TW"/>
              <a:pPr eaLnBrk="1" hangingPunct="1"/>
              <a:t>36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70DC718-43B5-4529-B8EE-879628E48F2F}" type="slidenum">
              <a:rPr lang="en-US" altLang="zh-TW"/>
              <a:pPr eaLnBrk="1" hangingPunct="1"/>
              <a:t>37</a:t>
            </a:fld>
            <a:endParaRPr lang="en-US" altLang="zh-TW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5C7AC77-4E15-4B2F-AF4C-518A2E50941F}" type="slidenum">
              <a:rPr lang="en-US" altLang="zh-TW"/>
              <a:pPr eaLnBrk="1" hangingPunct="1"/>
              <a:t>38</a:t>
            </a:fld>
            <a:endParaRPr lang="en-US" altLang="zh-TW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FC53F45-9029-458D-A76A-6BC13293A4FF}" type="slidenum">
              <a:rPr lang="en-US" altLang="zh-TW"/>
              <a:pPr eaLnBrk="1" hangingPunct="1"/>
              <a:t>39</a:t>
            </a:fld>
            <a:endParaRPr lang="en-US" altLang="zh-TW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EA8FFD0-7C0D-48BF-9B0D-48CACBF7E80F}" type="slidenum">
              <a:rPr lang="en-US" altLang="zh-TW"/>
              <a:pPr eaLnBrk="1" hangingPunct="1"/>
              <a:t>40</a:t>
            </a:fld>
            <a:endParaRPr lang="en-US" altLang="zh-TW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2E2B190-0D8B-4305-835C-DBD590FEFA66}" type="slidenum">
              <a:rPr lang="en-US" altLang="zh-TW"/>
              <a:pPr eaLnBrk="1" hangingPunct="1"/>
              <a:t>41</a:t>
            </a:fld>
            <a:endParaRPr lang="en-US" altLang="zh-TW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55DBAFA-31BA-4884-82E7-4AA9132435F3}" type="slidenum">
              <a:rPr lang="en-US" altLang="zh-TW"/>
              <a:pPr eaLnBrk="1" hangingPunct="1"/>
              <a:t>42</a:t>
            </a:fld>
            <a:endParaRPr lang="en-US" altLang="zh-TW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7FE7F25-2968-4BA1-A3C7-9056F4B06D5A}" type="slidenum">
              <a:rPr lang="en-US" altLang="zh-TW"/>
              <a:pPr eaLnBrk="1" hangingPunct="1"/>
              <a:t>44</a:t>
            </a:fld>
            <a:endParaRPr lang="en-US" altLang="zh-TW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2DD77BB-20F2-451A-B643-B64CEEDF91F8}" type="slidenum">
              <a:rPr lang="en-US" altLang="zh-TW"/>
              <a:pPr eaLnBrk="1" hangingPunct="1"/>
              <a:t>45</a:t>
            </a:fld>
            <a:endParaRPr lang="en-US" altLang="zh-TW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B9A11FF-8702-414E-832A-FDE9349C3D07}" type="slidenum">
              <a:rPr lang="en-US" altLang="zh-TW"/>
              <a:pPr eaLnBrk="1" hangingPunct="1"/>
              <a:t>49</a:t>
            </a:fld>
            <a:endParaRPr lang="en-US" altLang="zh-TW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3FE54AF-136F-49A3-BB50-6ECDDBF44049}" type="slidenum">
              <a:rPr lang="en-US" altLang="zh-TW"/>
              <a:pPr eaLnBrk="1" hangingPunct="1"/>
              <a:t>50</a:t>
            </a:fld>
            <a:endParaRPr lang="en-US" altLang="zh-TW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C9A9241-5117-4700-BF5C-C687BEE94E90}" type="slidenum">
              <a:rPr lang="en-US" altLang="zh-TW"/>
              <a:pPr eaLnBrk="1" hangingPunct="1"/>
              <a:t>51</a:t>
            </a:fld>
            <a:endParaRPr lang="en-US" altLang="zh-TW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294A7CC-6D14-47F2-A4AB-AFD2A9450507}" type="slidenum">
              <a:rPr lang="en-US" altLang="zh-TW"/>
              <a:pPr eaLnBrk="1" hangingPunct="1"/>
              <a:t>52</a:t>
            </a:fld>
            <a:endParaRPr lang="en-US" altLang="zh-TW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3940B6F-FF37-49B0-B2CA-358A5830D15C}" type="slidenum">
              <a:rPr lang="en-US" altLang="zh-TW"/>
              <a:pPr eaLnBrk="1" hangingPunct="1"/>
              <a:t>53</a:t>
            </a:fld>
            <a:endParaRPr lang="en-US" altLang="zh-TW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C8C7ED9-1C56-4783-9CA4-E99D34E44A5A}" type="slidenum">
              <a:rPr lang="en-US" altLang="zh-TW"/>
              <a:pPr eaLnBrk="1" hangingPunct="1"/>
              <a:t>54</a:t>
            </a:fld>
            <a:endParaRPr lang="en-US" altLang="zh-TW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0F220-74D6-4883-BC89-37B4F214E16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9936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364E2E-347A-4E82-8732-861D2E2664A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887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749281-0BCD-4BA2-B0F6-4F4FC5D7845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5630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5DEB40-1E1A-4BBF-9A37-86EDB2B1231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6388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ED7D6D-DA93-48AF-9006-18F03589CE9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4131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F23F6-9BEB-49DC-B783-B9996F9D10F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9805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7ACDE1-0FB7-46FC-84A9-232989E60BD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784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C1CCF-CE5C-417B-9A63-C6E5F002DDB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6883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/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B48EE1-27F4-42BB-896D-3B54888DC99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447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3FD74-94CA-4CCE-834E-1D4BBA4CB2F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3145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E952FA-B7C3-4C37-AE28-7CAE55DA7B3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3847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8CA59F8-58D9-4DB2-8CF7-FBEB0E9FDBA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875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3F3F3"/>
            </a:gs>
            <a:gs pos="100000">
              <a:srgbClr val="D2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7"/>
          <p:cNvPicPr>
            <a:picLocks noChangeAspect="1"/>
          </p:cNvPicPr>
          <p:nvPr/>
        </p:nvPicPr>
        <p:blipFill>
          <a:blip r:embed="rId14">
            <a:lum bright="26000" contrast="32000"/>
          </a:blip>
          <a:srcRect/>
          <a:stretch>
            <a:fillRect/>
          </a:stretch>
        </p:blipFill>
        <p:spPr bwMode="auto">
          <a:xfrm>
            <a:off x="6667500" y="4914900"/>
            <a:ext cx="24765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pic>
        <p:nvPicPr>
          <p:cNvPr id="1033" name="圖片 8"/>
          <p:cNvPicPr>
            <a:picLocks noChangeAspect="1"/>
          </p:cNvPicPr>
          <p:nvPr/>
        </p:nvPicPr>
        <p:blipFill>
          <a:blip r:embed="rId15">
            <a:lum bright="50000" contrast="6000"/>
          </a:blip>
          <a:srcRect/>
          <a:stretch>
            <a:fillRect/>
          </a:stretch>
        </p:blipFill>
        <p:spPr bwMode="auto">
          <a:xfrm>
            <a:off x="0" y="6419850"/>
            <a:ext cx="91440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3322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smtClean="0"/>
          </a:p>
        </p:txBody>
      </p:sp>
      <p:sp>
        <p:nvSpPr>
          <p:cNvPr id="13323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</a:defRPr>
            </a:lvl1pPr>
          </a:lstStyle>
          <a:p>
            <a:fld id="{94A6CB70-68A2-47EF-87B0-D30D7128E8D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6" r:id="rId2"/>
    <p:sldLayoutId id="214748372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 pitchFamily="34" charset="0"/>
          <a:ea typeface="微軟正黑體" pitchFamily="34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 pitchFamily="34" charset="0"/>
          <a:ea typeface="微軟正黑體" pitchFamily="34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 pitchFamily="34" charset="0"/>
          <a:ea typeface="微軟正黑體" pitchFamily="34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 pitchFamily="34" charset="0"/>
          <a:ea typeface="微軟正黑體" pitchFamily="34" charset="-12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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 2" panose="05020102010507070707" pitchFamily="18" charset="2"/>
        <a:buChar char="³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B9B57"/>
        </a:buClr>
        <a:buSzPct val="60000"/>
        <a:buFont typeface="Wingdings 2" panose="05020102010507070707" pitchFamily="18" charset="2"/>
        <a:buChar char="®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B7396"/>
        </a:buClr>
        <a:buSzPct val="45000"/>
        <a:buFont typeface="Wingdings 2" panose="05020102010507070707" pitchFamily="18" charset="2"/>
        <a:buChar char="¯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E89A5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7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7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25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73163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TW" smtClean="0"/>
              <a:t>Artificial Neural Networks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7388" y="2643188"/>
            <a:ext cx="6670675" cy="1752600"/>
          </a:xfrm>
        </p:spPr>
        <p:txBody>
          <a:bodyPr/>
          <a:lstStyle/>
          <a:p>
            <a:pPr eaLnBrk="1" hangingPunct="1">
              <a:defRPr/>
            </a:pPr>
            <a:endParaRPr lang="zh-TW" altLang="zh-TW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dirty="0" smtClean="0"/>
              <a:t>Two Groups of Researchers about</a:t>
            </a:r>
            <a:br>
              <a:rPr lang="en-US" altLang="zh-TW" sz="4000" dirty="0" smtClean="0"/>
            </a:br>
            <a:r>
              <a:rPr lang="en-US" altLang="zh-TW" sz="4000" dirty="0" smtClean="0"/>
              <a:t>Artificial Neural Networks (ANNs)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Use ANNs to study and model biological learning processes</a:t>
            </a:r>
          </a:p>
          <a:p>
            <a:pPr eaLnBrk="1" hangingPunct="1"/>
            <a:r>
              <a:rPr lang="en-US" altLang="zh-TW" smtClean="0"/>
              <a:t>Obtain highly effective machine learning algorithms inspired by biological neural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Properties of Artificial Neural Nets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Many neuron-like threshold switching units</a:t>
            </a:r>
          </a:p>
          <a:p>
            <a:pPr eaLnBrk="1" hangingPunct="1"/>
            <a:r>
              <a:rPr lang="en-US" altLang="zh-TW" smtClean="0"/>
              <a:t>Many weighted interconnections among units</a:t>
            </a:r>
          </a:p>
          <a:p>
            <a:pPr eaLnBrk="1" hangingPunct="1"/>
            <a:r>
              <a:rPr lang="en-US" altLang="zh-TW" smtClean="0"/>
              <a:t>Highly parallel distributed process</a:t>
            </a:r>
          </a:p>
          <a:p>
            <a:pPr eaLnBrk="1" hangingPunct="1"/>
            <a:r>
              <a:rPr lang="en-US" altLang="zh-TW" smtClean="0"/>
              <a:t>Emphasis on tuning weights automatically</a:t>
            </a:r>
          </a:p>
          <a:p>
            <a:pPr eaLnBrk="1" hangingPunct="1"/>
            <a:endParaRPr lang="en-US" altLang="zh-TW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When to Consider Neural Networks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Input is high-dimensional discrete or real-valued</a:t>
            </a:r>
          </a:p>
          <a:p>
            <a:pPr lvl="1" eaLnBrk="1" hangingPunct="1"/>
            <a:r>
              <a:rPr lang="en-US" altLang="zh-TW" smtClean="0"/>
              <a:t>E.g. raw sensor input</a:t>
            </a:r>
          </a:p>
          <a:p>
            <a:pPr eaLnBrk="1" hangingPunct="1"/>
            <a:r>
              <a:rPr lang="en-US" altLang="zh-TW" smtClean="0"/>
              <a:t>Output is discrete or real valued</a:t>
            </a:r>
          </a:p>
          <a:p>
            <a:pPr eaLnBrk="1" hangingPunct="1"/>
            <a:r>
              <a:rPr lang="en-US" altLang="zh-TW" smtClean="0"/>
              <a:t>Output is a vector of values</a:t>
            </a:r>
          </a:p>
          <a:p>
            <a:pPr eaLnBrk="1" hangingPunct="1"/>
            <a:r>
              <a:rPr lang="en-US" altLang="zh-TW" smtClean="0"/>
              <a:t>Possibly noisy data</a:t>
            </a:r>
          </a:p>
          <a:p>
            <a:pPr eaLnBrk="1" hangingPunct="1"/>
            <a:r>
              <a:rPr lang="en-US" altLang="zh-TW" smtClean="0"/>
              <a:t>Form of target function is unknown</a:t>
            </a:r>
          </a:p>
          <a:p>
            <a:pPr eaLnBrk="1" hangingPunct="1"/>
            <a:r>
              <a:rPr lang="en-US" altLang="zh-TW" smtClean="0"/>
              <a:t>Human readability of result is unimportant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smtClean="0"/>
              <a:t>ALVINN Drives 70 Mph on Highways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36838"/>
            <a:ext cx="2868612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76475"/>
            <a:ext cx="277812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2492375"/>
            <a:ext cx="2824162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7"/>
          <p:cNvSpPr txBox="1">
            <a:spLocks noChangeArrowheads="1"/>
          </p:cNvSpPr>
          <p:nvPr/>
        </p:nvSpPr>
        <p:spPr bwMode="auto">
          <a:xfrm>
            <a:off x="2484438" y="5876925"/>
            <a:ext cx="21034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/>
              <a:t>Input Layer</a:t>
            </a:r>
          </a:p>
          <a:p>
            <a:pPr eaLnBrk="1" hangingPunct="1"/>
            <a:r>
              <a:rPr lang="en-US" altLang="zh-TW" sz="2000"/>
              <a:t>30x32 input units</a:t>
            </a:r>
          </a:p>
        </p:txBody>
      </p:sp>
      <p:sp>
        <p:nvSpPr>
          <p:cNvPr id="21511" name="Text Box 8"/>
          <p:cNvSpPr txBox="1">
            <a:spLocks noChangeArrowheads="1"/>
          </p:cNvSpPr>
          <p:nvPr/>
        </p:nvSpPr>
        <p:spPr bwMode="auto">
          <a:xfrm>
            <a:off x="3492500" y="1557338"/>
            <a:ext cx="1847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/>
              <a:t>Output Layer</a:t>
            </a:r>
          </a:p>
          <a:p>
            <a:pPr eaLnBrk="1" hangingPunct="1"/>
            <a:r>
              <a:rPr lang="en-US" altLang="zh-TW" sz="2000"/>
              <a:t>30 output units</a:t>
            </a:r>
          </a:p>
        </p:txBody>
      </p:sp>
      <p:sp>
        <p:nvSpPr>
          <p:cNvPr id="21512" name="Text Box 9"/>
          <p:cNvSpPr txBox="1">
            <a:spLocks noChangeArrowheads="1"/>
          </p:cNvSpPr>
          <p:nvPr/>
        </p:nvSpPr>
        <p:spPr bwMode="auto">
          <a:xfrm>
            <a:off x="4572000" y="5734050"/>
            <a:ext cx="1765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/>
              <a:t>Hidden Layer</a:t>
            </a:r>
          </a:p>
          <a:p>
            <a:pPr eaLnBrk="1" hangingPunct="1"/>
            <a:r>
              <a:rPr lang="en-US" altLang="zh-TW" sz="2000"/>
              <a:t>4 hidden units</a:t>
            </a:r>
          </a:p>
        </p:txBody>
      </p:sp>
      <p:sp>
        <p:nvSpPr>
          <p:cNvPr id="21513" name="Line 10"/>
          <p:cNvSpPr>
            <a:spLocks noChangeShapeType="1"/>
          </p:cNvSpPr>
          <p:nvPr/>
        </p:nvSpPr>
        <p:spPr bwMode="auto">
          <a:xfrm flipV="1">
            <a:off x="5508625" y="3357563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 flipH="1">
            <a:off x="4787900" y="3357563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15" name="Line 12"/>
          <p:cNvSpPr>
            <a:spLocks noChangeShapeType="1"/>
          </p:cNvSpPr>
          <p:nvPr/>
        </p:nvSpPr>
        <p:spPr bwMode="auto">
          <a:xfrm flipV="1">
            <a:off x="3708400" y="54451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16" name="Text Box 13"/>
          <p:cNvSpPr txBox="1">
            <a:spLocks noChangeArrowheads="1"/>
          </p:cNvSpPr>
          <p:nvPr/>
        </p:nvSpPr>
        <p:spPr bwMode="auto">
          <a:xfrm>
            <a:off x="6443663" y="5445125"/>
            <a:ext cx="25209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/>
              <a:t>The learned weights for the 30x32 pixel inputs associated with one hidden unit</a:t>
            </a:r>
          </a:p>
        </p:txBody>
      </p:sp>
      <p:sp>
        <p:nvSpPr>
          <p:cNvPr id="21517" name="Line 14"/>
          <p:cNvSpPr>
            <a:spLocks noChangeShapeType="1"/>
          </p:cNvSpPr>
          <p:nvPr/>
        </p:nvSpPr>
        <p:spPr bwMode="auto">
          <a:xfrm flipV="1">
            <a:off x="7596188" y="53006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18" name="Line 15"/>
          <p:cNvSpPr>
            <a:spLocks noChangeShapeType="1"/>
          </p:cNvSpPr>
          <p:nvPr/>
        </p:nvSpPr>
        <p:spPr bwMode="auto">
          <a:xfrm>
            <a:off x="4356100" y="22764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19" name="Text Box 16"/>
          <p:cNvSpPr txBox="1">
            <a:spLocks noChangeArrowheads="1"/>
          </p:cNvSpPr>
          <p:nvPr/>
        </p:nvSpPr>
        <p:spPr bwMode="auto">
          <a:xfrm>
            <a:off x="6372225" y="1484313"/>
            <a:ext cx="23749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The weights from the hidden unit to the 30 output units</a:t>
            </a:r>
          </a:p>
        </p:txBody>
      </p:sp>
      <p:sp>
        <p:nvSpPr>
          <p:cNvPr id="21520" name="Line 17"/>
          <p:cNvSpPr>
            <a:spLocks noChangeShapeType="1"/>
          </p:cNvSpPr>
          <p:nvPr/>
        </p:nvSpPr>
        <p:spPr bwMode="auto">
          <a:xfrm>
            <a:off x="7667625" y="23479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Perceptron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30313"/>
            <a:ext cx="8104188" cy="558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611188" y="4916488"/>
            <a:ext cx="229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4625" indent="-1746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TW" sz="2000"/>
              <a:t>-</a:t>
            </a:r>
            <a:r>
              <a:rPr lang="en-US" altLang="zh-TW" sz="2000" i="1"/>
              <a:t>w</a:t>
            </a:r>
            <a:r>
              <a:rPr lang="en-US" altLang="zh-TW" sz="2000" i="1" baseline="-25000"/>
              <a:t>0</a:t>
            </a:r>
            <a:r>
              <a:rPr lang="en-US" altLang="zh-TW" sz="2000"/>
              <a:t> is a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Perceptron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124075" y="4221163"/>
          <a:ext cx="33115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方程式" r:id="rId4" imgW="1180800" imgH="228600" progId="Equation.3">
                  <p:embed/>
                </p:oleObj>
              </mc:Choice>
              <mc:Fallback>
                <p:oleObj name="方程式" r:id="rId4" imgW="11808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221163"/>
                        <a:ext cx="33115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5775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TW" smtClean="0"/>
              <a:t>Learning a perceptron involves choosing values for the weights </a:t>
            </a:r>
            <a:r>
              <a:rPr lang="en-US" altLang="zh-TW" i="1" smtClean="0"/>
              <a:t>w</a:t>
            </a:r>
            <a:r>
              <a:rPr lang="en-US" altLang="zh-TW" i="1" baseline="-25000" smtClean="0"/>
              <a:t>0</a:t>
            </a:r>
            <a:r>
              <a:rPr lang="en-US" altLang="zh-TW" i="1" smtClean="0"/>
              <a:t>,…,w</a:t>
            </a:r>
            <a:r>
              <a:rPr lang="en-US" altLang="zh-TW" i="1" baseline="-25000" smtClean="0"/>
              <a:t>n</a:t>
            </a:r>
          </a:p>
          <a:p>
            <a:pPr eaLnBrk="1" hangingPunct="1"/>
            <a:r>
              <a:rPr lang="en-US" altLang="zh-TW" smtClean="0"/>
              <a:t>Hypothesis space </a:t>
            </a:r>
            <a:r>
              <a:rPr lang="en-US" altLang="zh-TW" i="1" smtClean="0"/>
              <a:t>H</a:t>
            </a:r>
          </a:p>
          <a:p>
            <a:pPr lvl="1" eaLnBrk="1" hangingPunct="1"/>
            <a:r>
              <a:rPr lang="en-US" altLang="zh-TW" smtClean="0"/>
              <a:t>The set of all possible real-valued weight vectors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>
                <a:ea typeface="微軟正黑體" panose="020B0604030504040204" pitchFamily="34" charset="-120"/>
              </a:rPr>
              <a:t>Decision Surface of a Perceptron</a:t>
            </a:r>
            <a:endParaRPr lang="en-US" altLang="zh-TW" sz="4000" smtClean="0"/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059113" y="3357563"/>
          <a:ext cx="1438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方程式" r:id="rId4" imgW="571320" imgH="177480" progId="Equation.3">
                  <p:embed/>
                </p:oleObj>
              </mc:Choice>
              <mc:Fallback>
                <p:oleObj name="方程式" r:id="rId4" imgW="57132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357563"/>
                        <a:ext cx="14382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5775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TW" smtClean="0"/>
              <a:t>View the perceptron as representing a hyperplane decision surface in the </a:t>
            </a:r>
            <a:r>
              <a:rPr lang="en-US" altLang="zh-TW" i="1" smtClean="0"/>
              <a:t>n-</a:t>
            </a:r>
            <a:r>
              <a:rPr lang="en-US" altLang="zh-TW" smtClean="0"/>
              <a:t>dimensional space of instances</a:t>
            </a: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</p:txBody>
      </p:sp>
      <p:pic>
        <p:nvPicPr>
          <p:cNvPr id="205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744913"/>
            <a:ext cx="5545138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Text Box 8"/>
          <p:cNvSpPr txBox="1">
            <a:spLocks noChangeArrowheads="1"/>
          </p:cNvSpPr>
          <p:nvPr/>
        </p:nvSpPr>
        <p:spPr bwMode="auto">
          <a:xfrm>
            <a:off x="1527175" y="6211888"/>
            <a:ext cx="2357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/>
              <a:t>linear separable</a:t>
            </a:r>
          </a:p>
        </p:txBody>
      </p:sp>
      <p:sp>
        <p:nvSpPr>
          <p:cNvPr id="2055" name="Text Box 9"/>
          <p:cNvSpPr txBox="1">
            <a:spLocks noChangeArrowheads="1"/>
          </p:cNvSpPr>
          <p:nvPr/>
        </p:nvSpPr>
        <p:spPr bwMode="auto">
          <a:xfrm>
            <a:off x="4932363" y="6194425"/>
            <a:ext cx="291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/>
              <a:t>Nonlinear separable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smtClean="0"/>
              <a:t>Representation Power of</a:t>
            </a:r>
            <a:br>
              <a:rPr lang="en-US" altLang="zh-TW" sz="4000" smtClean="0"/>
            </a:br>
            <a:r>
              <a:rPr lang="en-US" altLang="zh-TW" sz="4000" smtClean="0"/>
              <a:t>Perceptrons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Perceptron can represent AND, OR, NAND, and NOR, but cannot represent some boolean functions such XOR</a:t>
            </a:r>
          </a:p>
          <a:p>
            <a:pPr lvl="1" eaLnBrk="1" hangingPunct="1"/>
            <a:r>
              <a:rPr lang="en-US" altLang="zh-TW" smtClean="0"/>
              <a:t>AND</a:t>
            </a:r>
          </a:p>
          <a:p>
            <a:pPr lvl="2" eaLnBrk="1" hangingPunct="1"/>
            <a:r>
              <a:rPr lang="en-US" altLang="zh-TW" i="1" smtClean="0"/>
              <a:t>w</a:t>
            </a:r>
            <a:r>
              <a:rPr lang="en-US" altLang="zh-TW" i="1" baseline="-25000" smtClean="0"/>
              <a:t>0</a:t>
            </a:r>
            <a:r>
              <a:rPr lang="en-US" altLang="zh-TW" smtClean="0"/>
              <a:t>=-0.8, </a:t>
            </a:r>
            <a:r>
              <a:rPr lang="en-US" altLang="zh-TW" i="1" smtClean="0"/>
              <a:t>w</a:t>
            </a:r>
            <a:r>
              <a:rPr lang="en-US" altLang="zh-TW" i="1" baseline="-25000" smtClean="0"/>
              <a:t>1</a:t>
            </a:r>
            <a:r>
              <a:rPr lang="en-US" altLang="zh-TW" smtClean="0"/>
              <a:t>=</a:t>
            </a:r>
            <a:r>
              <a:rPr lang="en-US" altLang="zh-TW" i="1" smtClean="0"/>
              <a:t>w</a:t>
            </a:r>
            <a:r>
              <a:rPr lang="en-US" altLang="zh-TW" i="1" baseline="-25000" smtClean="0"/>
              <a:t>2</a:t>
            </a:r>
            <a:r>
              <a:rPr lang="en-US" altLang="zh-TW" smtClean="0"/>
              <a:t>=0.5</a:t>
            </a:r>
          </a:p>
          <a:p>
            <a:pPr lvl="1" eaLnBrk="1" hangingPunct="1"/>
            <a:r>
              <a:rPr lang="en-US" altLang="zh-TW" smtClean="0"/>
              <a:t>OR</a:t>
            </a:r>
          </a:p>
          <a:p>
            <a:pPr lvl="2" eaLnBrk="1" hangingPunct="1"/>
            <a:r>
              <a:rPr lang="en-US" altLang="zh-TW" i="1" smtClean="0"/>
              <a:t>w</a:t>
            </a:r>
            <a:r>
              <a:rPr lang="en-US" altLang="zh-TW" i="1" baseline="-25000" smtClean="0"/>
              <a:t>0</a:t>
            </a:r>
            <a:r>
              <a:rPr lang="en-US" altLang="zh-TW" smtClean="0"/>
              <a:t>=-0.3, </a:t>
            </a:r>
            <a:r>
              <a:rPr lang="en-US" altLang="zh-TW" i="1" smtClean="0"/>
              <a:t>w</a:t>
            </a:r>
            <a:r>
              <a:rPr lang="en-US" altLang="zh-TW" i="1" baseline="-25000" smtClean="0"/>
              <a:t>1</a:t>
            </a:r>
            <a:r>
              <a:rPr lang="en-US" altLang="zh-TW" smtClean="0"/>
              <a:t>=</a:t>
            </a:r>
            <a:r>
              <a:rPr lang="en-US" altLang="zh-TW" i="1" smtClean="0"/>
              <a:t>w</a:t>
            </a:r>
            <a:r>
              <a:rPr lang="en-US" altLang="zh-TW" i="1" baseline="-25000" smtClean="0"/>
              <a:t>2</a:t>
            </a:r>
            <a:r>
              <a:rPr lang="en-US" altLang="zh-TW" smtClean="0"/>
              <a:t>=0.5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Representation Power of</a:t>
            </a:r>
            <a:br>
              <a:rPr lang="en-US" altLang="zh-TW" sz="4000" smtClean="0"/>
            </a:br>
            <a:r>
              <a:rPr lang="en-US" altLang="zh-TW" sz="4000" smtClean="0"/>
              <a:t>Perceptrons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eaLnBrk="1" hangingPunct="1"/>
            <a:r>
              <a:rPr lang="en-US" altLang="zh-TW" smtClean="0"/>
              <a:t>Every boolean function can be represented by some network of perceptrons only two levels deep</a:t>
            </a:r>
          </a:p>
          <a:p>
            <a:pPr lvl="1" eaLnBrk="1" hangingPunct="1"/>
            <a:r>
              <a:rPr lang="en-US" altLang="zh-TW" smtClean="0"/>
              <a:t>e.g. represent the boolean function in DNF</a:t>
            </a:r>
          </a:p>
          <a:p>
            <a:pPr lvl="2" eaLnBrk="1" hangingPunct="1"/>
            <a:r>
              <a:rPr lang="en-US" altLang="zh-TW" smtClean="0"/>
              <a:t>First layer: AND</a:t>
            </a:r>
          </a:p>
          <a:p>
            <a:pPr lvl="2" eaLnBrk="1" hangingPunct="1"/>
            <a:r>
              <a:rPr lang="en-US" altLang="zh-TW" smtClean="0"/>
              <a:t>Second layer: OR</a:t>
            </a:r>
          </a:p>
          <a:p>
            <a:pPr lvl="1"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Perceptron Training Rule</a:t>
            </a: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268538" y="2133600"/>
          <a:ext cx="302418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方程式" r:id="rId4" imgW="901440" imgH="228600" progId="Equation.3">
                  <p:embed/>
                </p:oleObj>
              </mc:Choice>
              <mc:Fallback>
                <p:oleObj name="方程式" r:id="rId4" imgW="9014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133600"/>
                        <a:ext cx="3024187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493713" y="1571625"/>
            <a:ext cx="8435975" cy="5068888"/>
          </a:xfrm>
        </p:spPr>
        <p:txBody>
          <a:bodyPr/>
          <a:lstStyle/>
          <a:p>
            <a:pPr eaLnBrk="1" hangingPunct="1"/>
            <a:r>
              <a:rPr lang="en-US" altLang="zh-TW" smtClean="0"/>
              <a:t>Learning the weights for a single perceptron</a:t>
            </a:r>
          </a:p>
          <a:p>
            <a:pPr eaLnBrk="1" hangingPunct="1"/>
            <a:endParaRPr lang="en-US" altLang="zh-TW" smtClean="0"/>
          </a:p>
          <a:p>
            <a:pPr eaLnBrk="1" hangingPunct="1">
              <a:buFontTx/>
              <a:buNone/>
            </a:pPr>
            <a:r>
              <a:rPr lang="en-US" altLang="zh-TW" smtClean="0"/>
              <a:t>	where</a:t>
            </a: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i="1" smtClean="0"/>
              <a:t>t</a:t>
            </a:r>
            <a:r>
              <a:rPr lang="en-US" altLang="zh-TW" smtClean="0"/>
              <a:t> is the target value</a:t>
            </a:r>
          </a:p>
          <a:p>
            <a:pPr eaLnBrk="1" hangingPunct="1"/>
            <a:r>
              <a:rPr lang="en-US" altLang="zh-TW" i="1" smtClean="0"/>
              <a:t>o </a:t>
            </a:r>
            <a:r>
              <a:rPr lang="en-US" altLang="zh-TW" smtClean="0"/>
              <a:t>is the perceptron output</a:t>
            </a:r>
          </a:p>
          <a:p>
            <a:pPr eaLnBrk="1" hangingPunct="1"/>
            <a:r>
              <a:rPr lang="en-US" altLang="zh-TW" smtClean="0"/>
              <a:t>η is a small constant called </a:t>
            </a:r>
            <a:r>
              <a:rPr lang="en-US" altLang="zh-TW" i="1" smtClean="0"/>
              <a:t>learning rate</a:t>
            </a:r>
            <a:endParaRPr lang="en-US" altLang="zh-TW" smtClean="0"/>
          </a:p>
        </p:txBody>
      </p:sp>
      <p:graphicFrame>
        <p:nvGraphicFramePr>
          <p:cNvPr id="3075" name="Object 9"/>
          <p:cNvGraphicFramePr>
            <a:graphicFrameLocks noChangeAspect="1"/>
          </p:cNvGraphicFramePr>
          <p:nvPr/>
        </p:nvGraphicFramePr>
        <p:xfrm>
          <a:off x="2286000" y="3357563"/>
          <a:ext cx="327977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方程式" r:id="rId6" imgW="977760" imgH="228600" progId="Equation.3">
                  <p:embed/>
                </p:oleObj>
              </mc:Choice>
              <mc:Fallback>
                <p:oleObj name="方程式" r:id="rId6" imgW="9777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57563"/>
                        <a:ext cx="327977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Perceptron Training Rule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Perceptron learning</a:t>
            </a:r>
          </a:p>
          <a:p>
            <a:pPr lvl="1" eaLnBrk="1" hangingPunct="1">
              <a:buFontTx/>
              <a:buNone/>
            </a:pPr>
            <a:r>
              <a:rPr lang="en-US" altLang="zh-TW" smtClean="0"/>
              <a:t>1. Choose the learning rate η &gt;0 and initial weight vector </a:t>
            </a:r>
            <a:r>
              <a:rPr lang="en-US" altLang="zh-TW" i="1" smtClean="0"/>
              <a:t>W1</a:t>
            </a:r>
          </a:p>
          <a:p>
            <a:pPr lvl="1" eaLnBrk="1" hangingPunct="1">
              <a:buFontTx/>
              <a:buNone/>
            </a:pPr>
            <a:r>
              <a:rPr lang="en-US" altLang="zh-TW" smtClean="0"/>
              <a:t>2. Apply the next training pair to the perceptron</a:t>
            </a:r>
          </a:p>
          <a:p>
            <a:pPr lvl="1" eaLnBrk="1" hangingPunct="1">
              <a:buFontTx/>
              <a:buNone/>
            </a:pPr>
            <a:r>
              <a:rPr lang="en-US" altLang="zh-TW" smtClean="0"/>
              <a:t>3. Adapt the weight vector using the perceptron training rule</a:t>
            </a:r>
          </a:p>
          <a:p>
            <a:pPr lvl="1" eaLnBrk="1" hangingPunct="1">
              <a:buFontTx/>
              <a:buNone/>
            </a:pPr>
            <a:r>
              <a:rPr lang="en-US" altLang="zh-TW" smtClean="0"/>
              <a:t>4. Stop the adaptation of the weights if all data points are classified correctly. Otherwise, go to Step 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Perceptron Training Rule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Can prove it will converge</a:t>
            </a:r>
          </a:p>
          <a:p>
            <a:pPr lvl="1" eaLnBrk="1" hangingPunct="1"/>
            <a:r>
              <a:rPr lang="en-US" altLang="zh-TW" smtClean="0"/>
              <a:t>If training data is linearly separable</a:t>
            </a:r>
          </a:p>
          <a:p>
            <a:pPr lvl="1" eaLnBrk="1" hangingPunct="1"/>
            <a:r>
              <a:rPr lang="en-US" altLang="zh-TW" smtClean="0"/>
              <a:t>and η sufficiently small</a:t>
            </a:r>
          </a:p>
          <a:p>
            <a:pPr eaLnBrk="1" hangingPunct="1"/>
            <a:endParaRPr lang="en-US" altLang="zh-TW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Gradient Descent</a:t>
            </a:r>
          </a:p>
        </p:txBody>
      </p:sp>
      <p:graphicFrame>
        <p:nvGraphicFramePr>
          <p:cNvPr id="409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555875" y="2349500"/>
          <a:ext cx="40386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方程式" r:id="rId4" imgW="1473120" imgH="228600" progId="Equation.3">
                  <p:embed/>
                </p:oleObj>
              </mc:Choice>
              <mc:Fallback>
                <p:oleObj name="方程式" r:id="rId4" imgW="14731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349500"/>
                        <a:ext cx="40386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TW" smtClean="0"/>
              <a:t>To understand, consider simpler linear unit where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Let’s learn </a:t>
            </a:r>
            <a:r>
              <a:rPr lang="en-US" altLang="zh-TW" i="1" smtClean="0"/>
              <a:t>w</a:t>
            </a:r>
            <a:r>
              <a:rPr lang="en-US" altLang="zh-TW" i="1" baseline="-25000" smtClean="0"/>
              <a:t>i</a:t>
            </a:r>
            <a:r>
              <a:rPr lang="en-US" altLang="zh-TW" smtClean="0"/>
              <a:t>’s that minimize the squared error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Where D is set of training examples</a:t>
            </a:r>
          </a:p>
        </p:txBody>
      </p:sp>
      <p:graphicFrame>
        <p:nvGraphicFramePr>
          <p:cNvPr id="4099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428875" y="3929063"/>
          <a:ext cx="345598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方程式" r:id="rId6" imgW="1346040" imgH="419040" progId="Equation.3">
                  <p:embed/>
                </p:oleObj>
              </mc:Choice>
              <mc:Fallback>
                <p:oleObj name="方程式" r:id="rId6" imgW="134604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929063"/>
                        <a:ext cx="345598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Gradient Descent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857375"/>
            <a:ext cx="5883275" cy="40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Gradient Descent</a:t>
            </a:r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987675" y="1700213"/>
          <a:ext cx="4608513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8" name="方程式" r:id="rId4" imgW="1777680" imgH="482400" progId="Equation.3">
                  <p:embed/>
                </p:oleObj>
              </mc:Choice>
              <mc:Fallback>
                <p:oleObj name="方程式" r:id="rId4" imgW="177768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700213"/>
                        <a:ext cx="4608513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5775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TW" smtClean="0"/>
              <a:t>Gradient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Training rule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where</a:t>
            </a:r>
          </a:p>
          <a:p>
            <a:pPr eaLnBrk="1" hangingPunct="1"/>
            <a:endParaRPr lang="en-US" altLang="zh-TW" smtClean="0"/>
          </a:p>
          <a:p>
            <a:pPr lvl="1" eaLnBrk="1" hangingPunct="1">
              <a:buFontTx/>
              <a:buNone/>
            </a:pPr>
            <a:r>
              <a:rPr lang="en-US" altLang="zh-TW" smtClean="0"/>
              <a:t>i.e.</a:t>
            </a:r>
          </a:p>
        </p:txBody>
      </p:sp>
      <p:graphicFrame>
        <p:nvGraphicFramePr>
          <p:cNvPr id="5123" name="Object 8"/>
          <p:cNvGraphicFramePr>
            <a:graphicFrameLocks noChangeAspect="1"/>
          </p:cNvGraphicFramePr>
          <p:nvPr/>
        </p:nvGraphicFramePr>
        <p:xfrm>
          <a:off x="3086100" y="3513138"/>
          <a:ext cx="26828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9" name="方程式" r:id="rId6" imgW="799920" imgH="177480" progId="Equation.3">
                  <p:embed/>
                </p:oleObj>
              </mc:Choice>
              <mc:Fallback>
                <p:oleObj name="方程式" r:id="rId6" imgW="79992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3513138"/>
                        <a:ext cx="26828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1"/>
          <p:cNvGraphicFramePr>
            <a:graphicFrameLocks noChangeAspect="1"/>
          </p:cNvGraphicFramePr>
          <p:nvPr/>
        </p:nvGraphicFramePr>
        <p:xfrm>
          <a:off x="3059113" y="4508500"/>
          <a:ext cx="30257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方程式" r:id="rId8" imgW="977760" imgH="203040" progId="Equation.3">
                  <p:embed/>
                </p:oleObj>
              </mc:Choice>
              <mc:Fallback>
                <p:oleObj name="方程式" r:id="rId8" imgW="97776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508500"/>
                        <a:ext cx="302577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4"/>
          <p:cNvGraphicFramePr>
            <a:graphicFrameLocks noChangeAspect="1"/>
          </p:cNvGraphicFramePr>
          <p:nvPr/>
        </p:nvGraphicFramePr>
        <p:xfrm>
          <a:off x="3059113" y="5229225"/>
          <a:ext cx="2663825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" name="方程式" r:id="rId10" imgW="863280" imgH="431640" progId="Equation.3">
                  <p:embed/>
                </p:oleObj>
              </mc:Choice>
              <mc:Fallback>
                <p:oleObj name="方程式" r:id="rId10" imgW="863280" imgH="431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229225"/>
                        <a:ext cx="2663825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Gradient Descent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628775"/>
            <a:ext cx="6192837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Gradient Descent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b="1" smtClean="0"/>
              <a:t>Gradient-Descent</a:t>
            </a:r>
            <a:r>
              <a:rPr lang="en-US" altLang="zh-TW" sz="2800" smtClean="0"/>
              <a:t>(training_examples, η)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Initialize each </a:t>
            </a:r>
            <a:r>
              <a:rPr lang="en-US" altLang="zh-TW" sz="2800" i="1" smtClean="0"/>
              <a:t>w</a:t>
            </a:r>
            <a:r>
              <a:rPr lang="en-US" altLang="zh-TW" sz="2800" i="1" baseline="-25000" smtClean="0"/>
              <a:t>i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to some small random value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Until the termination condition is met, do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Initialize each Δ</a:t>
            </a:r>
            <a:r>
              <a:rPr lang="en-US" altLang="zh-TW" sz="2400" i="1" smtClean="0"/>
              <a:t>w</a:t>
            </a:r>
            <a:r>
              <a:rPr lang="en-US" altLang="zh-TW" i="1" baseline="-25000" smtClean="0"/>
              <a:t>i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to zero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For each &lt;</a:t>
            </a:r>
            <a:r>
              <a:rPr lang="en-US" altLang="zh-TW" sz="2400" b="1" i="1" smtClean="0"/>
              <a:t>x</a:t>
            </a:r>
            <a:r>
              <a:rPr lang="en-US" altLang="zh-TW" sz="2400" i="1" smtClean="0"/>
              <a:t>,t</a:t>
            </a:r>
            <a:r>
              <a:rPr lang="en-US" altLang="zh-TW" sz="2400" smtClean="0"/>
              <a:t>&gt; in training_examples, do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smtClean="0"/>
              <a:t>Input the instance </a:t>
            </a:r>
            <a:r>
              <a:rPr lang="en-US" altLang="zh-TW" sz="2000" b="1" i="1" smtClean="0"/>
              <a:t>x</a:t>
            </a:r>
            <a:r>
              <a:rPr lang="en-US" altLang="zh-TW" sz="2000" b="1" smtClean="0"/>
              <a:t> </a:t>
            </a:r>
            <a:r>
              <a:rPr lang="en-US" altLang="zh-TW" sz="2000" smtClean="0"/>
              <a:t>to the unit and compute the output </a:t>
            </a:r>
            <a:r>
              <a:rPr lang="en-US" altLang="zh-TW" sz="2000" i="1" smtClean="0"/>
              <a:t>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smtClean="0"/>
              <a:t>For each linear unit weight </a:t>
            </a:r>
            <a:r>
              <a:rPr lang="en-US" altLang="zh-TW" sz="2000" i="1" smtClean="0"/>
              <a:t>w</a:t>
            </a:r>
            <a:r>
              <a:rPr lang="en-US" altLang="zh-TW" sz="2800" i="1" baseline="-25000" smtClean="0"/>
              <a:t>i</a:t>
            </a:r>
            <a:r>
              <a:rPr lang="en-US" altLang="zh-TW" sz="2000" i="1" smtClean="0"/>
              <a:t>, </a:t>
            </a:r>
            <a:r>
              <a:rPr lang="en-US" altLang="zh-TW" sz="2000" smtClean="0"/>
              <a:t>do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400" smtClean="0"/>
              <a:t>			Δ</a:t>
            </a:r>
            <a:r>
              <a:rPr lang="en-US" altLang="zh-TW" sz="2400" i="1" smtClean="0"/>
              <a:t>w</a:t>
            </a:r>
            <a:r>
              <a:rPr lang="en-US" altLang="zh-TW" i="1" baseline="-25000" smtClean="0"/>
              <a:t>i</a:t>
            </a:r>
            <a:r>
              <a:rPr lang="en-US" altLang="zh-TW" sz="2400" smtClean="0"/>
              <a:t>= Δ</a:t>
            </a:r>
            <a:r>
              <a:rPr lang="en-US" altLang="zh-TW" sz="2400" i="1" smtClean="0"/>
              <a:t>w</a:t>
            </a:r>
            <a:r>
              <a:rPr lang="en-US" altLang="zh-TW" i="1" baseline="-25000" smtClean="0"/>
              <a:t>i</a:t>
            </a:r>
            <a:r>
              <a:rPr lang="en-US" altLang="zh-TW" sz="2400" smtClean="0"/>
              <a:t>+ η(</a:t>
            </a:r>
            <a:r>
              <a:rPr lang="en-US" altLang="zh-TW" sz="2400" i="1" smtClean="0"/>
              <a:t>t-o</a:t>
            </a:r>
            <a:r>
              <a:rPr lang="en-US" altLang="zh-TW" sz="2400" smtClean="0"/>
              <a:t>)</a:t>
            </a:r>
            <a:r>
              <a:rPr lang="en-US" altLang="zh-TW" sz="2400" i="1" smtClean="0"/>
              <a:t>x</a:t>
            </a:r>
            <a:r>
              <a:rPr lang="en-US" altLang="zh-TW" i="1" baseline="-25000" smtClean="0"/>
              <a:t>i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400" i="1" smtClean="0"/>
              <a:t> </a:t>
            </a:r>
            <a:r>
              <a:rPr lang="en-US" altLang="zh-TW" sz="2400" smtClean="0"/>
              <a:t>• For each linear unit weight </a:t>
            </a:r>
            <a:r>
              <a:rPr lang="en-US" altLang="zh-TW" sz="2400" i="1" smtClean="0"/>
              <a:t>w</a:t>
            </a:r>
            <a:r>
              <a:rPr lang="en-US" altLang="zh-TW" i="1" baseline="-25000" smtClean="0"/>
              <a:t>i</a:t>
            </a:r>
            <a:r>
              <a:rPr lang="en-US" altLang="zh-TW" sz="2400" i="1" smtClean="0"/>
              <a:t>, </a:t>
            </a:r>
            <a:r>
              <a:rPr lang="en-US" altLang="zh-TW" sz="2400" smtClean="0"/>
              <a:t>do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i="1" smtClean="0"/>
              <a:t>			w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=</a:t>
            </a:r>
            <a:r>
              <a:rPr lang="en-US" altLang="zh-TW" sz="2800" i="1" smtClean="0"/>
              <a:t>w</a:t>
            </a:r>
            <a:r>
              <a:rPr lang="en-US" altLang="zh-TW" sz="2800" i="1" baseline="-25000" smtClean="0"/>
              <a:t>i</a:t>
            </a:r>
            <a:r>
              <a:rPr lang="en-US" altLang="zh-TW" sz="2800" i="1" smtClean="0"/>
              <a:t>+ </a:t>
            </a:r>
            <a:r>
              <a:rPr lang="en-US" altLang="zh-TW" sz="2800" smtClean="0"/>
              <a:t>Δ</a:t>
            </a:r>
            <a:r>
              <a:rPr lang="en-US" altLang="zh-TW" sz="2800" i="1" smtClean="0"/>
              <a:t>w</a:t>
            </a:r>
            <a:r>
              <a:rPr lang="en-US" altLang="zh-TW" sz="2800" i="1" baseline="-25000" smtClean="0"/>
              <a:t>i</a:t>
            </a:r>
            <a:endParaRPr lang="en-US" altLang="zh-TW" sz="280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Summary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72050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Perceptron training rule guaranteed to succeed if</a:t>
            </a:r>
          </a:p>
          <a:p>
            <a:pPr lvl="1" eaLnBrk="1" hangingPunct="1"/>
            <a:r>
              <a:rPr lang="en-US" altLang="zh-TW" sz="2400" smtClean="0"/>
              <a:t>Training examples are linearly separable</a:t>
            </a:r>
          </a:p>
          <a:p>
            <a:pPr lvl="1" eaLnBrk="1" hangingPunct="1"/>
            <a:r>
              <a:rPr lang="en-US" altLang="zh-TW" sz="2400" smtClean="0"/>
              <a:t>Sufficiently small learning rate η</a:t>
            </a:r>
          </a:p>
          <a:p>
            <a:pPr eaLnBrk="1" hangingPunct="1"/>
            <a:r>
              <a:rPr lang="en-US" altLang="zh-TW" sz="2800" smtClean="0"/>
              <a:t>Linear unit training rule uses gradient descent</a:t>
            </a:r>
          </a:p>
          <a:p>
            <a:pPr lvl="1" eaLnBrk="1" hangingPunct="1"/>
            <a:r>
              <a:rPr lang="en-US" altLang="zh-TW" sz="2400" smtClean="0"/>
              <a:t>Guaranteed to converge to hypothesis with minimum squared error</a:t>
            </a:r>
          </a:p>
          <a:p>
            <a:pPr lvl="1" eaLnBrk="1" hangingPunct="1"/>
            <a:r>
              <a:rPr lang="en-US" altLang="zh-TW" sz="2400" smtClean="0"/>
              <a:t>Given sufficiently small learning rate η</a:t>
            </a:r>
          </a:p>
          <a:p>
            <a:pPr lvl="1" eaLnBrk="1" hangingPunct="1"/>
            <a:r>
              <a:rPr lang="en-US" altLang="zh-TW" sz="2400" smtClean="0"/>
              <a:t>Even when training data contains noise</a:t>
            </a:r>
          </a:p>
          <a:p>
            <a:pPr lvl="1" eaLnBrk="1" hangingPunct="1"/>
            <a:r>
              <a:rPr lang="en-US" altLang="zh-TW" sz="2400" smtClean="0"/>
              <a:t>Even when training data are not linear separable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Difficulties of Gradient Descent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Practical difficulties in applying gradient descent</a:t>
            </a:r>
          </a:p>
          <a:p>
            <a:pPr lvl="1" eaLnBrk="1" hangingPunct="1"/>
            <a:r>
              <a:rPr lang="en-US" altLang="zh-TW" smtClean="0"/>
              <a:t>Converging to a local minimum can sometimes be quite slow</a:t>
            </a:r>
          </a:p>
          <a:p>
            <a:pPr lvl="1" eaLnBrk="1" hangingPunct="1"/>
            <a:r>
              <a:rPr lang="en-US" altLang="zh-TW" smtClean="0"/>
              <a:t>If there are multiple local minima in the error surface, then there is no guarantee that the procedure will find the global minimum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42963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TW" smtClean="0"/>
              <a:t>Approximate gradient descent search by updating weights incrementally, following the calculation of the error for each individual example</a:t>
            </a:r>
          </a:p>
          <a:p>
            <a:pPr eaLnBrk="1" hangingPunct="1"/>
            <a:r>
              <a:rPr lang="en-US" altLang="zh-TW" smtClean="0"/>
              <a:t>Weight update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Error function for each training example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Incremental (Stochastic)</a:t>
            </a:r>
            <a:br>
              <a:rPr lang="en-US" altLang="zh-TW" sz="4000" smtClean="0"/>
            </a:br>
            <a:r>
              <a:rPr lang="en-US" altLang="zh-TW" sz="4000" smtClean="0"/>
              <a:t>Gradient Descent</a:t>
            </a:r>
          </a:p>
        </p:txBody>
      </p:sp>
      <p:graphicFrame>
        <p:nvGraphicFramePr>
          <p:cNvPr id="614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000500" y="4071938"/>
          <a:ext cx="2444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方程式" r:id="rId4" imgW="977760" imgH="228600" progId="Equation.3">
                  <p:embed/>
                </p:oleObj>
              </mc:Choice>
              <mc:Fallback>
                <p:oleObj name="方程式" r:id="rId4" imgW="9777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4071938"/>
                        <a:ext cx="2444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8"/>
          <p:cNvGraphicFramePr>
            <a:graphicFrameLocks noChangeAspect="1"/>
          </p:cNvGraphicFramePr>
          <p:nvPr/>
        </p:nvGraphicFramePr>
        <p:xfrm>
          <a:off x="3382963" y="5332413"/>
          <a:ext cx="30972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方程式" r:id="rId6" imgW="1206360" imgH="393480" progId="Equation.3">
                  <p:embed/>
                </p:oleObj>
              </mc:Choice>
              <mc:Fallback>
                <p:oleObj name="方程式" r:id="rId6" imgW="120636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963" y="5332413"/>
                        <a:ext cx="30972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Incremental (Stochastic)</a:t>
            </a:r>
            <a:br>
              <a:rPr lang="en-US" altLang="zh-TW" sz="4000" smtClean="0"/>
            </a:br>
            <a:r>
              <a:rPr lang="en-US" altLang="zh-TW" sz="4000" smtClean="0"/>
              <a:t>Gradient Descent</a:t>
            </a:r>
          </a:p>
        </p:txBody>
      </p:sp>
      <p:graphicFrame>
        <p:nvGraphicFramePr>
          <p:cNvPr id="717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787900" y="2708275"/>
          <a:ext cx="111601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方程式" r:id="rId4" imgW="507960" imgH="215640" progId="Equation.3">
                  <p:embed/>
                </p:oleObj>
              </mc:Choice>
              <mc:Fallback>
                <p:oleObj name="方程式" r:id="rId4" imgW="50796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708275"/>
                        <a:ext cx="111601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71500" y="1571625"/>
            <a:ext cx="8229600" cy="5068888"/>
          </a:xfrm>
        </p:spPr>
        <p:txBody>
          <a:bodyPr/>
          <a:lstStyle/>
          <a:p>
            <a:pPr marL="609600" indent="-609600" eaLnBrk="1" hangingPunct="1"/>
            <a:r>
              <a:rPr lang="en-US" altLang="zh-TW" smtClean="0"/>
              <a:t>Batch mode</a:t>
            </a:r>
            <a:r>
              <a:rPr lang="en-US" altLang="zh-TW" b="1" smtClean="0"/>
              <a:t> </a:t>
            </a:r>
            <a:r>
              <a:rPr lang="en-US" altLang="zh-TW" smtClean="0"/>
              <a:t>gradient descent</a:t>
            </a:r>
          </a:p>
          <a:p>
            <a:pPr marL="990600" lvl="1" indent="-533400" eaLnBrk="1" hangingPunct="1"/>
            <a:r>
              <a:rPr lang="en-US" altLang="zh-TW" smtClean="0"/>
              <a:t>Do until satisfied</a:t>
            </a:r>
          </a:p>
          <a:p>
            <a:pPr marL="1371600" lvl="2" indent="-457200" eaLnBrk="1" hangingPunct="1">
              <a:buFontTx/>
              <a:buNone/>
            </a:pPr>
            <a:r>
              <a:rPr lang="en-US" altLang="zh-TW" smtClean="0"/>
              <a:t>1.Compute the gradient</a:t>
            </a:r>
          </a:p>
          <a:p>
            <a:pPr marL="1371600" lvl="2" indent="-457200" eaLnBrk="1" hangingPunct="1">
              <a:buFontTx/>
              <a:buNone/>
            </a:pPr>
            <a:r>
              <a:rPr lang="en-US" altLang="zh-TW" smtClean="0"/>
              <a:t>2.</a:t>
            </a:r>
          </a:p>
          <a:p>
            <a:pPr marL="609600" indent="-609600" eaLnBrk="1" hangingPunct="1"/>
            <a:r>
              <a:rPr lang="en-US" altLang="zh-TW" smtClean="0"/>
              <a:t>Incremental mode</a:t>
            </a:r>
            <a:r>
              <a:rPr lang="en-US" altLang="zh-TW" b="1" smtClean="0"/>
              <a:t> </a:t>
            </a:r>
            <a:r>
              <a:rPr lang="en-US" altLang="zh-TW" smtClean="0"/>
              <a:t>gradient descent</a:t>
            </a:r>
          </a:p>
          <a:p>
            <a:pPr marL="990600" lvl="1" indent="-533400" eaLnBrk="1" hangingPunct="1"/>
            <a:r>
              <a:rPr lang="en-US" altLang="zh-TW" smtClean="0"/>
              <a:t>Do until satisfied</a:t>
            </a:r>
          </a:p>
          <a:p>
            <a:pPr marL="1371600" lvl="2" indent="-457200" eaLnBrk="1" hangingPunct="1"/>
            <a:r>
              <a:rPr lang="en-US" altLang="zh-TW" smtClean="0"/>
              <a:t>For each training example </a:t>
            </a:r>
            <a:r>
              <a:rPr lang="en-US" altLang="zh-TW" i="1" smtClean="0"/>
              <a:t>d </a:t>
            </a:r>
            <a:r>
              <a:rPr lang="en-US" altLang="zh-TW" smtClean="0"/>
              <a:t>in </a:t>
            </a:r>
            <a:r>
              <a:rPr lang="en-US" altLang="zh-TW" i="1" smtClean="0"/>
              <a:t>D</a:t>
            </a:r>
          </a:p>
          <a:p>
            <a:pPr marL="1752600" lvl="3" indent="-381000" eaLnBrk="1" hangingPunct="1">
              <a:buFontTx/>
              <a:buAutoNum type="arabicPeriod"/>
            </a:pPr>
            <a:r>
              <a:rPr lang="en-US" altLang="zh-TW" smtClean="0"/>
              <a:t>Compute the gradient</a:t>
            </a:r>
          </a:p>
          <a:p>
            <a:pPr marL="1752600" lvl="3" indent="-381000" eaLnBrk="1" hangingPunct="1">
              <a:buFontTx/>
              <a:buAutoNum type="arabicPeriod"/>
            </a:pPr>
            <a:r>
              <a:rPr lang="en-US" altLang="zh-TW" smtClean="0"/>
              <a:t> </a:t>
            </a:r>
          </a:p>
          <a:p>
            <a:pPr marL="1752600" lvl="3" indent="-381000" eaLnBrk="1" hangingPunct="1">
              <a:buFontTx/>
              <a:buAutoNum type="arabicPeriod"/>
            </a:pPr>
            <a:endParaRPr lang="en-US" altLang="zh-TW" smtClean="0"/>
          </a:p>
        </p:txBody>
      </p:sp>
      <p:graphicFrame>
        <p:nvGraphicFramePr>
          <p:cNvPr id="7171" name="Object 11"/>
          <p:cNvGraphicFramePr>
            <a:graphicFrameLocks noChangeAspect="1"/>
          </p:cNvGraphicFramePr>
          <p:nvPr/>
        </p:nvGraphicFramePr>
        <p:xfrm>
          <a:off x="2051050" y="3141663"/>
          <a:ext cx="25114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7" name="方程式" r:id="rId6" imgW="1143000" imgH="215640" progId="Equation.3">
                  <p:embed/>
                </p:oleObj>
              </mc:Choice>
              <mc:Fallback>
                <p:oleObj name="方程式" r:id="rId6" imgW="114300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141663"/>
                        <a:ext cx="251142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4"/>
          <p:cNvGraphicFramePr>
            <a:graphicFrameLocks noChangeAspect="1"/>
          </p:cNvGraphicFramePr>
          <p:nvPr/>
        </p:nvGraphicFramePr>
        <p:xfrm>
          <a:off x="4859338" y="5027613"/>
          <a:ext cx="103028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" name="方程式" r:id="rId8" imgW="495000" imgH="228600" progId="Equation.3">
                  <p:embed/>
                </p:oleObj>
              </mc:Choice>
              <mc:Fallback>
                <p:oleObj name="方程式" r:id="rId8" imgW="4950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027613"/>
                        <a:ext cx="1030287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9"/>
          <p:cNvGraphicFramePr>
            <a:graphicFrameLocks noChangeAspect="1"/>
          </p:cNvGraphicFramePr>
          <p:nvPr/>
        </p:nvGraphicFramePr>
        <p:xfrm>
          <a:off x="2339975" y="5516563"/>
          <a:ext cx="24828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" name="方程式" r:id="rId10" imgW="1130040" imgH="228600" progId="Equation.3">
                  <p:embed/>
                </p:oleObj>
              </mc:Choice>
              <mc:Fallback>
                <p:oleObj name="方程式" r:id="rId10" imgW="113004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516563"/>
                        <a:ext cx="24828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Incremental (Stochastic)</a:t>
            </a:r>
            <a:br>
              <a:rPr lang="en-US" altLang="zh-TW" sz="4000" smtClean="0"/>
            </a:br>
            <a:r>
              <a:rPr lang="en-US" altLang="zh-TW" sz="4000" smtClean="0"/>
              <a:t>Gradient Descent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新細明體" panose="02020500000000000000" pitchFamily="18" charset="-120"/>
              </a:rPr>
              <a:t>Incremental mode</a:t>
            </a:r>
            <a:r>
              <a:rPr lang="en-US" altLang="en-US" b="1" smtClean="0">
                <a:ea typeface="新細明體" panose="02020500000000000000" pitchFamily="18" charset="-120"/>
              </a:rPr>
              <a:t> </a:t>
            </a:r>
            <a:r>
              <a:rPr lang="en-US" altLang="en-US" smtClean="0">
                <a:ea typeface="新細明體" panose="02020500000000000000" pitchFamily="18" charset="-120"/>
              </a:rPr>
              <a:t>gradient descent can approximate</a:t>
            </a:r>
            <a:r>
              <a:rPr lang="en-US" altLang="zh-TW" smtClean="0"/>
              <a:t> </a:t>
            </a:r>
            <a:r>
              <a:rPr lang="en-US" altLang="en-US" smtClean="0">
                <a:ea typeface="新細明體" panose="02020500000000000000" pitchFamily="18" charset="-120"/>
              </a:rPr>
              <a:t>batch gradient descent arbitrarily closely if η made</a:t>
            </a:r>
            <a:r>
              <a:rPr lang="en-US" altLang="zh-TW" smtClean="0"/>
              <a:t> </a:t>
            </a:r>
            <a:r>
              <a:rPr lang="en-US" altLang="en-US" smtClean="0">
                <a:ea typeface="新細明體" panose="02020500000000000000" pitchFamily="18" charset="-120"/>
              </a:rPr>
              <a:t>small enough</a:t>
            </a:r>
            <a:r>
              <a:rPr lang="en-US" altLang="zh-TW" smtClean="0"/>
              <a:t> </a:t>
            </a:r>
          </a:p>
          <a:p>
            <a:pPr eaLnBrk="1" hangingPunct="1"/>
            <a:endParaRPr lang="en-US" altLang="zh-TW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Multilayer Networks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916113"/>
            <a:ext cx="8331200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116013" y="5805488"/>
            <a:ext cx="682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Speech recognition – distinguish 10 vowels in the context of “h_d”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4500563" y="4991100"/>
            <a:ext cx="379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Decision surface and test examples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Sigmoid Unit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716338"/>
            <a:ext cx="8229600" cy="3025775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σ(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) is the sigmoid function</a:t>
            </a:r>
          </a:p>
          <a:p>
            <a:pPr eaLnBrk="1" hangingPunct="1"/>
            <a:r>
              <a:rPr lang="en-US" altLang="zh-TW" sz="2800" smtClean="0"/>
              <a:t>Nice property</a:t>
            </a:r>
          </a:p>
          <a:p>
            <a:pPr eaLnBrk="1" hangingPunct="1"/>
            <a:r>
              <a:rPr lang="en-US" altLang="zh-TW" sz="2800" smtClean="0"/>
              <a:t>We can derive gradient descent rules to train</a:t>
            </a:r>
          </a:p>
          <a:p>
            <a:pPr lvl="1" eaLnBrk="1" hangingPunct="1"/>
            <a:r>
              <a:rPr lang="en-US" altLang="zh-TW" sz="2400" smtClean="0"/>
              <a:t>one sigmoid unit</a:t>
            </a:r>
          </a:p>
          <a:p>
            <a:pPr lvl="1" eaLnBrk="1" hangingPunct="1"/>
            <a:r>
              <a:rPr lang="en-US" altLang="zh-TW" sz="2400" smtClean="0"/>
              <a:t>multilayer networks of sigmoid units → Backpropagation</a:t>
            </a:r>
          </a:p>
        </p:txBody>
      </p:sp>
      <p:pic>
        <p:nvPicPr>
          <p:cNvPr id="819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341438"/>
            <a:ext cx="7488237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194" name="Object 6"/>
          <p:cNvGraphicFramePr>
            <a:graphicFrameLocks noChangeAspect="1"/>
          </p:cNvGraphicFramePr>
          <p:nvPr/>
        </p:nvGraphicFramePr>
        <p:xfrm>
          <a:off x="5580063" y="3573463"/>
          <a:ext cx="2087562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方程式" r:id="rId5" imgW="888840" imgH="393480" progId="Equation.3">
                  <p:embed/>
                </p:oleObj>
              </mc:Choice>
              <mc:Fallback>
                <p:oleObj name="方程式" r:id="rId5" imgW="88884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573463"/>
                        <a:ext cx="2087562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8"/>
          <p:cNvGraphicFramePr>
            <a:graphicFrameLocks noChangeAspect="1"/>
          </p:cNvGraphicFramePr>
          <p:nvPr/>
        </p:nvGraphicFramePr>
        <p:xfrm>
          <a:off x="3132138" y="4221163"/>
          <a:ext cx="288131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方程式" r:id="rId7" imgW="1409400" imgH="393480" progId="Equation.3">
                  <p:embed/>
                </p:oleObj>
              </mc:Choice>
              <mc:Fallback>
                <p:oleObj name="方程式" r:id="rId7" imgW="140940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221163"/>
                        <a:ext cx="2881312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Error Gradient for a Sigmoid Unit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663700"/>
            <a:ext cx="5791200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Error Gradient for a Sigmoid Unit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00213"/>
            <a:ext cx="7497763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Backpropagation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07413" cy="5068888"/>
          </a:xfrm>
        </p:spPr>
        <p:txBody>
          <a:bodyPr/>
          <a:lstStyle/>
          <a:p>
            <a:pPr eaLnBrk="1" hangingPunct="1"/>
            <a:r>
              <a:rPr lang="en-US" altLang="zh-TW" smtClean="0"/>
              <a:t>Create a feed-forward network with </a:t>
            </a:r>
            <a:r>
              <a:rPr lang="en-US" altLang="zh-TW" i="1" smtClean="0"/>
              <a:t>n</a:t>
            </a:r>
            <a:r>
              <a:rPr lang="en-US" altLang="zh-TW" i="1" baseline="-25000" smtClean="0"/>
              <a:t>in</a:t>
            </a:r>
            <a:r>
              <a:rPr lang="en-US" altLang="zh-TW" smtClean="0"/>
              <a:t> inputs, </a:t>
            </a:r>
            <a:r>
              <a:rPr lang="en-US" altLang="zh-TW" i="1" smtClean="0"/>
              <a:t>n</a:t>
            </a:r>
            <a:r>
              <a:rPr lang="en-US" altLang="zh-TW" i="1" baseline="-25000" smtClean="0"/>
              <a:t>hidden</a:t>
            </a:r>
            <a:r>
              <a:rPr lang="en-US" altLang="zh-TW" smtClean="0"/>
              <a:t> hidden units, and </a:t>
            </a:r>
            <a:r>
              <a:rPr lang="en-US" altLang="zh-TW" i="1" smtClean="0"/>
              <a:t>n</a:t>
            </a:r>
            <a:r>
              <a:rPr lang="en-US" altLang="zh-TW" i="1" baseline="-25000" smtClean="0"/>
              <a:t>out</a:t>
            </a:r>
            <a:r>
              <a:rPr lang="en-US" altLang="zh-TW" smtClean="0"/>
              <a:t> output units</a:t>
            </a:r>
          </a:p>
          <a:p>
            <a:pPr eaLnBrk="1" hangingPunct="1"/>
            <a:r>
              <a:rPr lang="en-US" altLang="zh-TW" smtClean="0"/>
              <a:t>Initialize all weights to small random numbers</a:t>
            </a:r>
          </a:p>
          <a:p>
            <a:pPr eaLnBrk="1" hangingPunct="1"/>
            <a:r>
              <a:rPr lang="en-US" altLang="zh-TW" smtClean="0"/>
              <a:t>Until satisfied, do</a:t>
            </a:r>
          </a:p>
          <a:p>
            <a:pPr lvl="1" eaLnBrk="1" hangingPunct="1"/>
            <a:r>
              <a:rPr lang="en-US" altLang="zh-TW" smtClean="0"/>
              <a:t>For each training example, do</a:t>
            </a:r>
          </a:p>
          <a:p>
            <a:pPr lvl="1" eaLnBrk="1" hangingPunct="1">
              <a:buFontTx/>
              <a:buNone/>
            </a:pPr>
            <a:r>
              <a:rPr lang="en-US" altLang="zh-TW" i="1" smtClean="0"/>
              <a:t>Propagate the input forward through the network:</a:t>
            </a:r>
          </a:p>
          <a:p>
            <a:pPr lvl="2" eaLnBrk="1" hangingPunct="1"/>
            <a:r>
              <a:rPr lang="en-US" altLang="zh-TW" smtClean="0"/>
              <a:t>Input the training example to the network and compute the network outputs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Backpropagation Algorithm</a:t>
            </a:r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916238" y="3068638"/>
          <a:ext cx="34575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name="方程式" r:id="rId4" imgW="1422360" imgH="228600" progId="Equation.3">
                  <p:embed/>
                </p:oleObj>
              </mc:Choice>
              <mc:Fallback>
                <p:oleObj name="方程式" r:id="rId4" imgW="14223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068638"/>
                        <a:ext cx="34575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5775" y="1600200"/>
            <a:ext cx="8229600" cy="4525963"/>
          </a:xfrm>
        </p:spPr>
        <p:txBody>
          <a:bodyPr/>
          <a:lstStyle/>
          <a:p>
            <a:pPr lvl="1" eaLnBrk="1" hangingPunct="1">
              <a:buFontTx/>
              <a:buNone/>
            </a:pPr>
            <a:r>
              <a:rPr lang="en-US" altLang="zh-TW" i="1" smtClean="0"/>
              <a:t>Propagate the errors backward through the network:</a:t>
            </a:r>
          </a:p>
          <a:p>
            <a:pPr lvl="1" eaLnBrk="1" hangingPunct="1"/>
            <a:r>
              <a:rPr lang="en-US" altLang="zh-TW" smtClean="0"/>
              <a:t>For each output unit </a:t>
            </a:r>
            <a:r>
              <a:rPr lang="en-US" altLang="zh-TW" i="1" smtClean="0"/>
              <a:t>k</a:t>
            </a:r>
            <a:r>
              <a:rPr lang="en-US" altLang="zh-TW" smtClean="0"/>
              <a:t>, calculate its error</a:t>
            </a:r>
          </a:p>
          <a:p>
            <a:pPr lvl="1" eaLnBrk="1" hangingPunct="1"/>
            <a:endParaRPr lang="en-US" altLang="zh-TW" smtClean="0"/>
          </a:p>
          <a:p>
            <a:pPr lvl="1" eaLnBrk="1" hangingPunct="1"/>
            <a:r>
              <a:rPr lang="en-US" altLang="zh-TW" smtClean="0"/>
              <a:t>For each hidden unit </a:t>
            </a:r>
            <a:r>
              <a:rPr lang="en-US" altLang="zh-TW" i="1" smtClean="0"/>
              <a:t>h</a:t>
            </a:r>
            <a:endParaRPr lang="en-US" altLang="zh-TW" smtClean="0"/>
          </a:p>
          <a:p>
            <a:pPr lvl="1" eaLnBrk="1" hangingPunct="1"/>
            <a:endParaRPr lang="en-US" altLang="zh-TW" smtClean="0"/>
          </a:p>
          <a:p>
            <a:pPr lvl="1" eaLnBrk="1" hangingPunct="1"/>
            <a:r>
              <a:rPr lang="en-US" altLang="zh-TW" smtClean="0"/>
              <a:t>Update each network weight </a:t>
            </a:r>
            <a:r>
              <a:rPr lang="en-US" altLang="zh-TW" i="1" smtClean="0"/>
              <a:t>w</a:t>
            </a:r>
            <a:r>
              <a:rPr lang="en-US" altLang="zh-TW" i="1" baseline="-25000" smtClean="0"/>
              <a:t>ij</a:t>
            </a:r>
          </a:p>
          <a:p>
            <a:pPr lvl="1" eaLnBrk="1" hangingPunct="1"/>
            <a:endParaRPr lang="en-US" altLang="zh-TW" smtClean="0"/>
          </a:p>
          <a:p>
            <a:pPr lvl="2" eaLnBrk="1" hangingPunct="1"/>
            <a:r>
              <a:rPr lang="en-US" altLang="zh-TW" smtClean="0"/>
              <a:t>where</a:t>
            </a:r>
          </a:p>
        </p:txBody>
      </p:sp>
      <p:graphicFrame>
        <p:nvGraphicFramePr>
          <p:cNvPr id="9219" name="Object 9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908300" y="5089525"/>
          <a:ext cx="26638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" name="方程式" r:id="rId6" imgW="1028520" imgH="241200" progId="Equation.3">
                  <p:embed/>
                </p:oleObj>
              </mc:Choice>
              <mc:Fallback>
                <p:oleObj name="方程式" r:id="rId6" imgW="102852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5089525"/>
                        <a:ext cx="266382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8"/>
          <p:cNvGraphicFramePr>
            <a:graphicFrameLocks noChangeAspect="1"/>
          </p:cNvGraphicFramePr>
          <p:nvPr/>
        </p:nvGraphicFramePr>
        <p:xfrm>
          <a:off x="2843213" y="4005263"/>
          <a:ext cx="35687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" name="方程式" r:id="rId8" imgW="1574640" imgH="355320" progId="Equation.3">
                  <p:embed/>
                </p:oleObj>
              </mc:Choice>
              <mc:Fallback>
                <p:oleObj name="方程式" r:id="rId8" imgW="1574640" imgH="3553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005263"/>
                        <a:ext cx="35687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3"/>
          <p:cNvGraphicFramePr>
            <a:graphicFrameLocks noChangeAspect="1"/>
          </p:cNvGraphicFramePr>
          <p:nvPr/>
        </p:nvGraphicFramePr>
        <p:xfrm>
          <a:off x="2916238" y="5876925"/>
          <a:ext cx="21717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" name="方程式" r:id="rId10" imgW="838080" imgH="241200" progId="Equation.3">
                  <p:embed/>
                </p:oleObj>
              </mc:Choice>
              <mc:Fallback>
                <p:oleObj name="方程式" r:id="rId10" imgW="83808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876925"/>
                        <a:ext cx="21717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More on Backpropagation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 eaLnBrk="1" hangingPunct="1"/>
            <a:r>
              <a:rPr lang="en-US" altLang="zh-TW" smtClean="0"/>
              <a:t>Gradient descent over entire network weight vector </a:t>
            </a:r>
          </a:p>
          <a:p>
            <a:pPr eaLnBrk="1" hangingPunct="1"/>
            <a:r>
              <a:rPr lang="en-US" altLang="zh-TW" smtClean="0"/>
              <a:t>Easily generalized to arbitrary directed graphs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Will find a local, not necessarily global error minimum</a:t>
            </a:r>
          </a:p>
          <a:p>
            <a:pPr lvl="1" eaLnBrk="1" hangingPunct="1"/>
            <a:r>
              <a:rPr lang="en-US" altLang="zh-TW" smtClean="0"/>
              <a:t>In practice, often works well (can run multiple times)</a:t>
            </a:r>
          </a:p>
        </p:txBody>
      </p:sp>
      <p:graphicFrame>
        <p:nvGraphicFramePr>
          <p:cNvPr id="10242" name="Object 9"/>
          <p:cNvGraphicFramePr>
            <a:graphicFrameLocks noChangeAspect="1"/>
          </p:cNvGraphicFramePr>
          <p:nvPr/>
        </p:nvGraphicFramePr>
        <p:xfrm>
          <a:off x="2714625" y="3500438"/>
          <a:ext cx="3684588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方程式" r:id="rId4" imgW="1625400" imgH="355320" progId="Equation.3">
                  <p:embed/>
                </p:oleObj>
              </mc:Choice>
              <mc:Fallback>
                <p:oleObj name="方程式" r:id="rId4" imgW="1625400" imgH="3553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3500438"/>
                        <a:ext cx="3684588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More on Backpropagation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Epoch</a:t>
            </a:r>
            <a:endParaRPr lang="en-US" altLang="zh-TW"/>
          </a:p>
          <a:p>
            <a:pPr lvl="1"/>
            <a:r>
              <a:rPr lang="en-US" altLang="zh-TW" smtClean="0"/>
              <a:t>One training</a:t>
            </a:r>
            <a:r>
              <a:rPr lang="zh-TW" altLang="en-US" smtClean="0"/>
              <a:t> </a:t>
            </a:r>
            <a:r>
              <a:rPr lang="en-US" altLang="zh-TW" smtClean="0"/>
              <a:t>cycle </a:t>
            </a:r>
            <a:r>
              <a:rPr lang="en-US" altLang="zh-TW"/>
              <a:t>through the entire training </a:t>
            </a:r>
            <a:r>
              <a:rPr lang="en-US" altLang="zh-TW"/>
              <a:t>dataset </a:t>
            </a:r>
            <a:endParaRPr lang="en-US" altLang="zh-TW" smtClean="0"/>
          </a:p>
          <a:p>
            <a:r>
              <a:rPr lang="en-US" altLang="zh-TW" smtClean="0"/>
              <a:t>Mini-Batch </a:t>
            </a:r>
            <a:r>
              <a:rPr lang="en-US" altLang="zh-TW"/>
              <a:t>Gradient </a:t>
            </a:r>
            <a:r>
              <a:rPr lang="en-US" altLang="zh-TW" smtClean="0"/>
              <a:t>Descent</a:t>
            </a:r>
          </a:p>
          <a:p>
            <a:pPr lvl="1"/>
            <a:r>
              <a:rPr lang="en-US" altLang="zh-TW" smtClean="0"/>
              <a:t>Split </a:t>
            </a:r>
            <a:r>
              <a:rPr lang="en-US" altLang="zh-TW"/>
              <a:t>the training dataset into small batches that are used to calculate model error and update model coefficients.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2631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More on Backpropagation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Often include weight </a:t>
            </a:r>
            <a:r>
              <a:rPr lang="en-US" altLang="zh-TW" i="1" smtClean="0"/>
              <a:t>momentum </a:t>
            </a:r>
            <a:r>
              <a:rPr lang="en-US" altLang="zh-TW" smtClean="0"/>
              <a:t>α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Minimizes error over training examples</a:t>
            </a:r>
          </a:p>
          <a:p>
            <a:pPr lvl="1" eaLnBrk="1" hangingPunct="1"/>
            <a:r>
              <a:rPr lang="en-US" altLang="zh-TW" smtClean="0"/>
              <a:t>Will it generalize well to subsequent examples?</a:t>
            </a:r>
          </a:p>
          <a:p>
            <a:pPr eaLnBrk="1" hangingPunct="1"/>
            <a:r>
              <a:rPr lang="en-US" altLang="zh-TW" smtClean="0"/>
              <a:t>Training can take thousands of iterations </a:t>
            </a:r>
            <a:r>
              <a:rPr lang="en-US" altLang="zh-TW" smtClean="0">
                <a:sym typeface="Wingdings" panose="05000000000000000000" pitchFamily="2" charset="2"/>
              </a:rPr>
              <a:t></a:t>
            </a:r>
            <a:r>
              <a:rPr lang="en-US" altLang="zh-TW" smtClean="0"/>
              <a:t> Slow!</a:t>
            </a:r>
          </a:p>
          <a:p>
            <a:pPr eaLnBrk="1" hangingPunct="1"/>
            <a:r>
              <a:rPr lang="en-US" altLang="zh-TW" smtClean="0"/>
              <a:t>Using network after training is very fast</a:t>
            </a:r>
          </a:p>
        </p:txBody>
      </p:sp>
      <p:graphicFrame>
        <p:nvGraphicFramePr>
          <p:cNvPr id="11266" name="Object 8"/>
          <p:cNvGraphicFramePr>
            <a:graphicFrameLocks noChangeAspect="1"/>
          </p:cNvGraphicFramePr>
          <p:nvPr/>
        </p:nvGraphicFramePr>
        <p:xfrm>
          <a:off x="2195513" y="2205038"/>
          <a:ext cx="48355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方程式" r:id="rId4" imgW="1866600" imgH="241200" progId="Equation.3">
                  <p:embed/>
                </p:oleObj>
              </mc:Choice>
              <mc:Fallback>
                <p:oleObj name="方程式" r:id="rId4" imgW="1866600" imgH="24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205038"/>
                        <a:ext cx="483552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smtClean="0"/>
              <a:t>Learning Hidden Layer Representations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Can this be learned ?</a:t>
            </a: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276475"/>
            <a:ext cx="329882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460625"/>
            <a:ext cx="5297488" cy="392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smtClean="0"/>
              <a:t>Learning Hidden Layer Representations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666875"/>
            <a:ext cx="6877050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7623175" y="2967038"/>
            <a:ext cx="693738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400"/>
              <a:t>100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/>
              <a:t>001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/>
              <a:t>010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/>
              <a:t>111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/>
              <a:t>000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/>
              <a:t>011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/>
              <a:t>101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/>
              <a:t>110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smtClean="0"/>
              <a:t>Learning Hidden Layer Representations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Hidden layers can capture properties of the input instances that are most relevant to learning the target function</a:t>
            </a:r>
          </a:p>
          <a:p>
            <a:pPr eaLnBrk="1" hangingPunct="1"/>
            <a:r>
              <a:rPr lang="en-US" altLang="zh-TW" smtClean="0"/>
              <a:t>The ability of multilayer networks to automatically discover useful representations at the hidden layers is a key feature of ANN learning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Training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smtClean="0"/>
              <a:t>Initial weights: random values (-0.1 ~0.1)</a:t>
            </a:r>
          </a:p>
          <a:p>
            <a:pPr eaLnBrk="1" hangingPunct="1"/>
            <a:r>
              <a:rPr lang="el-GR" altLang="zh-TW" sz="2800" smtClean="0">
                <a:cs typeface="Arial" panose="020B0604020202020204" pitchFamily="34" charset="0"/>
              </a:rPr>
              <a:t>η</a:t>
            </a:r>
            <a:r>
              <a:rPr lang="en-US" altLang="zh-TW" sz="2800" smtClean="0">
                <a:cs typeface="Arial" panose="020B0604020202020204" pitchFamily="34" charset="0"/>
              </a:rPr>
              <a:t>=0.3</a:t>
            </a:r>
            <a:endParaRPr lang="el-GR" altLang="zh-TW" sz="2800" smtClean="0">
              <a:cs typeface="Arial" panose="020B0604020202020204" pitchFamily="34" charset="0"/>
            </a:endParaRPr>
          </a:p>
        </p:txBody>
      </p:sp>
      <p:pic>
        <p:nvPicPr>
          <p:cNvPr id="4096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636838"/>
            <a:ext cx="685323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Training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smtClean="0"/>
              <a:t>The network passes through a number of different encodings before converging to the final encoding</a:t>
            </a:r>
          </a:p>
        </p:txBody>
      </p:sp>
      <p:pic>
        <p:nvPicPr>
          <p:cNvPr id="4198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786063"/>
            <a:ext cx="6738938" cy="397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Training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smtClean="0"/>
              <a:t>Significant changes coincide with significant changes in the hidden layer encoding and output squared errors</a:t>
            </a:r>
          </a:p>
        </p:txBody>
      </p:sp>
      <p:pic>
        <p:nvPicPr>
          <p:cNvPr id="430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954338"/>
            <a:ext cx="6208713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Convergence of Backpropagation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Gradient descent to some local minimum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Perhaps not global minimum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Add momentum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Stochastic </a:t>
            </a:r>
            <a:r>
              <a:rPr lang="en-US" altLang="zh-TW" smtClean="0"/>
              <a:t>or mini-batch gradient descent</a:t>
            </a:r>
            <a:r>
              <a:rPr lang="zh-TW" altLang="en-US" smtClean="0"/>
              <a:t> </a:t>
            </a:r>
            <a:endParaRPr lang="en-US" altLang="zh-TW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Train multiple nets with different initial weights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mtClean="0"/>
              <a:t>Nature of convergence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Initialize weights near zero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Therefore, initial networks near-linear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mtClean="0"/>
              <a:t>Increasingly nonlinear function as possible as training progresses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Expressive Capabilities of ANNs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smtClean="0"/>
              <a:t>Boolean functions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Every boolean function can be represented by network with single hidden layer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but might require exponential (in number of inputs) hidden units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smtClean="0"/>
              <a:t>Continuous function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Every bounded continuous function can be approximated with arbitrarily small error, by network with one hidden layer [Cybenko 1989; Hornik et al. 1989]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smtClean="0"/>
              <a:t>Arbitrary function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Any function can be approximated to arbitrary accuracy by a network with two hidden layers [Cybenko 1988]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Hypothesis Space Search and</a:t>
            </a:r>
            <a:br>
              <a:rPr lang="en-US" altLang="zh-TW" sz="4000" smtClean="0"/>
            </a:br>
            <a:r>
              <a:rPr lang="en-US" altLang="zh-TW" sz="4000" smtClean="0"/>
              <a:t>Inductive Bias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The hypothesis space is the </a:t>
            </a:r>
            <a:r>
              <a:rPr lang="en-US" altLang="zh-TW" i="1" smtClean="0"/>
              <a:t>n</a:t>
            </a:r>
            <a:r>
              <a:rPr lang="en-US" altLang="zh-TW" smtClean="0"/>
              <a:t>-dimensional  Euclidean space of the </a:t>
            </a:r>
            <a:r>
              <a:rPr lang="en-US" altLang="zh-TW" i="1" smtClean="0"/>
              <a:t>n </a:t>
            </a:r>
            <a:r>
              <a:rPr lang="en-US" altLang="zh-TW" smtClean="0"/>
              <a:t>network weights</a:t>
            </a:r>
          </a:p>
          <a:p>
            <a:pPr lvl="1" eaLnBrk="1" hangingPunct="1"/>
            <a:r>
              <a:rPr lang="en-US" altLang="zh-TW" smtClean="0"/>
              <a:t>Hypothesis space is continuous </a:t>
            </a:r>
          </a:p>
          <a:p>
            <a:pPr eaLnBrk="1" hangingPunct="1"/>
            <a:r>
              <a:rPr lang="en-US" altLang="zh-TW" smtClean="0"/>
              <a:t>Inductive bias: Smooth interpolation between data points</a:t>
            </a:r>
          </a:p>
          <a:p>
            <a:pPr lvl="1" eaLnBrk="1" hangingPunct="1"/>
            <a:r>
              <a:rPr lang="en-US" altLang="zh-TW" smtClean="0"/>
              <a:t>Backpropagation tends to label samples between two positive training examples positive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Overfitting in ANNs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57162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TW" smtClean="0"/>
              <a:t>Overfitting</a:t>
            </a:r>
          </a:p>
        </p:txBody>
      </p:sp>
      <p:sp>
        <p:nvSpPr>
          <p:cNvPr id="47108" name="Picture 4"/>
          <p:cNvSpPr>
            <a:spLocks noChangeAspect="1" noChangeArrowheads="1"/>
          </p:cNvSpPr>
          <p:nvPr/>
        </p:nvSpPr>
        <p:spPr bwMode="auto">
          <a:xfrm>
            <a:off x="1692275" y="2492375"/>
            <a:ext cx="5676900" cy="33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pic>
        <p:nvPicPr>
          <p:cNvPr id="4710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2428875"/>
            <a:ext cx="6376987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Avoid Overfitting in ANNs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Using validation set</a:t>
            </a:r>
          </a:p>
          <a:p>
            <a:pPr lvl="1" eaLnBrk="1" hangingPunct="1"/>
            <a:r>
              <a:rPr lang="en-US" altLang="zh-TW"/>
              <a:t>Store the network weights of the best-performing thus far</a:t>
            </a:r>
          </a:p>
          <a:p>
            <a:pPr lvl="1" eaLnBrk="1" hangingPunct="1"/>
            <a:r>
              <a:rPr lang="en-US" altLang="zh-TW"/>
              <a:t>If current weights has an error significantly higher than that of the stored (best) ones, training is terminated and the stored weights are returned as the final hypothesis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484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Avoid Overfitting in ANNs</a:t>
            </a:r>
            <a:endParaRPr lang="en-US" altLang="zh-TW" smtClean="0"/>
          </a:p>
        </p:txBody>
      </p:sp>
      <p:pic>
        <p:nvPicPr>
          <p:cNvPr id="4915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928938"/>
            <a:ext cx="5638800" cy="337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611188" y="1920875"/>
            <a:ext cx="3676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do not stop training too soon when</a:t>
            </a:r>
          </a:p>
          <a:p>
            <a:pPr eaLnBrk="1" hangingPunct="1"/>
            <a:r>
              <a:rPr lang="en-US" altLang="zh-TW"/>
              <a:t>validation error begins to increase</a:t>
            </a:r>
          </a:p>
        </p:txBody>
      </p:sp>
      <p:sp>
        <p:nvSpPr>
          <p:cNvPr id="49157" name="Line 6"/>
          <p:cNvSpPr>
            <a:spLocks noChangeShapeType="1"/>
          </p:cNvSpPr>
          <p:nvPr/>
        </p:nvSpPr>
        <p:spPr bwMode="auto">
          <a:xfrm>
            <a:off x="2987675" y="2497138"/>
            <a:ext cx="43180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Avoid Overfitting </a:t>
            </a:r>
            <a:r>
              <a:rPr lang="en-US" altLang="zh-TW" smtClean="0"/>
              <a:t>in ANNs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/>
          <a:lstStyle/>
          <a:p>
            <a:pPr marL="342900" lvl="1" indent="-342900" eaLnBrk="1" hangingPunct="1">
              <a:buClr>
                <a:schemeClr val="accent1"/>
              </a:buClr>
              <a:buFont typeface="Wingdings 2" panose="05020102010507070707" pitchFamily="18" charset="2"/>
              <a:buChar char=""/>
            </a:pPr>
            <a:r>
              <a:rPr lang="en-US" altLang="zh-TW" smtClean="0"/>
              <a:t>Regularization</a:t>
            </a:r>
          </a:p>
          <a:p>
            <a:pPr marL="742950" lvl="2" indent="-342900" eaLnBrk="1" hangingPunct="1">
              <a:buClr>
                <a:schemeClr val="accent1"/>
              </a:buClr>
              <a:buFont typeface="Wingdings 2" panose="05020102010507070707" pitchFamily="18" charset="2"/>
              <a:buChar char=""/>
            </a:pPr>
            <a:r>
              <a:rPr lang="en-US" altLang="zh-TW" smtClean="0"/>
              <a:t>Discourages </a:t>
            </a:r>
            <a:r>
              <a:rPr lang="en-US" altLang="zh-TW"/>
              <a:t>learning a more complex or flexible model, so as to avoid the risk of </a:t>
            </a:r>
            <a:r>
              <a:rPr lang="en-US" altLang="zh-TW"/>
              <a:t>overfitting</a:t>
            </a:r>
            <a:r>
              <a:rPr lang="en-US" altLang="zh-TW" smtClean="0"/>
              <a:t>.</a:t>
            </a:r>
          </a:p>
          <a:p>
            <a:pPr marL="742950" lvl="2" indent="-342900" eaLnBrk="1" hangingPunct="1">
              <a:buClr>
                <a:schemeClr val="accent1"/>
              </a:buClr>
              <a:buFont typeface="Wingdings 2" panose="05020102010507070707" pitchFamily="18" charset="2"/>
              <a:buChar char=""/>
            </a:pPr>
            <a:r>
              <a:rPr lang="en-US" altLang="zh-TW" smtClean="0"/>
              <a:t>Add </a:t>
            </a:r>
            <a:r>
              <a:rPr lang="en-US" altLang="zh-TW"/>
              <a:t>an additional penalty term in the error </a:t>
            </a:r>
            <a:r>
              <a:rPr lang="en-US" altLang="zh-TW"/>
              <a:t>function</a:t>
            </a:r>
            <a:r>
              <a:rPr lang="en-US" altLang="zh-TW" smtClean="0"/>
              <a:t>.</a:t>
            </a:r>
          </a:p>
          <a:p>
            <a:pPr marL="1200150" lvl="3" indent="-342900" eaLnBrk="1" hangingPunct="1">
              <a:buClr>
                <a:schemeClr val="accent1"/>
              </a:buClr>
              <a:buFont typeface="Wingdings 2" panose="05020102010507070707" pitchFamily="18" charset="2"/>
              <a:buChar char=""/>
            </a:pPr>
            <a:r>
              <a:rPr lang="en-US" altLang="zh-TW" i="1" smtClean="0"/>
              <a:t>Error</a:t>
            </a:r>
            <a:r>
              <a:rPr lang="en-US" altLang="zh-TW" smtClean="0"/>
              <a:t>+</a:t>
            </a:r>
            <a:r>
              <a:rPr lang="zh-TW" altLang="en-US" i="1" smtClean="0"/>
              <a:t>𝜆</a:t>
            </a:r>
            <a:r>
              <a:rPr lang="en-US" altLang="zh-TW" i="1" smtClean="0"/>
              <a:t>f(</a:t>
            </a:r>
            <a:r>
              <a:rPr lang="zh-TW" altLang="en-US" i="1" smtClean="0"/>
              <a:t>𝛳</a:t>
            </a:r>
            <a:r>
              <a:rPr lang="en-US" altLang="zh-TW" i="1" smtClean="0"/>
              <a:t>)</a:t>
            </a:r>
            <a:endParaRPr lang="en-US" altLang="zh-TW" i="1"/>
          </a:p>
          <a:p>
            <a:pPr marL="742950" lvl="2" indent="-342900" eaLnBrk="1" hangingPunct="1">
              <a:buClr>
                <a:schemeClr val="accent1"/>
              </a:buClr>
              <a:buFont typeface="Wingdings 2" panose="05020102010507070707" pitchFamily="18" charset="2"/>
              <a:buChar char=""/>
            </a:pPr>
            <a:r>
              <a:rPr lang="en-US" altLang="zh-TW" smtClean="0"/>
              <a:t>L1 Regularization</a:t>
            </a:r>
          </a:p>
          <a:p>
            <a:pPr marL="1200150" lvl="3" indent="-342900" eaLnBrk="1" hangingPunct="1">
              <a:buClr>
                <a:schemeClr val="accent1"/>
              </a:buClr>
              <a:buFont typeface="Wingdings 2" panose="05020102010507070707" pitchFamily="18" charset="2"/>
              <a:buChar char=""/>
            </a:pPr>
            <a:endParaRPr lang="en-US" altLang="zh-TW" sz="1800" smtClean="0"/>
          </a:p>
          <a:p>
            <a:pPr marL="1200150" lvl="3" indent="-342900" eaLnBrk="1" hangingPunct="1">
              <a:buClr>
                <a:schemeClr val="accent1"/>
              </a:buClr>
              <a:buFont typeface="Wingdings 2" panose="05020102010507070707" pitchFamily="18" charset="2"/>
              <a:buChar char=""/>
            </a:pPr>
            <a:r>
              <a:rPr lang="en-US" altLang="zh-TW" sz="1800"/>
              <a:t>sparse </a:t>
            </a:r>
            <a:r>
              <a:rPr lang="en-US" altLang="zh-TW" sz="1800" smtClean="0"/>
              <a:t>weights (</a:t>
            </a:r>
            <a:r>
              <a:rPr lang="en-US" altLang="zh-TW" sz="1800"/>
              <a:t>weights with more 0.0 values)</a:t>
            </a:r>
          </a:p>
          <a:p>
            <a:pPr marL="742950" lvl="2" indent="-342900" eaLnBrk="1" hangingPunct="1">
              <a:buClr>
                <a:schemeClr val="accent1"/>
              </a:buClr>
              <a:buFont typeface="Wingdings 2" panose="05020102010507070707" pitchFamily="18" charset="2"/>
              <a:buChar char=""/>
            </a:pPr>
            <a:r>
              <a:rPr lang="en-US" altLang="zh-TW" smtClean="0"/>
              <a:t>L2 Regularization (</a:t>
            </a:r>
            <a:r>
              <a:rPr lang="en-US" altLang="zh-TW" smtClean="0"/>
              <a:t>Weight decay)</a:t>
            </a:r>
            <a:endParaRPr lang="en-US" altLang="zh-TW" smtClean="0"/>
          </a:p>
          <a:p>
            <a:pPr lvl="2" eaLnBrk="1" hangingPunct="1"/>
            <a:endParaRPr lang="en-US" altLang="zh-TW" smtClean="0"/>
          </a:p>
          <a:p>
            <a:pPr lvl="2" eaLnBrk="1" hangingPunct="1"/>
            <a:r>
              <a:rPr lang="en-US" altLang="zh-TW" sz="1800" smtClean="0"/>
              <a:t>Decrease </a:t>
            </a:r>
            <a:r>
              <a:rPr lang="en-US" altLang="zh-TW" sz="1800" smtClean="0"/>
              <a:t>each weight by some small factor during each </a:t>
            </a:r>
            <a:r>
              <a:rPr lang="en-US" altLang="zh-TW" sz="1800" smtClean="0"/>
              <a:t>iteration</a:t>
            </a:r>
          </a:p>
          <a:p>
            <a:pPr lvl="2" eaLnBrk="1" hangingPunct="1"/>
            <a:r>
              <a:rPr lang="en-US" altLang="zh-TW" sz="1800" smtClean="0"/>
              <a:t>Encourages </a:t>
            </a:r>
            <a:r>
              <a:rPr lang="en-US" altLang="zh-TW" sz="1800"/>
              <a:t>weight values to decay towards zero</a:t>
            </a:r>
          </a:p>
          <a:p>
            <a:pPr lvl="2" eaLnBrk="1" hangingPunct="1"/>
            <a:r>
              <a:rPr lang="en-US" altLang="zh-TW" sz="1800"/>
              <a:t>less </a:t>
            </a:r>
            <a:r>
              <a:rPr lang="en-US" altLang="zh-TW" sz="1800"/>
              <a:t>sparse </a:t>
            </a:r>
            <a:r>
              <a:rPr lang="en-US" altLang="zh-TW" sz="1800" smtClean="0"/>
              <a:t>weights, many weights tend to be small value</a:t>
            </a:r>
            <a:endParaRPr lang="en-US" altLang="zh-TW" sz="180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/>
              <p:cNvSpPr txBox="1"/>
              <p:nvPr/>
            </p:nvSpPr>
            <p:spPr>
              <a:xfrm>
                <a:off x="1472925" y="5311997"/>
                <a:ext cx="6840760" cy="4346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𝑟𝑒𝑔𝑢𝑙𝑎𝑟𝑖𝑧𝑎𝑡𝑖𝑜𝑛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𝑡𝑒𝑟𝑚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‖"/>
                            <m:endChr m:val="‖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2000" smtClean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2000" smtClean="0"/>
                  <a:t>+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TW" sz="2000" smtClean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2000" smtClean="0"/>
                  <a:t>)</a:t>
                </a:r>
                <a:endParaRPr lang="zh-TW" altLang="en-US" sz="2000"/>
              </a:p>
            </p:txBody>
          </p:sp>
        </mc:Choice>
        <mc:Fallback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925" y="5311997"/>
                <a:ext cx="6840760" cy="434606"/>
              </a:xfrm>
              <a:prstGeom prst="rect">
                <a:avLst/>
              </a:prstGeom>
              <a:blipFill>
                <a:blip r:embed="rId3"/>
                <a:stretch>
                  <a:fillRect l="-1337" t="-4167" b="-19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1472925" y="4077072"/>
                <a:ext cx="6840760" cy="3388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𝑟𝑒𝑔𝑢𝑙𝑎𝑟𝑖𝑧𝑎𝑡𝑖𝑜𝑛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𝑡𝑒𝑟𝑚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altLang="zh-TW" sz="2000" smtClean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/>
                    </m:sSubSup>
                  </m:oMath>
                </a14:m>
                <a:r>
                  <a:rPr lang="en-US" altLang="zh-TW" sz="2000" smtClean="0"/>
                  <a:t>+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TW" sz="2000" smtClean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</m:sSubSup>
                  </m:oMath>
                </a14:m>
                <a:endParaRPr lang="zh-TW" altLang="en-US" sz="200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925" y="4077072"/>
                <a:ext cx="6840760" cy="338811"/>
              </a:xfrm>
              <a:prstGeom prst="rect">
                <a:avLst/>
              </a:prstGeom>
              <a:blipFill>
                <a:blip r:embed="rId4"/>
                <a:stretch>
                  <a:fillRect l="-1337" t="-12727" b="-4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Avoid Overfitting in ANNs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smtClean="0"/>
              <a:t>Weight constraint</a:t>
            </a:r>
          </a:p>
          <a:p>
            <a:pPr lvl="2"/>
            <a:r>
              <a:rPr lang="en-US" altLang="zh-TW" smtClean="0"/>
              <a:t>Check </a:t>
            </a:r>
            <a:r>
              <a:rPr lang="en-US" altLang="zh-TW"/>
              <a:t>the size or magnitude of the weights </a:t>
            </a:r>
            <a:r>
              <a:rPr lang="en-US" altLang="zh-TW"/>
              <a:t>and </a:t>
            </a:r>
            <a:r>
              <a:rPr lang="en-US" altLang="zh-TW" smtClean="0"/>
              <a:t>scale </a:t>
            </a:r>
            <a:r>
              <a:rPr lang="en-US" altLang="zh-TW"/>
              <a:t>them so that they are all below a pre-defined </a:t>
            </a:r>
            <a:r>
              <a:rPr lang="en-US" altLang="zh-TW"/>
              <a:t>threshold</a:t>
            </a:r>
            <a:r>
              <a:rPr lang="en-US" altLang="zh-TW" smtClean="0"/>
              <a:t>.</a:t>
            </a:r>
          </a:p>
          <a:p>
            <a:pPr lvl="2"/>
            <a:r>
              <a:rPr lang="en-US" altLang="zh-TW"/>
              <a:t>Max </a:t>
            </a:r>
            <a:r>
              <a:rPr lang="en-US" altLang="zh-TW"/>
              <a:t>norm </a:t>
            </a:r>
            <a:r>
              <a:rPr lang="en-US" altLang="zh-TW" smtClean="0"/>
              <a:t>constraint</a:t>
            </a:r>
          </a:p>
          <a:p>
            <a:pPr lvl="3"/>
            <a:r>
              <a:rPr lang="en-US" altLang="zh-TW"/>
              <a:t>simply setting an </a:t>
            </a:r>
            <a:r>
              <a:rPr lang="en-US" altLang="zh-TW"/>
              <a:t>upper </a:t>
            </a:r>
            <a:r>
              <a:rPr lang="en-US" altLang="zh-TW"/>
              <a:t>bound of </a:t>
            </a:r>
            <a:r>
              <a:rPr lang="en-US" altLang="zh-TW"/>
              <a:t>weights </a:t>
            </a:r>
            <a:r>
              <a:rPr lang="en-US" altLang="zh-TW" smtClean="0"/>
              <a:t>(typically 3~4)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4581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Avoid Overfitting in ANNs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smtClean="0"/>
              <a:t>Dropout</a:t>
            </a:r>
          </a:p>
          <a:p>
            <a:pPr lvl="2"/>
            <a:r>
              <a:rPr lang="en-US" altLang="zh-TW"/>
              <a:t>At each training stage, individual nodes are either "dropped out" of the net with </a:t>
            </a:r>
            <a:r>
              <a:rPr lang="en-US" altLang="zh-TW"/>
              <a:t>probability </a:t>
            </a:r>
            <a:r>
              <a:rPr lang="en-US" altLang="zh-TW" smtClean="0"/>
              <a:t>1-</a:t>
            </a:r>
            <a:r>
              <a:rPr lang="en-US" altLang="zh-TW" i="1" smtClean="0"/>
              <a:t>p</a:t>
            </a:r>
            <a:r>
              <a:rPr lang="en-US" altLang="zh-TW" smtClean="0"/>
              <a:t> </a:t>
            </a:r>
            <a:r>
              <a:rPr lang="en-US" altLang="zh-TW"/>
              <a:t>or kept with </a:t>
            </a:r>
            <a:r>
              <a:rPr lang="en-US" altLang="zh-TW"/>
              <a:t>probability </a:t>
            </a:r>
            <a:r>
              <a:rPr lang="en-US" altLang="zh-TW" i="1" smtClean="0"/>
              <a:t>p</a:t>
            </a:r>
            <a:r>
              <a:rPr lang="en-US" altLang="zh-TW"/>
              <a:t>, so that a reduced network is left; incoming and outgoing edges to a dropped-out node are also </a:t>
            </a:r>
            <a:r>
              <a:rPr lang="en-US" altLang="zh-TW"/>
              <a:t>removed</a:t>
            </a:r>
            <a:r>
              <a:rPr lang="en-US" altLang="zh-TW" smtClean="0"/>
              <a:t>.</a:t>
            </a:r>
          </a:p>
          <a:p>
            <a:pPr lvl="2"/>
            <a:r>
              <a:rPr lang="en-US" altLang="zh-TW"/>
              <a:t>Only the reduced network is trained on the data in that stage. The removed nodes are then reinserted into the network with their original </a:t>
            </a:r>
            <a:r>
              <a:rPr lang="en-US" altLang="zh-TW"/>
              <a:t>weights</a:t>
            </a:r>
            <a:r>
              <a:rPr lang="en-US" altLang="zh-TW" smtClean="0"/>
              <a:t>.</a:t>
            </a:r>
          </a:p>
          <a:p>
            <a:pPr lvl="2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1837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altLang="zh-TW" smtClean="0"/>
              <a:t>Uat test time, use </a:t>
            </a:r>
            <a:r>
              <a:rPr lang="en-US" altLang="zh-TW"/>
              <a:t>the full network with each node's output weighted by a factor </a:t>
            </a:r>
            <a:r>
              <a:rPr lang="en-US" altLang="zh-TW"/>
              <a:t>of </a:t>
            </a:r>
            <a:r>
              <a:rPr lang="en-US" altLang="zh-TW" i="1" smtClean="0"/>
              <a:t>p</a:t>
            </a:r>
            <a:r>
              <a:rPr lang="en-US" altLang="zh-TW"/>
              <a:t>, so the expected value of the output of any node is the same as in the training </a:t>
            </a:r>
            <a:r>
              <a:rPr lang="en-US" altLang="zh-TW"/>
              <a:t>stages</a:t>
            </a:r>
            <a:r>
              <a:rPr lang="en-US" altLang="zh-TW" smtClean="0"/>
              <a:t>.</a:t>
            </a:r>
          </a:p>
          <a:p>
            <a:pPr lvl="2"/>
            <a:r>
              <a:rPr lang="en-US" altLang="zh-TW" smtClean="0"/>
              <a:t>Inverted dropout – not justify output values at test time, but </a:t>
            </a:r>
            <a:r>
              <a:rPr lang="en-US" altLang="zh-TW"/>
              <a:t>justify output values </a:t>
            </a:r>
            <a:r>
              <a:rPr lang="en-US" altLang="zh-TW"/>
              <a:t>at </a:t>
            </a:r>
            <a:r>
              <a:rPr lang="en-US" altLang="zh-TW" smtClean="0"/>
              <a:t>training time by dividing output values by </a:t>
            </a:r>
            <a:r>
              <a:rPr lang="en-US" altLang="zh-TW" i="1" smtClean="0"/>
              <a:t>p</a:t>
            </a:r>
            <a:r>
              <a:rPr lang="en-US" altLang="zh-TW" smtClean="0"/>
              <a:t> 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3978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Neural Nets for Face Direction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the direction in which the person is facing (to their left, right, straight, or upward)</a:t>
            </a:r>
          </a:p>
          <a:p>
            <a:pPr eaLnBrk="1" hangingPunct="1"/>
            <a:r>
              <a:rPr lang="en-US" altLang="zh-TW" smtClean="0"/>
              <a:t>Data</a:t>
            </a:r>
          </a:p>
          <a:p>
            <a:pPr lvl="1" eaLnBrk="1" hangingPunct="1"/>
            <a:r>
              <a:rPr lang="en-US" altLang="zh-TW" smtClean="0"/>
              <a:t>624 greyscale images (20 people)</a:t>
            </a:r>
          </a:p>
          <a:p>
            <a:pPr lvl="1" eaLnBrk="1" hangingPunct="1"/>
            <a:r>
              <a:rPr lang="en-US" altLang="zh-TW" smtClean="0"/>
              <a:t>120*128 pixels</a:t>
            </a:r>
          </a:p>
          <a:p>
            <a:pPr lvl="2" eaLnBrk="1" hangingPunct="1"/>
            <a:r>
              <a:rPr lang="en-US" altLang="zh-TW" smtClean="0"/>
              <a:t>Training data: 260 images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Neural Nets for Face Direction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eaLnBrk="1" hangingPunct="1"/>
            <a:r>
              <a:rPr lang="en-US" altLang="zh-TW" smtClean="0"/>
              <a:t>Design choices</a:t>
            </a:r>
          </a:p>
          <a:p>
            <a:pPr lvl="1" eaLnBrk="1" hangingPunct="1"/>
            <a:r>
              <a:rPr lang="en-US" altLang="zh-TW" smtClean="0"/>
              <a:t>Input encoding</a:t>
            </a:r>
          </a:p>
          <a:p>
            <a:pPr lvl="2" eaLnBrk="1" hangingPunct="1"/>
            <a:r>
              <a:rPr lang="en-US" altLang="zh-TW" smtClean="0"/>
              <a:t>How to represent an image?</a:t>
            </a:r>
          </a:p>
          <a:p>
            <a:pPr lvl="2" eaLnBrk="1" hangingPunct="1"/>
            <a:r>
              <a:rPr lang="en-US" altLang="zh-TW" smtClean="0"/>
              <a:t>Here, 30x32 pixel intensity values</a:t>
            </a:r>
          </a:p>
          <a:p>
            <a:pPr lvl="3" eaLnBrk="1" hangingPunct="1"/>
            <a:r>
              <a:rPr lang="en-US" altLang="zh-TW" smtClean="0"/>
              <a:t>0~255 scaled to 0~1</a:t>
            </a:r>
          </a:p>
          <a:p>
            <a:pPr lvl="1" eaLnBrk="1" hangingPunct="1"/>
            <a:r>
              <a:rPr lang="en-US" altLang="zh-TW" smtClean="0"/>
              <a:t>Output encoding</a:t>
            </a:r>
          </a:p>
          <a:p>
            <a:pPr lvl="2" eaLnBrk="1" hangingPunct="1"/>
            <a:r>
              <a:rPr lang="en-US" altLang="zh-TW" smtClean="0"/>
              <a:t>Single output or several outputs?</a:t>
            </a:r>
          </a:p>
          <a:p>
            <a:pPr lvl="2" eaLnBrk="1" hangingPunct="1"/>
            <a:r>
              <a:rPr lang="en-US" altLang="zh-TW" smtClean="0"/>
              <a:t>Here, 1-of-</a:t>
            </a:r>
            <a:r>
              <a:rPr lang="en-US" altLang="zh-TW" i="1" smtClean="0"/>
              <a:t>n</a:t>
            </a:r>
            <a:r>
              <a:rPr lang="en-US" altLang="zh-TW" smtClean="0"/>
              <a:t> output encoding</a:t>
            </a:r>
          </a:p>
          <a:p>
            <a:pPr lvl="3" eaLnBrk="1" hangingPunct="1"/>
            <a:r>
              <a:rPr lang="en-US" altLang="zh-TW" smtClean="0"/>
              <a:t>4 output units, each representing one of the four directions</a:t>
            </a:r>
          </a:p>
          <a:p>
            <a:pPr lvl="3" eaLnBrk="1" hangingPunct="1"/>
            <a:r>
              <a:rPr lang="en-US" altLang="zh-TW" smtClean="0"/>
              <a:t>The highest-valued output taken as the network prediction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Neural Nets for Face Direction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lvl="1" eaLnBrk="1" hangingPunct="1"/>
            <a:r>
              <a:rPr lang="en-US" altLang="zh-TW" smtClean="0"/>
              <a:t>Network graph structure</a:t>
            </a:r>
          </a:p>
          <a:p>
            <a:pPr lvl="2" eaLnBrk="1" hangingPunct="1"/>
            <a:r>
              <a:rPr lang="en-US" altLang="zh-TW" smtClean="0"/>
              <a:t>How many units to include in the network and how to interconnect them</a:t>
            </a:r>
          </a:p>
          <a:p>
            <a:pPr lvl="2" eaLnBrk="1" hangingPunct="1"/>
            <a:r>
              <a:rPr lang="en-US" altLang="zh-TW" smtClean="0"/>
              <a:t>Here, two layers of sigmoid units</a:t>
            </a:r>
          </a:p>
          <a:p>
            <a:pPr lvl="3" eaLnBrk="1" hangingPunct="1"/>
            <a:r>
              <a:rPr lang="en-US" altLang="zh-TW" smtClean="0"/>
              <a:t>960x3x4</a:t>
            </a:r>
          </a:p>
          <a:p>
            <a:pPr lvl="1" eaLnBrk="1" hangingPunct="1"/>
            <a:r>
              <a:rPr lang="en-US" altLang="zh-TW" smtClean="0"/>
              <a:t>Other learning algorithm parameters</a:t>
            </a:r>
          </a:p>
          <a:p>
            <a:pPr lvl="2" eaLnBrk="1" hangingPunct="1"/>
            <a:r>
              <a:rPr lang="en-US" altLang="zh-TW" smtClean="0"/>
              <a:t>the learning rate η (0.3)</a:t>
            </a:r>
          </a:p>
          <a:p>
            <a:pPr lvl="2" eaLnBrk="1" hangingPunct="1"/>
            <a:r>
              <a:rPr lang="en-US" altLang="zh-TW" smtClean="0"/>
              <a:t>the momentum α  (0.3)</a:t>
            </a:r>
          </a:p>
          <a:p>
            <a:pPr lvl="3" eaLnBrk="1" hangingPunct="1"/>
            <a:r>
              <a:rPr lang="en-US" altLang="zh-TW" smtClean="0"/>
              <a:t>If these values are low, it needs longer training times</a:t>
            </a:r>
          </a:p>
          <a:p>
            <a:pPr lvl="3" eaLnBrk="1" hangingPunct="1"/>
            <a:r>
              <a:rPr lang="en-US" altLang="zh-TW" smtClean="0"/>
              <a:t>If these values are set too high, training fails to converge to a network with acceptable error over the training set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Neural Nets for Face Direction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5325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700213"/>
            <a:ext cx="2682875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75" y="1700213"/>
            <a:ext cx="6397625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988" y="3860800"/>
            <a:ext cx="4805362" cy="239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5" name="Text Box 8"/>
          <p:cNvSpPr txBox="1">
            <a:spLocks noChangeArrowheads="1"/>
          </p:cNvSpPr>
          <p:nvPr/>
        </p:nvSpPr>
        <p:spPr bwMode="auto">
          <a:xfrm>
            <a:off x="527050" y="5661025"/>
            <a:ext cx="2892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/>
              <a:t>Training time: 5 minutes</a:t>
            </a:r>
          </a:p>
          <a:p>
            <a:pPr eaLnBrk="1" hangingPunct="1"/>
            <a:r>
              <a:rPr lang="en-US" altLang="zh-TW" sz="2000"/>
              <a:t>Accuracy: 90%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Alternative Error Functions</a:t>
            </a:r>
          </a:p>
        </p:txBody>
      </p:sp>
      <p:graphicFrame>
        <p:nvGraphicFramePr>
          <p:cNvPr id="1229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836738" y="2276475"/>
          <a:ext cx="5181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方程式" r:id="rId4" imgW="2412720" imgH="431640" progId="Equation.3">
                  <p:embed/>
                </p:oleObj>
              </mc:Choice>
              <mc:Fallback>
                <p:oleObj name="方程式" r:id="rId4" imgW="241272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2276475"/>
                        <a:ext cx="5181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5775" y="1600200"/>
            <a:ext cx="8229600" cy="5043488"/>
          </a:xfrm>
        </p:spPr>
        <p:txBody>
          <a:bodyPr/>
          <a:lstStyle/>
          <a:p>
            <a:pPr eaLnBrk="1" hangingPunct="1"/>
            <a:r>
              <a:rPr lang="en-US" altLang="zh-TW" smtClean="0"/>
              <a:t>Penalize large weights</a:t>
            </a: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Train on target slopes as well as values</a:t>
            </a: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Tie together weights</a:t>
            </a:r>
          </a:p>
          <a:p>
            <a:pPr lvl="1" eaLnBrk="1" hangingPunct="1"/>
            <a:r>
              <a:rPr lang="en-US" altLang="zh-TW" smtClean="0"/>
              <a:t>Different network weights are forced to take on identical values</a:t>
            </a:r>
          </a:p>
        </p:txBody>
      </p:sp>
      <p:graphicFrame>
        <p:nvGraphicFramePr>
          <p:cNvPr id="12291" name="Object 10"/>
          <p:cNvGraphicFramePr>
            <a:graphicFrameLocks noChangeAspect="1"/>
          </p:cNvGraphicFramePr>
          <p:nvPr/>
        </p:nvGraphicFramePr>
        <p:xfrm>
          <a:off x="1476375" y="4005263"/>
          <a:ext cx="73406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方程式" r:id="rId6" imgW="3416040" imgH="558720" progId="Equation.3">
                  <p:embed/>
                </p:oleObj>
              </mc:Choice>
              <mc:Fallback>
                <p:oleObj name="方程式" r:id="rId6" imgW="3416040" imgH="5587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005263"/>
                        <a:ext cx="73406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smtClean="0"/>
              <a:t>Dynamically Modifying Network Structure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Grow</a:t>
            </a:r>
          </a:p>
          <a:p>
            <a:pPr lvl="1" eaLnBrk="1" hangingPunct="1"/>
            <a:r>
              <a:rPr lang="en-US" altLang="zh-TW" smtClean="0"/>
              <a:t>Begin with no hidden units</a:t>
            </a:r>
          </a:p>
          <a:p>
            <a:pPr lvl="1" eaLnBrk="1" hangingPunct="1"/>
            <a:r>
              <a:rPr lang="en-US" altLang="zh-TW" smtClean="0"/>
              <a:t>Add hidden units as needed until the training error is reduced to some acceptable level</a:t>
            </a:r>
          </a:p>
          <a:p>
            <a:pPr eaLnBrk="1" hangingPunct="1"/>
            <a:r>
              <a:rPr lang="en-US" altLang="zh-TW" smtClean="0"/>
              <a:t>Shrink</a:t>
            </a:r>
          </a:p>
          <a:p>
            <a:pPr lvl="1" eaLnBrk="1" hangingPunct="1"/>
            <a:r>
              <a:rPr lang="en-US" altLang="zh-TW" smtClean="0"/>
              <a:t>Begin with a complex network</a:t>
            </a:r>
          </a:p>
          <a:p>
            <a:pPr lvl="1" eaLnBrk="1" hangingPunct="1"/>
            <a:r>
              <a:rPr lang="en-US" altLang="zh-TW" smtClean="0"/>
              <a:t>Prune the connections that are inessential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4225</TotalTime>
  <Words>1797</Words>
  <Application>Microsoft Office PowerPoint</Application>
  <PresentationFormat>如螢幕大小 (4:3)</PresentationFormat>
  <Paragraphs>342</Paragraphs>
  <Slides>54</Slides>
  <Notes>49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65" baseType="lpstr">
      <vt:lpstr>华文楷体</vt:lpstr>
      <vt:lpstr>微軟正黑體</vt:lpstr>
      <vt:lpstr>新細明體</vt:lpstr>
      <vt:lpstr>Arial</vt:lpstr>
      <vt:lpstr>Cambria</vt:lpstr>
      <vt:lpstr>Cambria Math</vt:lpstr>
      <vt:lpstr>Maiandra GD</vt:lpstr>
      <vt:lpstr>Wingdings</vt:lpstr>
      <vt:lpstr>Wingdings 2</vt:lpstr>
      <vt:lpstr>dragon</vt:lpstr>
      <vt:lpstr>方程式</vt:lpstr>
      <vt:lpstr>Artificial Neural Networks</vt:lpstr>
      <vt:lpstr>Two Groups of Researchers about Artificial Neural Networks (ANNs)</vt:lpstr>
      <vt:lpstr>Properties of Artificial Neural Nets</vt:lpstr>
      <vt:lpstr>When to Consider Neural Networks</vt:lpstr>
      <vt:lpstr>ALVINN Drives 70 Mph on Highways</vt:lpstr>
      <vt:lpstr>Perceptron</vt:lpstr>
      <vt:lpstr>Perceptron</vt:lpstr>
      <vt:lpstr>Decision Surface of a Perceptron</vt:lpstr>
      <vt:lpstr>Representation Power of Perceptrons</vt:lpstr>
      <vt:lpstr>Representation Power of Perceptrons</vt:lpstr>
      <vt:lpstr>Perceptron Training Rule</vt:lpstr>
      <vt:lpstr>Perceptron Training Rule</vt:lpstr>
      <vt:lpstr>Perceptron Training Rule</vt:lpstr>
      <vt:lpstr>Gradient Descent</vt:lpstr>
      <vt:lpstr>Gradient Descent</vt:lpstr>
      <vt:lpstr>Gradient Descent</vt:lpstr>
      <vt:lpstr>Gradient Descent</vt:lpstr>
      <vt:lpstr>Gradient Descent</vt:lpstr>
      <vt:lpstr>Summary</vt:lpstr>
      <vt:lpstr>Difficulties of Gradient Descent</vt:lpstr>
      <vt:lpstr>Incremental (Stochastic) Gradient Descent</vt:lpstr>
      <vt:lpstr>Incremental (Stochastic) Gradient Descent</vt:lpstr>
      <vt:lpstr>Incremental (Stochastic) Gradient Descent</vt:lpstr>
      <vt:lpstr>Multilayer Networks</vt:lpstr>
      <vt:lpstr>Sigmoid Unit</vt:lpstr>
      <vt:lpstr>Error Gradient for a Sigmoid Unit</vt:lpstr>
      <vt:lpstr>Error Gradient for a Sigmoid Unit</vt:lpstr>
      <vt:lpstr>Backpropagation Algorithm</vt:lpstr>
      <vt:lpstr>Backpropagation Algorithm</vt:lpstr>
      <vt:lpstr>More on Backpropagation</vt:lpstr>
      <vt:lpstr>More on Backpropagation</vt:lpstr>
      <vt:lpstr>More on Backpropagation</vt:lpstr>
      <vt:lpstr>Learning Hidden Layer Representations</vt:lpstr>
      <vt:lpstr>Learning Hidden Layer Representations</vt:lpstr>
      <vt:lpstr>Learning Hidden Layer Representations</vt:lpstr>
      <vt:lpstr>Training</vt:lpstr>
      <vt:lpstr>Training</vt:lpstr>
      <vt:lpstr>Training</vt:lpstr>
      <vt:lpstr>Convergence of Backpropagation</vt:lpstr>
      <vt:lpstr>Expressive Capabilities of ANNs</vt:lpstr>
      <vt:lpstr>Hypothesis Space Search and Inductive Bias</vt:lpstr>
      <vt:lpstr>Overfitting in ANNs</vt:lpstr>
      <vt:lpstr>Avoid Overfitting in ANNs</vt:lpstr>
      <vt:lpstr>Avoid Overfitting in ANNs</vt:lpstr>
      <vt:lpstr>Avoid Overfitting in ANNs</vt:lpstr>
      <vt:lpstr>Avoid Overfitting in ANNs</vt:lpstr>
      <vt:lpstr>Avoid Overfitting in ANNs</vt:lpstr>
      <vt:lpstr>PowerPoint 簡報</vt:lpstr>
      <vt:lpstr>Neural Nets for Face Direction</vt:lpstr>
      <vt:lpstr>Neural Nets for Face Direction</vt:lpstr>
      <vt:lpstr>Neural Nets for Face Direction</vt:lpstr>
      <vt:lpstr>Neural Nets for Face Direction</vt:lpstr>
      <vt:lpstr>Alternative Error Functions</vt:lpstr>
      <vt:lpstr>Dynamically Modifying Network Structure</vt:lpstr>
    </vt:vector>
  </TitlesOfParts>
  <Company>TCU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Neural Networks</dc:title>
  <dc:creator>denislin</dc:creator>
  <cp:lastModifiedBy>denislin</cp:lastModifiedBy>
  <cp:revision>129</cp:revision>
  <dcterms:created xsi:type="dcterms:W3CDTF">2005-12-25T14:48:38Z</dcterms:created>
  <dcterms:modified xsi:type="dcterms:W3CDTF">2019-10-22T06:39:06Z</dcterms:modified>
</cp:coreProperties>
</file>