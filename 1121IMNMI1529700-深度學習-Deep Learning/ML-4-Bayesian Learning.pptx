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83"/>
  </p:notesMasterIdLst>
  <p:sldIdLst>
    <p:sldId id="256" r:id="rId2"/>
    <p:sldId id="266" r:id="rId3"/>
    <p:sldId id="341" r:id="rId4"/>
    <p:sldId id="342" r:id="rId5"/>
    <p:sldId id="343" r:id="rId6"/>
    <p:sldId id="344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7" r:id="rId16"/>
    <p:sldId id="275" r:id="rId17"/>
    <p:sldId id="276" r:id="rId18"/>
    <p:sldId id="277" r:id="rId19"/>
    <p:sldId id="278" r:id="rId20"/>
    <p:sldId id="279" r:id="rId21"/>
    <p:sldId id="280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3" r:id="rId35"/>
    <p:sldId id="294" r:id="rId36"/>
    <p:sldId id="295" r:id="rId37"/>
    <p:sldId id="340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4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  <p:sldId id="313" r:id="rId56"/>
    <p:sldId id="314" r:id="rId57"/>
    <p:sldId id="315" r:id="rId58"/>
    <p:sldId id="316" r:id="rId59"/>
    <p:sldId id="317" r:id="rId60"/>
    <p:sldId id="318" r:id="rId61"/>
    <p:sldId id="323" r:id="rId62"/>
    <p:sldId id="324" r:id="rId63"/>
    <p:sldId id="325" r:id="rId64"/>
    <p:sldId id="326" r:id="rId65"/>
    <p:sldId id="320" r:id="rId66"/>
    <p:sldId id="321" r:id="rId67"/>
    <p:sldId id="319" r:id="rId68"/>
    <p:sldId id="322" r:id="rId69"/>
    <p:sldId id="327" r:id="rId70"/>
    <p:sldId id="328" r:id="rId71"/>
    <p:sldId id="329" r:id="rId72"/>
    <p:sldId id="330" r:id="rId73"/>
    <p:sldId id="331" r:id="rId74"/>
    <p:sldId id="332" r:id="rId75"/>
    <p:sldId id="333" r:id="rId76"/>
    <p:sldId id="334" r:id="rId77"/>
    <p:sldId id="335" r:id="rId78"/>
    <p:sldId id="336" r:id="rId79"/>
    <p:sldId id="337" r:id="rId80"/>
    <p:sldId id="338" r:id="rId81"/>
    <p:sldId id="339" r:id="rId82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138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presProps" Target="presProp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image" Target="../media/image8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7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wmf"/><Relationship Id="rId1" Type="http://schemas.openxmlformats.org/officeDocument/2006/relationships/image" Target="../media/image13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w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image" Target="../media/image29.wmf"/><Relationship Id="rId1" Type="http://schemas.openxmlformats.org/officeDocument/2006/relationships/image" Target="../media/image28.wmf"/></Relationships>
</file>

<file path=ppt/drawings/_rels/vmlDrawing18.vml.rels><?xml version="1.0" encoding="UTF-8" standalone="yes"?>
<Relationships xmlns="http://schemas.openxmlformats.org/package/2006/relationships"><Relationship Id="rId2" Type="http://schemas.openxmlformats.org/officeDocument/2006/relationships/image" Target="../media/image31.wmf"/><Relationship Id="rId1" Type="http://schemas.openxmlformats.org/officeDocument/2006/relationships/image" Target="../media/image27.wmf"/></Relationships>
</file>

<file path=ppt/drawings/_rels/vmlDrawing19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image" Target="../media/image37.wmf"/><Relationship Id="rId1" Type="http://schemas.openxmlformats.org/officeDocument/2006/relationships/image" Target="../media/image36.wmf"/></Relationships>
</file>

<file path=ppt/drawings/_rels/vmlDrawing2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8.wmf"/></Relationships>
</file>

<file path=ppt/drawings/_rels/vmlDrawing2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9.wmf"/></Relationships>
</file>

<file path=ppt/drawings/_rels/vmlDrawing23.vml.rels><?xml version="1.0" encoding="UTF-8" standalone="yes"?>
<Relationships xmlns="http://schemas.openxmlformats.org/package/2006/relationships"><Relationship Id="rId1" Type="http://schemas.openxmlformats.org/officeDocument/2006/relationships/image" Target="../media/image40.wmf"/></Relationships>
</file>

<file path=ppt/drawings/_rels/vmlDrawing24.vml.rels><?xml version="1.0" encoding="UTF-8" standalone="yes"?>
<Relationships xmlns="http://schemas.openxmlformats.org/package/2006/relationships"><Relationship Id="rId1" Type="http://schemas.openxmlformats.org/officeDocument/2006/relationships/image" Target="../media/image41.wmf"/></Relationships>
</file>

<file path=ppt/drawings/_rels/vmlDrawing25.vml.rels><?xml version="1.0" encoding="UTF-8" standalone="yes"?>
<Relationships xmlns="http://schemas.openxmlformats.org/package/2006/relationships"><Relationship Id="rId1" Type="http://schemas.openxmlformats.org/officeDocument/2006/relationships/image" Target="../media/image42.wmf"/></Relationships>
</file>

<file path=ppt/drawings/_rels/vmlDrawing26.vml.rels><?xml version="1.0" encoding="UTF-8" standalone="yes"?>
<Relationships xmlns="http://schemas.openxmlformats.org/package/2006/relationships"><Relationship Id="rId1" Type="http://schemas.openxmlformats.org/officeDocument/2006/relationships/image" Target="../media/image44.wmf"/></Relationships>
</file>

<file path=ppt/drawings/_rels/vmlDrawing2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7.wmf"/></Relationships>
</file>

<file path=ppt/drawings/_rels/vmlDrawing28.vml.rels><?xml version="1.0" encoding="UTF-8" standalone="yes"?>
<Relationships xmlns="http://schemas.openxmlformats.org/package/2006/relationships"><Relationship Id="rId2" Type="http://schemas.openxmlformats.org/officeDocument/2006/relationships/image" Target="../media/image51.wmf"/><Relationship Id="rId1" Type="http://schemas.openxmlformats.org/officeDocument/2006/relationships/image" Target="../media/image50.wmf"/></Relationships>
</file>

<file path=ppt/drawings/_rels/vmlDrawing29.vml.rels><?xml version="1.0" encoding="UTF-8" standalone="yes"?>
<Relationships xmlns="http://schemas.openxmlformats.org/package/2006/relationships"><Relationship Id="rId1" Type="http://schemas.openxmlformats.org/officeDocument/2006/relationships/image" Target="../media/image53.wmf"/></Relationships>
</file>

<file path=ppt/drawings/_rels/vmlDrawing30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90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 smtClean="0"/>
              <a:t>按一下以編輯母片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65B3536F-D25D-4ED0-BA8A-59AC2D7573D8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pitchFamily="34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8D46E5-ABA8-4716-BD48-F1EDB0A5C628}" type="slidenum">
              <a:rPr lang="en-US" altLang="zh-TW" smtClean="0"/>
              <a:pPr/>
              <a:t>1</a:t>
            </a:fld>
            <a:endParaRPr lang="en-US" altLang="zh-TW" smtClean="0"/>
          </a:p>
        </p:txBody>
      </p:sp>
      <p:sp>
        <p:nvSpPr>
          <p:cNvPr id="901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E52B2F-DD73-4798-8696-204AF531C8E5}" type="slidenum">
              <a:rPr lang="en-US" altLang="zh-TW" smtClean="0"/>
              <a:pPr/>
              <a:t>2</a:t>
            </a:fld>
            <a:endParaRPr lang="en-US" altLang="zh-TW" smtClean="0"/>
          </a:p>
        </p:txBody>
      </p:sp>
      <p:sp>
        <p:nvSpPr>
          <p:cNvPr id="1003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728C3D-6824-42E3-A414-A168720B52D1}" type="slidenum">
              <a:rPr lang="en-US" altLang="zh-TW" smtClean="0"/>
              <a:pPr/>
              <a:t>7</a:t>
            </a:fld>
            <a:endParaRPr lang="en-US" altLang="zh-TW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A7CB55-AC44-4DF5-87A6-B7B03E55CF26}" type="slidenum">
              <a:rPr lang="en-US" altLang="zh-TW" smtClean="0"/>
              <a:pPr/>
              <a:t>8</a:t>
            </a:fld>
            <a:endParaRPr lang="en-US" altLang="zh-TW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1415CD4-6969-4790-ADFA-4A054E9A9DEC}" type="slidenum">
              <a:rPr lang="en-US" altLang="zh-TW" smtClean="0"/>
              <a:pPr/>
              <a:t>9</a:t>
            </a:fld>
            <a:endParaRPr lang="en-US" altLang="zh-TW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DF0098F-ED60-404E-96F9-4110C81F288F}" type="slidenum">
              <a:rPr lang="en-US" altLang="zh-TW" smtClean="0"/>
              <a:pPr/>
              <a:t>10</a:t>
            </a:fld>
            <a:endParaRPr lang="en-US" altLang="zh-TW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DD0380-0CA7-425D-8196-D83DD3D0CDF0}" type="slidenum">
              <a:rPr lang="en-US" altLang="zh-TW" smtClean="0"/>
              <a:pPr/>
              <a:t>11</a:t>
            </a:fld>
            <a:endParaRPr lang="en-US" altLang="zh-TW" smtClean="0"/>
          </a:p>
        </p:txBody>
      </p:sp>
      <p:sp>
        <p:nvSpPr>
          <p:cNvPr id="962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BEB74CC-C7BE-4339-A1AC-3F4D60652AE4}" type="slidenum">
              <a:rPr lang="en-US" altLang="zh-TW" smtClean="0"/>
              <a:pPr/>
              <a:t>12</a:t>
            </a:fld>
            <a:endParaRPr lang="en-US" altLang="zh-TW" smtClean="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532B5CC-82D8-462A-9A02-1AC2C087515B}" type="slidenum">
              <a:rPr lang="en-US" altLang="zh-TW" smtClean="0"/>
              <a:pPr/>
              <a:t>13</a:t>
            </a:fld>
            <a:endParaRPr lang="en-US" altLang="zh-TW" smtClean="0"/>
          </a:p>
        </p:txBody>
      </p:sp>
      <p:sp>
        <p:nvSpPr>
          <p:cNvPr id="983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581686-1E75-4B19-A128-D4005B22D8CE}" type="slidenum">
              <a:rPr lang="en-US" altLang="zh-TW" smtClean="0"/>
              <a:pPr/>
              <a:t>14</a:t>
            </a:fld>
            <a:endParaRPr lang="en-US" altLang="zh-TW" smtClean="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DFD45DE-8B5B-4AE8-BBC9-B6D2C3CB1901}" type="slidenum">
              <a:rPr lang="en-US" altLang="zh-TW" smtClean="0"/>
              <a:pPr/>
              <a:t>15</a:t>
            </a:fld>
            <a:endParaRPr lang="en-US" altLang="zh-TW" smtClean="0"/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0B44128-648E-4EFC-8B80-B248548F9A43}" type="slidenum">
              <a:rPr lang="en-US" altLang="zh-TW" smtClean="0"/>
              <a:pPr/>
              <a:t>16</a:t>
            </a:fld>
            <a:endParaRPr lang="en-US" altLang="zh-TW" smtClean="0"/>
          </a:p>
        </p:txBody>
      </p:sp>
      <p:sp>
        <p:nvSpPr>
          <p:cNvPr id="1095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BF28FA6-F7DB-424E-9B92-24E98592A5F9}" type="slidenum">
              <a:rPr lang="en-US" altLang="zh-TW" smtClean="0"/>
              <a:pPr/>
              <a:t>17</a:t>
            </a:fld>
            <a:endParaRPr lang="en-US" altLang="zh-TW" smtClean="0"/>
          </a:p>
        </p:txBody>
      </p:sp>
      <p:sp>
        <p:nvSpPr>
          <p:cNvPr id="1105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B546FF-AEB7-42AD-AC7D-F35C7A913F6A}" type="slidenum">
              <a:rPr lang="en-US" altLang="zh-TW" smtClean="0"/>
              <a:pPr/>
              <a:t>18</a:t>
            </a:fld>
            <a:endParaRPr lang="en-US" altLang="zh-TW" smtClean="0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332CFFA-8D89-498D-9337-59B4E1EDFA22}" type="slidenum">
              <a:rPr lang="en-US" altLang="zh-TW" smtClean="0"/>
              <a:pPr/>
              <a:t>19</a:t>
            </a:fld>
            <a:endParaRPr lang="en-US" altLang="zh-TW" smtClean="0"/>
          </a:p>
        </p:txBody>
      </p:sp>
      <p:sp>
        <p:nvSpPr>
          <p:cNvPr id="1126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70384B2-8D50-4E20-89BE-89B12FA2B540}" type="slidenum">
              <a:rPr lang="en-US" altLang="zh-TW" smtClean="0"/>
              <a:pPr/>
              <a:t>20</a:t>
            </a:fld>
            <a:endParaRPr lang="en-US" altLang="zh-TW" smtClean="0"/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88508FA-5507-40E5-AB28-1FF59C71B98E}" type="slidenum">
              <a:rPr lang="en-US" altLang="zh-TW" smtClean="0"/>
              <a:pPr/>
              <a:t>21</a:t>
            </a:fld>
            <a:endParaRPr lang="en-US" altLang="zh-TW" smtClean="0"/>
          </a:p>
        </p:txBody>
      </p:sp>
      <p:sp>
        <p:nvSpPr>
          <p:cNvPr id="1146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3A3717D-8F1A-4C4C-8EC7-B5A072A8693C}" type="slidenum">
              <a:rPr lang="en-US" altLang="zh-TW" smtClean="0"/>
              <a:pPr/>
              <a:t>22</a:t>
            </a:fld>
            <a:endParaRPr lang="en-US" altLang="zh-TW" smtClean="0"/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CFA181-CC39-44EA-B1BD-708C8F8458DE}" type="slidenum">
              <a:rPr lang="en-US" altLang="zh-TW" smtClean="0"/>
              <a:pPr/>
              <a:t>23</a:t>
            </a:fld>
            <a:endParaRPr lang="en-US" altLang="zh-TW" smtClean="0"/>
          </a:p>
        </p:txBody>
      </p:sp>
      <p:sp>
        <p:nvSpPr>
          <p:cNvPr id="1167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67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AE35E49-85F8-47C6-98A9-60945AD04227}" type="slidenum">
              <a:rPr lang="en-US" altLang="zh-TW" smtClean="0"/>
              <a:pPr/>
              <a:t>24</a:t>
            </a:fld>
            <a:endParaRPr lang="en-US" altLang="zh-TW" smtClean="0"/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71113A-F8EF-460A-84B3-8BED5280A40D}" type="slidenum">
              <a:rPr lang="en-US" altLang="zh-TW" smtClean="0"/>
              <a:pPr/>
              <a:t>25</a:t>
            </a:fld>
            <a:endParaRPr lang="en-US" altLang="zh-TW" smtClean="0"/>
          </a:p>
        </p:txBody>
      </p:sp>
      <p:sp>
        <p:nvSpPr>
          <p:cNvPr id="1187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1C5F27-3744-4B01-A469-E96A4C141D53}" type="slidenum">
              <a:rPr lang="en-US" altLang="zh-TW" smtClean="0"/>
              <a:pPr/>
              <a:t>26</a:t>
            </a:fld>
            <a:endParaRPr lang="en-US" altLang="zh-TW" smtClean="0"/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E965C0A-9019-43E5-ABFA-F19D7BAA5295}" type="slidenum">
              <a:rPr lang="en-US" altLang="zh-TW" smtClean="0"/>
              <a:pPr/>
              <a:t>27</a:t>
            </a:fld>
            <a:endParaRPr lang="en-US" altLang="zh-TW" smtClean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08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2539526-1E87-48DA-9023-7433D4749A64}" type="slidenum">
              <a:rPr lang="en-US" altLang="zh-TW" smtClean="0"/>
              <a:pPr/>
              <a:t>28</a:t>
            </a:fld>
            <a:endParaRPr lang="en-US" altLang="zh-TW" smtClean="0"/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88A2629-3CAB-4823-B6C8-3D080DD8F5FD}" type="slidenum">
              <a:rPr lang="en-US" altLang="zh-TW" smtClean="0"/>
              <a:pPr/>
              <a:t>29</a:t>
            </a:fld>
            <a:endParaRPr lang="en-US" altLang="zh-TW" smtClean="0"/>
          </a:p>
        </p:txBody>
      </p:sp>
      <p:sp>
        <p:nvSpPr>
          <p:cNvPr id="1228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8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5F90C86-1A27-4293-A4A5-8C64E3BCE3AF}" type="slidenum">
              <a:rPr lang="en-US" altLang="zh-TW" smtClean="0"/>
              <a:pPr/>
              <a:t>30</a:t>
            </a:fld>
            <a:endParaRPr lang="en-US" altLang="zh-TW" smtClean="0"/>
          </a:p>
        </p:txBody>
      </p:sp>
      <p:sp>
        <p:nvSpPr>
          <p:cNvPr id="1239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39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4A97C0-B3F8-4235-A9CD-49BFAEE5533F}" type="slidenum">
              <a:rPr lang="en-US" altLang="zh-TW" smtClean="0"/>
              <a:pPr/>
              <a:t>31</a:t>
            </a:fld>
            <a:endParaRPr lang="en-US" altLang="zh-TW" smtClean="0"/>
          </a:p>
        </p:txBody>
      </p:sp>
      <p:sp>
        <p:nvSpPr>
          <p:cNvPr id="1249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49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47365F-B348-4EE7-B771-4C2D7C35693E}" type="slidenum">
              <a:rPr lang="en-US" altLang="zh-TW" smtClean="0"/>
              <a:pPr/>
              <a:t>32</a:t>
            </a:fld>
            <a:endParaRPr lang="en-US" altLang="zh-TW" smtClean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F7C34E-EBF4-4111-9610-3A34DD187EF2}" type="slidenum">
              <a:rPr lang="en-US" altLang="zh-TW" smtClean="0"/>
              <a:pPr/>
              <a:t>33</a:t>
            </a:fld>
            <a:endParaRPr lang="en-US" altLang="zh-TW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B1F3348-FB5F-4CC3-9BEC-392736691870}" type="slidenum">
              <a:rPr lang="en-US" altLang="zh-TW" smtClean="0"/>
              <a:pPr/>
              <a:t>34</a:t>
            </a:fld>
            <a:endParaRPr lang="en-US" altLang="zh-TW" smtClean="0"/>
          </a:p>
        </p:txBody>
      </p:sp>
      <p:sp>
        <p:nvSpPr>
          <p:cNvPr id="1280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80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9F5E3F2-6414-47AD-B156-4E1D559AD72B}" type="slidenum">
              <a:rPr lang="en-US" altLang="zh-TW" smtClean="0"/>
              <a:pPr/>
              <a:t>35</a:t>
            </a:fld>
            <a:endParaRPr lang="en-US" altLang="zh-TW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D1E0B2C-2D73-4F36-AD71-6DCE87913730}" type="slidenum">
              <a:rPr lang="en-US" altLang="zh-TW" smtClean="0"/>
              <a:pPr/>
              <a:t>36</a:t>
            </a:fld>
            <a:endParaRPr lang="en-US" altLang="zh-TW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F027E8-840A-46AD-A030-AC0C00DE69D7}" type="slidenum">
              <a:rPr lang="en-US" altLang="zh-TW" smtClean="0"/>
              <a:pPr/>
              <a:t>37</a:t>
            </a:fld>
            <a:endParaRPr lang="en-US" altLang="zh-TW" smtClean="0"/>
          </a:p>
        </p:txBody>
      </p:sp>
      <p:sp>
        <p:nvSpPr>
          <p:cNvPr id="1310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C5A9740-793E-4DB4-B0F7-C918B7800379}" type="slidenum">
              <a:rPr lang="en-US" altLang="zh-TW" smtClean="0"/>
              <a:pPr/>
              <a:t>38</a:t>
            </a:fld>
            <a:endParaRPr lang="en-US" altLang="zh-TW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86688B4-DC36-4981-AAE4-81A1960FE26C}" type="slidenum">
              <a:rPr lang="en-US" altLang="zh-TW" smtClean="0"/>
              <a:pPr/>
              <a:t>39</a:t>
            </a:fld>
            <a:endParaRPr lang="en-US" altLang="zh-TW" smtClean="0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6764542-462A-4B90-84EF-52BFE47F8DAA}" type="slidenum">
              <a:rPr lang="en-US" altLang="zh-TW" smtClean="0"/>
              <a:pPr/>
              <a:t>40</a:t>
            </a:fld>
            <a:endParaRPr lang="en-US" altLang="zh-TW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5C47C1F-C955-4A30-AF81-9944652D5361}" type="slidenum">
              <a:rPr lang="en-US" altLang="zh-TW" smtClean="0"/>
              <a:pPr/>
              <a:t>41</a:t>
            </a:fld>
            <a:endParaRPr lang="en-US" altLang="zh-TW" smtClean="0"/>
          </a:p>
        </p:txBody>
      </p:sp>
      <p:sp>
        <p:nvSpPr>
          <p:cNvPr id="135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24AFE46-F82B-4B97-A73E-15E575C1679D}" type="slidenum">
              <a:rPr lang="en-US" altLang="zh-TW" smtClean="0"/>
              <a:pPr/>
              <a:t>42</a:t>
            </a:fld>
            <a:endParaRPr lang="en-US" altLang="zh-TW" smtClean="0"/>
          </a:p>
        </p:txBody>
      </p:sp>
      <p:sp>
        <p:nvSpPr>
          <p:cNvPr id="136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6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9D48446-45E1-49D6-BCEB-78B5148E797E}" type="slidenum">
              <a:rPr lang="en-US" altLang="zh-TW" smtClean="0"/>
              <a:pPr/>
              <a:t>43</a:t>
            </a:fld>
            <a:endParaRPr lang="en-US" altLang="zh-TW" smtClean="0"/>
          </a:p>
        </p:txBody>
      </p:sp>
      <p:sp>
        <p:nvSpPr>
          <p:cNvPr id="1372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72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2A2303F-D817-40DD-9911-354EE526F821}" type="slidenum">
              <a:rPr lang="en-US" altLang="zh-TW" smtClean="0"/>
              <a:pPr/>
              <a:t>44</a:t>
            </a:fld>
            <a:endParaRPr lang="en-US" altLang="zh-TW" smtClean="0"/>
          </a:p>
        </p:txBody>
      </p:sp>
      <p:sp>
        <p:nvSpPr>
          <p:cNvPr id="138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8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D3A3237-3919-48B0-A6EA-B2EC772FFA4A}" type="slidenum">
              <a:rPr lang="en-US" altLang="zh-TW" smtClean="0"/>
              <a:pPr/>
              <a:t>45</a:t>
            </a:fld>
            <a:endParaRPr lang="en-US" altLang="zh-TW" smtClean="0"/>
          </a:p>
        </p:txBody>
      </p:sp>
      <p:sp>
        <p:nvSpPr>
          <p:cNvPr id="1392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92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302715B-5D76-4556-81AC-1922F8F1CB5C}" type="slidenum">
              <a:rPr lang="en-US" altLang="zh-TW" smtClean="0"/>
              <a:pPr/>
              <a:t>46</a:t>
            </a:fld>
            <a:endParaRPr lang="en-US" altLang="zh-TW" smtClean="0"/>
          </a:p>
        </p:txBody>
      </p:sp>
      <p:sp>
        <p:nvSpPr>
          <p:cNvPr id="140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0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43EC30B-62B5-4F2A-9654-6277D375DE6E}" type="slidenum">
              <a:rPr lang="en-US" altLang="zh-TW" smtClean="0"/>
              <a:pPr/>
              <a:t>47</a:t>
            </a:fld>
            <a:endParaRPr lang="en-US" altLang="zh-TW" smtClean="0"/>
          </a:p>
        </p:txBody>
      </p:sp>
      <p:sp>
        <p:nvSpPr>
          <p:cNvPr id="141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1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B702FE1-1A59-46DF-B735-CE85AD25EF10}" type="slidenum">
              <a:rPr lang="en-US" altLang="zh-TW" smtClean="0"/>
              <a:pPr/>
              <a:t>48</a:t>
            </a:fld>
            <a:endParaRPr lang="en-US" altLang="zh-TW" smtClean="0"/>
          </a:p>
        </p:txBody>
      </p:sp>
      <p:sp>
        <p:nvSpPr>
          <p:cNvPr id="142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2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E754C51-03E8-4F03-BB3D-F1FD69AF6C4D}" type="slidenum">
              <a:rPr lang="en-US" altLang="zh-TW" smtClean="0"/>
              <a:pPr/>
              <a:t>49</a:t>
            </a:fld>
            <a:endParaRPr lang="en-US" altLang="zh-TW" smtClean="0"/>
          </a:p>
        </p:txBody>
      </p:sp>
      <p:sp>
        <p:nvSpPr>
          <p:cNvPr id="143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6E57A90-75AA-498F-B189-5593F7291DB7}" type="slidenum">
              <a:rPr lang="en-US" altLang="zh-TW" smtClean="0"/>
              <a:pPr/>
              <a:t>50</a:t>
            </a:fld>
            <a:endParaRPr lang="en-US" altLang="zh-TW" smtClean="0"/>
          </a:p>
        </p:txBody>
      </p:sp>
      <p:sp>
        <p:nvSpPr>
          <p:cNvPr id="144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4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8F1BB4D-0405-48B8-939B-CC4B156EE7FF}" type="slidenum">
              <a:rPr lang="en-US" altLang="zh-TW" smtClean="0"/>
              <a:pPr/>
              <a:t>51</a:t>
            </a:fld>
            <a:endParaRPr lang="en-US" altLang="zh-TW" smtClean="0"/>
          </a:p>
        </p:txBody>
      </p:sp>
      <p:sp>
        <p:nvSpPr>
          <p:cNvPr id="145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5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62023F-475D-4839-885F-5DFD42DDE69E}" type="slidenum">
              <a:rPr lang="en-US" altLang="zh-TW" smtClean="0"/>
              <a:pPr/>
              <a:t>52</a:t>
            </a:fld>
            <a:endParaRPr lang="en-US" altLang="zh-TW" smtClean="0"/>
          </a:p>
        </p:txBody>
      </p:sp>
      <p:sp>
        <p:nvSpPr>
          <p:cNvPr id="146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6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3C5E0AF-2697-45BD-A209-4D382CEF539C}" type="slidenum">
              <a:rPr lang="en-US" altLang="zh-TW" smtClean="0"/>
              <a:pPr/>
              <a:t>53</a:t>
            </a:fld>
            <a:endParaRPr lang="en-US" altLang="zh-TW" smtClean="0"/>
          </a:p>
        </p:txBody>
      </p:sp>
      <p:sp>
        <p:nvSpPr>
          <p:cNvPr id="147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7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4EE4DA5-9357-40C8-9868-C80DDFA7BBE9}" type="slidenum">
              <a:rPr lang="en-US" altLang="zh-TW" smtClean="0"/>
              <a:pPr/>
              <a:t>54</a:t>
            </a:fld>
            <a:endParaRPr lang="en-US" altLang="zh-TW" smtClean="0"/>
          </a:p>
        </p:txBody>
      </p:sp>
      <p:sp>
        <p:nvSpPr>
          <p:cNvPr id="148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8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6E4D9E7-8B55-4754-906B-3457F1D2D019}" type="slidenum">
              <a:rPr lang="en-US" altLang="zh-TW" smtClean="0"/>
              <a:pPr/>
              <a:t>55</a:t>
            </a:fld>
            <a:endParaRPr lang="en-US" altLang="zh-TW" smtClean="0"/>
          </a:p>
        </p:txBody>
      </p:sp>
      <p:sp>
        <p:nvSpPr>
          <p:cNvPr id="149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9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75714C-488D-4247-AC47-2FF61FF9325C}" type="slidenum">
              <a:rPr lang="en-US" altLang="zh-TW" smtClean="0"/>
              <a:pPr/>
              <a:t>56</a:t>
            </a:fld>
            <a:endParaRPr lang="en-US" altLang="zh-TW" smtClean="0"/>
          </a:p>
        </p:txBody>
      </p:sp>
      <p:sp>
        <p:nvSpPr>
          <p:cNvPr id="1505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05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E3A8A0F-2D2C-402D-ADE2-4FF1DFB8C399}" type="slidenum">
              <a:rPr lang="en-US" altLang="zh-TW" smtClean="0"/>
              <a:pPr/>
              <a:t>57</a:t>
            </a:fld>
            <a:endParaRPr lang="en-US" altLang="zh-TW" smtClean="0"/>
          </a:p>
        </p:txBody>
      </p:sp>
      <p:sp>
        <p:nvSpPr>
          <p:cNvPr id="151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1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731C24B-0DCE-48C0-ADCC-EC6937290E09}" type="slidenum">
              <a:rPr lang="en-US" altLang="zh-TW" smtClean="0"/>
              <a:pPr/>
              <a:t>58</a:t>
            </a:fld>
            <a:endParaRPr lang="en-US" altLang="zh-TW" smtClean="0"/>
          </a:p>
        </p:txBody>
      </p:sp>
      <p:sp>
        <p:nvSpPr>
          <p:cNvPr id="152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2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483D968-0AF2-4B2D-B7FB-67E73A907719}" type="slidenum">
              <a:rPr lang="en-US" altLang="zh-TW" smtClean="0"/>
              <a:pPr/>
              <a:t>59</a:t>
            </a:fld>
            <a:endParaRPr lang="en-US" altLang="zh-TW" smtClean="0"/>
          </a:p>
        </p:txBody>
      </p:sp>
      <p:sp>
        <p:nvSpPr>
          <p:cNvPr id="153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8809D8B-3A11-4110-B743-0FF5C44DC161}" type="slidenum">
              <a:rPr lang="en-US" altLang="zh-TW" smtClean="0"/>
              <a:pPr/>
              <a:t>60</a:t>
            </a:fld>
            <a:endParaRPr lang="en-US" altLang="zh-TW" smtClean="0"/>
          </a:p>
        </p:txBody>
      </p:sp>
      <p:sp>
        <p:nvSpPr>
          <p:cNvPr id="154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4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A4F217-40E4-4132-BCEF-5475EE7607E2}" type="slidenum">
              <a:rPr lang="en-US" altLang="zh-TW" smtClean="0"/>
              <a:pPr/>
              <a:t>61</a:t>
            </a:fld>
            <a:endParaRPr lang="en-US" altLang="zh-TW" smtClean="0"/>
          </a:p>
        </p:txBody>
      </p:sp>
      <p:sp>
        <p:nvSpPr>
          <p:cNvPr id="1556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56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49A83E1-90CA-419C-81C7-6C4817A753AD}" type="slidenum">
              <a:rPr lang="en-US" altLang="zh-TW" smtClean="0"/>
              <a:pPr/>
              <a:t>62</a:t>
            </a:fld>
            <a:endParaRPr lang="en-US" altLang="zh-TW" smtClean="0"/>
          </a:p>
        </p:txBody>
      </p:sp>
      <p:sp>
        <p:nvSpPr>
          <p:cNvPr id="156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6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DCA57E-26DF-4167-B762-7FDBF71356E1}" type="slidenum">
              <a:rPr lang="en-US" altLang="zh-TW" smtClean="0"/>
              <a:pPr/>
              <a:t>63</a:t>
            </a:fld>
            <a:endParaRPr lang="en-US" altLang="zh-TW" smtClean="0"/>
          </a:p>
        </p:txBody>
      </p:sp>
      <p:sp>
        <p:nvSpPr>
          <p:cNvPr id="157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77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DE40D9-43CE-4840-AEC5-BBBB87F84C9B}" type="slidenum">
              <a:rPr lang="en-US" altLang="zh-TW" smtClean="0"/>
              <a:pPr/>
              <a:t>64</a:t>
            </a:fld>
            <a:endParaRPr lang="en-US" altLang="zh-TW" smtClean="0"/>
          </a:p>
        </p:txBody>
      </p:sp>
      <p:sp>
        <p:nvSpPr>
          <p:cNvPr id="1587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87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4BCC56F-59A6-4272-810A-059479C3130A}" type="slidenum">
              <a:rPr lang="en-US" altLang="zh-TW" smtClean="0"/>
              <a:pPr/>
              <a:t>65</a:t>
            </a:fld>
            <a:endParaRPr lang="en-US" altLang="zh-TW" smtClean="0"/>
          </a:p>
        </p:txBody>
      </p:sp>
      <p:sp>
        <p:nvSpPr>
          <p:cNvPr id="1597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97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4328DAF-1EE3-4518-8D44-166A8A6E8DC3}" type="slidenum">
              <a:rPr lang="en-US" altLang="zh-TW" smtClean="0"/>
              <a:pPr/>
              <a:t>66</a:t>
            </a:fld>
            <a:endParaRPr lang="en-US" altLang="zh-TW" smtClean="0"/>
          </a:p>
        </p:txBody>
      </p:sp>
      <p:sp>
        <p:nvSpPr>
          <p:cNvPr id="1607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0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DDD6F10-D97A-4B0D-B691-1B0366E5EB88}" type="slidenum">
              <a:rPr lang="en-US" altLang="zh-TW" smtClean="0"/>
              <a:pPr/>
              <a:t>67</a:t>
            </a:fld>
            <a:endParaRPr lang="en-US" altLang="zh-TW" smtClean="0"/>
          </a:p>
        </p:txBody>
      </p:sp>
      <p:sp>
        <p:nvSpPr>
          <p:cNvPr id="161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1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03C83B3-8A53-4380-A50C-6F3A143DAD00}" type="slidenum">
              <a:rPr lang="en-US" altLang="zh-TW" smtClean="0"/>
              <a:pPr/>
              <a:t>68</a:t>
            </a:fld>
            <a:endParaRPr lang="en-US" altLang="zh-TW" smtClean="0"/>
          </a:p>
        </p:txBody>
      </p:sp>
      <p:sp>
        <p:nvSpPr>
          <p:cNvPr id="162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2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EC601BF-5E24-4913-881B-520ABDF33E26}" type="slidenum">
              <a:rPr lang="en-US" altLang="zh-TW" smtClean="0"/>
              <a:pPr/>
              <a:t>69</a:t>
            </a:fld>
            <a:endParaRPr lang="en-US" altLang="zh-TW" smtClean="0"/>
          </a:p>
        </p:txBody>
      </p:sp>
      <p:sp>
        <p:nvSpPr>
          <p:cNvPr id="163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200D5EF-0D51-4182-A394-42994E74084F}" type="slidenum">
              <a:rPr lang="en-US" altLang="zh-TW" smtClean="0"/>
              <a:pPr/>
              <a:t>70</a:t>
            </a:fld>
            <a:endParaRPr lang="en-US" altLang="zh-TW" smtClean="0"/>
          </a:p>
        </p:txBody>
      </p:sp>
      <p:sp>
        <p:nvSpPr>
          <p:cNvPr id="164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4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1D178C-E58A-427C-BD13-E77F41A129BB}" type="slidenum">
              <a:rPr lang="en-US" altLang="zh-TW" smtClean="0"/>
              <a:pPr/>
              <a:t>71</a:t>
            </a:fld>
            <a:endParaRPr lang="en-US" altLang="zh-TW" smtClean="0"/>
          </a:p>
        </p:txBody>
      </p:sp>
      <p:sp>
        <p:nvSpPr>
          <p:cNvPr id="1658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5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2B2D027-4BC8-4DF9-B6B0-6CD761134AF2}" type="slidenum">
              <a:rPr lang="en-US" altLang="zh-TW" smtClean="0"/>
              <a:pPr/>
              <a:t>72</a:t>
            </a:fld>
            <a:endParaRPr lang="en-US" altLang="zh-TW" smtClean="0"/>
          </a:p>
        </p:txBody>
      </p:sp>
      <p:sp>
        <p:nvSpPr>
          <p:cNvPr id="166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6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03CA68-D3D8-4167-AC0E-B43DAE9A38AE}" type="slidenum">
              <a:rPr lang="en-US" altLang="zh-TW" smtClean="0"/>
              <a:pPr/>
              <a:t>73</a:t>
            </a:fld>
            <a:endParaRPr lang="en-US" altLang="zh-TW" smtClean="0"/>
          </a:p>
        </p:txBody>
      </p:sp>
      <p:sp>
        <p:nvSpPr>
          <p:cNvPr id="167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7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B08B9E-9909-4B5F-BCE4-4C96BC28EB7C}" type="slidenum">
              <a:rPr lang="en-US" altLang="zh-TW" smtClean="0"/>
              <a:pPr/>
              <a:t>74</a:t>
            </a:fld>
            <a:endParaRPr lang="en-US" altLang="zh-TW" smtClean="0"/>
          </a:p>
        </p:txBody>
      </p:sp>
      <p:sp>
        <p:nvSpPr>
          <p:cNvPr id="168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8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C14D35D-0EB1-4727-815B-6C8625D49DB5}" type="slidenum">
              <a:rPr lang="en-US" altLang="zh-TW" smtClean="0"/>
              <a:pPr/>
              <a:t>75</a:t>
            </a:fld>
            <a:endParaRPr lang="en-US" altLang="zh-TW" smtClean="0"/>
          </a:p>
        </p:txBody>
      </p:sp>
      <p:sp>
        <p:nvSpPr>
          <p:cNvPr id="169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9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5257F2F-E2D8-4558-8EF4-A71F731DB9D0}" type="slidenum">
              <a:rPr lang="en-US" altLang="zh-TW" smtClean="0"/>
              <a:pPr/>
              <a:t>76</a:t>
            </a:fld>
            <a:endParaRPr lang="en-US" altLang="zh-TW" smtClean="0"/>
          </a:p>
        </p:txBody>
      </p:sp>
      <p:sp>
        <p:nvSpPr>
          <p:cNvPr id="171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1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92B4DA-8F63-4943-BFA0-2B5484FA6974}" type="slidenum">
              <a:rPr lang="en-US" altLang="zh-TW" smtClean="0"/>
              <a:pPr/>
              <a:t>77</a:t>
            </a:fld>
            <a:endParaRPr lang="en-US" altLang="zh-TW" smtClean="0"/>
          </a:p>
        </p:txBody>
      </p:sp>
      <p:sp>
        <p:nvSpPr>
          <p:cNvPr id="172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2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B07F524-30C8-4C5B-A15D-4FE58C530846}" type="slidenum">
              <a:rPr lang="en-US" altLang="zh-TW" smtClean="0"/>
              <a:pPr/>
              <a:t>78</a:t>
            </a:fld>
            <a:endParaRPr lang="en-US" altLang="zh-TW" smtClean="0"/>
          </a:p>
        </p:txBody>
      </p:sp>
      <p:sp>
        <p:nvSpPr>
          <p:cNvPr id="173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3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5089CB-6EE0-442E-AAE0-B9CF5CADE5A6}" type="slidenum">
              <a:rPr lang="en-US" altLang="zh-TW" smtClean="0"/>
              <a:pPr/>
              <a:t>79</a:t>
            </a:fld>
            <a:endParaRPr lang="en-US" altLang="zh-TW" smtClean="0"/>
          </a:p>
        </p:txBody>
      </p:sp>
      <p:sp>
        <p:nvSpPr>
          <p:cNvPr id="174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516A153-3E5F-479B-B29D-908AF115B9F2}" type="slidenum">
              <a:rPr lang="en-US" altLang="zh-TW" smtClean="0"/>
              <a:pPr/>
              <a:t>80</a:t>
            </a:fld>
            <a:endParaRPr lang="en-US" altLang="zh-TW" smtClean="0"/>
          </a:p>
        </p:txBody>
      </p:sp>
      <p:sp>
        <p:nvSpPr>
          <p:cNvPr id="175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5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900BCE1-C954-477F-96CA-8BBE0FD9201B}" type="slidenum">
              <a:rPr lang="en-US" altLang="zh-TW" smtClean="0"/>
              <a:pPr/>
              <a:t>81</a:t>
            </a:fld>
            <a:endParaRPr lang="en-US" altLang="zh-TW" smtClean="0"/>
          </a:p>
        </p:txBody>
      </p:sp>
      <p:sp>
        <p:nvSpPr>
          <p:cNvPr id="176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6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zh-TW" altLang="en-US" smtClean="0"/>
              <a:t>按一下以編輯母片副標題樣式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BF6FC3DA-53AC-4F26-9327-99703CEEA46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504736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0BB01B-AD19-4FB4-8131-DED6AFF311AA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40518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pPr>
              <a:defRPr/>
            </a:pPr>
            <a:fld id="{083E96C4-86D7-4E72-9477-2681A21489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1128642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AD18AC-3F7D-483B-8263-6D93EC5E9E34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08652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A5A45E-04C4-4DB4-B5DB-039FE3EDA3A3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8994102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9F04F1D-F31E-42E0-A513-7FEFB0945FA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32080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5CCD851-D04E-4DF9-B8FA-0A39B913142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262509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5B697C2A-BDB1-42F9-9EC9-64AB2D09924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6596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CAC91C3A-9D94-4930-AE0D-D3860553B50E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32463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6A2B85-89EA-43EB-8E13-6ED9E8A316F7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6935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E3D950D-E326-460E-B67D-1170590D0AD2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19036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>
              <a:defRPr/>
            </a:pPr>
            <a:fld id="{083E96C4-86D7-4E72-9477-2681A2148948}" type="slidenum">
              <a:rPr lang="en-US" altLang="zh-TW" smtClean="0"/>
              <a:pPr>
                <a:defRPr/>
              </a:pPr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1143808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7" Type="http://schemas.openxmlformats.org/officeDocument/2006/relationships/image" Target="../media/image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8.wmf"/><Relationship Id="rId4" Type="http://schemas.openxmlformats.org/officeDocument/2006/relationships/oleObject" Target="../embeddings/oleObject4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6.bin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8.bin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9.bin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3.wmf"/><Relationship Id="rId4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12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.bin"/><Relationship Id="rId3" Type="http://schemas.openxmlformats.org/officeDocument/2006/relationships/notesSlide" Target="../notesSlides/notesSlide16.xml"/><Relationship Id="rId7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16.wmf"/><Relationship Id="rId4" Type="http://schemas.openxmlformats.org/officeDocument/2006/relationships/oleObject" Target="../embeddings/oleObject13.bin"/><Relationship Id="rId9" Type="http://schemas.openxmlformats.org/officeDocument/2006/relationships/image" Target="../media/image18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6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20.wmf"/><Relationship Id="rId4" Type="http://schemas.openxmlformats.org/officeDocument/2006/relationships/oleObject" Target="../embeddings/oleObject17.bin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21.wmf"/><Relationship Id="rId4" Type="http://schemas.openxmlformats.org/officeDocument/2006/relationships/oleObject" Target="../embeddings/oleObject18.bin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5" Type="http://schemas.openxmlformats.org/officeDocument/2006/relationships/image" Target="../media/image22.wmf"/><Relationship Id="rId4" Type="http://schemas.openxmlformats.org/officeDocument/2006/relationships/oleObject" Target="../embeddings/oleObject19.bin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7" Type="http://schemas.openxmlformats.org/officeDocument/2006/relationships/image" Target="../media/image2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oleObject" Target="../embeddings/oleObject21.bin"/><Relationship Id="rId5" Type="http://schemas.openxmlformats.org/officeDocument/2006/relationships/image" Target="../media/image23.wmf"/><Relationship Id="rId4" Type="http://schemas.openxmlformats.org/officeDocument/2006/relationships/oleObject" Target="../embeddings/oleObject20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5.wmf"/><Relationship Id="rId4" Type="http://schemas.openxmlformats.org/officeDocument/2006/relationships/oleObject" Target="../embeddings/oleObject22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7" Type="http://schemas.openxmlformats.org/officeDocument/2006/relationships/image" Target="../media/image2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oleObject" Target="../embeddings/oleObject24.bin"/><Relationship Id="rId5" Type="http://schemas.openxmlformats.org/officeDocument/2006/relationships/image" Target="../media/image26.wmf"/><Relationship Id="rId4" Type="http://schemas.openxmlformats.org/officeDocument/2006/relationships/oleObject" Target="../embeddings/oleObject23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3" Type="http://schemas.openxmlformats.org/officeDocument/2006/relationships/notesSlide" Target="../notesSlides/notesSlide31.xml"/><Relationship Id="rId7" Type="http://schemas.openxmlformats.org/officeDocument/2006/relationships/image" Target="../media/image29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6.bin"/><Relationship Id="rId5" Type="http://schemas.openxmlformats.org/officeDocument/2006/relationships/image" Target="../media/image28.wmf"/><Relationship Id="rId4" Type="http://schemas.openxmlformats.org/officeDocument/2006/relationships/oleObject" Target="../embeddings/oleObject25.bin"/><Relationship Id="rId9" Type="http://schemas.openxmlformats.org/officeDocument/2006/relationships/image" Target="../media/image30.wmf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2.xml"/><Relationship Id="rId7" Type="http://schemas.openxmlformats.org/officeDocument/2006/relationships/image" Target="../media/image3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8.vml"/><Relationship Id="rId6" Type="http://schemas.openxmlformats.org/officeDocument/2006/relationships/oleObject" Target="../embeddings/oleObject29.bin"/><Relationship Id="rId5" Type="http://schemas.openxmlformats.org/officeDocument/2006/relationships/image" Target="../media/image27.wmf"/><Relationship Id="rId4" Type="http://schemas.openxmlformats.org/officeDocument/2006/relationships/oleObject" Target="../embeddings/oleObject28.bin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3" Type="http://schemas.openxmlformats.org/officeDocument/2006/relationships/notesSlide" Target="../notesSlides/notesSlide35.xml"/><Relationship Id="rId7" Type="http://schemas.openxmlformats.org/officeDocument/2006/relationships/image" Target="../media/image3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9.vml"/><Relationship Id="rId6" Type="http://schemas.openxmlformats.org/officeDocument/2006/relationships/oleObject" Target="../embeddings/oleObject31.bin"/><Relationship Id="rId5" Type="http://schemas.openxmlformats.org/officeDocument/2006/relationships/image" Target="../media/image33.wmf"/><Relationship Id="rId4" Type="http://schemas.openxmlformats.org/officeDocument/2006/relationships/oleObject" Target="../embeddings/oleObject30.bin"/><Relationship Id="rId9" Type="http://schemas.openxmlformats.org/officeDocument/2006/relationships/image" Target="../media/image35.wmf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5.bin"/><Relationship Id="rId3" Type="http://schemas.openxmlformats.org/officeDocument/2006/relationships/notesSlide" Target="../notesSlides/notesSlide36.xml"/><Relationship Id="rId7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oleObject" Target="../embeddings/oleObject34.bin"/><Relationship Id="rId5" Type="http://schemas.openxmlformats.org/officeDocument/2006/relationships/image" Target="../media/image36.wmf"/><Relationship Id="rId4" Type="http://schemas.openxmlformats.org/officeDocument/2006/relationships/oleObject" Target="../embeddings/oleObject33.bin"/><Relationship Id="rId9" Type="http://schemas.openxmlformats.org/officeDocument/2006/relationships/image" Target="../media/image38.w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1.vml"/><Relationship Id="rId5" Type="http://schemas.openxmlformats.org/officeDocument/2006/relationships/image" Target="../media/image38.wmf"/><Relationship Id="rId4" Type="http://schemas.openxmlformats.org/officeDocument/2006/relationships/oleObject" Target="../embeddings/oleObject36.bin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5" Type="http://schemas.openxmlformats.org/officeDocument/2006/relationships/image" Target="../media/image39.wmf"/><Relationship Id="rId4" Type="http://schemas.openxmlformats.org/officeDocument/2006/relationships/oleObject" Target="../embeddings/oleObject37.bin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3.vml"/><Relationship Id="rId5" Type="http://schemas.openxmlformats.org/officeDocument/2006/relationships/image" Target="../media/image40.wmf"/><Relationship Id="rId4" Type="http://schemas.openxmlformats.org/officeDocument/2006/relationships/oleObject" Target="../embeddings/oleObject38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5" Type="http://schemas.openxmlformats.org/officeDocument/2006/relationships/image" Target="../media/image41.wmf"/><Relationship Id="rId4" Type="http://schemas.openxmlformats.org/officeDocument/2006/relationships/oleObject" Target="../embeddings/oleObject39.bin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40.bin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5" Type="http://schemas.openxmlformats.org/officeDocument/2006/relationships/image" Target="../media/image44.wmf"/><Relationship Id="rId4" Type="http://schemas.openxmlformats.org/officeDocument/2006/relationships/oleObject" Target="../embeddings/oleObject41.bin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w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5" Type="http://schemas.openxmlformats.org/officeDocument/2006/relationships/image" Target="../media/image47.wmf"/><Relationship Id="rId4" Type="http://schemas.openxmlformats.org/officeDocument/2006/relationships/oleObject" Target="../embeddings/oleObject42.bin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wmf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4.xml"/><Relationship Id="rId7" Type="http://schemas.openxmlformats.org/officeDocument/2006/relationships/image" Target="../media/image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8.vml"/><Relationship Id="rId6" Type="http://schemas.openxmlformats.org/officeDocument/2006/relationships/oleObject" Target="../embeddings/oleObject44.bin"/><Relationship Id="rId5" Type="http://schemas.openxmlformats.org/officeDocument/2006/relationships/image" Target="../media/image50.wmf"/><Relationship Id="rId4" Type="http://schemas.openxmlformats.org/officeDocument/2006/relationships/oleObject" Target="../embeddings/oleObject43.bin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9.vml"/><Relationship Id="rId5" Type="http://schemas.openxmlformats.org/officeDocument/2006/relationships/image" Target="../media/image53.wmf"/><Relationship Id="rId4" Type="http://schemas.openxmlformats.org/officeDocument/2006/relationships/oleObject" Target="../embeddings/oleObject45.bin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3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5" Type="http://schemas.openxmlformats.org/officeDocument/2006/relationships/image" Target="../media/image54.wmf"/><Relationship Id="rId4" Type="http://schemas.openxmlformats.org/officeDocument/2006/relationships/oleObject" Target="../embeddings/oleObject46.bin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5" Type="http://schemas.openxmlformats.org/officeDocument/2006/relationships/image" Target="../media/image55.wmf"/><Relationship Id="rId4" Type="http://schemas.openxmlformats.org/officeDocument/2006/relationships/oleObject" Target="../embeddings/oleObject4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171281" y="2091263"/>
            <a:ext cx="6801440" cy="2057817"/>
          </a:xfrm>
        </p:spPr>
        <p:txBody>
          <a:bodyPr/>
          <a:lstStyle/>
          <a:p>
            <a:pPr eaLnBrk="1" hangingPunct="1"/>
            <a:r>
              <a:rPr lang="en-US" altLang="zh-TW" sz="4800" smtClean="0"/>
              <a:t>Bayesian </a:t>
            </a:r>
            <a:r>
              <a:rPr lang="en-US" altLang="zh-TW" sz="4800" dirty="0" smtClean="0"/>
              <a:t>Learning</a:t>
            </a:r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171575" y="4005064"/>
            <a:ext cx="6803136" cy="1179918"/>
          </a:xfrm>
        </p:spPr>
        <p:txBody>
          <a:bodyPr>
            <a:normAutofit/>
          </a:bodyPr>
          <a:lstStyle/>
          <a:p>
            <a:r>
              <a:rPr lang="en-US" altLang="zh-TW" sz="3200"/>
              <a:t>Wen-Cheng Lin</a:t>
            </a:r>
          </a:p>
          <a:p>
            <a:r>
              <a:rPr lang="en-US" altLang="zh-TW"/>
              <a:t>Department of Medical Informatics</a:t>
            </a:r>
          </a:p>
          <a:p>
            <a:r>
              <a:rPr lang="en-US" altLang="zh-TW"/>
              <a:t>Tzu Chi University</a:t>
            </a:r>
          </a:p>
          <a:p>
            <a:pPr eaLnBrk="1" hangingPunct="1"/>
            <a:endParaRPr lang="zh-TW" altLang="zh-TW" smtClean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1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0578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400" smtClean="0"/>
              <a:t>Product Rule: probability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A</a:t>
            </a:r>
            <a:r>
              <a:rPr lang="en-US" altLang="zh-TW" sz="2400" smtClean="0">
                <a:latin typeface="SymbolMT" charset="-128"/>
                <a:ea typeface="SymbolMT" charset="-128"/>
              </a:rPr>
              <a:t>∧</a:t>
            </a:r>
            <a:r>
              <a:rPr lang="en-US" altLang="zh-TW" sz="2400" i="1" smtClean="0"/>
              <a:t>B</a:t>
            </a:r>
            <a:r>
              <a:rPr lang="en-US" altLang="zh-TW" sz="2400" smtClean="0"/>
              <a:t>) of a conjunction of two events </a:t>
            </a:r>
            <a:r>
              <a:rPr lang="en-US" altLang="zh-TW" sz="2400" i="1" smtClean="0"/>
              <a:t>A</a:t>
            </a:r>
            <a:r>
              <a:rPr lang="en-US" altLang="zh-TW" sz="2400" smtClean="0"/>
              <a:t> and </a:t>
            </a:r>
            <a:r>
              <a:rPr lang="en-US" altLang="zh-TW" sz="2400" i="1" smtClean="0"/>
              <a:t>B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>
                <a:latin typeface="SymbolMT" charset="-128"/>
                <a:ea typeface="SymbolMT" charset="-128"/>
              </a:rPr>
              <a:t>∧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 =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 =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)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)</a:t>
            </a:r>
          </a:p>
          <a:p>
            <a:pPr eaLnBrk="1" hangingPunct="1"/>
            <a:r>
              <a:rPr lang="en-US" altLang="zh-TW" sz="2400" smtClean="0"/>
              <a:t>Sum Rule: probability of a disjunction of two events </a:t>
            </a:r>
            <a:r>
              <a:rPr lang="en-US" altLang="zh-TW" sz="2400" i="1" smtClean="0"/>
              <a:t>A</a:t>
            </a:r>
            <a:r>
              <a:rPr lang="en-US" altLang="zh-TW" sz="2400" smtClean="0"/>
              <a:t> and </a:t>
            </a:r>
            <a:r>
              <a:rPr lang="en-US" altLang="zh-TW" sz="2400" i="1" smtClean="0"/>
              <a:t>B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∨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 =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) +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 -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smtClean="0"/>
              <a:t>∧</a:t>
            </a:r>
            <a:r>
              <a:rPr lang="en-US" altLang="zh-TW" sz="2000" i="1" smtClean="0"/>
              <a:t>B</a:t>
            </a:r>
            <a:r>
              <a:rPr lang="en-US" altLang="zh-TW" sz="2000" smtClean="0"/>
              <a:t>)</a:t>
            </a:r>
          </a:p>
          <a:p>
            <a:pPr eaLnBrk="1" hangingPunct="1"/>
            <a:r>
              <a:rPr lang="en-US" altLang="zh-TW" sz="2400" smtClean="0"/>
              <a:t>Theorem of total probability: if events 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1</a:t>
            </a:r>
            <a:r>
              <a:rPr lang="en-US" altLang="zh-TW" sz="2400" smtClean="0"/>
              <a:t>,...,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n</a:t>
            </a:r>
            <a:r>
              <a:rPr lang="en-US" altLang="zh-TW" sz="2400" smtClean="0"/>
              <a:t> are mutually exclusive with </a:t>
            </a: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Basic Formulas for Probabilities</a:t>
            </a:r>
          </a:p>
        </p:txBody>
      </p:sp>
      <p:graphicFrame>
        <p:nvGraphicFramePr>
          <p:cNvPr id="409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3195685"/>
              </p:ext>
            </p:extLst>
          </p:nvPr>
        </p:nvGraphicFramePr>
        <p:xfrm>
          <a:off x="4139952" y="4653136"/>
          <a:ext cx="891406" cy="49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方程式" r:id="rId4" imgW="774360" imgH="431640" progId="Equation.3">
                  <p:embed/>
                </p:oleObj>
              </mc:Choice>
              <mc:Fallback>
                <p:oleObj name="方程式" r:id="rId4" imgW="7743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39952" y="4653136"/>
                        <a:ext cx="891406" cy="49684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389621760"/>
              </p:ext>
            </p:extLst>
          </p:nvPr>
        </p:nvGraphicFramePr>
        <p:xfrm>
          <a:off x="827583" y="5149984"/>
          <a:ext cx="2736305" cy="7515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方程式" r:id="rId6" imgW="1574640" imgH="431640" progId="Equation.3">
                  <p:embed/>
                </p:oleObj>
              </mc:Choice>
              <mc:Fallback>
                <p:oleObj name="方程式" r:id="rId6" imgW="1574640" imgH="4316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3" y="5149984"/>
                        <a:ext cx="2736305" cy="75152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Joint Probability Distributions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Joint </a:t>
            </a:r>
            <a:r>
              <a:rPr lang="en-US" altLang="zh-TW" sz="2400" dirty="0"/>
              <a:t>probability distribution </a:t>
            </a:r>
            <a:r>
              <a:rPr lang="en-US" altLang="zh-TW" sz="2400" dirty="0" smtClean="0"/>
              <a:t>over</a:t>
            </a:r>
            <a:r>
              <a:rPr lang="zh-TW" altLang="en-US" sz="2400" dirty="0" smtClean="0"/>
              <a:t> </a:t>
            </a:r>
            <a:r>
              <a:rPr lang="en-US" altLang="zh-TW" sz="2400" dirty="0"/>
              <a:t>a set of random </a:t>
            </a:r>
            <a:r>
              <a:rPr lang="en-US" altLang="zh-TW" sz="2400" dirty="0" smtClean="0"/>
              <a:t>variables</a:t>
            </a:r>
          </a:p>
          <a:p>
            <a:pPr lvl="1"/>
            <a:r>
              <a:rPr lang="en-US" altLang="zh-TW" sz="2000" i="1" dirty="0" smtClean="0"/>
              <a:t>P</a:t>
            </a:r>
            <a:r>
              <a:rPr lang="en-US" altLang="zh-TW" sz="2000" dirty="0" smtClean="0"/>
              <a:t>(</a:t>
            </a:r>
            <a:r>
              <a:rPr lang="en-US" altLang="zh-TW" sz="2000" i="1" dirty="0" smtClean="0"/>
              <a:t>X</a:t>
            </a:r>
            <a:r>
              <a:rPr lang="en-US" altLang="zh-TW" sz="2000" i="1" baseline="-25000" dirty="0" smtClean="0"/>
              <a:t>1</a:t>
            </a:r>
            <a:r>
              <a:rPr lang="en-US" altLang="zh-TW" sz="2000" dirty="0" smtClean="0"/>
              <a:t>, </a:t>
            </a:r>
            <a:r>
              <a:rPr lang="en-US" altLang="zh-TW" sz="2000" i="1" dirty="0" smtClean="0"/>
              <a:t>X</a:t>
            </a:r>
            <a:r>
              <a:rPr lang="en-US" altLang="zh-TW" sz="2000" i="1" baseline="-25000" dirty="0"/>
              <a:t>2</a:t>
            </a:r>
            <a:r>
              <a:rPr lang="en-US" altLang="zh-TW" sz="2000" dirty="0" smtClean="0"/>
              <a:t>,…</a:t>
            </a:r>
            <a:r>
              <a:rPr lang="en-US" altLang="zh-TW" sz="2000" i="1" dirty="0" err="1" smtClean="0"/>
              <a:t>X</a:t>
            </a:r>
            <a:r>
              <a:rPr lang="en-US" altLang="zh-TW" sz="2000" i="1" baseline="-25000" dirty="0" err="1"/>
              <a:t>n</a:t>
            </a:r>
            <a:r>
              <a:rPr lang="en-US" altLang="zh-TW" sz="2000" dirty="0" smtClean="0"/>
              <a:t>)</a:t>
            </a:r>
            <a:endParaRPr lang="zh-TW" altLang="en-US" sz="2000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720" y="3501008"/>
            <a:ext cx="5722620" cy="3241492"/>
          </a:xfrm>
          <a:prstGeom prst="rect">
            <a:avLst/>
          </a:prstGeom>
        </p:spPr>
      </p:pic>
      <p:sp>
        <p:nvSpPr>
          <p:cNvPr id="6" name="文字方塊 5"/>
          <p:cNvSpPr txBox="1"/>
          <p:nvPr/>
        </p:nvSpPr>
        <p:spPr>
          <a:xfrm>
            <a:off x="96484" y="4583145"/>
            <a:ext cx="17146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 smtClean="0"/>
              <a:t>All possible </a:t>
            </a:r>
            <a:r>
              <a:rPr lang="en-US" altLang="zh-TW" sz="1600" dirty="0"/>
              <a:t>joint </a:t>
            </a:r>
            <a:r>
              <a:rPr lang="en-US" altLang="zh-TW" sz="1600" dirty="0" smtClean="0"/>
              <a:t>assignments </a:t>
            </a:r>
            <a:r>
              <a:rPr lang="en-US" altLang="zh-TW" sz="1600"/>
              <a:t>of </a:t>
            </a:r>
            <a:r>
              <a:rPr lang="en-US" altLang="zh-TW" sz="1600" smtClean="0"/>
              <a:t>values to </a:t>
            </a:r>
            <a:r>
              <a:rPr lang="en-US" altLang="zh-TW" sz="1600" dirty="0"/>
              <a:t>the variables.</a:t>
            </a:r>
            <a:endParaRPr lang="zh-TW" altLang="en-US" sz="1600" dirty="0"/>
          </a:p>
        </p:txBody>
      </p:sp>
      <p:sp>
        <p:nvSpPr>
          <p:cNvPr id="7" name="左大括弧 6"/>
          <p:cNvSpPr/>
          <p:nvPr/>
        </p:nvSpPr>
        <p:spPr>
          <a:xfrm>
            <a:off x="1811166" y="4077072"/>
            <a:ext cx="240554" cy="2520279"/>
          </a:xfrm>
          <a:prstGeom prst="leftBrace">
            <a:avLst>
              <a:gd name="adj1" fmla="val 125241"/>
              <a:gd name="adj2" fmla="val 50000"/>
            </a:avLst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32739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Learning the Joint Distribution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/>
              <a:t>Given </a:t>
            </a:r>
            <a:r>
              <a:rPr lang="en-US" altLang="zh-TW" sz="2800" dirty="0" smtClean="0"/>
              <a:t>a large </a:t>
            </a:r>
            <a:r>
              <a:rPr lang="en-US" altLang="zh-TW" sz="2800" dirty="0"/>
              <a:t>data </a:t>
            </a:r>
            <a:r>
              <a:rPr lang="en-US" altLang="zh-TW" sz="2800" dirty="0" smtClean="0"/>
              <a:t>set, for each row,  calculate </a:t>
            </a:r>
            <a:r>
              <a:rPr lang="en-US" altLang="zh-TW" sz="2800" dirty="0"/>
              <a:t>the fraction of database </a:t>
            </a:r>
            <a:r>
              <a:rPr lang="en-US" altLang="zh-TW" sz="2800" dirty="0" smtClean="0"/>
              <a:t>entries </a:t>
            </a:r>
            <a:r>
              <a:rPr lang="en-US" altLang="zh-TW" sz="2800" dirty="0"/>
              <a:t>that satisfy the </a:t>
            </a:r>
            <a:r>
              <a:rPr lang="en-US" altLang="zh-TW" sz="2800" dirty="0" smtClean="0"/>
              <a:t>joint assignment specified for that row.</a:t>
            </a:r>
          </a:p>
          <a:p>
            <a:r>
              <a:rPr lang="en-US" altLang="zh-TW" sz="2800" dirty="0" smtClean="0"/>
              <a:t>Problem</a:t>
            </a:r>
          </a:p>
          <a:p>
            <a:pPr lvl="1"/>
            <a:r>
              <a:rPr lang="en-US" altLang="zh-TW" sz="2400" dirty="0" smtClean="0"/>
              <a:t>Very </a:t>
            </a:r>
            <a:r>
              <a:rPr lang="en-US" altLang="zh-TW" sz="2400" dirty="0"/>
              <a:t>large amount of training data </a:t>
            </a:r>
            <a:r>
              <a:rPr lang="en-US" altLang="zh-TW" sz="2400" dirty="0" smtClean="0"/>
              <a:t>may be required</a:t>
            </a:r>
          </a:p>
          <a:p>
            <a:pPr lvl="1"/>
            <a:r>
              <a:rPr lang="en-US" altLang="zh-TW" sz="2400" dirty="0"/>
              <a:t>100 </a:t>
            </a:r>
            <a:r>
              <a:rPr lang="en-US" altLang="zh-TW" sz="2400" dirty="0" err="1"/>
              <a:t>boolean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features </a:t>
            </a:r>
            <a:r>
              <a:rPr lang="en-US" altLang="zh-TW" sz="2400" dirty="0" smtClean="0">
                <a:sym typeface="Wingdings" panose="05000000000000000000" pitchFamily="2" charset="2"/>
              </a:rPr>
              <a:t> </a:t>
            </a:r>
            <a:r>
              <a:rPr lang="en-US" altLang="zh-TW" sz="2400" dirty="0" smtClean="0"/>
              <a:t>2</a:t>
            </a:r>
            <a:r>
              <a:rPr lang="en-US" altLang="zh-TW" sz="2400" baseline="30000" dirty="0" smtClean="0"/>
              <a:t>100</a:t>
            </a:r>
            <a:r>
              <a:rPr lang="en-US" altLang="zh-TW" sz="2400" dirty="0" smtClean="0"/>
              <a:t> rows </a:t>
            </a:r>
          </a:p>
          <a:p>
            <a:pPr lvl="2"/>
            <a:r>
              <a:rPr lang="en-US" altLang="zh-TW" sz="2000" dirty="0" smtClean="0"/>
              <a:t>For many rows, we may </a:t>
            </a:r>
            <a:r>
              <a:rPr lang="en-US" altLang="zh-TW" sz="2000" dirty="0"/>
              <a:t>have zero training </a:t>
            </a:r>
            <a:r>
              <a:rPr lang="en-US" altLang="zh-TW" sz="2000" dirty="0" smtClean="0"/>
              <a:t>example.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65440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Estimating </a:t>
            </a:r>
            <a:r>
              <a:rPr lang="en-US" altLang="zh-TW" dirty="0" smtClean="0"/>
              <a:t>Probabilities</a:t>
            </a:r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altLang="zh-TW" sz="2800" dirty="0" smtClean="0"/>
                  <a:t>Flip a coin X, </a:t>
                </a:r>
                <a:r>
                  <a:rPr lang="en-US" altLang="zh-TW" sz="2800" dirty="0"/>
                  <a:t>it may turn up heads (indicated by X = 1) or </a:t>
                </a:r>
                <a:r>
                  <a:rPr lang="en-US" altLang="zh-TW" sz="2800" dirty="0" smtClean="0"/>
                  <a:t>tails </a:t>
                </a:r>
                <a:r>
                  <a:rPr lang="en-US" altLang="zh-TW" sz="2800" dirty="0"/>
                  <a:t>(X = 0</a:t>
                </a:r>
                <a:r>
                  <a:rPr lang="en-US" altLang="zh-TW" sz="2800" dirty="0" smtClean="0"/>
                  <a:t>).</a:t>
                </a:r>
              </a:p>
              <a:p>
                <a:r>
                  <a:rPr lang="en-US" altLang="zh-TW" sz="2800" dirty="0" smtClean="0"/>
                  <a:t>Estimate </a:t>
                </a:r>
                <a:r>
                  <a:rPr lang="en-US" altLang="zh-TW" sz="2800" dirty="0"/>
                  <a:t>P(X =1</a:t>
                </a:r>
                <a:r>
                  <a:rPr lang="en-US" altLang="zh-TW" sz="2800" dirty="0" smtClean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zh-TW" altLang="en-US" sz="240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en-US" altLang="zh-TW" sz="2400" dirty="0" smtClean="0"/>
                  <a:t>: the </a:t>
                </a:r>
                <a:r>
                  <a:rPr lang="en-US" altLang="zh-TW" sz="2400" dirty="0"/>
                  <a:t>true (but unknown) </a:t>
                </a:r>
                <a:r>
                  <a:rPr lang="en-US" altLang="zh-TW" sz="2400" dirty="0" smtClean="0"/>
                  <a:t>probability</a:t>
                </a:r>
              </a:p>
              <a:p>
                <a:pPr lvl="1"/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zh-TW" altLang="en-US" sz="240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zh-TW" altLang="en-US" sz="240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acc>
                  </m:oMath>
                </a14:m>
                <a:r>
                  <a:rPr lang="en-US" altLang="zh-TW" sz="2400" dirty="0" smtClean="0"/>
                  <a:t>: </a:t>
                </a:r>
                <a:r>
                  <a:rPr lang="en-US" altLang="zh-TW" sz="2400" dirty="0"/>
                  <a:t>learned estimate of this </a:t>
                </a:r>
                <a:r>
                  <a:rPr lang="en-US" altLang="zh-TW" sz="2400" dirty="0" smtClean="0"/>
                  <a:t>true </a:t>
                </a:r>
                <a14:m>
                  <m:oMath xmlns:m="http://schemas.openxmlformats.org/officeDocument/2006/math">
                    <m:r>
                      <a:rPr lang="zh-TW" altLang="en-US" sz="2400" i="1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endParaRPr lang="en-US" altLang="zh-TW" sz="2400" dirty="0" smtClean="0"/>
              </a:p>
              <a:p>
                <a:r>
                  <a:rPr lang="en-US" altLang="zh-TW" sz="2800" dirty="0"/>
                  <a:t>Algorithm 1 (maximum likelihood</a:t>
                </a:r>
                <a:r>
                  <a:rPr lang="en-US" altLang="zh-TW" sz="2800" dirty="0" smtClean="0"/>
                  <a:t>)</a:t>
                </a:r>
              </a:p>
              <a:p>
                <a:pPr lvl="1"/>
                <a:r>
                  <a:rPr lang="en-US" altLang="zh-TW" sz="2400" dirty="0" smtClean="0"/>
                  <a:t>Observed </a:t>
                </a:r>
                <a:r>
                  <a:rPr lang="en-US" altLang="zh-TW" sz="2400" dirty="0"/>
                  <a:t>training </a:t>
                </a:r>
                <a:r>
                  <a:rPr lang="en-US" altLang="zh-TW" sz="2400" dirty="0" smtClean="0"/>
                  <a:t>data: </a:t>
                </a:r>
                <a:r>
                  <a:rPr lang="el-GR" altLang="zh-TW" sz="2400" dirty="0" smtClean="0"/>
                  <a:t>α</a:t>
                </a:r>
                <a:r>
                  <a:rPr lang="en-US" altLang="zh-TW" sz="2000" baseline="-25000" dirty="0" smtClean="0"/>
                  <a:t>1</a:t>
                </a:r>
                <a:r>
                  <a:rPr lang="en-US" altLang="zh-TW" sz="2000" dirty="0" smtClean="0"/>
                  <a:t> </a:t>
                </a:r>
                <a:r>
                  <a:rPr lang="en-US" altLang="zh-TW" sz="2400" dirty="0"/>
                  <a:t>total ”</a:t>
                </a:r>
                <a:r>
                  <a:rPr lang="en-US" altLang="zh-TW" sz="2400" dirty="0" smtClean="0"/>
                  <a:t>heads” </a:t>
                </a:r>
                <a:r>
                  <a:rPr lang="en-US" altLang="zh-TW" sz="2400" dirty="0"/>
                  <a:t>and </a:t>
                </a:r>
                <a:r>
                  <a:rPr lang="el-GR" altLang="zh-TW" sz="2400" dirty="0" smtClean="0"/>
                  <a:t>α</a:t>
                </a:r>
                <a:r>
                  <a:rPr lang="en-US" altLang="zh-TW" sz="2000" baseline="-25000" dirty="0" smtClean="0"/>
                  <a:t>0</a:t>
                </a:r>
                <a:r>
                  <a:rPr lang="en-US" altLang="zh-TW" sz="2000" dirty="0" smtClean="0"/>
                  <a:t> </a:t>
                </a:r>
                <a:r>
                  <a:rPr lang="en-US" altLang="zh-TW" sz="2400" dirty="0"/>
                  <a:t>total ”</a:t>
                </a:r>
                <a:r>
                  <a:rPr lang="en-US" altLang="zh-TW" sz="2400" dirty="0" smtClean="0"/>
                  <a:t>tails”</a:t>
                </a:r>
              </a:p>
            </p:txBody>
          </p:sp>
        </mc:Choice>
        <mc:Fallback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429" t="-15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字方塊 4"/>
              <p:cNvSpPr txBox="1"/>
              <p:nvPr/>
            </p:nvSpPr>
            <p:spPr>
              <a:xfrm>
                <a:off x="1763688" y="5805263"/>
                <a:ext cx="1962012" cy="8109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5" name="文字方塊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805263"/>
                <a:ext cx="1962012" cy="8109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/>
          <p:cNvSpPr txBox="1"/>
          <p:nvPr/>
        </p:nvSpPr>
        <p:spPr>
          <a:xfrm>
            <a:off x="4427984" y="5908305"/>
            <a:ext cx="43204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en-US" altLang="zh-TW" sz="2000" dirty="0">
                <a:solidFill>
                  <a:srgbClr val="FF0000"/>
                </a:solidFill>
              </a:rPr>
              <a:t>if the training data is</a:t>
            </a:r>
            <a:r>
              <a:rPr lang="zh-TW" altLang="en-US" sz="2000" dirty="0">
                <a:solidFill>
                  <a:srgbClr val="FF0000"/>
                </a:solidFill>
              </a:rPr>
              <a:t> </a:t>
            </a:r>
            <a:r>
              <a:rPr lang="en-US" altLang="zh-TW" sz="2000" dirty="0">
                <a:solidFill>
                  <a:srgbClr val="FF0000"/>
                </a:solidFill>
              </a:rPr>
              <a:t>very scarce it can produce unreliable </a:t>
            </a:r>
            <a:r>
              <a:rPr lang="en-US" altLang="zh-TW" sz="2000" dirty="0" smtClean="0">
                <a:solidFill>
                  <a:srgbClr val="FF0000"/>
                </a:solidFill>
              </a:rPr>
              <a:t>estimates</a:t>
            </a:r>
            <a:endParaRPr lang="zh-TW" altLang="en-US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3355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it-IT" altLang="zh-TW" sz="2800" dirty="0"/>
              <a:t>Algorithm </a:t>
            </a:r>
            <a:r>
              <a:rPr lang="it-IT" altLang="zh-TW" sz="2800" dirty="0" smtClean="0"/>
              <a:t>2 </a:t>
            </a:r>
            <a:r>
              <a:rPr lang="it-IT" altLang="zh-TW" sz="2800" dirty="0"/>
              <a:t>(maximum a posteriori probability</a:t>
            </a:r>
            <a:r>
              <a:rPr lang="it-IT" altLang="zh-TW" sz="2800" dirty="0" smtClean="0"/>
              <a:t>)</a:t>
            </a:r>
          </a:p>
          <a:p>
            <a:pPr lvl="1"/>
            <a:r>
              <a:rPr lang="en-US" altLang="zh-TW" sz="2400" dirty="0" smtClean="0"/>
              <a:t>Incorporate </a:t>
            </a:r>
            <a:r>
              <a:rPr lang="en-US" altLang="zh-TW" sz="2400" dirty="0"/>
              <a:t>prior </a:t>
            </a:r>
            <a:r>
              <a:rPr lang="en-US" altLang="zh-TW" sz="2400" dirty="0" smtClean="0"/>
              <a:t>assumptions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(knowledge)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along </a:t>
            </a:r>
            <a:r>
              <a:rPr lang="en-US" altLang="zh-TW" sz="2400" dirty="0"/>
              <a:t>with observed training </a:t>
            </a:r>
            <a:r>
              <a:rPr lang="en-US" altLang="zh-TW" sz="2400" dirty="0" smtClean="0"/>
              <a:t>data</a:t>
            </a:r>
          </a:p>
          <a:p>
            <a:pPr lvl="1"/>
            <a:r>
              <a:rPr lang="en-US" altLang="zh-TW" sz="2400" dirty="0"/>
              <a:t>Observed training data: </a:t>
            </a:r>
            <a:r>
              <a:rPr lang="el-GR" altLang="zh-TW" sz="2400" dirty="0"/>
              <a:t>α</a:t>
            </a:r>
            <a:r>
              <a:rPr lang="en-US" altLang="zh-TW" sz="2000" baseline="-25000" dirty="0"/>
              <a:t>1</a:t>
            </a:r>
            <a:r>
              <a:rPr lang="en-US" altLang="zh-TW" sz="2000" dirty="0"/>
              <a:t> </a:t>
            </a:r>
            <a:r>
              <a:rPr lang="en-US" altLang="zh-TW" sz="2400" dirty="0"/>
              <a:t>total ”heads” and </a:t>
            </a:r>
            <a:r>
              <a:rPr lang="el-GR" altLang="zh-TW" sz="2400" dirty="0"/>
              <a:t>α</a:t>
            </a:r>
            <a:r>
              <a:rPr lang="en-US" altLang="zh-TW" sz="2000" baseline="-25000" dirty="0"/>
              <a:t>0</a:t>
            </a:r>
            <a:r>
              <a:rPr lang="en-US" altLang="zh-TW" sz="2000" dirty="0"/>
              <a:t> </a:t>
            </a:r>
            <a:r>
              <a:rPr lang="en-US" altLang="zh-TW" sz="2400" dirty="0"/>
              <a:t>total ”tails”</a:t>
            </a:r>
          </a:p>
          <a:p>
            <a:pPr lvl="1"/>
            <a:r>
              <a:rPr lang="en-US" altLang="zh-TW" sz="2400" dirty="0"/>
              <a:t>prior </a:t>
            </a:r>
            <a:r>
              <a:rPr lang="en-US" altLang="zh-TW" sz="2400" dirty="0" smtClean="0"/>
              <a:t>information:</a:t>
            </a:r>
            <a:r>
              <a:rPr lang="zh-TW" altLang="en-US" sz="2400" dirty="0" smtClean="0"/>
              <a:t> </a:t>
            </a:r>
            <a:r>
              <a:rPr lang="el-GR" altLang="zh-TW" sz="2400" dirty="0" smtClean="0"/>
              <a:t>γ</a:t>
            </a:r>
            <a:r>
              <a:rPr lang="en-US" altLang="zh-TW" sz="1800" baseline="-25000" dirty="0" smtClean="0"/>
              <a:t>1</a:t>
            </a:r>
            <a:r>
              <a:rPr lang="en-US" altLang="zh-TW" sz="1800" dirty="0" smtClean="0"/>
              <a:t> </a:t>
            </a:r>
            <a:r>
              <a:rPr lang="en-US" altLang="zh-TW" sz="2400" dirty="0"/>
              <a:t>imaginary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”heads” and </a:t>
            </a:r>
            <a:r>
              <a:rPr lang="el-GR" altLang="zh-TW" sz="2400" dirty="0" smtClean="0"/>
              <a:t>γ</a:t>
            </a:r>
            <a:r>
              <a:rPr lang="en-US" altLang="zh-TW" sz="1800" baseline="-25000" dirty="0" smtClean="0"/>
              <a:t>0</a:t>
            </a:r>
            <a:r>
              <a:rPr lang="en-US" altLang="zh-TW" sz="1800" dirty="0" smtClean="0"/>
              <a:t> </a:t>
            </a:r>
            <a:r>
              <a:rPr lang="en-US" altLang="zh-TW" sz="2400" dirty="0"/>
              <a:t>imaginary</a:t>
            </a:r>
            <a:r>
              <a:rPr lang="en-US" altLang="zh-TW" sz="2400" dirty="0" smtClean="0"/>
              <a:t> </a:t>
            </a:r>
            <a:r>
              <a:rPr lang="en-US" altLang="zh-TW" sz="2400" dirty="0"/>
              <a:t>”tails”</a:t>
            </a:r>
            <a:endParaRPr lang="zh-TW" alt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字方塊 3"/>
              <p:cNvSpPr txBox="1"/>
              <p:nvPr/>
            </p:nvSpPr>
            <p:spPr>
              <a:xfrm>
                <a:off x="1763688" y="5517232"/>
                <a:ext cx="4076757" cy="8971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acc>
                      <m:r>
                        <a:rPr lang="en-US" altLang="zh-TW" sz="28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 smtClean="0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)+(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altLang="zh-TW" sz="280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altLang="zh-TW" sz="2800" i="1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688" y="5517232"/>
                <a:ext cx="4076757" cy="89710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870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Features of Bayesian Learning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Each observed training example can incrementally decrease or increase the estimated probability that a hypothesis is correct</a:t>
            </a:r>
          </a:p>
          <a:p>
            <a:pPr eaLnBrk="1" hangingPunct="1"/>
            <a:r>
              <a:rPr lang="en-US" altLang="zh-TW" sz="2800" smtClean="0"/>
              <a:t>Combine prior knowledge (prior probabilities) with observed data </a:t>
            </a:r>
          </a:p>
          <a:p>
            <a:pPr eaLnBrk="1" hangingPunct="1"/>
            <a:r>
              <a:rPr lang="en-US" altLang="zh-TW" sz="2800" smtClean="0"/>
              <a:t>Accommodate hypotheses that make probabilistic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Features of Bayesian Learning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New instances can be classified by combining the predictions of multiple hypotheses, weighted by their probabilities</a:t>
            </a:r>
          </a:p>
          <a:p>
            <a:pPr eaLnBrk="1" hangingPunct="1"/>
            <a:r>
              <a:rPr lang="en-US" altLang="zh-TW" sz="2800" smtClean="0"/>
              <a:t>Provides gold standard for evaluating other learning algorithms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Practical Difficulty</a:t>
            </a:r>
          </a:p>
        </p:txBody>
      </p:sp>
      <p:sp>
        <p:nvSpPr>
          <p:cNvPr id="39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Requires prior probabilities</a:t>
            </a:r>
          </a:p>
          <a:p>
            <a:pPr lvl="1" eaLnBrk="1" hangingPunct="1"/>
            <a:r>
              <a:rPr lang="en-US" altLang="zh-TW" sz="2400" smtClean="0"/>
              <a:t>Often estimated based on background knowledge, previously available data</a:t>
            </a:r>
          </a:p>
          <a:p>
            <a:pPr eaLnBrk="1" hangingPunct="1"/>
            <a:r>
              <a:rPr lang="en-US" altLang="zh-TW" sz="2800" smtClean="0"/>
              <a:t>Significant computational cost required to determine the Bayes optimal hypothesis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Theorem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lvl="1" eaLnBrk="1" hangingPunct="1">
              <a:buFontTx/>
              <a:buNone/>
            </a:pPr>
            <a:r>
              <a:rPr lang="en-US" altLang="zh-TW" sz="2000" smtClean="0"/>
              <a:t>where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h</a:t>
            </a:r>
            <a:r>
              <a:rPr lang="en-US" altLang="zh-TW" sz="2000" smtClean="0"/>
              <a:t>) = priori probability of hypothesis </a:t>
            </a:r>
            <a:r>
              <a:rPr lang="en-US" altLang="zh-TW" sz="2000" i="1" smtClean="0"/>
              <a:t>h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D</a:t>
            </a:r>
            <a:r>
              <a:rPr lang="en-US" altLang="zh-TW" sz="2000" smtClean="0"/>
              <a:t>) =priori probability of </a:t>
            </a:r>
            <a:r>
              <a:rPr lang="en-US" altLang="zh-TW" sz="2000" smtClean="0"/>
              <a:t>data </a:t>
            </a:r>
            <a:r>
              <a:rPr lang="en-US" altLang="zh-TW" sz="2000" i="1" smtClean="0"/>
              <a:t>D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D|h</a:t>
            </a:r>
            <a:r>
              <a:rPr lang="en-US" altLang="zh-TW" sz="2000" smtClean="0"/>
              <a:t>) = probability of </a:t>
            </a:r>
            <a:r>
              <a:rPr lang="en-US" altLang="zh-TW" sz="2000" i="1" smtClean="0"/>
              <a:t>D </a:t>
            </a:r>
            <a:r>
              <a:rPr lang="en-US" altLang="zh-TW" sz="2000" smtClean="0"/>
              <a:t>given </a:t>
            </a:r>
            <a:r>
              <a:rPr lang="en-US" altLang="zh-TW" sz="2000" i="1" smtClean="0"/>
              <a:t>h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h|D</a:t>
            </a:r>
            <a:r>
              <a:rPr lang="en-US" altLang="zh-TW" sz="2000" smtClean="0"/>
              <a:t>) = probability of </a:t>
            </a:r>
            <a:r>
              <a:rPr lang="en-US" altLang="zh-TW" sz="2000" i="1" smtClean="0"/>
              <a:t>h </a:t>
            </a:r>
            <a:r>
              <a:rPr lang="en-US" altLang="zh-TW" sz="2000" smtClean="0"/>
              <a:t>given </a:t>
            </a:r>
            <a:r>
              <a:rPr lang="en-US" altLang="zh-TW" sz="2000" i="1" smtClean="0"/>
              <a:t>D </a:t>
            </a:r>
            <a:r>
              <a:rPr lang="en-US" altLang="zh-TW" sz="2000" smtClean="0"/>
              <a:t>(posterior probability)</a:t>
            </a:r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6022783"/>
              </p:ext>
            </p:extLst>
          </p:nvPr>
        </p:nvGraphicFramePr>
        <p:xfrm>
          <a:off x="1043608" y="2276872"/>
          <a:ext cx="3384376" cy="8448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方程式" r:id="rId4" imgW="1498320" imgH="419040" progId="Equation.3">
                  <p:embed/>
                </p:oleObj>
              </mc:Choice>
              <mc:Fallback>
                <p:oleObj name="方程式" r:id="rId4" imgW="149832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276872"/>
                        <a:ext cx="3384376" cy="844829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3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960970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Generally want the most probable hypothesis given the training data</a:t>
            </a:r>
          </a:p>
          <a:p>
            <a:pPr eaLnBrk="1" hangingPunct="1"/>
            <a:r>
              <a:rPr lang="en-US" altLang="zh-TW" sz="2800" i="1" smtClean="0">
                <a:solidFill>
                  <a:srgbClr val="C00000"/>
                </a:solidFill>
              </a:rPr>
              <a:t>Maximum a posteriori</a:t>
            </a:r>
            <a:r>
              <a:rPr lang="en-US" altLang="zh-TW" sz="2800" smtClean="0">
                <a:solidFill>
                  <a:srgbClr val="C00000"/>
                </a:solidFill>
              </a:rPr>
              <a:t> </a:t>
            </a:r>
            <a:r>
              <a:rPr lang="en-US" altLang="zh-TW" sz="2800" smtClean="0"/>
              <a:t>hypothesis 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MAP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Choosing Hypotheses</a:t>
            </a:r>
          </a:p>
        </p:txBody>
      </p:sp>
      <p:graphicFrame>
        <p:nvGraphicFramePr>
          <p:cNvPr id="2051" name="Object 11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04468490"/>
              </p:ext>
            </p:extLst>
          </p:nvPr>
        </p:nvGraphicFramePr>
        <p:xfrm>
          <a:off x="1871079" y="4653136"/>
          <a:ext cx="5401842" cy="13681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2" name="方程式" r:id="rId4" imgW="2908080" imgH="736560" progId="Equation.3">
                  <p:embed/>
                </p:oleObj>
              </mc:Choice>
              <mc:Fallback>
                <p:oleObj name="方程式" r:id="rId4" imgW="2908080" imgH="73656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71079" y="4653136"/>
                        <a:ext cx="5401842" cy="136815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8376421"/>
              </p:ext>
            </p:extLst>
          </p:nvPr>
        </p:nvGraphicFramePr>
        <p:xfrm>
          <a:off x="827584" y="2203671"/>
          <a:ext cx="3024981" cy="7548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93" name="方程式" r:id="rId6" imgW="1498320" imgH="419040" progId="Equation.3">
                  <p:embed/>
                </p:oleObj>
              </mc:Choice>
              <mc:Fallback>
                <p:oleObj name="方程式" r:id="rId6" imgW="149832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584" y="2203671"/>
                        <a:ext cx="3024981" cy="75482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95818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If assume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) =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j</a:t>
            </a:r>
            <a:r>
              <a:rPr lang="en-US" altLang="zh-TW" sz="2800" smtClean="0"/>
              <a:t>) then can further simplify and choose the </a:t>
            </a:r>
            <a:r>
              <a:rPr lang="en-US" altLang="zh-TW" sz="2800" i="1" smtClean="0">
                <a:solidFill>
                  <a:srgbClr val="C00000"/>
                </a:solidFill>
              </a:rPr>
              <a:t>Maximum likelihood</a:t>
            </a:r>
            <a:r>
              <a:rPr lang="en-US" altLang="zh-TW" sz="2800" smtClean="0"/>
              <a:t> (ML) hypothesis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D|h</a:t>
            </a:r>
            <a:r>
              <a:rPr lang="en-US" altLang="zh-TW" sz="2400" smtClean="0"/>
              <a:t>) is often called the </a:t>
            </a:r>
            <a:r>
              <a:rPr lang="en-US" altLang="zh-TW" sz="2400" i="1" smtClean="0"/>
              <a:t>likelihood</a:t>
            </a:r>
            <a:r>
              <a:rPr lang="en-US" altLang="zh-TW" sz="2400" smtClean="0"/>
              <a:t> of the data 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 given </a:t>
            </a:r>
            <a:r>
              <a:rPr lang="en-US" altLang="zh-TW" sz="2400" i="1" smtClean="0"/>
              <a:t>h</a:t>
            </a:r>
          </a:p>
        </p:txBody>
      </p: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Choosing Hypotheses</a:t>
            </a:r>
          </a:p>
        </p:txBody>
      </p:sp>
      <p:graphicFrame>
        <p:nvGraphicFramePr>
          <p:cNvPr id="307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0215536"/>
              </p:ext>
            </p:extLst>
          </p:nvPr>
        </p:nvGraphicFramePr>
        <p:xfrm>
          <a:off x="3213596" y="3501008"/>
          <a:ext cx="2716807" cy="5927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方程式" r:id="rId4" imgW="1396800" imgH="304560" progId="Equation.3">
                  <p:embed/>
                </p:oleObj>
              </mc:Choice>
              <mc:Fallback>
                <p:oleObj name="方程式" r:id="rId4" imgW="1396800" imgH="304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3596" y="3501008"/>
                        <a:ext cx="2716807" cy="59275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Theorem - Example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Does patient have cancer or not</a:t>
            </a:r>
          </a:p>
          <a:p>
            <a:pPr lvl="1" eaLnBrk="1" hangingPunct="1"/>
            <a:r>
              <a:rPr lang="en-US" altLang="zh-TW" sz="2400" smtClean="0"/>
              <a:t>A patient takes a lab test and the result comes back positive. The test returns a correct positive result in only 98 % of the cases in which the disease is actually present and a correct negative result in only 97% of the cases in which the disease is not present. Furthermore, 0.008 of the entire population have this cancer.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Theorem - Example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(cancer) = 0.008  </a:t>
            </a:r>
            <a:r>
              <a:rPr lang="en-US" altLang="zh-TW" sz="2400" smtClean="0"/>
              <a:t>   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(¬cancer) = 0.992</a:t>
            </a:r>
          </a:p>
          <a:p>
            <a:pPr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(+|cancer) = 0.98 </a:t>
            </a:r>
            <a:r>
              <a:rPr lang="en-US" altLang="zh-TW" sz="2400" smtClean="0"/>
              <a:t> 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(+| ¬cancer)=0.03</a:t>
            </a:r>
          </a:p>
          <a:p>
            <a:pPr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(-|cancer) = 0.02  </a:t>
            </a:r>
            <a:r>
              <a:rPr lang="en-US" altLang="zh-TW" sz="2400" smtClean="0"/>
              <a:t> 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(-| ¬cancer)=0.97</a:t>
            </a:r>
          </a:p>
          <a:p>
            <a:pPr eaLnBrk="1" hangingPunct="1"/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MAP</a:t>
            </a:r>
            <a:r>
              <a:rPr lang="en-US" altLang="zh-TW" sz="2400" smtClean="0"/>
              <a:t>= ¬ cancer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(cancer|+)∝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(+|cancer)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(cancer) = 0.98*0.008 = 0.0078</a:t>
            </a:r>
          </a:p>
          <a:p>
            <a:pPr lvl="1" eaLnBrk="1" hangingPunct="1"/>
            <a:r>
              <a:rPr lang="en-US" altLang="zh-TW" sz="2000" i="1" smtClean="0"/>
              <a:t>P</a:t>
            </a:r>
            <a:r>
              <a:rPr lang="en-US" altLang="zh-TW" sz="2000" smtClean="0"/>
              <a:t>(¬ cancer|+) ∝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(+| ¬ cancer)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(¬ cancer) = 0.03*0.992 = 0.0298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mtClean="0"/>
              <a:t>Brute Force MAP Hypothesis Learner</a:t>
            </a:r>
          </a:p>
        </p:txBody>
      </p:sp>
      <p:sp>
        <p:nvSpPr>
          <p:cNvPr id="512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For each hypothesis </a:t>
            </a:r>
            <a:r>
              <a:rPr lang="en-US" altLang="zh-TW" sz="2800" i="1" smtClean="0"/>
              <a:t>h </a:t>
            </a:r>
            <a:r>
              <a:rPr lang="en-US" altLang="zh-TW" sz="2800" smtClean="0"/>
              <a:t>in </a:t>
            </a:r>
            <a:r>
              <a:rPr lang="en-US" altLang="zh-TW" sz="2800" i="1" smtClean="0"/>
              <a:t>H </a:t>
            </a:r>
            <a:r>
              <a:rPr lang="en-US" altLang="zh-TW" sz="2800" smtClean="0"/>
              <a:t>calculate the posterior probability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Output the hypothesis 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MAP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with the highest posterior probability</a:t>
            </a:r>
          </a:p>
          <a:p>
            <a:pPr eaLnBrk="1" hangingPunct="1"/>
            <a:endParaRPr lang="en-US" altLang="zh-TW" sz="2800" smtClean="0"/>
          </a:p>
        </p:txBody>
      </p:sp>
      <p:graphicFrame>
        <p:nvGraphicFramePr>
          <p:cNvPr id="51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2406018"/>
              </p:ext>
            </p:extLst>
          </p:nvPr>
        </p:nvGraphicFramePr>
        <p:xfrm>
          <a:off x="2062747" y="3156102"/>
          <a:ext cx="3384550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4" name="方程式" r:id="rId4" imgW="1498320" imgH="419040" progId="Equation.3">
                  <p:embed/>
                </p:oleObj>
              </mc:Choice>
              <mc:Fallback>
                <p:oleObj name="方程式" r:id="rId4" imgW="1498320" imgH="41904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2747" y="3156102"/>
                        <a:ext cx="3384550" cy="844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52516247"/>
              </p:ext>
            </p:extLst>
          </p:nvPr>
        </p:nvGraphicFramePr>
        <p:xfrm>
          <a:off x="1991310" y="5307965"/>
          <a:ext cx="3455987" cy="727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65" name="方程式" r:id="rId6" imgW="1447560" imgH="304560" progId="Equation.3">
                  <p:embed/>
                </p:oleObj>
              </mc:Choice>
              <mc:Fallback>
                <p:oleObj name="方程式" r:id="rId6" imgW="1447560" imgH="30456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1310" y="5307965"/>
                        <a:ext cx="3455987" cy="7270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6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916832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zh-TW" sz="2800" dirty="0" smtClean="0"/>
              <a:t>Consider any real valued target function </a:t>
            </a:r>
            <a:r>
              <a:rPr lang="en-US" altLang="zh-TW" sz="2800" i="1" dirty="0" smtClean="0"/>
              <a:t>f</a:t>
            </a:r>
          </a:p>
          <a:p>
            <a:pPr eaLnBrk="1" hangingPunct="1"/>
            <a:r>
              <a:rPr lang="en-US" altLang="zh-TW" sz="2800" dirty="0" smtClean="0"/>
              <a:t>Training examples (</a:t>
            </a:r>
            <a:r>
              <a:rPr lang="en-US" altLang="zh-TW" sz="2800" i="1" dirty="0" smtClean="0"/>
              <a:t>x</a:t>
            </a:r>
            <a:r>
              <a:rPr lang="en-US" altLang="zh-TW" sz="2800" i="1" baseline="-25000" dirty="0" smtClean="0"/>
              <a:t>i</a:t>
            </a:r>
            <a:r>
              <a:rPr lang="en-US" altLang="zh-TW" sz="2800" dirty="0" smtClean="0"/>
              <a:t>, </a:t>
            </a:r>
            <a:r>
              <a:rPr lang="en-US" altLang="zh-TW" sz="2800" i="1" dirty="0" smtClean="0"/>
              <a:t>d</a:t>
            </a:r>
            <a:r>
              <a:rPr lang="en-US" altLang="zh-TW" sz="2800" i="1" baseline="-25000" dirty="0" smtClean="0"/>
              <a:t>i</a:t>
            </a:r>
            <a:r>
              <a:rPr lang="en-US" altLang="zh-TW" sz="2800" dirty="0" smtClean="0"/>
              <a:t>) where </a:t>
            </a:r>
            <a:r>
              <a:rPr lang="en-US" altLang="zh-TW" sz="2800" i="1" dirty="0" smtClean="0"/>
              <a:t>d</a:t>
            </a:r>
            <a:r>
              <a:rPr lang="en-US" altLang="zh-TW" sz="2800" i="1" baseline="-25000" dirty="0" smtClean="0"/>
              <a:t>i</a:t>
            </a:r>
            <a:r>
              <a:rPr lang="en-US" altLang="zh-TW" sz="2800" i="1" dirty="0" smtClean="0"/>
              <a:t> </a:t>
            </a:r>
            <a:r>
              <a:rPr lang="en-US" altLang="zh-TW" sz="2800" dirty="0" smtClean="0"/>
              <a:t>is noisy training value</a:t>
            </a:r>
          </a:p>
          <a:p>
            <a:pPr lvl="1" eaLnBrk="1" hangingPunct="1"/>
            <a:r>
              <a:rPr lang="en-US" altLang="zh-TW" sz="2400" i="1" dirty="0" smtClean="0"/>
              <a:t>d</a:t>
            </a:r>
            <a:r>
              <a:rPr lang="en-US" altLang="zh-TW" i="1" baseline="-25000" dirty="0" smtClean="0"/>
              <a:t>i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= </a:t>
            </a:r>
            <a:r>
              <a:rPr lang="en-US" altLang="zh-TW" sz="2400" i="1" dirty="0" smtClean="0"/>
              <a:t>f</a:t>
            </a:r>
            <a:r>
              <a:rPr lang="en-US" altLang="zh-TW" sz="2400" dirty="0" smtClean="0"/>
              <a:t>(</a:t>
            </a:r>
            <a:r>
              <a:rPr lang="en-US" altLang="zh-TW" sz="2400" i="1" dirty="0" smtClean="0"/>
              <a:t>x</a:t>
            </a:r>
            <a:r>
              <a:rPr lang="en-US" altLang="zh-TW" i="1" baseline="-25000" dirty="0" smtClean="0"/>
              <a:t>i</a:t>
            </a:r>
            <a:r>
              <a:rPr lang="en-US" altLang="zh-TW" sz="2400" dirty="0" smtClean="0"/>
              <a:t>) + </a:t>
            </a:r>
            <a:r>
              <a:rPr lang="en-US" altLang="zh-TW" sz="2400" i="1" dirty="0" err="1" smtClean="0"/>
              <a:t>e</a:t>
            </a:r>
            <a:r>
              <a:rPr lang="en-US" altLang="zh-TW" i="1" baseline="-25000" dirty="0" err="1" smtClean="0"/>
              <a:t>i</a:t>
            </a:r>
            <a:r>
              <a:rPr lang="en-US" altLang="zh-TW" sz="2400" i="1" dirty="0" smtClean="0"/>
              <a:t> </a:t>
            </a:r>
          </a:p>
          <a:p>
            <a:pPr lvl="1" eaLnBrk="1" hangingPunct="1"/>
            <a:r>
              <a:rPr lang="en-US" altLang="zh-TW" sz="2400" i="1" dirty="0" err="1" smtClean="0"/>
              <a:t>e</a:t>
            </a:r>
            <a:r>
              <a:rPr lang="en-US" altLang="zh-TW" i="1" baseline="-25000" dirty="0" err="1" smtClean="0"/>
              <a:t>i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is random variable (noise) drawn independently for each </a:t>
            </a:r>
            <a:r>
              <a:rPr lang="en-US" altLang="zh-TW" sz="2400" i="1" dirty="0" smtClean="0"/>
              <a:t>x</a:t>
            </a:r>
            <a:r>
              <a:rPr lang="en-US" altLang="zh-TW" i="1" baseline="-25000" dirty="0" smtClean="0"/>
              <a:t>i</a:t>
            </a:r>
            <a:r>
              <a:rPr lang="en-US" altLang="zh-TW" sz="2400" i="1" dirty="0" smtClean="0"/>
              <a:t> </a:t>
            </a:r>
            <a:r>
              <a:rPr lang="en-US" altLang="zh-TW" sz="2400" dirty="0" smtClean="0"/>
              <a:t>according to some Gaussian distribution (Normal distribution) with mean=0</a:t>
            </a:r>
          </a:p>
          <a:p>
            <a:pPr eaLnBrk="1" hangingPunct="1"/>
            <a:r>
              <a:rPr lang="en-US" altLang="zh-TW" sz="2800" dirty="0" smtClean="0"/>
              <a:t>Then the maximum likelihood hypothesis </a:t>
            </a:r>
            <a:r>
              <a:rPr lang="en-US" altLang="zh-TW" sz="2800" i="1" dirty="0" err="1" smtClean="0"/>
              <a:t>h</a:t>
            </a:r>
            <a:r>
              <a:rPr lang="en-US" altLang="zh-TW" sz="2800" i="1" baseline="-25000" dirty="0" err="1" smtClean="0"/>
              <a:t>ML</a:t>
            </a:r>
            <a:r>
              <a:rPr lang="en-US" altLang="zh-TW" sz="2800" dirty="0" smtClean="0"/>
              <a:t> is the one that minimizes the sum of squared errors</a:t>
            </a: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Learning A Real Valued Function</a:t>
            </a:r>
          </a:p>
        </p:txBody>
      </p:sp>
      <p:graphicFrame>
        <p:nvGraphicFramePr>
          <p:cNvPr id="8194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078977"/>
              </p:ext>
            </p:extLst>
          </p:nvPr>
        </p:nvGraphicFramePr>
        <p:xfrm>
          <a:off x="2627784" y="5949280"/>
          <a:ext cx="3053812" cy="746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65" name="方程式" r:id="rId4" imgW="1765080" imgH="431640" progId="Equation.3">
                  <p:embed/>
                </p:oleObj>
              </mc:Choice>
              <mc:Fallback>
                <p:oleObj name="方程式" r:id="rId4" imgW="17650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5949280"/>
                        <a:ext cx="3053812" cy="74697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Learning A Real Valued Function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Learning a linear function</a:t>
            </a:r>
          </a:p>
        </p:txBody>
      </p:sp>
      <p:pic>
        <p:nvPicPr>
          <p:cNvPr id="48132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63825" y="2823527"/>
            <a:ext cx="3816350" cy="3211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Learning A Real Valued Function</a:t>
            </a:r>
          </a:p>
        </p:txBody>
      </p:sp>
      <p:graphicFrame>
        <p:nvGraphicFramePr>
          <p:cNvPr id="921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393309"/>
              </p:ext>
            </p:extLst>
          </p:nvPr>
        </p:nvGraphicFramePr>
        <p:xfrm>
          <a:off x="539552" y="2436314"/>
          <a:ext cx="7386198" cy="156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0" name="方程式" r:id="rId4" imgW="4305240" imgH="914400" progId="Equation.3">
                  <p:embed/>
                </p:oleObj>
              </mc:Choice>
              <mc:Fallback>
                <p:oleObj name="方程式" r:id="rId4" imgW="4305240" imgH="914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2436314"/>
                        <a:ext cx="7386198" cy="156875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Rectangle 6"/>
          <p:cNvSpPr>
            <a:spLocks noChangeArrowheads="1"/>
          </p:cNvSpPr>
          <p:nvPr/>
        </p:nvSpPr>
        <p:spPr bwMode="auto">
          <a:xfrm>
            <a:off x="323850" y="4221163"/>
            <a:ext cx="8229600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en-US" altLang="zh-TW" sz="2400"/>
              <a:t>Maximize natural log of this instead</a:t>
            </a:r>
          </a:p>
        </p:txBody>
      </p:sp>
      <p:graphicFrame>
        <p:nvGraphicFramePr>
          <p:cNvPr id="9219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117646"/>
              </p:ext>
            </p:extLst>
          </p:nvPr>
        </p:nvGraphicFramePr>
        <p:xfrm>
          <a:off x="539552" y="4725144"/>
          <a:ext cx="8350250" cy="1546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61" name="方程式" r:id="rId6" imgW="4800600" imgH="888840" progId="Equation.3">
                  <p:embed/>
                </p:oleObj>
              </mc:Choice>
              <mc:Fallback>
                <p:oleObj name="方程式" r:id="rId6" imgW="4800600" imgH="88884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552" y="4725144"/>
                        <a:ext cx="8350250" cy="15462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2" name="Text Box 12"/>
          <p:cNvSpPr txBox="1">
            <a:spLocks noChangeArrowheads="1"/>
          </p:cNvSpPr>
          <p:nvPr/>
        </p:nvSpPr>
        <p:spPr bwMode="auto">
          <a:xfrm>
            <a:off x="5595135" y="1781004"/>
            <a:ext cx="3451225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i="1"/>
              <a:t>e</a:t>
            </a:r>
            <a:r>
              <a:rPr lang="en-US" altLang="zh-TW" i="1" baseline="-25000"/>
              <a:t>i</a:t>
            </a:r>
            <a:r>
              <a:rPr lang="en-US" altLang="zh-TW"/>
              <a:t> obeys Normal distribution</a:t>
            </a:r>
          </a:p>
          <a:p>
            <a:r>
              <a:rPr lang="en-US" altLang="zh-TW" i="1"/>
              <a:t>d</a:t>
            </a:r>
            <a:r>
              <a:rPr lang="en-US" altLang="zh-TW" i="1" baseline="-25000"/>
              <a:t>i</a:t>
            </a:r>
            <a:r>
              <a:rPr lang="en-US" altLang="zh-TW"/>
              <a:t> obeys Normal distribution</a:t>
            </a:r>
          </a:p>
          <a:p>
            <a:r>
              <a:rPr lang="en-US" altLang="zh-TW"/>
              <a:t>p(</a:t>
            </a:r>
            <a:r>
              <a:rPr lang="en-US" altLang="zh-TW" i="1"/>
              <a:t>d</a:t>
            </a:r>
            <a:r>
              <a:rPr lang="en-US" altLang="zh-TW" i="1" baseline="-25000"/>
              <a:t>i</a:t>
            </a:r>
            <a:r>
              <a:rPr lang="en-US" altLang="zh-TW"/>
              <a:t>|</a:t>
            </a:r>
            <a:r>
              <a:rPr lang="en-US" altLang="zh-TW" i="1"/>
              <a:t>h</a:t>
            </a:r>
            <a:r>
              <a:rPr lang="en-US" altLang="zh-TW"/>
              <a:t>) obeys Normal distribution</a:t>
            </a:r>
          </a:p>
          <a:p>
            <a:r>
              <a:rPr lang="en-US" altLang="zh-TW"/>
              <a:t>variance </a:t>
            </a:r>
            <a:r>
              <a:rPr lang="el-GR" altLang="zh-TW">
                <a:cs typeface="Arial" pitchFamily="34" charset="0"/>
              </a:rPr>
              <a:t>σ</a:t>
            </a:r>
            <a:r>
              <a:rPr lang="en-US" altLang="zh-TW" baseline="30000">
                <a:cs typeface="Arial" pitchFamily="34" charset="0"/>
              </a:rPr>
              <a:t>2</a:t>
            </a:r>
            <a:r>
              <a:rPr lang="en-US" altLang="zh-TW"/>
              <a:t>, mean </a:t>
            </a:r>
            <a:r>
              <a:rPr lang="el-GR" altLang="zh-TW" i="1"/>
              <a:t>μ</a:t>
            </a:r>
            <a:r>
              <a:rPr lang="en-US" altLang="zh-TW"/>
              <a:t>=</a:t>
            </a:r>
            <a:r>
              <a:rPr lang="en-US" altLang="zh-TW" i="1"/>
              <a:t>f</a:t>
            </a:r>
            <a:r>
              <a:rPr lang="en-US" altLang="zh-TW"/>
              <a:t>(</a:t>
            </a:r>
            <a:r>
              <a:rPr lang="en-US" altLang="zh-TW" i="1"/>
              <a:t>x</a:t>
            </a:r>
            <a:r>
              <a:rPr lang="en-US" altLang="zh-TW" i="1" baseline="-25000"/>
              <a:t>i</a:t>
            </a:r>
            <a:r>
              <a:rPr lang="en-US" altLang="zh-TW"/>
              <a:t>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028825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Consider predicting survival probability from patient data</a:t>
            </a:r>
          </a:p>
          <a:p>
            <a:pPr eaLnBrk="1" hangingPunct="1"/>
            <a:r>
              <a:rPr lang="en-US" altLang="zh-TW" sz="2800" smtClean="0"/>
              <a:t>Training example &lt;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, </a:t>
            </a:r>
            <a:r>
              <a:rPr lang="en-US" altLang="zh-TW" sz="2800" i="1" smtClean="0"/>
              <a:t>d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&gt;, where </a:t>
            </a:r>
            <a:r>
              <a:rPr lang="en-US" altLang="zh-TW" sz="2800" i="1" smtClean="0"/>
              <a:t>d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=1 if 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 survives, and 0 otherwise</a:t>
            </a:r>
          </a:p>
          <a:p>
            <a:pPr eaLnBrk="1" hangingPunct="1"/>
            <a:r>
              <a:rPr lang="en-US" altLang="zh-TW" sz="2800" smtClean="0"/>
              <a:t>Want to predict the probability that 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 survives </a:t>
            </a: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Learning to Predict Probabilities</a:t>
            </a:r>
          </a:p>
        </p:txBody>
      </p:sp>
      <p:graphicFrame>
        <p:nvGraphicFramePr>
          <p:cNvPr id="1024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8045894"/>
              </p:ext>
            </p:extLst>
          </p:nvPr>
        </p:nvGraphicFramePr>
        <p:xfrm>
          <a:off x="1331639" y="4581128"/>
          <a:ext cx="5769111" cy="864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13" name="方程式" r:id="rId4" imgW="2882880" imgH="431640" progId="Equation.3">
                  <p:embed/>
                </p:oleObj>
              </mc:Choice>
              <mc:Fallback>
                <p:oleObj name="方程式" r:id="rId4" imgW="288288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39" y="4581128"/>
                        <a:ext cx="5769111" cy="86409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5" name="Text Box 6"/>
          <p:cNvSpPr txBox="1">
            <a:spLocks noChangeArrowheads="1"/>
          </p:cNvSpPr>
          <p:nvPr/>
        </p:nvSpPr>
        <p:spPr bwMode="auto">
          <a:xfrm>
            <a:off x="1116013" y="5913438"/>
            <a:ext cx="77184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en-US" altLang="zh-TW"/>
              <a:t> </a:t>
            </a:r>
            <a:r>
              <a:rPr lang="en-US" altLang="zh-TW" i="1"/>
              <a:t>h</a:t>
            </a:r>
            <a:r>
              <a:rPr lang="en-US" altLang="zh-TW"/>
              <a:t>(</a:t>
            </a:r>
            <a:r>
              <a:rPr lang="en-US" altLang="zh-TW" i="1"/>
              <a:t>x</a:t>
            </a:r>
            <a:r>
              <a:rPr lang="en-US" altLang="zh-TW" i="1" baseline="-25000"/>
              <a:t>i</a:t>
            </a:r>
            <a:r>
              <a:rPr lang="en-US" altLang="zh-TW"/>
              <a:t>) predicts the probability that </a:t>
            </a:r>
            <a:r>
              <a:rPr lang="en-US" altLang="zh-TW" i="1"/>
              <a:t>d</a:t>
            </a:r>
            <a:r>
              <a:rPr lang="en-US" altLang="zh-TW" i="1" baseline="-25000"/>
              <a:t>i</a:t>
            </a:r>
            <a:r>
              <a:rPr lang="en-US" altLang="zh-TW"/>
              <a:t>=1 </a:t>
            </a:r>
          </a:p>
          <a:p>
            <a:pPr>
              <a:buFontTx/>
              <a:buChar char="•"/>
            </a:pPr>
            <a:r>
              <a:rPr lang="en-US" altLang="zh-TW"/>
              <a:t> The negation of the above quantity is sometimes called the cross entropy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Learning to Predict Probabilities</a:t>
            </a:r>
          </a:p>
        </p:txBody>
      </p:sp>
      <p:graphicFrame>
        <p:nvGraphicFramePr>
          <p:cNvPr id="11268" name="Object 9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9449055"/>
              </p:ext>
            </p:extLst>
          </p:nvPr>
        </p:nvGraphicFramePr>
        <p:xfrm>
          <a:off x="363118" y="4416929"/>
          <a:ext cx="4929850" cy="22524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79" name="方程式" r:id="rId4" imgW="2946240" imgH="1346040" progId="Equation.3">
                  <p:embed/>
                </p:oleObj>
              </mc:Choice>
              <mc:Fallback>
                <p:oleObj name="方程式" r:id="rId4" imgW="2946240" imgH="134604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8" y="4416929"/>
                        <a:ext cx="4929850" cy="22524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6" name="Object 4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637982860"/>
              </p:ext>
            </p:extLst>
          </p:nvPr>
        </p:nvGraphicFramePr>
        <p:xfrm>
          <a:off x="363119" y="2073104"/>
          <a:ext cx="5216993" cy="796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0" name="方程式" r:id="rId6" imgW="2831760" imgH="431640" progId="Equation.3">
                  <p:embed/>
                </p:oleObj>
              </mc:Choice>
              <mc:Fallback>
                <p:oleObj name="方程式" r:id="rId6" imgW="283176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9" y="2073104"/>
                        <a:ext cx="5216993" cy="79645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327363570"/>
              </p:ext>
            </p:extLst>
          </p:nvPr>
        </p:nvGraphicFramePr>
        <p:xfrm>
          <a:off x="363118" y="2985460"/>
          <a:ext cx="4038600" cy="138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481" name="方程式" r:id="rId8" imgW="2070000" imgH="711000" progId="Equation.3">
                  <p:embed/>
                </p:oleObj>
              </mc:Choice>
              <mc:Fallback>
                <p:oleObj name="方程式" r:id="rId8" imgW="2070000" imgH="7110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18" y="2985460"/>
                        <a:ext cx="4038600" cy="13874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0" name="Text Box 11"/>
          <p:cNvSpPr txBox="1">
            <a:spLocks noChangeArrowheads="1"/>
          </p:cNvSpPr>
          <p:nvPr/>
        </p:nvSpPr>
        <p:spPr bwMode="auto">
          <a:xfrm>
            <a:off x="6043216" y="2302268"/>
            <a:ext cx="2292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i="1"/>
              <a:t>x</a:t>
            </a:r>
            <a:r>
              <a:rPr lang="en-US" altLang="zh-TW"/>
              <a:t> is independent of </a:t>
            </a:r>
            <a:r>
              <a:rPr lang="en-US" altLang="zh-TW" i="1"/>
              <a:t>h</a:t>
            </a:r>
          </a:p>
        </p:txBody>
      </p:sp>
      <p:sp>
        <p:nvSpPr>
          <p:cNvPr id="11271" name="Text Box 12"/>
          <p:cNvSpPr txBox="1">
            <a:spLocks noChangeArrowheads="1"/>
          </p:cNvSpPr>
          <p:nvPr/>
        </p:nvSpPr>
        <p:spPr bwMode="auto">
          <a:xfrm>
            <a:off x="6039713" y="2935421"/>
            <a:ext cx="3024188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i="1"/>
              <a:t>h</a:t>
            </a:r>
            <a:r>
              <a:rPr lang="en-US" altLang="zh-TW"/>
              <a:t>(</a:t>
            </a:r>
            <a:r>
              <a:rPr lang="en-US" altLang="zh-TW" i="1"/>
              <a:t>x</a:t>
            </a:r>
            <a:r>
              <a:rPr lang="en-US" altLang="zh-TW" i="1" baseline="-25000"/>
              <a:t>i</a:t>
            </a:r>
            <a:r>
              <a:rPr lang="en-US" altLang="zh-TW"/>
              <a:t>) predicts the probability </a:t>
            </a:r>
          </a:p>
          <a:p>
            <a:r>
              <a:rPr lang="en-US" altLang="zh-TW"/>
              <a:t>that </a:t>
            </a:r>
            <a:r>
              <a:rPr lang="en-US" altLang="zh-TW" i="1"/>
              <a:t>x</a:t>
            </a:r>
            <a:r>
              <a:rPr lang="en-US" altLang="zh-TW" i="1" baseline="-25000"/>
              <a:t>i</a:t>
            </a:r>
            <a:r>
              <a:rPr lang="en-US" altLang="zh-TW"/>
              <a:t>=1</a:t>
            </a:r>
          </a:p>
        </p:txBody>
      </p:sp>
      <p:sp>
        <p:nvSpPr>
          <p:cNvPr id="11272" name="Text Box 13"/>
          <p:cNvSpPr txBox="1">
            <a:spLocks noChangeArrowheads="1"/>
          </p:cNvSpPr>
          <p:nvPr/>
        </p:nvSpPr>
        <p:spPr bwMode="auto">
          <a:xfrm>
            <a:off x="5282691" y="5359788"/>
            <a:ext cx="37480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 i="1"/>
              <a:t>P</a:t>
            </a:r>
            <a:r>
              <a:rPr lang="en-US" altLang="zh-TW"/>
              <a:t>(</a:t>
            </a:r>
            <a:r>
              <a:rPr lang="en-US" altLang="zh-TW" i="1"/>
              <a:t>x</a:t>
            </a:r>
            <a:r>
              <a:rPr lang="en-US" altLang="zh-TW" i="1" baseline="-25000"/>
              <a:t>i</a:t>
            </a:r>
            <a:r>
              <a:rPr lang="en-US" altLang="zh-TW"/>
              <a:t>) is a constant independent of </a:t>
            </a:r>
            <a:r>
              <a:rPr lang="en-US" altLang="zh-TW" i="1"/>
              <a:t>h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mtClean="0"/>
              <a:t>Minimum Description Length Principle</a:t>
            </a:r>
          </a:p>
        </p:txBody>
      </p:sp>
      <p:sp>
        <p:nvSpPr>
          <p:cNvPr id="1229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Occam’s razor</a:t>
            </a:r>
          </a:p>
          <a:p>
            <a:pPr lvl="1" eaLnBrk="1" hangingPunct="1"/>
            <a:r>
              <a:rPr lang="en-US" altLang="zh-TW" sz="2400" smtClean="0"/>
              <a:t>Prefer the shortest hypothesis</a:t>
            </a:r>
          </a:p>
          <a:p>
            <a:pPr eaLnBrk="1" hangingPunct="1"/>
            <a:r>
              <a:rPr lang="en-US" altLang="zh-TW" sz="2800" smtClean="0"/>
              <a:t>MDL</a:t>
            </a:r>
          </a:p>
          <a:p>
            <a:pPr lvl="1" eaLnBrk="1" hangingPunct="1"/>
            <a:r>
              <a:rPr lang="en-US" altLang="zh-TW" sz="2400" smtClean="0"/>
              <a:t>Prefer the hypothesis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that minimizes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lvl="1" eaLnBrk="1" hangingPunct="1">
              <a:buFontTx/>
              <a:buNone/>
            </a:pPr>
            <a:r>
              <a:rPr lang="en-US" altLang="zh-TW" sz="2400" smtClean="0"/>
              <a:t>  where </a:t>
            </a:r>
            <a:r>
              <a:rPr lang="en-US" altLang="zh-TW" sz="2400" i="1" smtClean="0"/>
              <a:t>L</a:t>
            </a:r>
            <a:r>
              <a:rPr lang="en-US" altLang="zh-TW" sz="2400" i="1" baseline="-25000" smtClean="0"/>
              <a:t>C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 is the description length of </a:t>
            </a:r>
            <a:r>
              <a:rPr lang="en-US" altLang="zh-TW" sz="2400" i="1" smtClean="0"/>
              <a:t>x </a:t>
            </a:r>
            <a:r>
              <a:rPr lang="en-US" altLang="zh-TW" sz="2400" smtClean="0"/>
              <a:t>under encoding </a:t>
            </a:r>
            <a:r>
              <a:rPr lang="en-US" altLang="zh-TW" sz="2400" i="1" smtClean="0"/>
              <a:t>C </a:t>
            </a:r>
            <a:endParaRPr lang="en-US" altLang="zh-TW" sz="2400" smtClean="0"/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2802651"/>
              </p:ext>
            </p:extLst>
          </p:nvPr>
        </p:nvGraphicFramePr>
        <p:xfrm>
          <a:off x="1475656" y="4149080"/>
          <a:ext cx="4680520" cy="6545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61" name="方程式" r:id="rId4" imgW="2057400" imgH="304560" progId="Equation.3">
                  <p:embed/>
                </p:oleObj>
              </mc:Choice>
              <mc:Fallback>
                <p:oleObj name="方程式" r:id="rId4" imgW="2057400" imgH="304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4149080"/>
                        <a:ext cx="4680520" cy="654546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mtClean="0"/>
              <a:t>Minimum Description Length Principle</a:t>
            </a:r>
          </a:p>
        </p:txBody>
      </p:sp>
      <p:sp>
        <p:nvSpPr>
          <p:cNvPr id="13316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Fact from information theory: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The optimal shortest expected coding length code for an event with probability </a:t>
            </a:r>
            <a:r>
              <a:rPr lang="en-US" altLang="zh-TW" sz="2400" i="1" smtClean="0"/>
              <a:t>p </a:t>
            </a:r>
            <a:r>
              <a:rPr lang="en-US" altLang="zh-TW" sz="2400" smtClean="0"/>
              <a:t>is -log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 </a:t>
            </a:r>
            <a:r>
              <a:rPr lang="en-US" altLang="zh-TW" sz="2400" smtClean="0"/>
              <a:t>bits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-log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is the description length of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under optimal encoding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-log</a:t>
            </a:r>
            <a:r>
              <a:rPr lang="en-US" altLang="zh-TW" sz="20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is the description length of </a:t>
            </a:r>
            <a:r>
              <a:rPr lang="en-US" altLang="zh-TW" sz="2400" i="1" smtClean="0"/>
              <a:t>D </a:t>
            </a:r>
            <a:r>
              <a:rPr lang="en-US" altLang="zh-TW" sz="2400" smtClean="0"/>
              <a:t>given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under optimal encoding</a:t>
            </a:r>
          </a:p>
        </p:txBody>
      </p:sp>
      <p:graphicFrame>
        <p:nvGraphicFramePr>
          <p:cNvPr id="1331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037555"/>
              </p:ext>
            </p:extLst>
          </p:nvPr>
        </p:nvGraphicFramePr>
        <p:xfrm>
          <a:off x="1763688" y="4797152"/>
          <a:ext cx="5097463" cy="1952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5" name="方程式" r:id="rId4" imgW="2514600" imgH="939600" progId="Equation.3">
                  <p:embed/>
                </p:oleObj>
              </mc:Choice>
              <mc:Fallback>
                <p:oleObj name="方程式" r:id="rId4" imgW="251460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8" y="4797152"/>
                        <a:ext cx="5097463" cy="19526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mtClean="0"/>
              <a:t>Minimum Description Length Principle</a:t>
            </a:r>
          </a:p>
        </p:txBody>
      </p:sp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/>
            <a:r>
              <a:rPr lang="en-US" altLang="zh-TW" sz="2400" smtClean="0"/>
              <a:t>Let </a:t>
            </a:r>
            <a:r>
              <a:rPr lang="en-US" altLang="zh-TW" sz="2400" i="1" smtClean="0"/>
              <a:t>L</a:t>
            </a:r>
            <a:r>
              <a:rPr lang="en-US" altLang="zh-TW" sz="2400" i="1" baseline="-25000" smtClean="0"/>
              <a:t>C</a:t>
            </a:r>
            <a:r>
              <a:rPr lang="en-US" altLang="zh-TW" sz="2400" i="1" baseline="-36000" smtClean="0"/>
              <a:t>H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= -log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), where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H</a:t>
            </a:r>
            <a:r>
              <a:rPr lang="en-US" altLang="zh-TW" sz="2400" smtClean="0"/>
              <a:t> is the optimal code for hypothesis space </a:t>
            </a:r>
            <a:r>
              <a:rPr lang="en-US" altLang="zh-TW" sz="2400" i="1" smtClean="0"/>
              <a:t>H</a:t>
            </a:r>
          </a:p>
          <a:p>
            <a:pPr lvl="1" eaLnBrk="1" hangingPunct="1"/>
            <a:r>
              <a:rPr lang="en-US" altLang="zh-TW" sz="2400" smtClean="0"/>
              <a:t>Let </a:t>
            </a:r>
            <a:r>
              <a:rPr lang="en-US" altLang="zh-TW" sz="2400" i="1" smtClean="0"/>
              <a:t>L</a:t>
            </a:r>
            <a:r>
              <a:rPr lang="en-US" altLang="zh-TW" sz="2400" i="1" baseline="-25000" smtClean="0"/>
              <a:t>C</a:t>
            </a:r>
            <a:r>
              <a:rPr lang="en-US" altLang="zh-TW" sz="2400" i="1" baseline="-36000" smtClean="0"/>
              <a:t>D|h</a:t>
            </a:r>
            <a:r>
              <a:rPr lang="en-US" altLang="zh-TW" sz="2400" smtClean="0"/>
              <a:t>(D|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= -log</a:t>
            </a:r>
            <a:r>
              <a:rPr lang="en-US" altLang="zh-TW" sz="2400" baseline="-25000" smtClean="0"/>
              <a:t>2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(D|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), where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D|h</a:t>
            </a:r>
            <a:r>
              <a:rPr lang="en-US" altLang="zh-TW" sz="2400" smtClean="0"/>
              <a:t> is the optimal code for 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 assuming that both the sender and receiver know the hypothesis </a:t>
            </a:r>
            <a:r>
              <a:rPr lang="en-US" altLang="zh-TW" sz="2400" i="1" smtClean="0"/>
              <a:t>h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lvl="1" eaLnBrk="1" hangingPunct="1"/>
            <a:r>
              <a:rPr lang="en-US" altLang="zh-TW" sz="2400" smtClean="0"/>
              <a:t>If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1</a:t>
            </a:r>
            <a:r>
              <a:rPr lang="en-US" altLang="zh-TW" sz="2400" smtClean="0"/>
              <a:t> is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H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2</a:t>
            </a:r>
            <a:r>
              <a:rPr lang="en-US" altLang="zh-TW" sz="2400" smtClean="0"/>
              <a:t> is </a:t>
            </a:r>
            <a:r>
              <a:rPr lang="en-US" altLang="zh-TW" sz="2400" i="1" smtClean="0"/>
              <a:t>C</a:t>
            </a:r>
            <a:r>
              <a:rPr lang="en-US" altLang="zh-TW" sz="2400" i="1" baseline="-25000" smtClean="0"/>
              <a:t>D|h</a:t>
            </a:r>
            <a:r>
              <a:rPr lang="en-US" altLang="zh-TW" sz="2400" smtClean="0"/>
              <a:t>, then</a:t>
            </a:r>
            <a:br>
              <a:rPr lang="en-US" altLang="zh-TW" sz="2400" smtClean="0"/>
            </a:br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MDL </a:t>
            </a:r>
            <a:r>
              <a:rPr lang="en-US" altLang="zh-TW" sz="2400" smtClean="0"/>
              <a:t>= </a:t>
            </a:r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MAP</a:t>
            </a:r>
            <a:r>
              <a:rPr lang="en-US" altLang="zh-TW" sz="2400" smtClean="0"/>
              <a:t> </a:t>
            </a:r>
          </a:p>
        </p:txBody>
      </p:sp>
      <p:graphicFrame>
        <p:nvGraphicFramePr>
          <p:cNvPr id="1433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5619585"/>
              </p:ext>
            </p:extLst>
          </p:nvPr>
        </p:nvGraphicFramePr>
        <p:xfrm>
          <a:off x="1547664" y="4221088"/>
          <a:ext cx="4896395" cy="7036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09" name="方程式" r:id="rId4" imgW="2184120" imgH="304560" progId="Equation.3">
                  <p:embed/>
                </p:oleObj>
              </mc:Choice>
              <mc:Fallback>
                <p:oleObj name="方程式" r:id="rId4" imgW="2184120" imgH="304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221088"/>
                        <a:ext cx="4896395" cy="70365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200" smtClean="0"/>
              <a:t>Minimum Description Length Principle</a:t>
            </a:r>
          </a:p>
        </p:txBody>
      </p:sp>
      <p:sp>
        <p:nvSpPr>
          <p:cNvPr id="491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Example: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=decision trees, </a:t>
            </a:r>
            <a:r>
              <a:rPr lang="en-US" altLang="zh-TW" sz="2800" i="1" smtClean="0"/>
              <a:t>D</a:t>
            </a:r>
            <a:r>
              <a:rPr lang="en-US" altLang="zh-TW" sz="2800" smtClean="0"/>
              <a:t>=training data labels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L</a:t>
            </a:r>
            <a:r>
              <a:rPr lang="en-US" altLang="zh-TW" sz="2400" i="1" baseline="-25000" smtClean="0"/>
              <a:t>C</a:t>
            </a:r>
            <a:r>
              <a:rPr lang="en-US" altLang="zh-TW" sz="2400" baseline="-36000" smtClean="0"/>
              <a:t>1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is # bits to describe tree </a:t>
            </a:r>
            <a:r>
              <a:rPr lang="en-US" altLang="zh-TW" sz="2400" i="1" smtClean="0"/>
              <a:t>h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L</a:t>
            </a:r>
            <a:r>
              <a:rPr lang="en-US" altLang="zh-TW" sz="2400" i="1" baseline="-25000" smtClean="0"/>
              <a:t>C</a:t>
            </a:r>
            <a:r>
              <a:rPr lang="en-US" altLang="zh-TW" sz="2400" baseline="-36000" smtClean="0"/>
              <a:t>2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is # bits to describe </a:t>
            </a:r>
            <a:r>
              <a:rPr lang="en-US" altLang="zh-TW" sz="2400" i="1" smtClean="0"/>
              <a:t>D </a:t>
            </a:r>
            <a:r>
              <a:rPr lang="en-US" altLang="zh-TW" sz="2400" smtClean="0"/>
              <a:t>given </a:t>
            </a:r>
            <a:r>
              <a:rPr lang="en-US" altLang="zh-TW" sz="2400" i="1" smtClean="0"/>
              <a:t>h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Note </a:t>
            </a:r>
            <a:r>
              <a:rPr lang="en-US" altLang="zh-TW" sz="2000" i="1" smtClean="0"/>
              <a:t>L</a:t>
            </a:r>
            <a:r>
              <a:rPr lang="en-US" altLang="zh-TW" sz="2000" i="1" baseline="-25000" smtClean="0"/>
              <a:t>C</a:t>
            </a:r>
            <a:r>
              <a:rPr lang="en-US" altLang="zh-TW" sz="2400" baseline="-36000" smtClean="0"/>
              <a:t>2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D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h</a:t>
            </a:r>
            <a:r>
              <a:rPr lang="en-US" altLang="zh-TW" sz="2000" smtClean="0"/>
              <a:t>)=0 if examples classified perfectly by </a:t>
            </a:r>
            <a:r>
              <a:rPr lang="en-US" altLang="zh-TW" sz="2000" i="1" smtClean="0"/>
              <a:t>h. </a:t>
            </a:r>
            <a:r>
              <a:rPr lang="en-US" altLang="zh-TW" sz="2000" smtClean="0"/>
              <a:t>Need only describe exceptions.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Prefer the hypothesis that minimizes </a:t>
            </a:r>
            <a:br>
              <a:rPr lang="en-US" altLang="zh-TW" sz="2400" smtClean="0"/>
            </a:br>
            <a:r>
              <a:rPr lang="en-US" altLang="zh-TW" sz="2400" smtClean="0"/>
              <a:t>length(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+ length(</a:t>
            </a:r>
            <a:r>
              <a:rPr lang="en-US" altLang="zh-TW" sz="2400" i="1" smtClean="0"/>
              <a:t>misclassifications</a:t>
            </a:r>
            <a:r>
              <a:rPr lang="en-US" altLang="zh-TW" sz="2400" smtClean="0"/>
              <a:t>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Hence </a:t>
            </a:r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MDL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trades off tree size for training errors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sz="4000" smtClean="0"/>
              <a:t>Most Probable Classification of</a:t>
            </a:r>
            <a:br>
              <a:rPr lang="en-US" altLang="zh-TW" sz="4000" smtClean="0"/>
            </a:br>
            <a:r>
              <a:rPr lang="en-US" altLang="zh-TW" sz="4000" smtClean="0"/>
              <a:t>New Instances</a:t>
            </a:r>
          </a:p>
        </p:txBody>
      </p:sp>
      <p:sp>
        <p:nvSpPr>
          <p:cNvPr id="501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So far we have sought the most probable hypothesis given the data </a:t>
            </a:r>
            <a:r>
              <a:rPr lang="en-US" altLang="zh-TW" sz="2800" i="1" smtClean="0"/>
              <a:t>D </a:t>
            </a:r>
            <a:r>
              <a:rPr lang="en-US" altLang="zh-TW" sz="2800" smtClean="0"/>
              <a:t>(i.e. </a:t>
            </a:r>
            <a:r>
              <a:rPr lang="en-US" altLang="zh-TW" sz="2800" i="1" smtClean="0"/>
              <a:t>h</a:t>
            </a:r>
            <a:r>
              <a:rPr lang="en-US" altLang="zh-TW" sz="2800" i="1" baseline="-25000" smtClean="0"/>
              <a:t>MAP</a:t>
            </a:r>
            <a:r>
              <a:rPr lang="en-US" altLang="zh-TW" sz="2800" smtClean="0"/>
              <a:t>)</a:t>
            </a:r>
          </a:p>
          <a:p>
            <a:pPr eaLnBrk="1" hangingPunct="1"/>
            <a:r>
              <a:rPr lang="en-US" altLang="zh-TW" sz="2800" smtClean="0"/>
              <a:t>Given new instance </a:t>
            </a:r>
            <a:r>
              <a:rPr lang="en-US" altLang="zh-TW" sz="2800" i="1" smtClean="0"/>
              <a:t>x, </a:t>
            </a:r>
            <a:r>
              <a:rPr lang="en-US" altLang="zh-TW" sz="2800" smtClean="0"/>
              <a:t>what is its most probable classification?</a:t>
            </a:r>
          </a:p>
          <a:p>
            <a:pPr lvl="1" eaLnBrk="1" hangingPunct="1"/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MAP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 is not the most probable classification!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sz="4000" smtClean="0"/>
              <a:t>Most Probable Classification of</a:t>
            </a:r>
            <a:br>
              <a:rPr lang="en-US" altLang="zh-TW" sz="4000" smtClean="0"/>
            </a:br>
            <a:r>
              <a:rPr lang="en-US" altLang="zh-TW" sz="4000" smtClean="0"/>
              <a:t>New Instances</a:t>
            </a:r>
          </a:p>
        </p:txBody>
      </p:sp>
      <p:sp>
        <p:nvSpPr>
          <p:cNvPr id="5120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Consider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Three possible hypotheses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h</a:t>
            </a:r>
            <a:r>
              <a:rPr lang="en-US" altLang="zh-TW" sz="2000" i="1" baseline="-25000" smtClean="0"/>
              <a:t>1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D</a:t>
            </a:r>
            <a:r>
              <a:rPr lang="en-US" altLang="zh-TW" sz="2000" smtClean="0"/>
              <a:t>)=0.4,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h</a:t>
            </a:r>
            <a:r>
              <a:rPr lang="en-US" altLang="zh-TW" sz="2000" i="1" baseline="-25000" smtClean="0"/>
              <a:t>2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D</a:t>
            </a:r>
            <a:r>
              <a:rPr lang="en-US" altLang="zh-TW" sz="2000" smtClean="0"/>
              <a:t>)=0.3,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h</a:t>
            </a:r>
            <a:r>
              <a:rPr lang="en-US" altLang="zh-TW" sz="2000" i="1" baseline="-25000" smtClean="0"/>
              <a:t>3</a:t>
            </a:r>
            <a:r>
              <a:rPr lang="en-US" altLang="zh-TW" sz="2000" smtClean="0"/>
              <a:t>|</a:t>
            </a:r>
            <a:r>
              <a:rPr lang="en-US" altLang="zh-TW" sz="2000" i="1" smtClean="0"/>
              <a:t>D</a:t>
            </a:r>
            <a:r>
              <a:rPr lang="en-US" altLang="zh-TW" sz="2000" smtClean="0"/>
              <a:t>) =0.3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Given new instance 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,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i="1" smtClean="0"/>
              <a:t>h</a:t>
            </a:r>
            <a:r>
              <a:rPr lang="en-US" altLang="zh-TW" sz="2000" i="1" baseline="-25000" smtClean="0"/>
              <a:t>1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 = +, </a:t>
            </a:r>
            <a:r>
              <a:rPr lang="en-US" altLang="zh-TW" sz="2000" i="1" smtClean="0"/>
              <a:t>h</a:t>
            </a:r>
            <a:r>
              <a:rPr lang="en-US" altLang="zh-TW" sz="2000" i="1" baseline="-25000"/>
              <a:t>2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 = -, </a:t>
            </a:r>
            <a:r>
              <a:rPr lang="en-US" altLang="zh-TW" sz="2000" i="1" smtClean="0"/>
              <a:t>h</a:t>
            </a:r>
            <a:r>
              <a:rPr lang="en-US" altLang="zh-TW" sz="2000" i="1" baseline="-25000"/>
              <a:t>3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x</a:t>
            </a:r>
            <a:r>
              <a:rPr lang="en-US" altLang="zh-TW" sz="2000" smtClean="0"/>
              <a:t>) = -,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What’s most probable classification of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?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h</a:t>
            </a:r>
            <a:r>
              <a:rPr lang="en-US" altLang="zh-TW" sz="2400" i="1" baseline="-25000"/>
              <a:t>MAP</a:t>
            </a:r>
            <a:r>
              <a:rPr lang="en-US" altLang="zh-TW" sz="4400" smtClean="0"/>
              <a:t> </a:t>
            </a:r>
            <a:r>
              <a:rPr lang="en-US" altLang="zh-TW" sz="2400" smtClean="0"/>
              <a:t>is </a:t>
            </a:r>
            <a:r>
              <a:rPr lang="en-US" altLang="zh-TW" sz="2400" i="1" smtClean="0"/>
              <a:t>h</a:t>
            </a:r>
            <a:r>
              <a:rPr lang="en-US" altLang="zh-TW" sz="2400" i="1" baseline="-25000" smtClean="0"/>
              <a:t>1</a:t>
            </a:r>
            <a:endParaRPr lang="en-US" altLang="zh-TW" sz="2400" baseline="-250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h</a:t>
            </a:r>
            <a:r>
              <a:rPr lang="en-US" altLang="zh-TW" sz="2400" i="1" baseline="-25000"/>
              <a:t>1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) = +</a:t>
            </a:r>
            <a:endParaRPr lang="en-US" altLang="zh-TW" sz="4400" i="1" baseline="-250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Is + the most probable classification of </a:t>
            </a:r>
            <a:r>
              <a:rPr lang="en-US" altLang="zh-TW" sz="2400" i="1" smtClean="0"/>
              <a:t>x</a:t>
            </a:r>
            <a:r>
              <a:rPr lang="en-US" altLang="zh-TW" sz="2400" smtClean="0"/>
              <a:t>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Optimal Classifier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Bayes optimal classification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Example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)=0.4,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(-|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)=0,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(+|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)= 1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)=0.3,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(-|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)=1,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(+|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)= 0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3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)=0.3,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(-|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3</a:t>
            </a:r>
            <a:r>
              <a:rPr lang="en-US" altLang="zh-TW" sz="2400" smtClean="0"/>
              <a:t>)=1,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(+|</a:t>
            </a:r>
            <a:r>
              <a:rPr lang="en-US" altLang="zh-TW" sz="2400" i="1" smtClean="0"/>
              <a:t>h</a:t>
            </a:r>
            <a:r>
              <a:rPr lang="en-US" altLang="zh-TW" sz="2400" baseline="-25000" smtClean="0"/>
              <a:t>3</a:t>
            </a:r>
            <a:r>
              <a:rPr lang="en-US" altLang="zh-TW" sz="2400" smtClean="0"/>
              <a:t>)= 0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00412065"/>
              </p:ext>
            </p:extLst>
          </p:nvPr>
        </p:nvGraphicFramePr>
        <p:xfrm>
          <a:off x="1259633" y="2708921"/>
          <a:ext cx="4536503" cy="7259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33" name="方程式" r:id="rId4" imgW="1765080" imgH="342720" progId="Equation.3">
                  <p:embed/>
                </p:oleObj>
              </mc:Choice>
              <mc:Fallback>
                <p:oleObj name="方程式" r:id="rId4" imgW="176508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3" y="2708921"/>
                        <a:ext cx="4536503" cy="72594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Optimal Classifier</a:t>
            </a:r>
          </a:p>
        </p:txBody>
      </p:sp>
      <p:sp>
        <p:nvSpPr>
          <p:cNvPr id="1638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Therefore,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and</a:t>
            </a:r>
          </a:p>
        </p:txBody>
      </p:sp>
      <p:graphicFrame>
        <p:nvGraphicFramePr>
          <p:cNvPr id="1638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50640728"/>
              </p:ext>
            </p:extLst>
          </p:nvPr>
        </p:nvGraphicFramePr>
        <p:xfrm>
          <a:off x="1475656" y="2708920"/>
          <a:ext cx="3384203" cy="13493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8" name="方程式" r:id="rId4" imgW="1600200" imgH="685800" progId="Equation.3">
                  <p:embed/>
                </p:oleObj>
              </mc:Choice>
              <mc:Fallback>
                <p:oleObj name="方程式" r:id="rId4" imgW="1600200" imgH="685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708920"/>
                        <a:ext cx="3384203" cy="134930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36147251"/>
              </p:ext>
            </p:extLst>
          </p:nvPr>
        </p:nvGraphicFramePr>
        <p:xfrm>
          <a:off x="1477346" y="4869160"/>
          <a:ext cx="4319935" cy="76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29" name="方程式" r:id="rId6" imgW="2006280" imgH="342720" progId="Equation.3">
                  <p:embed/>
                </p:oleObj>
              </mc:Choice>
              <mc:Fallback>
                <p:oleObj name="方程式" r:id="rId6" imgW="2006280" imgH="342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346" y="4869160"/>
                        <a:ext cx="4319935" cy="7634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 Optimal Classifier</a:t>
            </a:r>
          </a:p>
        </p:txBody>
      </p:sp>
      <p:sp>
        <p:nvSpPr>
          <p:cNvPr id="522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Bayes optimal classifier</a:t>
            </a:r>
          </a:p>
          <a:p>
            <a:pPr lvl="1" eaLnBrk="1" hangingPunct="1"/>
            <a:r>
              <a:rPr lang="en-US" altLang="zh-TW" sz="2400" smtClean="0"/>
              <a:t>Classify new instances according to Bayes optimal classification equation</a:t>
            </a:r>
          </a:p>
          <a:p>
            <a:pPr eaLnBrk="1" hangingPunct="1"/>
            <a:r>
              <a:rPr lang="en-US" altLang="zh-TW" sz="2800" smtClean="0"/>
              <a:t>No other classification method using the same hypothesis space and same prior knowledge can outperform this method on average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Gibbs Classifier</a:t>
            </a:r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Bayes optimal classifier provides best result but can be expensive if many hypotheses</a:t>
            </a:r>
          </a:p>
          <a:p>
            <a:pPr eaLnBrk="1" hangingPunct="1"/>
            <a:r>
              <a:rPr lang="en-US" altLang="zh-TW" sz="2800" smtClean="0"/>
              <a:t>Gibbs algorithm</a:t>
            </a:r>
          </a:p>
          <a:p>
            <a:pPr lvl="1" eaLnBrk="1" hangingPunct="1"/>
            <a:r>
              <a:rPr lang="en-US" altLang="zh-TW" sz="2400" smtClean="0"/>
              <a:t>Choose one hypothesis at random according to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)</a:t>
            </a:r>
          </a:p>
          <a:p>
            <a:pPr lvl="1" eaLnBrk="1" hangingPunct="1"/>
            <a:r>
              <a:rPr lang="en-US" altLang="zh-TW" sz="2400" smtClean="0"/>
              <a:t>Use this hypothesis to classify new instance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Gibbs Classifier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2800" smtClean="0"/>
              <a:t>Surprising fact</a:t>
            </a:r>
          </a:p>
          <a:p>
            <a:pPr lvl="1" eaLnBrk="1" hangingPunct="1"/>
            <a:r>
              <a:rPr lang="en-US" altLang="zh-TW" sz="2400" smtClean="0"/>
              <a:t>Assume target concepts are drawn at random from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according to priors on </a:t>
            </a:r>
            <a:r>
              <a:rPr lang="en-US" altLang="zh-TW" sz="2400" i="1" smtClean="0"/>
              <a:t>H. </a:t>
            </a:r>
            <a:r>
              <a:rPr lang="en-US" altLang="zh-TW" sz="2400" smtClean="0"/>
              <a:t>Then</a:t>
            </a:r>
            <a:br>
              <a:rPr lang="en-US" altLang="zh-TW" sz="2400" smtClean="0"/>
            </a:br>
            <a:r>
              <a:rPr lang="en-US" altLang="zh-TW" sz="2400" i="1" smtClean="0"/>
              <a:t>E</a:t>
            </a:r>
            <a:r>
              <a:rPr lang="en-US" altLang="zh-TW" sz="2400" smtClean="0"/>
              <a:t>[</a:t>
            </a:r>
            <a:r>
              <a:rPr lang="en-US" altLang="zh-TW" sz="2400" i="1" smtClean="0"/>
              <a:t>error</a:t>
            </a:r>
            <a:r>
              <a:rPr lang="en-US" altLang="zh-TW" sz="2400" i="1" baseline="-25000" smtClean="0"/>
              <a:t>Gibbs</a:t>
            </a:r>
            <a:r>
              <a:rPr lang="en-US" altLang="zh-TW" sz="2400" smtClean="0"/>
              <a:t>] ≤ 2</a:t>
            </a:r>
            <a:r>
              <a:rPr lang="en-US" altLang="zh-TW" sz="2400" i="1" smtClean="0"/>
              <a:t>E</a:t>
            </a:r>
            <a:r>
              <a:rPr lang="en-US" altLang="zh-TW" sz="2400" smtClean="0"/>
              <a:t>[</a:t>
            </a:r>
            <a:r>
              <a:rPr lang="en-US" altLang="zh-TW" sz="2400" i="1" smtClean="0"/>
              <a:t>error</a:t>
            </a:r>
            <a:r>
              <a:rPr lang="en-US" altLang="zh-TW" sz="2400" i="1" baseline="-25000" smtClean="0"/>
              <a:t>BayesOptimal</a:t>
            </a:r>
            <a:r>
              <a:rPr lang="en-US" altLang="zh-TW" sz="2400" smtClean="0"/>
              <a:t>]</a:t>
            </a:r>
          </a:p>
          <a:p>
            <a:pPr eaLnBrk="1" hangingPunct="1"/>
            <a:r>
              <a:rPr lang="en-US" altLang="zh-TW" sz="2800" smtClean="0"/>
              <a:t>Suppose correct, uniform prior distribution over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, then</a:t>
            </a:r>
          </a:p>
          <a:p>
            <a:pPr lvl="1" eaLnBrk="1" hangingPunct="1"/>
            <a:r>
              <a:rPr lang="en-US" altLang="zh-TW" sz="2400" smtClean="0"/>
              <a:t>Pick any hypothesis from VS, with uniform probability</a:t>
            </a:r>
          </a:p>
          <a:p>
            <a:pPr lvl="1" eaLnBrk="1" hangingPunct="1"/>
            <a:r>
              <a:rPr lang="en-US" altLang="zh-TW" sz="2400" smtClean="0"/>
              <a:t>Its expected error no worse than twice Bayes optimal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 Classifier</a:t>
            </a:r>
          </a:p>
        </p:txBody>
      </p:sp>
      <p:sp>
        <p:nvSpPr>
          <p:cNvPr id="55299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Along with decision trees, neural networks, nearest nbr, one of the most practical learning methods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When to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Moderate or large training set available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Attributes that describe instances are conditionally independent given classification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Successful applications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Diagnosis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Classifying text documents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 Classifier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Assume target function </a:t>
            </a:r>
            <a:r>
              <a:rPr lang="en-US" altLang="zh-TW" sz="2800" i="1" smtClean="0"/>
              <a:t>f</a:t>
            </a:r>
            <a:r>
              <a:rPr lang="en-US" altLang="zh-TW" sz="2800" smtClean="0"/>
              <a:t>: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→</a:t>
            </a:r>
            <a:r>
              <a:rPr lang="en-US" altLang="zh-TW" sz="2800" i="1" smtClean="0"/>
              <a:t>V</a:t>
            </a:r>
            <a:r>
              <a:rPr lang="en-US" altLang="zh-TW" sz="2800" smtClean="0"/>
              <a:t>, where each instance </a:t>
            </a:r>
            <a:r>
              <a:rPr lang="en-US" altLang="zh-TW" sz="2800" i="1" smtClean="0"/>
              <a:t>x </a:t>
            </a:r>
            <a:r>
              <a:rPr lang="en-US" altLang="zh-TW" sz="2800" smtClean="0"/>
              <a:t>described by attributes (</a:t>
            </a:r>
            <a:r>
              <a:rPr lang="en-US" altLang="zh-TW" sz="2800" i="1" smtClean="0"/>
              <a:t>a</a:t>
            </a:r>
            <a:r>
              <a:rPr lang="en-US" altLang="zh-TW" sz="2800" baseline="-25000" smtClean="0"/>
              <a:t>1</a:t>
            </a:r>
            <a:r>
              <a:rPr lang="en-US" altLang="zh-TW" sz="2800" smtClean="0"/>
              <a:t>, ..., </a:t>
            </a:r>
            <a:r>
              <a:rPr lang="en-US" altLang="zh-TW" sz="2800" i="1" smtClean="0"/>
              <a:t>a</a:t>
            </a:r>
            <a:r>
              <a:rPr lang="en-US" altLang="zh-TW" sz="2800" i="1" baseline="-25000" smtClean="0"/>
              <a:t>n</a:t>
            </a:r>
            <a:r>
              <a:rPr lang="en-US" altLang="zh-TW" sz="2800" smtClean="0"/>
              <a:t>)</a:t>
            </a:r>
          </a:p>
          <a:p>
            <a:pPr eaLnBrk="1" hangingPunct="1"/>
            <a:r>
              <a:rPr lang="en-US" altLang="zh-TW" sz="2800" smtClean="0"/>
              <a:t>Most probable value of </a:t>
            </a:r>
            <a:r>
              <a:rPr lang="en-US" altLang="zh-TW" sz="2800" i="1" smtClean="0"/>
              <a:t>f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 is:</a:t>
            </a:r>
          </a:p>
          <a:p>
            <a:pPr eaLnBrk="1" hangingPunct="1"/>
            <a:endParaRPr lang="en-US" altLang="zh-TW" sz="2800" smtClean="0"/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8341736"/>
              </p:ext>
            </p:extLst>
          </p:nvPr>
        </p:nvGraphicFramePr>
        <p:xfrm>
          <a:off x="1259632" y="4149080"/>
          <a:ext cx="5040560" cy="22132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81" name="方程式" r:id="rId4" imgW="2222280" imgH="1079280" progId="Equation.3">
                  <p:embed/>
                </p:oleObj>
              </mc:Choice>
              <mc:Fallback>
                <p:oleObj name="方程式" r:id="rId4" imgW="2222280" imgH="1079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149080"/>
                        <a:ext cx="5040560" cy="221329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 Classifier</a:t>
            </a:r>
          </a:p>
        </p:txBody>
      </p:sp>
      <p:sp>
        <p:nvSpPr>
          <p:cNvPr id="1843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Naive Bayes assumption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Which </a:t>
            </a:r>
            <a:r>
              <a:rPr lang="en-US" altLang="zh-TW" sz="2800" smtClean="0"/>
              <a:t>gives</a:t>
            </a:r>
            <a:br>
              <a:rPr lang="en-US" altLang="zh-TW" sz="2800" smtClean="0"/>
            </a:br>
            <a:r>
              <a:rPr lang="en-US" altLang="zh-TW" sz="2800" smtClean="0"/>
              <a:t>Naive </a:t>
            </a:r>
            <a:r>
              <a:rPr lang="en-US" altLang="zh-TW" sz="2800" smtClean="0"/>
              <a:t>Bayes classifier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NB</a:t>
            </a:r>
            <a:r>
              <a:rPr lang="en-US" altLang="zh-TW" sz="2400" smtClean="0"/>
              <a:t> denotes the target value output by the naive Bayes classifier</a:t>
            </a:r>
          </a:p>
        </p:txBody>
      </p:sp>
      <p:graphicFrame>
        <p:nvGraphicFramePr>
          <p:cNvPr id="1843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6577928"/>
              </p:ext>
            </p:extLst>
          </p:nvPr>
        </p:nvGraphicFramePr>
        <p:xfrm>
          <a:off x="1547664" y="2564904"/>
          <a:ext cx="4424916" cy="792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6" name="方程式" r:id="rId4" imgW="1815840" imgH="342720" progId="Equation.3">
                  <p:embed/>
                </p:oleObj>
              </mc:Choice>
              <mc:Fallback>
                <p:oleObj name="方程式" r:id="rId4" imgW="181584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564904"/>
                        <a:ext cx="4424916" cy="79208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6721883"/>
              </p:ext>
            </p:extLst>
          </p:nvPr>
        </p:nvGraphicFramePr>
        <p:xfrm>
          <a:off x="1547664" y="4245503"/>
          <a:ext cx="5039841" cy="8620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77" name="方程式" r:id="rId6" imgW="1892160" imgH="342720" progId="Equation.3">
                  <p:embed/>
                </p:oleObj>
              </mc:Choice>
              <mc:Fallback>
                <p:oleObj name="方程式" r:id="rId6" imgW="1892160" imgH="3427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245503"/>
                        <a:ext cx="5039841" cy="86200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 Algorithm</a:t>
            </a:r>
          </a:p>
        </p:txBody>
      </p:sp>
      <p:sp>
        <p:nvSpPr>
          <p:cNvPr id="1946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Naive_Bayes_Learn(examples)</a:t>
            </a:r>
          </a:p>
          <a:p>
            <a:pPr lvl="1" eaLnBrk="1" hangingPunct="1"/>
            <a:r>
              <a:rPr lang="en-US" altLang="zh-TW" sz="2400" smtClean="0"/>
              <a:t>For each target value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</a:p>
          <a:p>
            <a:pPr lvl="1" eaLnBrk="1" hangingPunct="1"/>
            <a:endParaRPr lang="en-US" altLang="zh-TW" sz="2400" i="1" smtClean="0"/>
          </a:p>
          <a:p>
            <a:pPr lvl="1" eaLnBrk="1" hangingPunct="1"/>
            <a:r>
              <a:rPr lang="en-US" altLang="zh-TW" sz="2400" smtClean="0"/>
              <a:t>For each attribute value 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of each attribute </a:t>
            </a:r>
            <a:r>
              <a:rPr lang="en-US" altLang="zh-TW" sz="2400" i="1" smtClean="0"/>
              <a:t>a</a:t>
            </a:r>
            <a:endParaRPr lang="en-US" altLang="zh-TW" sz="2400" smtClean="0"/>
          </a:p>
          <a:p>
            <a:pPr lvl="1" eaLnBrk="1" hangingPunct="1"/>
            <a:endParaRPr lang="en-US" altLang="zh-TW" sz="2400" smtClean="0"/>
          </a:p>
          <a:p>
            <a:pPr eaLnBrk="1" hangingPunct="1"/>
            <a:r>
              <a:rPr lang="en-US" altLang="zh-TW" sz="2800" smtClean="0"/>
              <a:t>Classify_New_Instance(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</a:t>
            </a:r>
          </a:p>
          <a:p>
            <a:pPr eaLnBrk="1" hangingPunct="1"/>
            <a:endParaRPr lang="en-US" altLang="zh-TW" sz="2800" smtClean="0"/>
          </a:p>
        </p:txBody>
      </p:sp>
      <p:graphicFrame>
        <p:nvGraphicFramePr>
          <p:cNvPr id="1945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0651319"/>
              </p:ext>
            </p:extLst>
          </p:nvPr>
        </p:nvGraphicFramePr>
        <p:xfrm>
          <a:off x="1847888" y="2996952"/>
          <a:ext cx="3372184" cy="5094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1" name="方程式" r:id="rId4" imgW="1409400" imgH="241200" progId="Equation.3">
                  <p:embed/>
                </p:oleObj>
              </mc:Choice>
              <mc:Fallback>
                <p:oleObj name="方程式" r:id="rId4" imgW="140940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88" y="2996952"/>
                        <a:ext cx="3372184" cy="50942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0678893"/>
              </p:ext>
            </p:extLst>
          </p:nvPr>
        </p:nvGraphicFramePr>
        <p:xfrm>
          <a:off x="1847888" y="3903774"/>
          <a:ext cx="3948248" cy="5030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2" name="方程式" r:id="rId6" imgW="1790640" imgH="241200" progId="Equation.3">
                  <p:embed/>
                </p:oleObj>
              </mc:Choice>
              <mc:Fallback>
                <p:oleObj name="方程式" r:id="rId6" imgW="179064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88" y="3903774"/>
                        <a:ext cx="3948248" cy="50300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5047814"/>
              </p:ext>
            </p:extLst>
          </p:nvPr>
        </p:nvGraphicFramePr>
        <p:xfrm>
          <a:off x="1847888" y="5097939"/>
          <a:ext cx="4320331" cy="7656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673" name="方程式" r:id="rId8" imgW="1892160" imgH="355320" progId="Equation.3">
                  <p:embed/>
                </p:oleObj>
              </mc:Choice>
              <mc:Fallback>
                <p:oleObj name="方程式" r:id="rId8" imgW="1892160" imgH="3553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47888" y="5097939"/>
                        <a:ext cx="4320331" cy="76567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Example</a:t>
            </a:r>
          </a:p>
        </p:txBody>
      </p:sp>
      <p:sp>
        <p:nvSpPr>
          <p:cNvPr id="2048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Consider PlayTennis again and new instance</a:t>
            </a:r>
          </a:p>
          <a:p>
            <a:pPr lvl="1" eaLnBrk="1" hangingPunct="1"/>
            <a:r>
              <a:rPr lang="en-US" altLang="zh-TW" sz="2400" smtClean="0"/>
              <a:t>(</a:t>
            </a:r>
            <a:r>
              <a:rPr lang="en-US" altLang="zh-TW" sz="2400" i="1" smtClean="0"/>
              <a:t>Outlook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sunny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Temperature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cool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Humidity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high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Wind</a:t>
            </a:r>
            <a:r>
              <a:rPr lang="en-US" altLang="zh-TW" sz="2400" smtClean="0"/>
              <a:t>= </a:t>
            </a:r>
            <a:r>
              <a:rPr lang="en-US" altLang="zh-TW" sz="2400" i="1" smtClean="0"/>
              <a:t>strong</a:t>
            </a:r>
            <a:r>
              <a:rPr lang="en-US" altLang="zh-TW" sz="2400" smtClean="0"/>
              <a:t>)</a:t>
            </a:r>
          </a:p>
          <a:p>
            <a:pPr eaLnBrk="1" hangingPunct="1"/>
            <a:r>
              <a:rPr lang="en-US" altLang="zh-TW" sz="2800" smtClean="0"/>
              <a:t>Want to compute</a:t>
            </a:r>
          </a:p>
          <a:p>
            <a:pPr eaLnBrk="1" hangingPunct="1"/>
            <a:endParaRPr lang="en-US" altLang="zh-TW" sz="2800" smtClean="0"/>
          </a:p>
        </p:txBody>
      </p:sp>
      <p:graphicFrame>
        <p:nvGraphicFramePr>
          <p:cNvPr id="20482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9281726"/>
              </p:ext>
            </p:extLst>
          </p:nvPr>
        </p:nvGraphicFramePr>
        <p:xfrm>
          <a:off x="1259632" y="4437112"/>
          <a:ext cx="4175745" cy="7142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4" name="方程式" r:id="rId4" imgW="1892160" imgH="342720" progId="Equation.3">
                  <p:embed/>
                </p:oleObj>
              </mc:Choice>
              <mc:Fallback>
                <p:oleObj name="方程式" r:id="rId4" imgW="1892160" imgH="3427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4437112"/>
                        <a:ext cx="4175745" cy="714210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9"/>
          <p:cNvGraphicFramePr>
            <a:graphicFrameLocks noChangeAspect="1"/>
          </p:cNvGraphicFramePr>
          <p:nvPr/>
        </p:nvGraphicFramePr>
        <p:xfrm>
          <a:off x="684213" y="5305425"/>
          <a:ext cx="7848600" cy="1144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25" name="方程式" r:id="rId6" imgW="4190760" imgH="634680" progId="Equation.3">
                  <p:embed/>
                </p:oleObj>
              </mc:Choice>
              <mc:Fallback>
                <p:oleObj name="方程式" r:id="rId6" imgW="4190760" imgH="6346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05425"/>
                        <a:ext cx="7848600" cy="11445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Example</a:t>
            </a:r>
          </a:p>
        </p:txBody>
      </p:sp>
      <p:sp>
        <p:nvSpPr>
          <p:cNvPr id="563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TW" sz="2800" smtClean="0"/>
              <a:t>Training examples</a:t>
            </a: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35038" y="2708920"/>
            <a:ext cx="5473923" cy="3866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Example</a:t>
            </a:r>
          </a:p>
        </p:txBody>
      </p:sp>
      <p:sp>
        <p:nvSpPr>
          <p:cNvPr id="5734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350216"/>
          </a:xfrm>
        </p:spPr>
        <p:txBody>
          <a:bodyPr>
            <a:normAutofit/>
          </a:bodyPr>
          <a:lstStyle/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PlayTennis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)=9/14=0.64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PlayTennis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)=5/14=0.36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Wind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strong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PlayTennis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)=3/9=0.33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Wind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strong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PlayTennis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)=3/5=0.60</a:t>
            </a:r>
          </a:p>
          <a:p>
            <a:pPr lvl="1" eaLnBrk="1" hangingPunct="1"/>
            <a:r>
              <a:rPr lang="en-US" altLang="zh-TW" sz="2400" smtClean="0"/>
              <a:t>…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sunny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cool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high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</a:t>
            </a:r>
            <a:br>
              <a:rPr lang="en-US" altLang="zh-TW" sz="2400" smtClean="0"/>
            </a:b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strong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yes</a:t>
            </a:r>
            <a:r>
              <a:rPr lang="en-US" altLang="zh-TW" sz="2400" smtClean="0"/>
              <a:t>)=0.0053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sunny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cool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high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</a:t>
            </a:r>
            <a:br>
              <a:rPr lang="en-US" altLang="zh-TW" sz="2400" smtClean="0"/>
            </a:b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strong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no</a:t>
            </a:r>
            <a:r>
              <a:rPr lang="en-US" altLang="zh-TW" sz="2400" smtClean="0"/>
              <a:t>)=0.0206</a:t>
            </a:r>
          </a:p>
          <a:p>
            <a:pPr eaLnBrk="1" hangingPunct="1"/>
            <a:r>
              <a:rPr lang="en-US" altLang="zh-TW" sz="2800" i="1" smtClean="0"/>
              <a:t>v</a:t>
            </a:r>
            <a:r>
              <a:rPr lang="en-US" altLang="zh-TW" sz="2800" i="1" baseline="-25000" smtClean="0"/>
              <a:t>NB</a:t>
            </a:r>
            <a:r>
              <a:rPr lang="en-US" altLang="zh-TW" sz="2800" smtClean="0"/>
              <a:t> = </a:t>
            </a:r>
            <a:r>
              <a:rPr lang="en-US" altLang="zh-TW" sz="2800" i="1" smtClean="0">
                <a:sym typeface="Wingdings" pitchFamily="2" charset="2"/>
              </a:rPr>
              <a:t>no</a:t>
            </a:r>
            <a:endParaRPr lang="en-US" altLang="zh-TW" sz="2800" i="1" smtClean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60944"/>
            <a:ext cx="8229600" cy="4692392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Conditional independence assumption is often violated</a:t>
            </a:r>
          </a:p>
          <a:p>
            <a:pPr eaLnBrk="1" hangingPunct="1"/>
            <a:endParaRPr lang="en-US" altLang="zh-TW" sz="2800" smtClean="0"/>
          </a:p>
          <a:p>
            <a:pPr lvl="1" eaLnBrk="1" hangingPunct="1"/>
            <a:r>
              <a:rPr lang="en-US" altLang="zh-TW" sz="2400" smtClean="0"/>
              <a:t>But it works surprisingly well anyway. Note don’t need estimated posteriors          to be correct; need only that</a:t>
            </a:r>
          </a:p>
          <a:p>
            <a:pPr lvl="1" eaLnBrk="1" hangingPunct="1"/>
            <a:endParaRPr lang="en-US" altLang="zh-TW" sz="2400" smtClean="0"/>
          </a:p>
          <a:p>
            <a:pPr lvl="1" eaLnBrk="1" hangingPunct="1"/>
            <a:endParaRPr lang="en-US" altLang="zh-TW" sz="2400" smtClean="0"/>
          </a:p>
          <a:p>
            <a:pPr lvl="1" eaLnBrk="1" hangingPunct="1"/>
            <a:r>
              <a:rPr lang="en-US" altLang="zh-TW" sz="2400" smtClean="0"/>
              <a:t>Naive Bayes posteriors often unrealistically close to 0 or 1</a:t>
            </a:r>
          </a:p>
        </p:txBody>
      </p:sp>
      <p:sp>
        <p:nvSpPr>
          <p:cNvPr id="2150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Subtleties</a:t>
            </a:r>
          </a:p>
        </p:txBody>
      </p:sp>
      <p:graphicFrame>
        <p:nvGraphicFramePr>
          <p:cNvPr id="2150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8302479"/>
              </p:ext>
            </p:extLst>
          </p:nvPr>
        </p:nvGraphicFramePr>
        <p:xfrm>
          <a:off x="1547664" y="2665253"/>
          <a:ext cx="3195902" cy="6034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19" name="方程式" r:id="rId4" imgW="1815840" imgH="342720" progId="Equation.3">
                  <p:embed/>
                </p:oleObj>
              </mc:Choice>
              <mc:Fallback>
                <p:oleObj name="方程式" r:id="rId4" imgW="1815840" imgH="3427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2665253"/>
                        <a:ext cx="3195902" cy="60342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11308855"/>
              </p:ext>
            </p:extLst>
          </p:nvPr>
        </p:nvGraphicFramePr>
        <p:xfrm>
          <a:off x="1547664" y="4512560"/>
          <a:ext cx="6178839" cy="6374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0" name="方程式" r:id="rId6" imgW="3441600" imgH="355320" progId="Equation.3">
                  <p:embed/>
                </p:oleObj>
              </mc:Choice>
              <mc:Fallback>
                <p:oleObj name="方程式" r:id="rId6" imgW="3441600" imgH="35532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4512560"/>
                        <a:ext cx="6178839" cy="63741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08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268967"/>
              </p:ext>
            </p:extLst>
          </p:nvPr>
        </p:nvGraphicFramePr>
        <p:xfrm>
          <a:off x="4916958" y="3633960"/>
          <a:ext cx="720080" cy="4082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1" name="方程式" r:id="rId8" imgW="520560" imgH="241200" progId="Equation.3">
                  <p:embed/>
                </p:oleObj>
              </mc:Choice>
              <mc:Fallback>
                <p:oleObj name="方程式" r:id="rId8" imgW="520560" imgH="241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6958" y="3633960"/>
                        <a:ext cx="720080" cy="40826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805781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What if none of the training instances with target value </a:t>
            </a:r>
            <a:r>
              <a:rPr lang="en-US" altLang="zh-TW" sz="2800" i="1" smtClean="0"/>
              <a:t>v</a:t>
            </a:r>
            <a:r>
              <a:rPr lang="en-US" altLang="zh-TW" sz="2800" i="1" baseline="-25000" smtClean="0"/>
              <a:t>j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have attribute value </a:t>
            </a:r>
            <a:r>
              <a:rPr lang="en-US" altLang="zh-TW" sz="2800" i="1" smtClean="0"/>
              <a:t>a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? Then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eaLnBrk="1" hangingPunct="1"/>
            <a:r>
              <a:rPr lang="en-US" altLang="zh-TW" sz="2800" smtClean="0"/>
              <a:t>Typical solution is Bayesian estimate for</a:t>
            </a:r>
          </a:p>
          <a:p>
            <a:pPr lvl="1" eaLnBrk="1" hangingPunct="1"/>
            <a:r>
              <a:rPr lang="en-US" altLang="zh-TW" sz="2400" i="1" smtClean="0"/>
              <a:t>m</a:t>
            </a:r>
            <a:r>
              <a:rPr lang="en-US" altLang="zh-TW" sz="2400" smtClean="0"/>
              <a:t>-estimate of probability</a:t>
            </a:r>
          </a:p>
        </p:txBody>
      </p:sp>
      <p:sp>
        <p:nvSpPr>
          <p:cNvPr id="225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Subtleties</a:t>
            </a:r>
          </a:p>
        </p:txBody>
      </p:sp>
      <p:graphicFrame>
        <p:nvGraphicFramePr>
          <p:cNvPr id="22530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40144327"/>
              </p:ext>
            </p:extLst>
          </p:nvPr>
        </p:nvGraphicFramePr>
        <p:xfrm>
          <a:off x="1687659" y="2780928"/>
          <a:ext cx="2448272" cy="11635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3" name="方程式" r:id="rId4" imgW="1282680" imgH="609480" progId="Equation.3">
                  <p:embed/>
                </p:oleObj>
              </mc:Choice>
              <mc:Fallback>
                <p:oleObj name="方程式" r:id="rId4" imgW="1282680" imgH="6094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659" y="2780928"/>
                        <a:ext cx="2448272" cy="116353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9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355505893"/>
              </p:ext>
            </p:extLst>
          </p:nvPr>
        </p:nvGraphicFramePr>
        <p:xfrm>
          <a:off x="1687659" y="4797152"/>
          <a:ext cx="2732283" cy="8732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4" name="方程式" r:id="rId6" imgW="1231560" imgH="393480" progId="Equation.3">
                  <p:embed/>
                </p:oleObj>
              </mc:Choice>
              <mc:Fallback>
                <p:oleObj name="方程式" r:id="rId6" imgW="1231560" imgH="39348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87659" y="4797152"/>
                        <a:ext cx="2732283" cy="87328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1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9249458"/>
              </p:ext>
            </p:extLst>
          </p:nvPr>
        </p:nvGraphicFramePr>
        <p:xfrm>
          <a:off x="7524328" y="3810793"/>
          <a:ext cx="955675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745" name="方程式" r:id="rId8" imgW="545760" imgH="241200" progId="Equation.3">
                  <p:embed/>
                </p:oleObj>
              </mc:Choice>
              <mc:Fallback>
                <p:oleObj name="方程式" r:id="rId8" imgW="54576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24328" y="3810793"/>
                        <a:ext cx="955675" cy="5159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Naive Bayes: Subtleties</a:t>
            </a:r>
          </a:p>
        </p:txBody>
      </p:sp>
      <p:sp>
        <p:nvSpPr>
          <p:cNvPr id="2355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>
              <a:buFontTx/>
              <a:buNone/>
            </a:pPr>
            <a:r>
              <a:rPr lang="en-US" altLang="zh-TW" sz="2400" smtClean="0"/>
              <a:t>where</a:t>
            </a:r>
          </a:p>
          <a:p>
            <a:pPr lvl="1" eaLnBrk="1" hangingPunct="1"/>
            <a:r>
              <a:rPr lang="en-US" altLang="zh-TW" sz="2400" i="1" smtClean="0"/>
              <a:t>n </a:t>
            </a:r>
            <a:r>
              <a:rPr lang="en-US" altLang="zh-TW" sz="2400" smtClean="0"/>
              <a:t>is the number of training examples for which </a:t>
            </a:r>
            <a:r>
              <a:rPr lang="en-US" altLang="zh-TW" sz="2400" i="1" smtClean="0"/>
              <a:t>v </a:t>
            </a:r>
            <a:r>
              <a:rPr lang="en-US" altLang="zh-TW" sz="2400" smtClean="0"/>
              <a:t>=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  <a:r>
              <a:rPr lang="en-US" altLang="zh-TW" sz="2400" i="1" smtClean="0"/>
              <a:t> </a:t>
            </a:r>
          </a:p>
          <a:p>
            <a:pPr lvl="1" eaLnBrk="1" hangingPunct="1"/>
            <a:r>
              <a:rPr lang="en-US" altLang="zh-TW" sz="2400" i="1" smtClean="0"/>
              <a:t>n</a:t>
            </a:r>
            <a:r>
              <a:rPr lang="en-US" altLang="zh-TW" sz="2400" i="1" baseline="-25000" smtClean="0"/>
              <a:t>c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is the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number of examples for which </a:t>
            </a:r>
            <a:r>
              <a:rPr lang="en-US" altLang="zh-TW" sz="2400" i="1" smtClean="0"/>
              <a:t>v </a:t>
            </a:r>
            <a:r>
              <a:rPr lang="en-US" altLang="zh-TW" sz="2400" smtClean="0"/>
              <a:t>=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and </a:t>
            </a:r>
            <a:r>
              <a:rPr lang="en-US" altLang="zh-TW" sz="2400" i="1" smtClean="0"/>
              <a:t>a = a</a:t>
            </a:r>
            <a:r>
              <a:rPr lang="en-US" altLang="zh-TW" sz="2400" i="1" baseline="-25000" smtClean="0"/>
              <a:t>i</a:t>
            </a:r>
          </a:p>
          <a:p>
            <a:pPr lvl="1" eaLnBrk="1" hangingPunct="1"/>
            <a:r>
              <a:rPr lang="en-US" altLang="zh-TW" sz="2400" i="1" smtClean="0"/>
              <a:t>p </a:t>
            </a:r>
            <a:r>
              <a:rPr lang="en-US" altLang="zh-TW" sz="2400" smtClean="0"/>
              <a:t>is prior estimate for            (usually assume uniform priors)</a:t>
            </a:r>
          </a:p>
          <a:p>
            <a:pPr lvl="1" eaLnBrk="1" hangingPunct="1"/>
            <a:r>
              <a:rPr lang="en-US" altLang="zh-TW" sz="2400" i="1" smtClean="0"/>
              <a:t>m </a:t>
            </a:r>
            <a:r>
              <a:rPr lang="en-US" altLang="zh-TW" sz="2400" smtClean="0"/>
              <a:t>is weight given to prior (i.e. number of “virtual” examples)</a:t>
            </a:r>
          </a:p>
        </p:txBody>
      </p:sp>
      <p:graphicFrame>
        <p:nvGraphicFramePr>
          <p:cNvPr id="235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4914457"/>
              </p:ext>
            </p:extLst>
          </p:nvPr>
        </p:nvGraphicFramePr>
        <p:xfrm>
          <a:off x="4355976" y="4077559"/>
          <a:ext cx="955675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25" name="方程式" r:id="rId4" imgW="545760" imgH="241200" progId="Equation.3">
                  <p:embed/>
                </p:oleObj>
              </mc:Choice>
              <mc:Fallback>
                <p:oleObj name="方程式" r:id="rId4" imgW="54576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5976" y="4077559"/>
                        <a:ext cx="955675" cy="51593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Why</a:t>
            </a:r>
          </a:p>
          <a:p>
            <a:pPr lvl="1" eaLnBrk="1" hangingPunct="1"/>
            <a:r>
              <a:rPr lang="en-US" altLang="zh-TW" sz="2400" smtClean="0"/>
              <a:t>Learn which news articles are of interest</a:t>
            </a:r>
          </a:p>
          <a:p>
            <a:pPr lvl="1" eaLnBrk="1" hangingPunct="1"/>
            <a:r>
              <a:rPr lang="en-US" altLang="zh-TW" sz="2400" smtClean="0"/>
              <a:t>Learn to classify web pages by topic</a:t>
            </a:r>
          </a:p>
          <a:p>
            <a:pPr eaLnBrk="1" hangingPunct="1"/>
            <a:r>
              <a:rPr lang="en-US" altLang="zh-TW" sz="2800" smtClean="0"/>
              <a:t>Naive Bayes is among most effective algorithms</a:t>
            </a:r>
          </a:p>
          <a:p>
            <a:pPr eaLnBrk="1" hangingPunct="1"/>
            <a:r>
              <a:rPr lang="en-US" altLang="zh-TW" sz="2800" smtClean="0"/>
              <a:t>What attributes shall we use to represent text documents?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sp>
        <p:nvSpPr>
          <p:cNvPr id="593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Target concept</a:t>
            </a:r>
          </a:p>
          <a:p>
            <a:pPr lvl="1" eaLnBrk="1" hangingPunct="1"/>
            <a:r>
              <a:rPr lang="en-US" altLang="zh-TW" sz="2400" i="1" smtClean="0"/>
              <a:t>Interesting</a:t>
            </a:r>
            <a:r>
              <a:rPr lang="en-US" altLang="zh-TW" sz="2400" smtClean="0"/>
              <a:t>: </a:t>
            </a:r>
            <a:r>
              <a:rPr lang="en-US" altLang="zh-TW" sz="2400" i="1" smtClean="0"/>
              <a:t>Document</a:t>
            </a:r>
            <a:r>
              <a:rPr lang="en-US" altLang="zh-TW" sz="2400" smtClean="0"/>
              <a:t>→{+,-}</a:t>
            </a:r>
          </a:p>
          <a:p>
            <a:pPr eaLnBrk="1" hangingPunct="1"/>
            <a:r>
              <a:rPr lang="en-US" altLang="zh-TW" sz="2800" smtClean="0"/>
              <a:t>Represent each document by vector of words</a:t>
            </a:r>
          </a:p>
          <a:p>
            <a:pPr lvl="1" eaLnBrk="1" hangingPunct="1"/>
            <a:r>
              <a:rPr lang="en-US" altLang="zh-TW" sz="2400" smtClean="0"/>
              <a:t>one attribute per word position in document</a:t>
            </a:r>
          </a:p>
          <a:p>
            <a:pPr lvl="2" eaLnBrk="1" hangingPunct="1"/>
            <a:r>
              <a:rPr lang="en-US" altLang="zh-TW" sz="2000" smtClean="0"/>
              <a:t>Example: Last paragraph, page 180</a:t>
            </a:r>
          </a:p>
          <a:p>
            <a:pPr lvl="2" eaLnBrk="1" hangingPunct="1"/>
            <a:r>
              <a:rPr lang="en-US" altLang="zh-TW" sz="2000" smtClean="0"/>
              <a:t>Our approach to representing ……any trouble.</a:t>
            </a:r>
          </a:p>
          <a:p>
            <a:pPr lvl="2" eaLnBrk="1" hangingPunct="1"/>
            <a:r>
              <a:rPr lang="en-US" altLang="zh-TW" sz="2000" smtClean="0"/>
              <a:t>111 words</a:t>
            </a:r>
          </a:p>
          <a:p>
            <a:pPr lvl="2" eaLnBrk="1" hangingPunct="1"/>
            <a:r>
              <a:rPr lang="en-US" altLang="zh-TW" sz="2000" smtClean="0"/>
              <a:t>&lt;our, approach, to, ……, any, trouble&gt;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0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1787325"/>
            <a:ext cx="8229600" cy="485298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Learning Use training examples to estimate</a:t>
            </a:r>
          </a:p>
          <a:p>
            <a:pPr lvl="1" eaLnBrk="1" hangingPunct="1"/>
            <a:r>
              <a:rPr lang="en-US" altLang="zh-TW" sz="2400" i="1" smtClean="0"/>
              <a:t>P</a:t>
            </a:r>
            <a:r>
              <a:rPr lang="en-US" altLang="zh-TW" sz="2400" smtClean="0"/>
              <a:t>(+),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(-),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doc</a:t>
            </a:r>
            <a:r>
              <a:rPr lang="en-US" altLang="zh-TW" sz="2400" smtClean="0"/>
              <a:t>|+),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doc</a:t>
            </a:r>
            <a:r>
              <a:rPr lang="en-US" altLang="zh-TW" sz="2400" smtClean="0"/>
              <a:t>|-)</a:t>
            </a:r>
          </a:p>
          <a:p>
            <a:pPr eaLnBrk="1" hangingPunct="1"/>
            <a:r>
              <a:rPr lang="en-US" altLang="zh-TW" sz="2800" smtClean="0"/>
              <a:t>Naive Bayes conditional independence assumption</a:t>
            </a:r>
          </a:p>
          <a:p>
            <a:pPr eaLnBrk="1" hangingPunct="1"/>
            <a:endParaRPr lang="en-US" altLang="zh-TW" sz="2800" smtClean="0"/>
          </a:p>
          <a:p>
            <a:pPr eaLnBrk="1" hangingPunct="1"/>
            <a:endParaRPr lang="en-US" altLang="zh-TW" sz="2800" smtClean="0"/>
          </a:p>
          <a:p>
            <a:pPr lvl="1" eaLnBrk="1" hangingPunct="1"/>
            <a:r>
              <a:rPr lang="en-US" altLang="zh-TW" sz="2400" smtClean="0"/>
              <a:t>where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=w</a:t>
            </a:r>
            <a:r>
              <a:rPr lang="en-US" altLang="zh-TW" sz="2400" i="1" baseline="-25000" smtClean="0"/>
              <a:t>k</a:t>
            </a:r>
            <a:r>
              <a:rPr lang="en-US" altLang="zh-TW" sz="2400" i="1" smtClean="0"/>
              <a:t>|v</a:t>
            </a:r>
            <a:r>
              <a:rPr lang="en-US" altLang="zh-TW" sz="2400" i="1" baseline="-25000" smtClean="0"/>
              <a:t>j</a:t>
            </a:r>
            <a:r>
              <a:rPr lang="en-US" altLang="zh-TW" sz="2400" smtClean="0"/>
              <a:t>) is probability that word in position </a:t>
            </a:r>
            <a:r>
              <a:rPr lang="en-US" altLang="zh-TW" sz="2400" i="1" smtClean="0"/>
              <a:t>i </a:t>
            </a:r>
            <a:r>
              <a:rPr lang="en-US" altLang="zh-TW" sz="2400" smtClean="0"/>
              <a:t>is </a:t>
            </a:r>
            <a:r>
              <a:rPr lang="en-US" altLang="zh-TW" sz="2400" i="1" smtClean="0"/>
              <a:t>w</a:t>
            </a:r>
            <a:r>
              <a:rPr lang="en-US" altLang="zh-TW" sz="2400" i="1" baseline="-25000" smtClean="0"/>
              <a:t>k</a:t>
            </a:r>
            <a:r>
              <a:rPr lang="en-US" altLang="zh-TW" sz="2400" smtClean="0"/>
              <a:t>, given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graphicFrame>
        <p:nvGraphicFramePr>
          <p:cNvPr id="24578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780279"/>
              </p:ext>
            </p:extLst>
          </p:nvPr>
        </p:nvGraphicFramePr>
        <p:xfrm>
          <a:off x="1475656" y="3846511"/>
          <a:ext cx="3526104" cy="80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9" name="方程式" r:id="rId4" imgW="1942920" imgH="444240" progId="Equation.3">
                  <p:embed/>
                </p:oleObj>
              </mc:Choice>
              <mc:Fallback>
                <p:oleObj name="方程式" r:id="rId4" imgW="1942920" imgH="4442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3846511"/>
                        <a:ext cx="3526104" cy="806625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57200" y="2048284"/>
            <a:ext cx="8229600" cy="45259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independence assumption of words in different positions are incorrect. However, without this assumption, the number of probability terms that must be computed is prohibitive</a:t>
            </a:r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graphicFrame>
        <p:nvGraphicFramePr>
          <p:cNvPr id="2560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8851398"/>
              </p:ext>
            </p:extLst>
          </p:nvPr>
        </p:nvGraphicFramePr>
        <p:xfrm>
          <a:off x="899590" y="2132856"/>
          <a:ext cx="6744749" cy="18722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73" name="方程式" r:id="rId4" imgW="3568680" imgH="990360" progId="Equation.3">
                  <p:embed/>
                </p:oleObj>
              </mc:Choice>
              <mc:Fallback>
                <p:oleObj name="方程式" r:id="rId4" imgW="3568680" imgH="990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0" y="2132856"/>
                        <a:ext cx="6744749" cy="187220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sp>
        <p:nvSpPr>
          <p:cNvPr id="604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Estimate probability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  <a:r>
              <a:rPr lang="en-US" altLang="zh-TW" sz="2400" smtClean="0"/>
              <a:t>): fraction of each class in the training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a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=w</a:t>
            </a:r>
            <a:r>
              <a:rPr lang="en-US" altLang="zh-TW" sz="2400" i="1" baseline="-25000" smtClean="0"/>
              <a:t>k</a:t>
            </a:r>
            <a:r>
              <a:rPr lang="en-US" altLang="zh-TW" sz="2400" i="1" smtClean="0"/>
              <a:t>|v</a:t>
            </a:r>
            <a:r>
              <a:rPr lang="en-US" altLang="zh-TW" sz="2400" i="1" baseline="-25000" smtClean="0"/>
              <a:t>j</a:t>
            </a:r>
            <a:r>
              <a:rPr lang="en-US" altLang="zh-TW" sz="2400" smtClean="0"/>
              <a:t>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One probability for each combination of text position, English word, and target value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111 positions, 50000 distinct words, 2 target value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2000" smtClean="0"/>
              <a:t>111*50000*2 </a:t>
            </a:r>
            <a:r>
              <a:rPr lang="en-US" altLang="zh-TW" sz="2000" smtClean="0">
                <a:cs typeface="Arial" pitchFamily="34" charset="0"/>
              </a:rPr>
              <a:t>≈ 10 million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>
                <a:cs typeface="Arial" pitchFamily="34" charset="0"/>
              </a:rPr>
              <a:t>Additional assumption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i="1" baseline="-25000" smtClean="0"/>
              <a:t>i</a:t>
            </a:r>
            <a:r>
              <a:rPr lang="en-US" altLang="zh-TW" sz="2000" i="1" smtClean="0"/>
              <a:t>=w</a:t>
            </a:r>
            <a:r>
              <a:rPr lang="en-US" altLang="zh-TW" sz="2000" i="1" baseline="-25000"/>
              <a:t>k</a:t>
            </a:r>
            <a:r>
              <a:rPr lang="en-US" altLang="zh-TW" sz="2000" i="1" smtClean="0"/>
              <a:t>|v</a:t>
            </a:r>
            <a:r>
              <a:rPr lang="en-US" altLang="zh-TW" sz="2000" i="1" baseline="-25000"/>
              <a:t>j</a:t>
            </a:r>
            <a:r>
              <a:rPr lang="en-US" altLang="zh-TW" sz="2000" smtClean="0"/>
              <a:t>)</a:t>
            </a:r>
            <a:r>
              <a:rPr lang="en-US" altLang="zh-TW" sz="2000" i="1" smtClean="0"/>
              <a:t>=P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a</a:t>
            </a:r>
            <a:r>
              <a:rPr lang="en-US" altLang="zh-TW" sz="2000" i="1" baseline="-25000"/>
              <a:t>m</a:t>
            </a:r>
            <a:r>
              <a:rPr lang="en-US" altLang="zh-TW" sz="2000" i="1" smtClean="0"/>
              <a:t>=w</a:t>
            </a:r>
            <a:r>
              <a:rPr lang="en-US" altLang="zh-TW" sz="2000" i="1" baseline="-25000"/>
              <a:t>k</a:t>
            </a:r>
            <a:r>
              <a:rPr lang="en-US" altLang="zh-TW" sz="2000" i="1" smtClean="0"/>
              <a:t>|v</a:t>
            </a:r>
            <a:r>
              <a:rPr lang="en-US" altLang="zh-TW" sz="2000" i="1" baseline="-25000"/>
              <a:t>j</a:t>
            </a:r>
            <a:r>
              <a:rPr lang="en-US" altLang="zh-TW" sz="2000" smtClean="0"/>
              <a:t>), ∀</a:t>
            </a:r>
            <a:r>
              <a:rPr lang="en-US" altLang="zh-TW" sz="2000" i="1" smtClean="0"/>
              <a:t>i,m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2000" smtClean="0"/>
              <a:t>Estimate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w</a:t>
            </a:r>
            <a:r>
              <a:rPr lang="en-US" altLang="zh-TW" sz="2000" i="1" baseline="-25000" smtClean="0"/>
              <a:t>k</a:t>
            </a:r>
            <a:r>
              <a:rPr lang="en-US" altLang="zh-TW" sz="2000" i="1" smtClean="0"/>
              <a:t>|v</a:t>
            </a:r>
            <a:r>
              <a:rPr lang="en-US" altLang="zh-TW" sz="2000" i="1" baseline="-25000" smtClean="0"/>
              <a:t>j</a:t>
            </a:r>
            <a:r>
              <a:rPr lang="en-US" altLang="zh-TW" sz="2000" smtClean="0"/>
              <a:t>)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2000" smtClean="0">
                <a:cs typeface="Arial" pitchFamily="34" charset="0"/>
              </a:rPr>
              <a:t>50000*2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467544" y="1844824"/>
            <a:ext cx="8229600" cy="468052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Estimate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k</a:t>
            </a:r>
            <a:r>
              <a:rPr lang="en-US" altLang="zh-TW" sz="2800" i="1" smtClean="0"/>
              <a:t>|v</a:t>
            </a:r>
            <a:r>
              <a:rPr lang="en-US" altLang="zh-TW" sz="2800" i="1" baseline="-25000" smtClean="0"/>
              <a:t>j</a:t>
            </a:r>
            <a:r>
              <a:rPr lang="en-US" altLang="zh-TW" sz="2800" smtClean="0"/>
              <a:t>)</a:t>
            </a:r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eaLnBrk="1" hangingPunct="1">
              <a:lnSpc>
                <a:spcPct val="90000"/>
              </a:lnSpc>
            </a:pPr>
            <a:endParaRPr lang="en-US" altLang="zh-TW" sz="2800" smtClean="0"/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400" smtClean="0"/>
              <a:t>where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n</a:t>
            </a:r>
            <a:r>
              <a:rPr lang="en-US" altLang="zh-TW" sz="2400" smtClean="0"/>
              <a:t> is the total number of word positions in all training examples whose target value is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j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i="1" smtClean="0"/>
              <a:t>n</a:t>
            </a:r>
            <a:r>
              <a:rPr lang="en-US" altLang="zh-TW" sz="2400" i="1" baseline="-25000" smtClean="0"/>
              <a:t>k</a:t>
            </a:r>
            <a:r>
              <a:rPr lang="en-US" altLang="zh-TW" sz="2400" smtClean="0"/>
              <a:t> is the number of times word </a:t>
            </a:r>
            <a:r>
              <a:rPr lang="en-US" altLang="zh-TW" sz="2400" i="1" smtClean="0"/>
              <a:t>w</a:t>
            </a:r>
            <a:r>
              <a:rPr lang="en-US" altLang="zh-TW" sz="2400" i="1" baseline="-25000" smtClean="0"/>
              <a:t>k</a:t>
            </a:r>
            <a:r>
              <a:rPr lang="en-US" altLang="zh-TW" sz="2400" smtClean="0"/>
              <a:t> is found among these </a:t>
            </a:r>
            <a:r>
              <a:rPr lang="en-US" altLang="zh-TW" sz="2400" i="1" smtClean="0"/>
              <a:t>n</a:t>
            </a:r>
            <a:r>
              <a:rPr lang="en-US" altLang="zh-TW" sz="2400" smtClean="0"/>
              <a:t> word positions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|</a:t>
            </a:r>
            <a:r>
              <a:rPr lang="en-US" altLang="zh-TW" sz="2400" i="1" smtClean="0"/>
              <a:t>Vocabulary</a:t>
            </a:r>
            <a:r>
              <a:rPr lang="en-US" altLang="zh-TW" sz="2400" smtClean="0"/>
              <a:t>| is the total number of distinct words found within the training data</a:t>
            </a: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graphicFrame>
        <p:nvGraphicFramePr>
          <p:cNvPr id="2662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6723153"/>
              </p:ext>
            </p:extLst>
          </p:nvPr>
        </p:nvGraphicFramePr>
        <p:xfrm>
          <a:off x="1043608" y="2348880"/>
          <a:ext cx="1944216" cy="75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97" name="方程式" r:id="rId4" imgW="1079280" imgH="419040" progId="Equation.3">
                  <p:embed/>
                </p:oleObj>
              </mc:Choice>
              <mc:Fallback>
                <p:oleObj name="方程式" r:id="rId4" imgW="107928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3608" y="2348880"/>
                        <a:ext cx="1944216" cy="754813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944936" cy="4566240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TW" sz="2400" b="1" smtClean="0"/>
              <a:t>Learn_Naive_Bayes_Text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Examples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V</a:t>
            </a:r>
            <a:r>
              <a:rPr lang="en-US" altLang="zh-TW" sz="2400" smtClean="0"/>
              <a:t>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/>
              <a:t>Collect all words and other tokens that occur in </a:t>
            </a:r>
            <a:r>
              <a:rPr lang="en-US" altLang="zh-TW" sz="2000" i="1" smtClean="0"/>
              <a:t>Examples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i="1" smtClean="0"/>
              <a:t>Vocabulary</a:t>
            </a:r>
            <a:r>
              <a:rPr lang="en-US" altLang="zh-TW" sz="1800" smtClean="0"/>
              <a:t>← all distinct words and other tokens in </a:t>
            </a:r>
            <a:r>
              <a:rPr lang="en-US" altLang="zh-TW" sz="1800" i="1" smtClean="0"/>
              <a:t>Examples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000" smtClean="0"/>
              <a:t>Calculate the required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v</a:t>
            </a:r>
            <a:r>
              <a:rPr lang="en-US" altLang="zh-TW" sz="2000" i="1" baseline="-25000" smtClean="0"/>
              <a:t>j</a:t>
            </a:r>
            <a:r>
              <a:rPr lang="en-US" altLang="zh-TW" sz="2000" smtClean="0"/>
              <a:t>) and </a:t>
            </a:r>
            <a:r>
              <a:rPr lang="en-US" altLang="zh-TW" sz="2000" i="1" smtClean="0"/>
              <a:t>P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w</a:t>
            </a:r>
            <a:r>
              <a:rPr lang="en-US" altLang="zh-TW" sz="2000" i="1" baseline="-25000" smtClean="0"/>
              <a:t>k</a:t>
            </a:r>
            <a:r>
              <a:rPr lang="en-US" altLang="zh-TW" sz="2000" i="1" smtClean="0"/>
              <a:t>|v</a:t>
            </a:r>
            <a:r>
              <a:rPr lang="en-US" altLang="zh-TW" sz="2000" i="1" baseline="-25000" smtClean="0"/>
              <a:t>j</a:t>
            </a:r>
            <a:r>
              <a:rPr lang="en-US" altLang="zh-TW" sz="2000" smtClean="0"/>
              <a:t>) probability terms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1800" smtClean="0"/>
              <a:t>For each target value </a:t>
            </a:r>
            <a:r>
              <a:rPr lang="en-US" altLang="zh-TW" sz="1800" i="1" smtClean="0"/>
              <a:t>v</a:t>
            </a:r>
            <a:r>
              <a:rPr lang="en-US" altLang="zh-TW" sz="2400" i="1" baseline="-25000" smtClean="0"/>
              <a:t>j</a:t>
            </a:r>
            <a:r>
              <a:rPr lang="en-US" altLang="zh-TW" sz="2400" i="1" smtClean="0"/>
              <a:t> </a:t>
            </a:r>
            <a:r>
              <a:rPr lang="en-US" altLang="zh-TW" sz="1800" smtClean="0"/>
              <a:t>in </a:t>
            </a:r>
            <a:r>
              <a:rPr lang="en-US" altLang="zh-TW" sz="1800" i="1" smtClean="0"/>
              <a:t>V </a:t>
            </a:r>
            <a:r>
              <a:rPr lang="en-US" altLang="zh-TW" sz="1800" smtClean="0"/>
              <a:t>do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i="1" smtClean="0"/>
              <a:t>docs</a:t>
            </a:r>
            <a:r>
              <a:rPr lang="en-US" altLang="zh-TW" i="1" baseline="-25000" smtClean="0"/>
              <a:t>j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← subset of </a:t>
            </a:r>
            <a:r>
              <a:rPr lang="en-US" altLang="zh-TW" sz="1600" i="1" smtClean="0"/>
              <a:t>Examples </a:t>
            </a:r>
            <a:r>
              <a:rPr lang="en-US" altLang="zh-TW" sz="1600" smtClean="0"/>
              <a:t>for which the target value is </a:t>
            </a:r>
            <a:r>
              <a:rPr lang="en-US" altLang="zh-TW" sz="1600" i="1" smtClean="0"/>
              <a:t>v</a:t>
            </a:r>
            <a:r>
              <a:rPr lang="en-US" altLang="zh-TW" i="1" baseline="-25000" smtClean="0"/>
              <a:t>j</a:t>
            </a:r>
            <a:r>
              <a:rPr lang="en-US" altLang="zh-TW" sz="1600" i="1" smtClean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smtClean="0"/>
              <a:t>P(</a:t>
            </a:r>
            <a:r>
              <a:rPr lang="en-US" altLang="zh-TW" sz="1600" i="1" smtClean="0"/>
              <a:t>v</a:t>
            </a:r>
            <a:r>
              <a:rPr lang="en-US" altLang="zh-TW" i="1" baseline="-25000" smtClean="0"/>
              <a:t>j</a:t>
            </a:r>
            <a:r>
              <a:rPr lang="en-US" altLang="zh-TW" sz="1600" smtClean="0"/>
              <a:t>) ← |</a:t>
            </a:r>
            <a:r>
              <a:rPr lang="en-US" altLang="zh-TW" sz="1600" i="1" smtClean="0"/>
              <a:t>docs</a:t>
            </a:r>
            <a:r>
              <a:rPr lang="en-US" altLang="zh-TW" i="1" baseline="-25000" smtClean="0"/>
              <a:t>j</a:t>
            </a:r>
            <a:r>
              <a:rPr lang="en-US" altLang="zh-TW" sz="1600" smtClean="0"/>
              <a:t>| / |</a:t>
            </a:r>
            <a:r>
              <a:rPr lang="en-US" altLang="zh-TW" sz="1600" i="1" smtClean="0"/>
              <a:t>Examples</a:t>
            </a:r>
            <a:r>
              <a:rPr lang="en-US" altLang="zh-TW" sz="1600" smtClean="0"/>
              <a:t>|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i="1" smtClean="0"/>
              <a:t>Text</a:t>
            </a:r>
            <a:r>
              <a:rPr lang="en-US" altLang="zh-TW" i="1" baseline="-25000" smtClean="0"/>
              <a:t>j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← a single document created by concatenating all members of </a:t>
            </a:r>
            <a:r>
              <a:rPr lang="en-US" altLang="zh-TW" sz="1600" i="1" smtClean="0"/>
              <a:t>docs</a:t>
            </a:r>
            <a:r>
              <a:rPr lang="en-US" altLang="zh-TW" i="1" baseline="-25000" smtClean="0"/>
              <a:t>j</a:t>
            </a:r>
            <a:r>
              <a:rPr lang="en-US" altLang="zh-TW" sz="1600" i="1" smtClean="0"/>
              <a:t> 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i="1" smtClean="0"/>
              <a:t>n </a:t>
            </a:r>
            <a:r>
              <a:rPr lang="en-US" altLang="zh-TW" sz="1600" smtClean="0"/>
              <a:t>← total number of words in </a:t>
            </a:r>
            <a:r>
              <a:rPr lang="en-US" altLang="zh-TW" sz="1600" i="1" smtClean="0"/>
              <a:t>Text</a:t>
            </a:r>
            <a:r>
              <a:rPr lang="en-US" altLang="zh-TW" i="1" baseline="-25000" smtClean="0"/>
              <a:t>j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(counting duplicate words multiple times)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zh-TW" sz="1600" smtClean="0"/>
              <a:t>for each word </a:t>
            </a:r>
            <a:r>
              <a:rPr lang="en-US" altLang="zh-TW" sz="1600" i="1" smtClean="0"/>
              <a:t>w</a:t>
            </a:r>
            <a:r>
              <a:rPr lang="en-US" altLang="zh-TW" i="1" baseline="-25000" smtClean="0"/>
              <a:t>k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in </a:t>
            </a:r>
            <a:r>
              <a:rPr lang="en-US" altLang="zh-TW" sz="1600" i="1" smtClean="0"/>
              <a:t>Vocabulary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1600" i="1" smtClean="0"/>
              <a:t>n</a:t>
            </a:r>
            <a:r>
              <a:rPr lang="en-US" altLang="zh-TW" sz="2400" i="1" baseline="-25000" smtClean="0"/>
              <a:t>k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← number of times word </a:t>
            </a:r>
            <a:r>
              <a:rPr lang="en-US" altLang="zh-TW" sz="1600" i="1" smtClean="0"/>
              <a:t>w</a:t>
            </a:r>
            <a:r>
              <a:rPr lang="en-US" altLang="zh-TW" sz="2400" i="1" baseline="-25000" smtClean="0"/>
              <a:t>k</a:t>
            </a:r>
            <a:r>
              <a:rPr lang="en-US" altLang="zh-TW" sz="1600" i="1" smtClean="0"/>
              <a:t> </a:t>
            </a:r>
            <a:r>
              <a:rPr lang="en-US" altLang="zh-TW" sz="1600" smtClean="0"/>
              <a:t>occurs in </a:t>
            </a:r>
            <a:r>
              <a:rPr lang="en-US" altLang="zh-TW" sz="1600" i="1" smtClean="0"/>
              <a:t>Text</a:t>
            </a:r>
            <a:r>
              <a:rPr lang="en-US" altLang="zh-TW" sz="2400" i="1" baseline="-25000" smtClean="0"/>
              <a:t>j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zh-TW" sz="1600" i="1" smtClean="0"/>
              <a:t>P</a:t>
            </a:r>
            <a:r>
              <a:rPr lang="en-US" altLang="zh-TW" sz="1600" smtClean="0"/>
              <a:t>(</a:t>
            </a:r>
            <a:r>
              <a:rPr lang="en-US" altLang="zh-TW" sz="1600" i="1" smtClean="0"/>
              <a:t>w</a:t>
            </a:r>
            <a:r>
              <a:rPr lang="en-US" altLang="zh-TW" sz="2400" i="1" baseline="-25000" smtClean="0"/>
              <a:t>k</a:t>
            </a:r>
            <a:r>
              <a:rPr lang="en-US" altLang="zh-TW" sz="1600" i="1" smtClean="0"/>
              <a:t>|v</a:t>
            </a:r>
            <a:r>
              <a:rPr lang="en-US" altLang="zh-TW" sz="2400" i="1" baseline="-25000" smtClean="0"/>
              <a:t>j</a:t>
            </a:r>
            <a:r>
              <a:rPr lang="en-US" altLang="zh-TW" sz="1600" smtClean="0"/>
              <a:t>) ← (</a:t>
            </a:r>
            <a:r>
              <a:rPr lang="en-US" altLang="zh-TW" sz="1600" i="1" smtClean="0"/>
              <a:t>n</a:t>
            </a:r>
            <a:r>
              <a:rPr lang="en-US" altLang="zh-TW" sz="2400" i="1" baseline="-25000" smtClean="0"/>
              <a:t>k</a:t>
            </a:r>
            <a:r>
              <a:rPr lang="en-US" altLang="zh-TW" sz="1600" smtClean="0"/>
              <a:t>+1) / (</a:t>
            </a:r>
            <a:r>
              <a:rPr lang="en-US" altLang="zh-TW" sz="1600" i="1" smtClean="0"/>
              <a:t>n</a:t>
            </a:r>
            <a:r>
              <a:rPr lang="en-US" altLang="zh-TW" sz="1600" smtClean="0"/>
              <a:t>+|</a:t>
            </a:r>
            <a:r>
              <a:rPr lang="en-US" altLang="zh-TW" sz="1600" i="1" smtClean="0"/>
              <a:t>Vocabulary</a:t>
            </a:r>
            <a:r>
              <a:rPr lang="en-US" altLang="zh-TW" sz="1600" smtClean="0"/>
              <a:t>|)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2014194"/>
            <a:ext cx="7955280" cy="452596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TW" sz="2400" b="1" smtClean="0"/>
              <a:t>Classify_Naive_Bayes_Text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Doc</a:t>
            </a:r>
            <a:r>
              <a:rPr lang="en-US" altLang="zh-TW" sz="2400" smtClean="0"/>
              <a:t>)</a:t>
            </a:r>
          </a:p>
          <a:p>
            <a:pPr eaLnBrk="1" hangingPunct="1"/>
            <a:r>
              <a:rPr lang="en-US" altLang="zh-TW" sz="2400" i="1" smtClean="0"/>
              <a:t>positions </a:t>
            </a:r>
            <a:r>
              <a:rPr lang="en-US" altLang="zh-TW" sz="2400" smtClean="0"/>
              <a:t>← all word positions in </a:t>
            </a:r>
            <a:r>
              <a:rPr lang="en-US" altLang="zh-TW" sz="2400" i="1" smtClean="0"/>
              <a:t>Doc </a:t>
            </a:r>
            <a:r>
              <a:rPr lang="en-US" altLang="zh-TW" sz="2400" smtClean="0"/>
              <a:t>that contain tokens found in </a:t>
            </a:r>
            <a:r>
              <a:rPr lang="en-US" altLang="zh-TW" sz="2400" i="1" smtClean="0"/>
              <a:t>Vocabulary</a:t>
            </a:r>
          </a:p>
          <a:p>
            <a:pPr eaLnBrk="1" hangingPunct="1"/>
            <a:r>
              <a:rPr lang="en-US" altLang="zh-TW" sz="2400" smtClean="0"/>
              <a:t>Return </a:t>
            </a:r>
            <a:r>
              <a:rPr lang="en-US" altLang="zh-TW" sz="2400" i="1" smtClean="0"/>
              <a:t>v</a:t>
            </a:r>
            <a:r>
              <a:rPr lang="en-US" altLang="zh-TW" sz="2400" i="1" baseline="-25000" smtClean="0"/>
              <a:t>NB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where</a:t>
            </a:r>
          </a:p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eaLnBrk="1" hangingPunct="1"/>
            <a:endParaRPr lang="en-US" altLang="zh-TW" sz="2400" smtClean="0"/>
          </a:p>
          <a:p>
            <a:pPr lvl="1" eaLnBrk="1" hangingPunct="1"/>
            <a:r>
              <a:rPr lang="en-US" altLang="zh-TW" sz="2000" smtClean="0"/>
              <a:t>Any words appearing in the new document that were not observed in the training set are simply ignored</a:t>
            </a:r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to Classify Text</a:t>
            </a:r>
          </a:p>
        </p:txBody>
      </p:sp>
      <p:graphicFrame>
        <p:nvGraphicFramePr>
          <p:cNvPr id="27650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5651116"/>
              </p:ext>
            </p:extLst>
          </p:nvPr>
        </p:nvGraphicFramePr>
        <p:xfrm>
          <a:off x="1547664" y="3861048"/>
          <a:ext cx="4579445" cy="8405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721" name="方程式" r:id="rId4" imgW="2006280" imgH="368280" progId="Equation.3">
                  <p:embed/>
                </p:oleObj>
              </mc:Choice>
              <mc:Fallback>
                <p:oleObj name="方程式" r:id="rId4" imgW="2006280" imgH="3682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664" y="3861048"/>
                        <a:ext cx="4579445" cy="840531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Experiment</a:t>
            </a:r>
          </a:p>
        </p:txBody>
      </p:sp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944936" cy="4494232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Twenty NewsGroups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Given training documents from each group. Learn to classify new documents according to which newsgroup it came from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comp.graphics                         misc.forsale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comp.os.ms-windows.misc     rec.autos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comp.sys.ibm.pc.hardware     rec.motorcycles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comp.sys.mac.hardware         rec.sport.baseball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comp.windows.x                      rec.sport.hockey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sci.space    sci.crypt    sci.med    sci.electronics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soc.religion.christian      talk.religion.misc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talk.politics.mideast       talk.politics.misc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i="1" smtClean="0"/>
              <a:t>	talk.politics.guns            alt.atheism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000" smtClean="0"/>
              <a:t>Naive Bayes: 89% classification accuracy</a:t>
            </a:r>
            <a:endParaRPr lang="en-US" altLang="zh-TW" sz="2000" i="1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Experiment</a:t>
            </a:r>
          </a:p>
        </p:txBody>
      </p:sp>
      <p:sp>
        <p:nvSpPr>
          <p:cNvPr id="634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Only a subset of the words occurring in the documents were included in </a:t>
            </a:r>
            <a:r>
              <a:rPr lang="en-US" altLang="zh-TW" sz="2800" i="1" smtClean="0"/>
              <a:t>Vocabulary</a:t>
            </a:r>
          </a:p>
          <a:p>
            <a:pPr lvl="1" eaLnBrk="1" hangingPunct="1"/>
            <a:r>
              <a:rPr lang="en-US" altLang="zh-TW" sz="2400" smtClean="0"/>
              <a:t>Remove top 100 most frequent words</a:t>
            </a:r>
          </a:p>
          <a:p>
            <a:pPr lvl="2" eaLnBrk="1" hangingPunct="1"/>
            <a:r>
              <a:rPr lang="en-US" altLang="zh-TW" sz="2000" smtClean="0"/>
              <a:t>Stopword: the, of, in, …</a:t>
            </a:r>
          </a:p>
          <a:p>
            <a:pPr lvl="1" eaLnBrk="1" hangingPunct="1"/>
            <a:r>
              <a:rPr lang="en-US" altLang="zh-TW" sz="2400" smtClean="0"/>
              <a:t>Remove the words occurring fewer than 3 times</a:t>
            </a:r>
          </a:p>
          <a:p>
            <a:pPr lvl="1" eaLnBrk="1" hangingPunct="1"/>
            <a:r>
              <a:rPr lang="en-US" altLang="zh-TW" sz="2400" smtClean="0"/>
              <a:t>|</a:t>
            </a:r>
            <a:r>
              <a:rPr lang="en-US" altLang="zh-TW" sz="2400" i="1" smtClean="0"/>
              <a:t>Vocabulary</a:t>
            </a:r>
            <a:r>
              <a:rPr lang="en-US" altLang="zh-TW" sz="2400" smtClean="0"/>
              <a:t>| </a:t>
            </a:r>
            <a:r>
              <a:rPr lang="en-US" altLang="zh-TW" sz="2400" smtClean="0">
                <a:cs typeface="Arial" pitchFamily="34" charset="0"/>
              </a:rPr>
              <a:t>≈ 38,500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3200" smtClean="0"/>
              <a:t>Learning Curve for </a:t>
            </a:r>
            <a:r>
              <a:rPr lang="en-US" altLang="zh-TW" sz="3200" smtClean="0"/>
              <a:t>20</a:t>
            </a:r>
            <a:r>
              <a:rPr lang="en-US" altLang="en-US" sz="3200" smtClean="0"/>
              <a:t> Newsgroups</a:t>
            </a:r>
            <a:endParaRPr lang="en-US" altLang="zh-TW" sz="3200" smtClean="0"/>
          </a:p>
        </p:txBody>
      </p:sp>
      <p:pic>
        <p:nvPicPr>
          <p:cNvPr id="6451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7367" y="1865627"/>
            <a:ext cx="5600700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7" name="Text Box 5"/>
          <p:cNvSpPr txBox="1">
            <a:spLocks noChangeArrowheads="1"/>
          </p:cNvSpPr>
          <p:nvPr/>
        </p:nvSpPr>
        <p:spPr bwMode="auto">
          <a:xfrm>
            <a:off x="1825792" y="6237312"/>
            <a:ext cx="540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TW"/>
              <a:t>Accuracy vs. Training set size (1/3 withheld for test)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Bayesian Belief Networks</a:t>
            </a:r>
          </a:p>
        </p:txBody>
      </p:sp>
      <p:sp>
        <p:nvSpPr>
          <p:cNvPr id="65539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8088952" cy="442222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Interesting because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Naive Bayes assumption of conditional independence too restrictive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But it’s intractable without some such assumptions...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Bayesian belief networks describe conditional independence among subsets of variables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Allows combining prior knowledge about (in)dependencies among variable with observed training </a:t>
            </a:r>
            <a:r>
              <a:rPr lang="en-US" altLang="zh-TW" sz="2800" smtClean="0"/>
              <a:t>data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also </a:t>
            </a:r>
            <a:r>
              <a:rPr lang="en-US" altLang="zh-TW" sz="2800" smtClean="0"/>
              <a:t>called Bayes </a:t>
            </a:r>
            <a:r>
              <a:rPr lang="en-US" altLang="zh-TW" sz="2800" smtClean="0"/>
              <a:t>Nets</a:t>
            </a:r>
            <a:endParaRPr lang="en-US" altLang="zh-TW" sz="2800" smtClean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Conditional Independence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Definition: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 is conditionally independent of 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 given 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 if the probability distribution governing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 is independent of the value of 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 given the value of 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; that is, if</a:t>
            </a:r>
            <a:br>
              <a:rPr lang="en-US" altLang="zh-TW" sz="2800" smtClean="0"/>
            </a:br>
            <a:r>
              <a:rPr lang="en-US" altLang="zh-TW" sz="2800" smtClean="0"/>
              <a:t/>
            </a:r>
            <a:br>
              <a:rPr lang="en-US" altLang="zh-TW" sz="2800" smtClean="0"/>
            </a:br>
            <a:r>
              <a:rPr lang="en-US" altLang="zh-TW" sz="2800" smtClean="0"/>
              <a:t>more compactly, we write</a:t>
            </a:r>
            <a:br>
              <a:rPr lang="en-US" altLang="zh-TW" sz="2800" smtClean="0"/>
            </a:b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,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)=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</a:t>
            </a:r>
          </a:p>
        </p:txBody>
      </p:sp>
      <p:graphicFrame>
        <p:nvGraphicFramePr>
          <p:cNvPr id="2867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0438212"/>
              </p:ext>
            </p:extLst>
          </p:nvPr>
        </p:nvGraphicFramePr>
        <p:xfrm>
          <a:off x="1115616" y="3845242"/>
          <a:ext cx="770572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45" name="方程式" r:id="rId4" imgW="3365280" imgH="203040" progId="Equation.3">
                  <p:embed/>
                </p:oleObj>
              </mc:Choice>
              <mc:Fallback>
                <p:oleObj name="方程式" r:id="rId4" imgW="3365280" imgH="203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3845242"/>
                        <a:ext cx="7705725" cy="4476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Conditional Independence</a:t>
            </a:r>
          </a:p>
        </p:txBody>
      </p:sp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Example: </a:t>
            </a:r>
            <a:r>
              <a:rPr lang="en-US" altLang="zh-TW" sz="2800" i="1" smtClean="0"/>
              <a:t>Thunder</a:t>
            </a:r>
            <a:r>
              <a:rPr lang="en-US" altLang="zh-TW" sz="2800" smtClean="0"/>
              <a:t> is conditionally independent of </a:t>
            </a:r>
            <a:r>
              <a:rPr lang="en-US" altLang="zh-TW" sz="2800" i="1" smtClean="0"/>
              <a:t>Rain</a:t>
            </a:r>
            <a:r>
              <a:rPr lang="en-US" altLang="zh-TW" sz="2800" smtClean="0"/>
              <a:t>, given </a:t>
            </a:r>
            <a:r>
              <a:rPr lang="en-US" altLang="zh-TW" sz="2800" i="1" smtClean="0"/>
              <a:t>Lightning</a:t>
            </a:r>
            <a:r>
              <a:rPr lang="en-US" altLang="zh-TW" sz="2800" smtClean="0"/>
              <a:t> </a:t>
            </a:r>
            <a:br>
              <a:rPr lang="en-US" altLang="zh-TW" sz="2800" smtClean="0"/>
            </a:b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Thunder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Rain</a:t>
            </a:r>
            <a:r>
              <a:rPr lang="en-US" altLang="zh-TW" sz="2800" smtClean="0"/>
              <a:t>,</a:t>
            </a:r>
            <a:r>
              <a:rPr lang="en-US" altLang="zh-TW" sz="2800" i="1" smtClean="0"/>
              <a:t>Lightning</a:t>
            </a:r>
            <a:r>
              <a:rPr lang="en-US" altLang="zh-TW" sz="2800" smtClean="0"/>
              <a:t>) =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Thunder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Lightning</a:t>
            </a:r>
            <a:r>
              <a:rPr lang="en-US" altLang="zh-TW" sz="2800" smtClean="0"/>
              <a:t>)</a:t>
            </a:r>
          </a:p>
          <a:p>
            <a:pPr eaLnBrk="1" hangingPunct="1"/>
            <a:r>
              <a:rPr lang="en-US" altLang="zh-TW" sz="2800" smtClean="0"/>
              <a:t>Naive Bayes uses conditional independence to justify</a:t>
            </a:r>
            <a:br>
              <a:rPr lang="en-US" altLang="zh-TW" sz="2800" smtClean="0"/>
            </a:b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,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 =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,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)P(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 =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Z</a:t>
            </a:r>
            <a:r>
              <a:rPr lang="en-US" altLang="zh-TW" sz="2800" smtClean="0"/>
              <a:t>)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Bayesian Belief Network</a:t>
            </a:r>
          </a:p>
        </p:txBody>
      </p:sp>
      <p:sp>
        <p:nvSpPr>
          <p:cNvPr id="6758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4221088"/>
            <a:ext cx="7368872" cy="2448272"/>
          </a:xfrm>
        </p:spPr>
        <p:txBody>
          <a:bodyPr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800" smtClean="0"/>
              <a:t>Network represents a set of conditional independence assertions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Each node is asserted to be conditionally independent of its nondescendants given its immediate predecessors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zh-TW" sz="2400" smtClean="0"/>
              <a:t>Directed acyclic graph</a:t>
            </a:r>
          </a:p>
        </p:txBody>
      </p:sp>
      <p:pic>
        <p:nvPicPr>
          <p:cNvPr id="6758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2767" y="1756324"/>
            <a:ext cx="6338466" cy="23142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758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885113" y="4797425"/>
            <a:ext cx="749300" cy="1158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Bayesian Belief Network</a:t>
            </a:r>
          </a:p>
        </p:txBody>
      </p:sp>
      <p:sp>
        <p:nvSpPr>
          <p:cNvPr id="2970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Represents joint probability distribution over all variables</a:t>
            </a:r>
          </a:p>
          <a:p>
            <a:pPr lvl="1" eaLnBrk="1" hangingPunct="1"/>
            <a:r>
              <a:rPr lang="en-US" altLang="zh-TW" sz="2400" smtClean="0"/>
              <a:t>e.g.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Storm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BusTourGroup</a:t>
            </a:r>
            <a:r>
              <a:rPr lang="en-US" altLang="zh-TW" sz="2400" smtClean="0"/>
              <a:t>,…,</a:t>
            </a:r>
            <a:r>
              <a:rPr lang="en-US" altLang="zh-TW" sz="2400" i="1" smtClean="0"/>
              <a:t>ForestFire</a:t>
            </a:r>
            <a:r>
              <a:rPr lang="en-US" altLang="zh-TW" sz="2400" smtClean="0"/>
              <a:t>)</a:t>
            </a:r>
          </a:p>
          <a:p>
            <a:pPr lvl="1" eaLnBrk="1" hangingPunct="1"/>
            <a:r>
              <a:rPr lang="en-US" altLang="zh-TW" sz="2400" smtClean="0"/>
              <a:t>in general</a:t>
            </a:r>
          </a:p>
          <a:p>
            <a:pPr lvl="1" eaLnBrk="1" hangingPunct="1"/>
            <a:endParaRPr lang="en-US" altLang="zh-TW" sz="2400" smtClean="0"/>
          </a:p>
          <a:p>
            <a:pPr lvl="2" eaLnBrk="1" hangingPunct="1"/>
            <a:r>
              <a:rPr lang="en-US" altLang="zh-TW" sz="2000" smtClean="0"/>
              <a:t>where </a:t>
            </a:r>
            <a:r>
              <a:rPr lang="en-US" altLang="zh-TW" sz="2000" i="1" smtClean="0"/>
              <a:t>Parents</a:t>
            </a:r>
            <a:r>
              <a:rPr lang="en-US" altLang="zh-TW" sz="2000" smtClean="0"/>
              <a:t>(</a:t>
            </a:r>
            <a:r>
              <a:rPr lang="en-US" altLang="zh-TW" sz="2000" i="1" smtClean="0"/>
              <a:t>Y</a:t>
            </a:r>
            <a:r>
              <a:rPr lang="en-US" altLang="zh-TW" sz="2000" i="1" baseline="-25000" smtClean="0"/>
              <a:t>i</a:t>
            </a:r>
            <a:r>
              <a:rPr lang="en-US" altLang="zh-TW" sz="2000" smtClean="0"/>
              <a:t>) denotes immediate predecessors of </a:t>
            </a:r>
            <a:r>
              <a:rPr lang="en-US" altLang="zh-TW" sz="2000" i="1" smtClean="0"/>
              <a:t>Y</a:t>
            </a:r>
            <a:r>
              <a:rPr lang="en-US" altLang="zh-TW" sz="2000" i="1" baseline="-25000" smtClean="0"/>
              <a:t>i</a:t>
            </a:r>
            <a:r>
              <a:rPr lang="en-US" altLang="zh-TW" sz="2000" i="1" smtClean="0"/>
              <a:t> </a:t>
            </a:r>
            <a:r>
              <a:rPr lang="en-US" altLang="zh-TW" sz="2000" smtClean="0"/>
              <a:t>in graph</a:t>
            </a:r>
          </a:p>
          <a:p>
            <a:pPr lvl="1" eaLnBrk="1" hangingPunct="1"/>
            <a:r>
              <a:rPr lang="en-US" altLang="zh-TW" sz="2400" smtClean="0"/>
              <a:t>So joint distribution is fully defined by graph plus the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</a:t>
            </a:r>
            <a:r>
              <a:rPr lang="en-US" altLang="zh-TW" sz="2400" i="1" baseline="-25000" smtClean="0"/>
              <a:t>i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Parents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</a:t>
            </a:r>
            <a:r>
              <a:rPr lang="en-US" altLang="zh-TW" sz="2400" i="1" baseline="-25000" smtClean="0"/>
              <a:t>i</a:t>
            </a:r>
            <a:r>
              <a:rPr lang="en-US" altLang="zh-TW" sz="2400" smtClean="0"/>
              <a:t>))</a:t>
            </a:r>
          </a:p>
        </p:txBody>
      </p:sp>
      <p:graphicFrame>
        <p:nvGraphicFramePr>
          <p:cNvPr id="2969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8713520"/>
              </p:ext>
            </p:extLst>
          </p:nvPr>
        </p:nvGraphicFramePr>
        <p:xfrm>
          <a:off x="3059832" y="3429000"/>
          <a:ext cx="4752975" cy="950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69" name="方程式" r:id="rId4" imgW="2171520" imgH="431640" progId="Equation.3">
                  <p:embed/>
                </p:oleObj>
              </mc:Choice>
              <mc:Fallback>
                <p:oleObj name="方程式" r:id="rId4" imgW="2171520" imgH="4316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2" y="3429000"/>
                        <a:ext cx="4752975" cy="950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Bayesian Belief Network</a:t>
            </a:r>
          </a:p>
        </p:txBody>
      </p:sp>
      <p:sp>
        <p:nvSpPr>
          <p:cNvPr id="686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Let </a:t>
            </a:r>
            <a:r>
              <a:rPr lang="en-US" altLang="zh-TW" sz="2800" i="1" smtClean="0"/>
              <a:t>A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 be any set of nodes in the graph that are not descendants of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, and let </a:t>
            </a:r>
            <a:r>
              <a:rPr lang="en-US" altLang="zh-TW" sz="2800" i="1" smtClean="0"/>
              <a:t>Parents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 be the immediate parents of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 in the graph. The graph is simply a way of stating that for all 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 in the graph,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A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),</a:t>
            </a:r>
            <a:r>
              <a:rPr lang="en-US" altLang="zh-TW" sz="2800" i="1" smtClean="0"/>
              <a:t>Parents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))=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Parents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))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Inference in Bayesian Networks</a:t>
            </a:r>
          </a:p>
        </p:txBody>
      </p:sp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How can one infer the (probabilities of) values of one or more network variables, given observed values of others?</a:t>
            </a:r>
          </a:p>
          <a:p>
            <a:pPr lvl="1" eaLnBrk="1" hangingPunct="1"/>
            <a:r>
              <a:rPr lang="en-US" altLang="zh-TW" sz="2400" smtClean="0"/>
              <a:t>Bayes net contains all information needed for this inference</a:t>
            </a:r>
          </a:p>
          <a:p>
            <a:pPr lvl="1" eaLnBrk="1" hangingPunct="1"/>
            <a:r>
              <a:rPr lang="en-US" altLang="zh-TW" sz="2400" smtClean="0"/>
              <a:t>If only one variable with unknown value, easy to infer it</a:t>
            </a:r>
          </a:p>
          <a:p>
            <a:pPr lvl="1" eaLnBrk="1" hangingPunct="1"/>
            <a:r>
              <a:rPr lang="en-US" altLang="zh-TW" sz="2400" smtClean="0"/>
              <a:t>In general case, problem is NP hard (Cooper 1990)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Inference in Bayesian Networks</a:t>
            </a:r>
          </a:p>
        </p:txBody>
      </p:sp>
      <p:sp>
        <p:nvSpPr>
          <p:cNvPr id="7065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In practice, can succeed in many cases</a:t>
            </a:r>
          </a:p>
          <a:p>
            <a:pPr lvl="1" eaLnBrk="1" hangingPunct="1"/>
            <a:r>
              <a:rPr lang="en-US" altLang="zh-TW" sz="2400" smtClean="0"/>
              <a:t>Exact inference methods work well for some network structures</a:t>
            </a:r>
          </a:p>
          <a:p>
            <a:pPr lvl="1" eaLnBrk="1" hangingPunct="1"/>
            <a:r>
              <a:rPr lang="en-US" altLang="zh-TW" sz="2400" smtClean="0"/>
              <a:t>Monte Carlo methods “simulate” the network randomly to calculate approximate solutions (still NP-hard, Dagum and Luby 1993)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Inference in Bayesian Networks</a:t>
            </a:r>
          </a:p>
        </p:txBody>
      </p:sp>
      <p:sp>
        <p:nvSpPr>
          <p:cNvPr id="7168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TW" altLang="zh-TW" smtClean="0"/>
          </a:p>
        </p:txBody>
      </p:sp>
      <p:pic>
        <p:nvPicPr>
          <p:cNvPr id="7168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699792" y="1957472"/>
            <a:ext cx="4127029" cy="41737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1685" name="Text Box 5"/>
          <p:cNvSpPr txBox="1">
            <a:spLocks noChangeArrowheads="1"/>
          </p:cNvSpPr>
          <p:nvPr/>
        </p:nvSpPr>
        <p:spPr bwMode="auto">
          <a:xfrm>
            <a:off x="2339975" y="6308725"/>
            <a:ext cx="667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/>
              <a:t>內容摘自 海洋大學資訊工程學系  張欽圳 教授 機器學習課程講義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Patterns of Inference in</a:t>
            </a:r>
            <a:br>
              <a:rPr lang="en-US" altLang="zh-TW" sz="3600" smtClean="0"/>
            </a:br>
            <a:r>
              <a:rPr lang="en-US" altLang="zh-TW" sz="3600" smtClean="0"/>
              <a:t>Bayesian Networks</a:t>
            </a:r>
          </a:p>
        </p:txBody>
      </p:sp>
      <p:sp>
        <p:nvSpPr>
          <p:cNvPr id="72707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392543"/>
            <a:ext cx="7680960" cy="3931920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Causal or Top-down inference Compute P(M|L).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TW" sz="2000" smtClean="0"/>
              <a:t>P(M|L)=P(M,B|L)+P(M,¬B|L)</a:t>
            </a:r>
            <a:br>
              <a:rPr lang="en-US" altLang="zh-TW" sz="2000" smtClean="0"/>
            </a:br>
            <a:r>
              <a:rPr lang="en-US" altLang="zh-TW" sz="2000" smtClean="0"/>
              <a:t>=P(M|B,L)P(B|L)+P(M|¬B,L)P(¬B|L)</a:t>
            </a:r>
            <a:br>
              <a:rPr lang="en-US" altLang="zh-TW" sz="2000" smtClean="0"/>
            </a:br>
            <a:r>
              <a:rPr lang="en-US" altLang="zh-TW" sz="2000" smtClean="0"/>
              <a:t>=P(M|B,L)P(B)+P(M|¬B,L)P(¬B)</a:t>
            </a:r>
            <a:br>
              <a:rPr lang="en-US" altLang="zh-TW" sz="2000" smtClean="0"/>
            </a:br>
            <a:r>
              <a:rPr lang="en-US" altLang="zh-TW" sz="2000" smtClean="0"/>
              <a:t>=0.855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400" smtClean="0"/>
              <a:t>Steps</a:t>
            </a:r>
          </a:p>
          <a:p>
            <a:pPr marL="731520" lvl="1" indent="-457200" eaLnBrk="1" hangingPunct="1">
              <a:lnSpc>
                <a:spcPct val="90000"/>
              </a:lnSpc>
              <a:buFont typeface="+mj-lt"/>
              <a:buAutoNum type="alphaLcParenR"/>
            </a:pPr>
            <a:r>
              <a:rPr lang="en-US" altLang="zh-TW" sz="2000" smtClean="0"/>
              <a:t>Rewrite </a:t>
            </a:r>
            <a:r>
              <a:rPr lang="en-US" altLang="zh-TW" sz="2000" smtClean="0"/>
              <a:t>the desired conditional probability of the query node V, given the evidence, in terms of the joint probability of V and all of its parents, given the evidence.</a:t>
            </a:r>
          </a:p>
          <a:p>
            <a:pPr marL="731520" lvl="1" indent="-457200" eaLnBrk="1" hangingPunct="1">
              <a:lnSpc>
                <a:spcPct val="90000"/>
              </a:lnSpc>
              <a:buFont typeface="+mj-lt"/>
              <a:buAutoNum type="alphaLcParenR"/>
            </a:pPr>
            <a:r>
              <a:rPr lang="en-US" altLang="zh-TW" sz="2000" smtClean="0"/>
              <a:t>Reexpress </a:t>
            </a:r>
            <a:r>
              <a:rPr lang="en-US" altLang="zh-TW" sz="2000" smtClean="0"/>
              <a:t>this joint probability back to the probability of V conditioned on all of the parents.</a:t>
            </a:r>
            <a:endParaRPr lang="en-US" altLang="zh-TW" sz="1800" smtClean="0"/>
          </a:p>
        </p:txBody>
      </p:sp>
      <p:sp>
        <p:nvSpPr>
          <p:cNvPr id="72708" name="Text Box 4"/>
          <p:cNvSpPr txBox="1">
            <a:spLocks noChangeArrowheads="1"/>
          </p:cNvSpPr>
          <p:nvPr/>
        </p:nvSpPr>
        <p:spPr bwMode="auto">
          <a:xfrm>
            <a:off x="2339975" y="6308725"/>
            <a:ext cx="667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/>
              <a:t>內容摘自 海洋大學資訊工程學系  張欽圳 教授 機器學習課程講義</a:t>
            </a:r>
          </a:p>
        </p:txBody>
      </p:sp>
      <p:pic>
        <p:nvPicPr>
          <p:cNvPr id="7270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221884"/>
            <a:ext cx="2299518" cy="2165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2710" name="Line 6"/>
          <p:cNvSpPr>
            <a:spLocks noChangeShapeType="1"/>
          </p:cNvSpPr>
          <p:nvPr/>
        </p:nvSpPr>
        <p:spPr bwMode="auto">
          <a:xfrm>
            <a:off x="8748464" y="332656"/>
            <a:ext cx="0" cy="9366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Patterns of Inference in</a:t>
            </a:r>
            <a:br>
              <a:rPr lang="en-US" altLang="zh-TW" sz="3600" smtClean="0"/>
            </a:br>
            <a:r>
              <a:rPr lang="en-US" altLang="zh-TW" sz="3600" smtClean="0"/>
              <a:t>Bayesian Networks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376805"/>
            <a:ext cx="7680960" cy="393192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Bottom-up inference, Compute P(¬L|¬M).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P(¬L|¬M)=P(¬M|¬L)P(¬L) /P(¬M)</a:t>
            </a:r>
            <a:br>
              <a:rPr lang="en-US" altLang="zh-TW" sz="2400" smtClean="0"/>
            </a:br>
            <a:r>
              <a:rPr lang="en-US" altLang="zh-TW" sz="2400" smtClean="0"/>
              <a:t>=0.9525*0.3/P(¬M)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P(L|¬M)=P(¬M|L)P(L) /P(¬M)</a:t>
            </a:r>
            <a:br>
              <a:rPr lang="en-US" altLang="zh-TW" sz="2400" smtClean="0"/>
            </a:br>
            <a:r>
              <a:rPr lang="en-US" altLang="zh-TW" sz="2400" smtClean="0"/>
              <a:t>=0.03665/P(¬M)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Since P(¬L|¬M)+P(L|¬M)=1, we have P(¬L|¬M)=0.88632.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The main step is to use Bayes’ rule to convert the problem into one of causal reasoning.</a:t>
            </a:r>
          </a:p>
        </p:txBody>
      </p:sp>
      <p:sp>
        <p:nvSpPr>
          <p:cNvPr id="73732" name="Text Box 4"/>
          <p:cNvSpPr txBox="1">
            <a:spLocks noChangeArrowheads="1"/>
          </p:cNvSpPr>
          <p:nvPr/>
        </p:nvSpPr>
        <p:spPr bwMode="auto">
          <a:xfrm>
            <a:off x="2339975" y="6308725"/>
            <a:ext cx="667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/>
              <a:t>內容摘自 海洋大學資訊工程學系  張欽圳 教授 機器學習課程講義</a:t>
            </a:r>
          </a:p>
        </p:txBody>
      </p:sp>
      <p:pic>
        <p:nvPicPr>
          <p:cNvPr id="73733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88224" y="180010"/>
            <a:ext cx="2327543" cy="21920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734" name="Line 6"/>
          <p:cNvSpPr>
            <a:spLocks noChangeShapeType="1"/>
          </p:cNvSpPr>
          <p:nvPr/>
        </p:nvSpPr>
        <p:spPr bwMode="auto">
          <a:xfrm flipV="1">
            <a:off x="8820472" y="267958"/>
            <a:ext cx="0" cy="10080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zh-TW" altLang="en-US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Patterns of Inference in</a:t>
            </a:r>
            <a:br>
              <a:rPr lang="en-US" altLang="zh-TW" sz="3600" smtClean="0"/>
            </a:br>
            <a:r>
              <a:rPr lang="en-US" altLang="zh-TW" sz="3600" smtClean="0"/>
              <a:t>Bayesian Networks</a:t>
            </a:r>
          </a:p>
        </p:txBody>
      </p:sp>
      <p:sp>
        <p:nvSpPr>
          <p:cNvPr id="74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Explain away, Compute P(¬L| ¬B,¬M).</a:t>
            </a:r>
          </a:p>
          <a:p>
            <a:pPr lvl="1" eaLnBrk="1" hangingPunct="1"/>
            <a:r>
              <a:rPr lang="en-US" altLang="zh-TW" sz="2400" smtClean="0"/>
              <a:t>P(¬L|¬B,¬M)=P(¬B,¬M|¬L)P(¬L)/P(¬B,¬M) (Bayes’ rule)</a:t>
            </a:r>
            <a:br>
              <a:rPr lang="en-US" altLang="zh-TW" sz="2400" smtClean="0"/>
            </a:br>
            <a:r>
              <a:rPr lang="en-US" altLang="zh-TW" sz="2400" smtClean="0"/>
              <a:t>=P(¬M|¬B, ¬L)P(¬B| ¬L)P(¬L)/P(¬B,¬M)</a:t>
            </a:r>
            <a:br>
              <a:rPr lang="en-US" altLang="zh-TW" sz="2400" smtClean="0"/>
            </a:br>
            <a:r>
              <a:rPr lang="en-US" altLang="zh-TW" sz="2400" smtClean="0"/>
              <a:t>=P(¬M|¬B, ¬L)P(¬B)P(¬L)/P(¬B,¬M)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74756" name="Text Box 4"/>
          <p:cNvSpPr txBox="1">
            <a:spLocks noChangeArrowheads="1"/>
          </p:cNvSpPr>
          <p:nvPr/>
        </p:nvSpPr>
        <p:spPr bwMode="auto">
          <a:xfrm>
            <a:off x="2339975" y="6308725"/>
            <a:ext cx="667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TW" altLang="en-US"/>
              <a:t>內容摘自 海洋大學資訊工程學系  張欽圳 教授 機器學習課程講義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of Bayesian Networks</a:t>
            </a:r>
          </a:p>
        </p:txBody>
      </p:sp>
      <p:sp>
        <p:nvSpPr>
          <p:cNvPr id="757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Several variants of this learning task</a:t>
            </a:r>
          </a:p>
          <a:p>
            <a:pPr lvl="1" eaLnBrk="1" hangingPunct="1"/>
            <a:r>
              <a:rPr lang="en-US" altLang="zh-TW" sz="2400" smtClean="0"/>
              <a:t>Network structure might be known or unknown</a:t>
            </a:r>
          </a:p>
          <a:p>
            <a:pPr lvl="1" eaLnBrk="1" hangingPunct="1"/>
            <a:r>
              <a:rPr lang="en-US" altLang="zh-TW" sz="2400" smtClean="0"/>
              <a:t>Training examples might provide values of all network variables, or just some</a:t>
            </a:r>
          </a:p>
          <a:p>
            <a:pPr eaLnBrk="1" hangingPunct="1"/>
            <a:r>
              <a:rPr lang="en-US" altLang="zh-TW" sz="2800" smtClean="0"/>
              <a:t>If structure known and observe all variables</a:t>
            </a:r>
          </a:p>
          <a:p>
            <a:pPr lvl="1" eaLnBrk="1" hangingPunct="1"/>
            <a:r>
              <a:rPr lang="en-US" altLang="zh-TW" sz="2400" smtClean="0"/>
              <a:t>Then it’s easy as training a Naive Bayes classier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Learning of Bayesian Networks</a:t>
            </a:r>
          </a:p>
        </p:txBody>
      </p:sp>
      <p:sp>
        <p:nvSpPr>
          <p:cNvPr id="76803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278208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Suppose structure known, variables partially observable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e.g. observe </a:t>
            </a:r>
            <a:r>
              <a:rPr lang="en-US" altLang="zh-TW" sz="2400" i="1" smtClean="0"/>
              <a:t>ForestFire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Storm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BusTourGroup</a:t>
            </a:r>
            <a:r>
              <a:rPr lang="en-US" altLang="zh-TW" sz="2400" smtClean="0"/>
              <a:t>, </a:t>
            </a:r>
            <a:r>
              <a:rPr lang="en-US" altLang="zh-TW" sz="2400" i="1" smtClean="0"/>
              <a:t>Thunder</a:t>
            </a:r>
            <a:r>
              <a:rPr lang="en-US" altLang="zh-TW" sz="2400" smtClean="0"/>
              <a:t>, but not </a:t>
            </a:r>
            <a:r>
              <a:rPr lang="en-US" altLang="zh-TW" sz="2400" i="1" smtClean="0"/>
              <a:t>Lighting</a:t>
            </a:r>
            <a:r>
              <a:rPr lang="en-US" altLang="zh-TW" sz="2400" smtClean="0"/>
              <a:t> and </a:t>
            </a:r>
            <a:r>
              <a:rPr lang="en-US" altLang="zh-TW" sz="2400" i="1" smtClean="0"/>
              <a:t>Campfire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Similar to training neural network with hidden units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In fact, can learn network conditional probability tables using gradient ascent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Converge to network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that (locally) maximizes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Gradient Ascent for Bayes Nets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Let </a:t>
            </a: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ijk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denote one entry in the conditional probability table for variable </a:t>
            </a:r>
            <a:r>
              <a:rPr lang="en-US" altLang="zh-TW" sz="2800" i="1" smtClean="0"/>
              <a:t>Y</a:t>
            </a:r>
            <a:r>
              <a:rPr lang="en-US" altLang="zh-TW" sz="2800" i="1" baseline="-25000" smtClean="0"/>
              <a:t>i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in the network</a:t>
            </a:r>
            <a:br>
              <a:rPr lang="en-US" altLang="zh-TW" sz="2800" smtClean="0"/>
            </a:br>
            <a:r>
              <a:rPr lang="en-US" altLang="zh-TW" sz="2800" i="1" smtClean="0"/>
              <a:t>w</a:t>
            </a:r>
            <a:r>
              <a:rPr lang="en-US" altLang="zh-TW" sz="2800" i="1" baseline="-25000" smtClean="0"/>
              <a:t>ijk </a:t>
            </a:r>
            <a:r>
              <a:rPr lang="en-US" altLang="zh-TW" sz="2800" smtClean="0"/>
              <a:t>=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Y</a:t>
            </a:r>
            <a:r>
              <a:rPr lang="en-US" altLang="zh-TW" sz="2800" i="1" baseline="-25000" smtClean="0"/>
              <a:t>i </a:t>
            </a:r>
            <a:r>
              <a:rPr lang="en-US" altLang="zh-TW" sz="2800" smtClean="0"/>
              <a:t>= </a:t>
            </a:r>
            <a:r>
              <a:rPr lang="en-US" altLang="zh-TW" sz="2800" i="1" smtClean="0"/>
              <a:t>y</a:t>
            </a:r>
            <a:r>
              <a:rPr lang="en-US" altLang="zh-TW" sz="2800" i="1" baseline="-25000" smtClean="0"/>
              <a:t>ij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Parents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Y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) = the list </a:t>
            </a:r>
            <a:r>
              <a:rPr lang="en-US" altLang="zh-TW" sz="2800" i="1" smtClean="0"/>
              <a:t>u</a:t>
            </a:r>
            <a:r>
              <a:rPr lang="en-US" altLang="zh-TW" sz="2800" i="1" baseline="-25000" smtClean="0"/>
              <a:t>ik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of values)</a:t>
            </a:r>
          </a:p>
          <a:p>
            <a:pPr lvl="1" eaLnBrk="1" hangingPunct="1"/>
            <a:r>
              <a:rPr lang="en-US" altLang="zh-TW" sz="2400" smtClean="0"/>
              <a:t>e.g. if </a:t>
            </a:r>
            <a:r>
              <a:rPr lang="en-US" altLang="zh-TW" sz="2400" i="1" smtClean="0"/>
              <a:t>Y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Campfire</a:t>
            </a:r>
            <a:r>
              <a:rPr lang="en-US" altLang="zh-TW" sz="2400" smtClean="0"/>
              <a:t>, then </a:t>
            </a:r>
            <a:r>
              <a:rPr lang="en-US" altLang="zh-TW" sz="2400" i="1" smtClean="0"/>
              <a:t>u</a:t>
            </a:r>
            <a:r>
              <a:rPr lang="en-US" altLang="zh-TW" sz="2400" i="1" baseline="-25000" smtClean="0"/>
              <a:t>ik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might be (</a:t>
            </a:r>
            <a:r>
              <a:rPr lang="en-US" altLang="zh-TW" sz="2400" i="1" smtClean="0"/>
              <a:t>Storm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T</a:t>
            </a:r>
            <a:r>
              <a:rPr lang="en-US" altLang="zh-TW" sz="2400" smtClean="0"/>
              <a:t>,</a:t>
            </a:r>
            <a:r>
              <a:rPr lang="en-US" altLang="zh-TW" sz="2400" i="1" smtClean="0"/>
              <a:t>BusTourGroup</a:t>
            </a:r>
            <a:r>
              <a:rPr lang="en-US" altLang="zh-TW" sz="2400" smtClean="0"/>
              <a:t>=</a:t>
            </a:r>
            <a:r>
              <a:rPr lang="en-US" altLang="zh-TW" sz="2400" i="1" smtClean="0"/>
              <a:t>F</a:t>
            </a:r>
            <a:r>
              <a:rPr lang="en-US" altLang="zh-TW" sz="2400" smtClean="0"/>
              <a:t>)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5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2014194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Perform gradient ascent by repeatedly</a:t>
            </a:r>
          </a:p>
          <a:p>
            <a:pPr lvl="1" eaLnBrk="1" hangingPunct="1"/>
            <a:r>
              <a:rPr lang="en-US" altLang="zh-TW" sz="2400" smtClean="0"/>
              <a:t>Update all </a:t>
            </a:r>
            <a:r>
              <a:rPr lang="en-US" altLang="zh-TW" sz="2400" i="1" smtClean="0"/>
              <a:t>w</a:t>
            </a:r>
            <a:r>
              <a:rPr lang="en-US" altLang="zh-TW" sz="2400" i="1" baseline="-25000" smtClean="0"/>
              <a:t>ijk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using training data </a:t>
            </a:r>
            <a:r>
              <a:rPr lang="en-US" altLang="zh-TW" sz="2400" i="1" smtClean="0"/>
              <a:t>D</a:t>
            </a:r>
          </a:p>
          <a:p>
            <a:pPr lvl="1" eaLnBrk="1" hangingPunct="1"/>
            <a:endParaRPr lang="en-US" altLang="zh-TW" sz="2400" i="1" smtClean="0"/>
          </a:p>
          <a:p>
            <a:pPr lvl="1" eaLnBrk="1" hangingPunct="1"/>
            <a:endParaRPr lang="en-US" altLang="zh-TW" sz="2400" i="1" smtClean="0"/>
          </a:p>
          <a:p>
            <a:pPr lvl="1" eaLnBrk="1" hangingPunct="1"/>
            <a:endParaRPr lang="en-US" altLang="zh-TW" sz="2400" i="1" smtClean="0"/>
          </a:p>
          <a:p>
            <a:pPr lvl="1" eaLnBrk="1" hangingPunct="1"/>
            <a:r>
              <a:rPr lang="en-US" altLang="zh-TW" sz="2400" smtClean="0"/>
              <a:t>then, renormalize the </a:t>
            </a:r>
            <a:r>
              <a:rPr lang="en-US" altLang="zh-TW" sz="2400" i="1" smtClean="0"/>
              <a:t>w</a:t>
            </a:r>
            <a:r>
              <a:rPr lang="en-US" altLang="zh-TW" sz="2400" i="1" baseline="-25000" smtClean="0"/>
              <a:t>ijk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to assure</a:t>
            </a:r>
          </a:p>
          <a:p>
            <a:pPr lvl="1" eaLnBrk="1" hangingPunct="1"/>
            <a:endParaRPr lang="en-US" altLang="zh-TW" sz="2400" smtClean="0"/>
          </a:p>
          <a:p>
            <a:pPr lvl="1" eaLnBrk="1" hangingPunct="1"/>
            <a:endParaRPr lang="en-US" altLang="zh-TW" sz="2400" smtClean="0"/>
          </a:p>
        </p:txBody>
      </p:sp>
      <p:sp>
        <p:nvSpPr>
          <p:cNvPr id="3072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3600" smtClean="0"/>
              <a:t>Gradient Ascent for Bayes Nets</a:t>
            </a:r>
          </a:p>
        </p:txBody>
      </p:sp>
      <p:graphicFrame>
        <p:nvGraphicFramePr>
          <p:cNvPr id="30722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6687032"/>
              </p:ext>
            </p:extLst>
          </p:nvPr>
        </p:nvGraphicFramePr>
        <p:xfrm>
          <a:off x="2411760" y="3140968"/>
          <a:ext cx="4198285" cy="936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4" name="方程式" r:id="rId4" imgW="1879560" imgH="419040" progId="Equation.3">
                  <p:embed/>
                </p:oleObj>
              </mc:Choice>
              <mc:Fallback>
                <p:oleObj name="方程式" r:id="rId4" imgW="187956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3140968"/>
                        <a:ext cx="4198285" cy="936104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3" name="Object 6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1989928797"/>
              </p:ext>
            </p:extLst>
          </p:nvPr>
        </p:nvGraphicFramePr>
        <p:xfrm>
          <a:off x="2411760" y="4797152"/>
          <a:ext cx="1224136" cy="10621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5" name="方程式" r:id="rId6" imgW="672840" imgH="583920" progId="Equation.3">
                  <p:embed/>
                </p:oleObj>
              </mc:Choice>
              <mc:Fallback>
                <p:oleObj name="方程式" r:id="rId6" imgW="672840" imgH="58392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760" y="4797152"/>
                        <a:ext cx="1224136" cy="1062118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More on learning Bayes Nets</a:t>
            </a:r>
          </a:p>
        </p:txBody>
      </p:sp>
      <p:sp>
        <p:nvSpPr>
          <p:cNvPr id="78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EM algorithm can also be used. Repeatedly: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1. Calculate probabilities of unobserved variables, assuming </a:t>
            </a:r>
            <a:r>
              <a:rPr lang="en-US" altLang="zh-TW" sz="2400" i="1" smtClean="0"/>
              <a:t>h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2. Calculate new </a:t>
            </a:r>
            <a:r>
              <a:rPr lang="en-US" altLang="zh-TW" sz="2400" i="1" smtClean="0"/>
              <a:t>w</a:t>
            </a:r>
            <a:r>
              <a:rPr lang="en-US" altLang="zh-TW" sz="2400" i="1" baseline="-25000" smtClean="0"/>
              <a:t>ijk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to maximize E[ln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D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)] where </a:t>
            </a:r>
            <a:r>
              <a:rPr lang="en-US" altLang="zh-TW" sz="2400" i="1" smtClean="0"/>
              <a:t>D </a:t>
            </a:r>
            <a:r>
              <a:rPr lang="en-US" altLang="zh-TW" sz="2400" smtClean="0"/>
              <a:t>now includes both observed and (calculated probabilities of) unobserved variables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More on learning Bayes Nets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When structure unknown</a:t>
            </a:r>
          </a:p>
          <a:p>
            <a:pPr lvl="1" eaLnBrk="1" hangingPunct="1"/>
            <a:r>
              <a:rPr lang="en-US" altLang="zh-TW" sz="2400" smtClean="0"/>
              <a:t>Algorithms use greedy search to add/subtract edges and nodes</a:t>
            </a:r>
          </a:p>
          <a:p>
            <a:pPr lvl="1" eaLnBrk="1" hangingPunct="1"/>
            <a:r>
              <a:rPr lang="en-US" altLang="zh-TW" sz="2400" smtClean="0"/>
              <a:t>Active research topic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z="4000" smtClean="0"/>
              <a:t>Summary: Bayesian Belief Networks</a:t>
            </a:r>
          </a:p>
        </p:txBody>
      </p:sp>
      <p:sp>
        <p:nvSpPr>
          <p:cNvPr id="80899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Combine prior knowledge with observed data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Impact of prior knowledge (when correct!) is to lower the sample complexity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Active research area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Extend from boolean to real-valued variables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Parameterized distributions instead of tables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Extend to first-order instead of propositional systems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More effective inference methods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Expectation Maximization (EM)</a:t>
            </a:r>
          </a:p>
        </p:txBody>
      </p:sp>
      <p:sp>
        <p:nvSpPr>
          <p:cNvPr id="81923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422224"/>
          </a:xfrm>
        </p:spPr>
        <p:txBody>
          <a:bodyPr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When to use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Data is only partially observable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Unsupervised clustering (target value unobservable)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Supervised learning (some instance attributes unobservable)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smtClean="0"/>
              <a:t>Some uses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Train Bayesian Belief Networks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Unsupervised clustering (AUTOCLASS)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zh-TW" sz="2400" smtClean="0"/>
              <a:t>Learning Hidden Markov Models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sz="4000" smtClean="0"/>
              <a:t>Generating Data from Mixture of</a:t>
            </a:r>
            <a:br>
              <a:rPr lang="en-US" altLang="zh-TW" sz="4000" smtClean="0"/>
            </a:br>
            <a:r>
              <a:rPr lang="en-US" altLang="zh-TW" sz="4000" i="1" smtClean="0"/>
              <a:t>k </a:t>
            </a:r>
            <a:r>
              <a:rPr lang="en-US" altLang="zh-TW" sz="4000" smtClean="0"/>
              <a:t>Gaussians</a:t>
            </a:r>
          </a:p>
        </p:txBody>
      </p:sp>
      <p:sp>
        <p:nvSpPr>
          <p:cNvPr id="8294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Each instance </a:t>
            </a:r>
            <a:r>
              <a:rPr lang="en-US" altLang="zh-TW" sz="2800" i="1" smtClean="0"/>
              <a:t>x </a:t>
            </a:r>
            <a:r>
              <a:rPr lang="en-US" altLang="zh-TW" sz="2800" smtClean="0"/>
              <a:t>generated by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1. Choosing one of the k Gaussians with uniform probability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2. Generating an instance at random according to that Gaussian</a:t>
            </a:r>
          </a:p>
          <a:p>
            <a:pPr eaLnBrk="1" hangingPunct="1"/>
            <a:endParaRPr lang="en-US" altLang="zh-TW" sz="2800" smtClean="0"/>
          </a:p>
        </p:txBody>
      </p:sp>
      <p:pic>
        <p:nvPicPr>
          <p:cNvPr id="8294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39975" y="4292600"/>
            <a:ext cx="4465638" cy="2081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EM for Estimating </a:t>
            </a:r>
            <a:r>
              <a:rPr lang="en-US" altLang="zh-TW" i="1" smtClean="0"/>
              <a:t>k</a:t>
            </a:r>
            <a:r>
              <a:rPr lang="en-US" altLang="zh-TW" smtClean="0"/>
              <a:t> Means</a:t>
            </a:r>
          </a:p>
        </p:txBody>
      </p:sp>
      <p:sp>
        <p:nvSpPr>
          <p:cNvPr id="8397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Given</a:t>
            </a:r>
          </a:p>
          <a:p>
            <a:pPr lvl="1" eaLnBrk="1" hangingPunct="1"/>
            <a:r>
              <a:rPr lang="en-US" altLang="zh-TW" sz="2400" smtClean="0"/>
              <a:t>Instances from </a:t>
            </a:r>
            <a:r>
              <a:rPr lang="en-US" altLang="zh-TW" sz="2400" i="1" smtClean="0"/>
              <a:t>X </a:t>
            </a:r>
            <a:r>
              <a:rPr lang="en-US" altLang="zh-TW" sz="2400" smtClean="0"/>
              <a:t>generated by mixture of </a:t>
            </a:r>
            <a:r>
              <a:rPr lang="en-US" altLang="zh-TW" sz="2400" i="1" smtClean="0"/>
              <a:t>k </a:t>
            </a:r>
            <a:r>
              <a:rPr lang="en-US" altLang="zh-TW" sz="2400" smtClean="0"/>
              <a:t>Gaussian distributions</a:t>
            </a:r>
          </a:p>
          <a:p>
            <a:pPr lvl="1" eaLnBrk="1" hangingPunct="1"/>
            <a:r>
              <a:rPr lang="en-US" altLang="zh-TW" sz="2400" smtClean="0"/>
              <a:t>Unknown means (μ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..., μ</a:t>
            </a:r>
            <a:r>
              <a:rPr lang="en-US" altLang="zh-TW" sz="2400" baseline="-25000" smtClean="0"/>
              <a:t>k</a:t>
            </a:r>
            <a:r>
              <a:rPr lang="en-US" altLang="zh-TW" sz="2400" smtClean="0"/>
              <a:t>) of the </a:t>
            </a:r>
            <a:r>
              <a:rPr lang="en-US" altLang="zh-TW" sz="2400" i="1" smtClean="0"/>
              <a:t>k </a:t>
            </a:r>
            <a:r>
              <a:rPr lang="en-US" altLang="zh-TW" sz="2400" smtClean="0"/>
              <a:t>Gaussians</a:t>
            </a:r>
          </a:p>
          <a:p>
            <a:pPr lvl="1" eaLnBrk="1" hangingPunct="1"/>
            <a:r>
              <a:rPr lang="en-US" altLang="zh-TW" sz="2400" smtClean="0"/>
              <a:t>Don’t know which instance </a:t>
            </a:r>
            <a:r>
              <a:rPr lang="en-US" altLang="zh-TW" sz="2400" i="1" smtClean="0"/>
              <a:t>x</a:t>
            </a:r>
            <a:r>
              <a:rPr lang="en-US" altLang="zh-TW" sz="2400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was generated by which Gaussian</a:t>
            </a:r>
          </a:p>
          <a:p>
            <a:pPr eaLnBrk="1" hangingPunct="1"/>
            <a:r>
              <a:rPr lang="en-US" altLang="zh-TW" sz="2800" smtClean="0"/>
              <a:t>Determine</a:t>
            </a:r>
          </a:p>
          <a:p>
            <a:pPr lvl="1" eaLnBrk="1" hangingPunct="1"/>
            <a:r>
              <a:rPr lang="en-US" altLang="zh-TW" sz="2400" smtClean="0"/>
              <a:t>Maximum likelihood estimates of (μ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..., μ</a:t>
            </a:r>
            <a:r>
              <a:rPr lang="en-US" altLang="zh-TW" sz="2400" baseline="-25000" smtClean="0"/>
              <a:t>k</a:t>
            </a:r>
            <a:r>
              <a:rPr lang="en-US" altLang="zh-TW" sz="2400" smtClean="0"/>
              <a:t>)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EM for Estimating </a:t>
            </a:r>
            <a:r>
              <a:rPr lang="en-US" altLang="zh-TW" i="1" smtClean="0"/>
              <a:t>k</a:t>
            </a:r>
            <a:r>
              <a:rPr lang="en-US" altLang="zh-TW" smtClean="0"/>
              <a:t> Means</a:t>
            </a:r>
          </a:p>
        </p:txBody>
      </p:sp>
      <p:sp>
        <p:nvSpPr>
          <p:cNvPr id="8499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Think of full description of each instance as </a:t>
            </a:r>
            <a:r>
              <a:rPr lang="en-US" altLang="zh-TW" sz="2800" i="1" smtClean="0"/>
              <a:t>y</a:t>
            </a:r>
            <a:r>
              <a:rPr lang="en-US" altLang="zh-TW" sz="2800" i="1" baseline="-25000" smtClean="0"/>
              <a:t>i</a:t>
            </a:r>
            <a:r>
              <a:rPr lang="en-US" altLang="zh-TW" sz="2800" i="1" smtClean="0"/>
              <a:t> </a:t>
            </a:r>
            <a:r>
              <a:rPr lang="en-US" altLang="zh-TW" sz="2800" smtClean="0"/>
              <a:t>=(</a:t>
            </a:r>
            <a:r>
              <a:rPr lang="en-US" altLang="zh-TW" sz="2800" i="1" smtClean="0"/>
              <a:t>x</a:t>
            </a:r>
            <a:r>
              <a:rPr lang="en-US" altLang="zh-TW" sz="2800" i="1" baseline="-25000" smtClean="0"/>
              <a:t>i</a:t>
            </a:r>
            <a:r>
              <a:rPr lang="en-US" altLang="zh-TW" sz="2800" smtClean="0"/>
              <a:t>, </a:t>
            </a:r>
            <a:r>
              <a:rPr lang="en-US" altLang="zh-TW" sz="2800" i="1" smtClean="0"/>
              <a:t>z</a:t>
            </a:r>
            <a:r>
              <a:rPr lang="en-US" altLang="zh-TW" sz="2800" i="1" baseline="-25000" smtClean="0"/>
              <a:t>i1</a:t>
            </a:r>
            <a:r>
              <a:rPr lang="en-US" altLang="zh-TW" sz="2800" smtClean="0"/>
              <a:t>, </a:t>
            </a:r>
            <a:r>
              <a:rPr lang="en-US" altLang="zh-TW" sz="2800" i="1" smtClean="0"/>
              <a:t>z</a:t>
            </a:r>
            <a:r>
              <a:rPr lang="en-US" altLang="zh-TW" sz="2800" i="1" baseline="-25000" smtClean="0"/>
              <a:t>i2</a:t>
            </a:r>
            <a:r>
              <a:rPr lang="en-US" altLang="zh-TW" sz="2800" smtClean="0"/>
              <a:t>)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where</a:t>
            </a:r>
          </a:p>
          <a:p>
            <a:pPr lvl="1" eaLnBrk="1" hangingPunct="1"/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ij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is 1 if </a:t>
            </a:r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generated by </a:t>
            </a:r>
            <a:r>
              <a:rPr lang="en-US" altLang="zh-TW" sz="2400" i="1" smtClean="0"/>
              <a:t>j</a:t>
            </a:r>
            <a:r>
              <a:rPr lang="en-US" altLang="zh-TW" sz="2400" smtClean="0"/>
              <a:t>th Gaussian</a:t>
            </a:r>
          </a:p>
          <a:p>
            <a:pPr lvl="1" eaLnBrk="1" hangingPunct="1"/>
            <a:r>
              <a:rPr lang="en-US" altLang="zh-TW" sz="2400" i="1" smtClean="0"/>
              <a:t>x</a:t>
            </a:r>
            <a:r>
              <a:rPr lang="en-US" altLang="zh-TW" sz="2400" i="1" baseline="-25000" smtClean="0"/>
              <a:t>i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observable</a:t>
            </a:r>
          </a:p>
          <a:p>
            <a:pPr lvl="1" eaLnBrk="1" hangingPunct="1"/>
            <a:r>
              <a:rPr lang="en-US" altLang="zh-TW" sz="2400" i="1" smtClean="0"/>
              <a:t>z</a:t>
            </a:r>
            <a:r>
              <a:rPr lang="en-US" altLang="zh-TW" sz="2400" i="1" baseline="-25000" smtClean="0"/>
              <a:t>ij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unobservable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31520" y="2014194"/>
            <a:ext cx="8229600" cy="45259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EM Algorithm: </a:t>
            </a:r>
          </a:p>
          <a:p>
            <a:pPr eaLnBrk="1" hangingPunct="1">
              <a:buFontTx/>
              <a:buNone/>
            </a:pPr>
            <a:r>
              <a:rPr lang="en-US" altLang="zh-TW" sz="2800" smtClean="0"/>
              <a:t>   Pick random initial 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= (μ</a:t>
            </a:r>
            <a:r>
              <a:rPr lang="en-US" altLang="zh-TW" sz="2800" baseline="-25000" smtClean="0"/>
              <a:t>1</a:t>
            </a:r>
            <a:r>
              <a:rPr lang="en-US" altLang="zh-TW" sz="2800" smtClean="0"/>
              <a:t>, μ</a:t>
            </a:r>
            <a:r>
              <a:rPr lang="en-US" altLang="zh-TW" sz="2800" baseline="-25000" smtClean="0"/>
              <a:t>2</a:t>
            </a:r>
            <a:r>
              <a:rPr lang="en-US" altLang="zh-TW" sz="2800" smtClean="0"/>
              <a:t>), then iterate</a:t>
            </a:r>
          </a:p>
          <a:p>
            <a:pPr lvl="1" eaLnBrk="1" hangingPunct="1"/>
            <a:r>
              <a:rPr lang="en-US" altLang="zh-TW" sz="2400" b="1" smtClean="0"/>
              <a:t>E step</a:t>
            </a:r>
            <a:r>
              <a:rPr lang="en-US" altLang="zh-TW" sz="2400" smtClean="0"/>
              <a:t>: Calculate the expected value </a:t>
            </a:r>
            <a:r>
              <a:rPr lang="en-US" altLang="zh-TW" sz="2400" i="1" smtClean="0"/>
              <a:t>E</a:t>
            </a:r>
            <a:r>
              <a:rPr lang="en-US" altLang="zh-TW" sz="2400" smtClean="0"/>
              <a:t>[z</a:t>
            </a:r>
            <a:r>
              <a:rPr lang="en-US" altLang="zh-TW" sz="2400" baseline="-25000" smtClean="0"/>
              <a:t>ij</a:t>
            </a:r>
            <a:r>
              <a:rPr lang="en-US" altLang="zh-TW" sz="2400" smtClean="0"/>
              <a:t>] of each hidden variable z</a:t>
            </a:r>
            <a:r>
              <a:rPr lang="en-US" altLang="zh-TW" sz="2400" baseline="-25000" smtClean="0"/>
              <a:t>ij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assuming the current hypothesis 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= (μ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μ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 holds</a:t>
            </a:r>
          </a:p>
          <a:p>
            <a:pPr eaLnBrk="1" hangingPunct="1"/>
            <a:endParaRPr lang="en-US" altLang="zh-TW" sz="2800" smtClean="0"/>
          </a:p>
        </p:txBody>
      </p:sp>
      <p:sp>
        <p:nvSpPr>
          <p:cNvPr id="317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EM for Estimating </a:t>
            </a:r>
            <a:r>
              <a:rPr lang="en-US" altLang="zh-TW" i="1" smtClean="0"/>
              <a:t>k</a:t>
            </a:r>
            <a:r>
              <a:rPr lang="en-US" altLang="zh-TW" smtClean="0"/>
              <a:t> Means</a:t>
            </a:r>
          </a:p>
        </p:txBody>
      </p:sp>
      <p:graphicFrame>
        <p:nvGraphicFramePr>
          <p:cNvPr id="31746" name="Object 4"/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56625817"/>
              </p:ext>
            </p:extLst>
          </p:nvPr>
        </p:nvGraphicFramePr>
        <p:xfrm>
          <a:off x="1763687" y="4437112"/>
          <a:ext cx="6204493" cy="1728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7" name="Equation" r:id="rId4" imgW="2781000" imgH="774360" progId="Equation.3">
                  <p:embed/>
                </p:oleObj>
              </mc:Choice>
              <mc:Fallback>
                <p:oleObj name="Equation" r:id="rId4" imgW="2781000" imgH="7743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687" y="4437112"/>
                        <a:ext cx="6204493" cy="1728192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EM for Estimating </a:t>
            </a:r>
            <a:r>
              <a:rPr lang="en-US" altLang="zh-TW" i="1" smtClean="0"/>
              <a:t>k</a:t>
            </a:r>
            <a:r>
              <a:rPr lang="en-US" altLang="zh-TW" smtClean="0"/>
              <a:t> Means</a:t>
            </a:r>
          </a:p>
        </p:txBody>
      </p:sp>
      <p:sp>
        <p:nvSpPr>
          <p:cNvPr id="3277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 eaLnBrk="1" hangingPunct="1"/>
            <a:r>
              <a:rPr lang="en-US" altLang="zh-TW" sz="2400" b="1" smtClean="0"/>
              <a:t>M step: </a:t>
            </a:r>
            <a:r>
              <a:rPr lang="en-US" altLang="zh-TW" sz="2400" smtClean="0"/>
              <a:t>Calculate a new maximum likelihood hypothesis 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= (μ’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μ’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), assuming the value taken on by each hidden variable </a:t>
            </a:r>
            <a:r>
              <a:rPr lang="en-US" altLang="zh-TW" sz="2400" i="1" smtClean="0"/>
              <a:t>z</a:t>
            </a:r>
            <a:r>
              <a:rPr lang="en-US" altLang="zh-TW" sz="2400" baseline="-25000" smtClean="0"/>
              <a:t>ij</a:t>
            </a:r>
            <a:r>
              <a:rPr lang="en-US" altLang="zh-TW" sz="2400" i="1" smtClean="0"/>
              <a:t> </a:t>
            </a:r>
            <a:r>
              <a:rPr lang="en-US" altLang="zh-TW" sz="2400" smtClean="0"/>
              <a:t>is its expected value E[</a:t>
            </a:r>
            <a:r>
              <a:rPr lang="en-US" altLang="zh-TW" sz="2400" i="1" smtClean="0"/>
              <a:t>z</a:t>
            </a:r>
            <a:r>
              <a:rPr lang="en-US" altLang="zh-TW" sz="2400" baseline="-25000" smtClean="0"/>
              <a:t>ij</a:t>
            </a:r>
            <a:r>
              <a:rPr lang="en-US" altLang="zh-TW" sz="2400" smtClean="0"/>
              <a:t>] calculated above. Replace 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= (μ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μ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 by 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= (μ’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μ’</a:t>
            </a:r>
            <a:r>
              <a:rPr lang="en-US" altLang="zh-TW" sz="2400" baseline="-25000" smtClean="0"/>
              <a:t>2</a:t>
            </a:r>
            <a:r>
              <a:rPr lang="en-US" altLang="zh-TW" sz="2400" smtClean="0"/>
              <a:t>).</a:t>
            </a:r>
          </a:p>
          <a:p>
            <a:pPr eaLnBrk="1" hangingPunct="1"/>
            <a:endParaRPr lang="en-US" altLang="zh-TW" sz="2800" smtClean="0"/>
          </a:p>
        </p:txBody>
      </p:sp>
      <p:graphicFrame>
        <p:nvGraphicFramePr>
          <p:cNvPr id="32770" name="Object 4"/>
          <p:cNvGraphicFramePr>
            <a:graphicFrameLocks noChangeAspect="1"/>
          </p:cNvGraphicFramePr>
          <p:nvPr/>
        </p:nvGraphicFramePr>
        <p:xfrm>
          <a:off x="2965450" y="4005263"/>
          <a:ext cx="3163888" cy="1982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1" name="方程式" r:id="rId4" imgW="1079280" imgH="838080" progId="Equation.3">
                  <p:embed/>
                </p:oleObj>
              </mc:Choice>
              <mc:Fallback>
                <p:oleObj name="方程式" r:id="rId4" imgW="1079280" imgH="83808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5450" y="4005263"/>
                        <a:ext cx="3163888" cy="1982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EM Algorithm</a:t>
            </a:r>
          </a:p>
        </p:txBody>
      </p:sp>
      <p:sp>
        <p:nvSpPr>
          <p:cNvPr id="8601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Converges to local maximum likelihood </a:t>
            </a:r>
            <a:r>
              <a:rPr lang="en-US" altLang="zh-TW" sz="2800" i="1" smtClean="0"/>
              <a:t>h </a:t>
            </a:r>
            <a:r>
              <a:rPr lang="en-US" altLang="zh-TW" sz="2800" smtClean="0"/>
              <a:t>and provides estimates of hidden variables </a:t>
            </a:r>
            <a:r>
              <a:rPr lang="en-US" altLang="zh-TW" sz="2800" i="1" smtClean="0"/>
              <a:t>z</a:t>
            </a:r>
            <a:r>
              <a:rPr lang="en-US" altLang="zh-TW" sz="2800" i="1" baseline="-25000" smtClean="0"/>
              <a:t>ij</a:t>
            </a:r>
          </a:p>
          <a:p>
            <a:pPr eaLnBrk="1" hangingPunct="1"/>
            <a:r>
              <a:rPr lang="en-US" altLang="zh-TW" sz="2800" smtClean="0"/>
              <a:t>In fact, local maximum in </a:t>
            </a:r>
            <a:r>
              <a:rPr lang="en-US" altLang="zh-TW" sz="2800" i="1" smtClean="0"/>
              <a:t>E</a:t>
            </a:r>
            <a:r>
              <a:rPr lang="en-US" altLang="zh-TW" sz="2800" smtClean="0"/>
              <a:t>[ln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Y 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)]</a:t>
            </a:r>
          </a:p>
          <a:p>
            <a:pPr lvl="1" eaLnBrk="1" hangingPunct="1"/>
            <a:r>
              <a:rPr lang="en-US" altLang="zh-TW" sz="2400" i="1" smtClean="0"/>
              <a:t>Y </a:t>
            </a:r>
            <a:r>
              <a:rPr lang="en-US" altLang="zh-TW" sz="2400" smtClean="0"/>
              <a:t>is complete (observable plus unobservable variables) data</a:t>
            </a:r>
          </a:p>
          <a:p>
            <a:pPr lvl="1" eaLnBrk="1" hangingPunct="1"/>
            <a:r>
              <a:rPr lang="en-US" altLang="zh-TW" sz="2400" smtClean="0"/>
              <a:t>Expected value is taken over possible values of unobserved variables in </a:t>
            </a:r>
            <a:r>
              <a:rPr lang="en-US" altLang="zh-TW" sz="2400" i="1" smtClean="0"/>
              <a:t>Y</a:t>
            </a:r>
            <a:endParaRPr lang="en-US" altLang="zh-TW" sz="2400" smtClean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General EM Problem</a:t>
            </a:r>
          </a:p>
        </p:txBody>
      </p:sp>
      <p:sp>
        <p:nvSpPr>
          <p:cNvPr id="87043" name="Rectangle 3"/>
          <p:cNvSpPr>
            <a:spLocks noGrp="1" noChangeArrowheads="1"/>
          </p:cNvSpPr>
          <p:nvPr>
            <p:ph idx="1"/>
          </p:nvPr>
        </p:nvSpPr>
        <p:spPr>
          <a:xfrm>
            <a:off x="731520" y="2103120"/>
            <a:ext cx="7680960" cy="4206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Given</a:t>
            </a:r>
          </a:p>
          <a:p>
            <a:pPr lvl="1" eaLnBrk="1" hangingPunct="1"/>
            <a:r>
              <a:rPr lang="en-US" altLang="zh-TW" sz="2400" smtClean="0"/>
              <a:t>Observed data </a:t>
            </a:r>
            <a:r>
              <a:rPr lang="en-US" altLang="zh-TW" sz="2400" i="1" smtClean="0"/>
              <a:t>X </a:t>
            </a:r>
            <a:r>
              <a:rPr lang="en-US" altLang="zh-TW" sz="2400" smtClean="0"/>
              <a:t>= {</a:t>
            </a:r>
            <a:r>
              <a:rPr lang="en-US" altLang="zh-TW" sz="2400" i="1" smtClean="0"/>
              <a:t>x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..., </a:t>
            </a:r>
            <a:r>
              <a:rPr lang="en-US" altLang="zh-TW" sz="2400" i="1" smtClean="0"/>
              <a:t>x</a:t>
            </a:r>
            <a:r>
              <a:rPr lang="en-US" altLang="zh-TW" sz="2400" baseline="-25000" smtClean="0"/>
              <a:t>m</a:t>
            </a:r>
            <a:r>
              <a:rPr lang="en-US" altLang="zh-TW" sz="2400" smtClean="0"/>
              <a:t>}</a:t>
            </a:r>
          </a:p>
          <a:p>
            <a:pPr lvl="1" eaLnBrk="1" hangingPunct="1"/>
            <a:r>
              <a:rPr lang="en-US" altLang="zh-TW" sz="2400" smtClean="0"/>
              <a:t>Unobserved data </a:t>
            </a:r>
            <a:r>
              <a:rPr lang="en-US" altLang="zh-TW" sz="2400" i="1" smtClean="0"/>
              <a:t>Z </a:t>
            </a:r>
            <a:r>
              <a:rPr lang="en-US" altLang="zh-TW" sz="2400" smtClean="0"/>
              <a:t>= {</a:t>
            </a:r>
            <a:r>
              <a:rPr lang="en-US" altLang="zh-TW" sz="2400" i="1" smtClean="0"/>
              <a:t>z</a:t>
            </a:r>
            <a:r>
              <a:rPr lang="en-US" altLang="zh-TW" sz="2400" baseline="-25000" smtClean="0"/>
              <a:t>1</a:t>
            </a:r>
            <a:r>
              <a:rPr lang="en-US" altLang="zh-TW" sz="2400" smtClean="0"/>
              <a:t>, ..., </a:t>
            </a:r>
            <a:r>
              <a:rPr lang="en-US" altLang="zh-TW" sz="2400" i="1" smtClean="0"/>
              <a:t>z</a:t>
            </a:r>
            <a:r>
              <a:rPr lang="en-US" altLang="zh-TW" sz="2400" baseline="-25000" smtClean="0"/>
              <a:t>m</a:t>
            </a:r>
            <a:r>
              <a:rPr lang="en-US" altLang="zh-TW" sz="2400" smtClean="0"/>
              <a:t>}</a:t>
            </a:r>
          </a:p>
          <a:p>
            <a:pPr lvl="1" eaLnBrk="1" hangingPunct="1"/>
            <a:r>
              <a:rPr lang="en-US" altLang="zh-TW" sz="2400" smtClean="0"/>
              <a:t>Parameterized probability distribution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where</a:t>
            </a:r>
          </a:p>
          <a:p>
            <a:pPr lvl="2" eaLnBrk="1" hangingPunct="1"/>
            <a:r>
              <a:rPr lang="en-US" altLang="zh-TW" sz="2000" i="1" smtClean="0"/>
              <a:t>Y=</a:t>
            </a:r>
            <a:r>
              <a:rPr lang="en-US" altLang="zh-TW" sz="2000" smtClean="0"/>
              <a:t>{</a:t>
            </a:r>
            <a:r>
              <a:rPr lang="en-US" altLang="zh-TW" sz="2000" i="1" smtClean="0"/>
              <a:t>y</a:t>
            </a:r>
            <a:r>
              <a:rPr lang="en-US" altLang="zh-TW" sz="2000" baseline="-25000" smtClean="0"/>
              <a:t>1</a:t>
            </a:r>
            <a:r>
              <a:rPr lang="en-US" altLang="zh-TW" sz="2000" smtClean="0"/>
              <a:t>,...,</a:t>
            </a:r>
            <a:r>
              <a:rPr lang="en-US" altLang="zh-TW" sz="2000" i="1" smtClean="0"/>
              <a:t>y</a:t>
            </a:r>
            <a:r>
              <a:rPr lang="en-US" altLang="zh-TW" sz="2000" baseline="-25000" smtClean="0"/>
              <a:t>m</a:t>
            </a:r>
            <a:r>
              <a:rPr lang="en-US" altLang="zh-TW" sz="2000" smtClean="0"/>
              <a:t>} is the full data </a:t>
            </a:r>
            <a:r>
              <a:rPr lang="en-US" altLang="zh-TW" sz="2000" i="1" smtClean="0"/>
              <a:t>y</a:t>
            </a:r>
            <a:r>
              <a:rPr lang="en-US" altLang="zh-TW" sz="2000" baseline="-25000" smtClean="0"/>
              <a:t>i</a:t>
            </a:r>
            <a:r>
              <a:rPr lang="en-US" altLang="zh-TW" sz="2000" smtClean="0"/>
              <a:t>=</a:t>
            </a:r>
            <a:r>
              <a:rPr lang="en-US" altLang="zh-TW" sz="2000" i="1" smtClean="0"/>
              <a:t>x</a:t>
            </a:r>
            <a:r>
              <a:rPr lang="en-US" altLang="zh-TW" sz="2000" baseline="-25000" smtClean="0"/>
              <a:t>i</a:t>
            </a:r>
            <a:r>
              <a:rPr lang="en-US" altLang="zh-TW" sz="2000" smtClean="0"/>
              <a:t>∪</a:t>
            </a:r>
            <a:r>
              <a:rPr lang="en-US" altLang="zh-TW" sz="2000" i="1" smtClean="0"/>
              <a:t>z</a:t>
            </a:r>
            <a:r>
              <a:rPr lang="en-US" altLang="zh-TW" sz="2000" baseline="-25000" smtClean="0"/>
              <a:t>i</a:t>
            </a:r>
            <a:r>
              <a:rPr lang="en-US" altLang="zh-TW" sz="2000" i="1" smtClean="0"/>
              <a:t> </a:t>
            </a:r>
          </a:p>
          <a:p>
            <a:pPr lvl="2" eaLnBrk="1" hangingPunct="1"/>
            <a:r>
              <a:rPr lang="en-US" altLang="zh-TW" sz="2000" i="1" smtClean="0"/>
              <a:t>h </a:t>
            </a:r>
            <a:r>
              <a:rPr lang="en-US" altLang="zh-TW" sz="2000" smtClean="0"/>
              <a:t>are the parameters</a:t>
            </a:r>
          </a:p>
          <a:p>
            <a:pPr eaLnBrk="1" hangingPunct="1"/>
            <a:r>
              <a:rPr lang="en-US" altLang="zh-TW" sz="2800" smtClean="0"/>
              <a:t>Determine</a:t>
            </a:r>
          </a:p>
          <a:p>
            <a:pPr lvl="1" eaLnBrk="1" hangingPunct="1"/>
            <a:r>
              <a:rPr lang="en-US" altLang="zh-TW" sz="2400" i="1" smtClean="0"/>
              <a:t>h </a:t>
            </a:r>
            <a:r>
              <a:rPr lang="en-US" altLang="zh-TW" sz="2400" smtClean="0"/>
              <a:t>that (locally) maximizes </a:t>
            </a:r>
            <a:r>
              <a:rPr lang="en-US" altLang="zh-TW" sz="2400" i="1" smtClean="0"/>
              <a:t>E</a:t>
            </a:r>
            <a:r>
              <a:rPr lang="en-US" altLang="zh-TW" sz="2400" smtClean="0"/>
              <a:t>[ln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 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)]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General EM Method</a:t>
            </a:r>
          </a:p>
        </p:txBody>
      </p:sp>
      <p:sp>
        <p:nvSpPr>
          <p:cNvPr id="8806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smtClean="0"/>
              <a:t>Define likelihood function Q(</a:t>
            </a:r>
            <a:r>
              <a:rPr lang="en-US" altLang="zh-TW" sz="2800" i="1" smtClean="0"/>
              <a:t>h’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) which calculates </a:t>
            </a:r>
            <a:r>
              <a:rPr lang="en-US" altLang="zh-TW" sz="2800" i="1" smtClean="0"/>
              <a:t>Y</a:t>
            </a:r>
            <a:r>
              <a:rPr lang="en-US" altLang="zh-TW" sz="2800" smtClean="0"/>
              <a:t>=</a:t>
            </a:r>
            <a:r>
              <a:rPr lang="en-US" altLang="zh-TW" sz="2800" i="1" smtClean="0"/>
              <a:t>X</a:t>
            </a:r>
            <a:r>
              <a:rPr lang="en-US" altLang="zh-TW" sz="2800" smtClean="0"/>
              <a:t>∪</a:t>
            </a:r>
            <a:r>
              <a:rPr lang="en-US" altLang="zh-TW" sz="2800" i="1" smtClean="0"/>
              <a:t>Z </a:t>
            </a:r>
            <a:r>
              <a:rPr lang="en-US" altLang="zh-TW" sz="2800" smtClean="0"/>
              <a:t>using observed </a:t>
            </a:r>
            <a:r>
              <a:rPr lang="en-US" altLang="zh-TW" sz="2800" i="1" smtClean="0"/>
              <a:t>X </a:t>
            </a:r>
            <a:r>
              <a:rPr lang="en-US" altLang="zh-TW" sz="2800" smtClean="0"/>
              <a:t>and current parameters </a:t>
            </a:r>
            <a:r>
              <a:rPr lang="en-US" altLang="zh-TW" sz="2800" i="1" smtClean="0"/>
              <a:t>h </a:t>
            </a:r>
            <a:r>
              <a:rPr lang="en-US" altLang="zh-TW" sz="2800" smtClean="0"/>
              <a:t>to estimate </a:t>
            </a:r>
            <a:r>
              <a:rPr lang="en-US" altLang="zh-TW" sz="2800" i="1" smtClean="0"/>
              <a:t>Z </a:t>
            </a:r>
            <a:r>
              <a:rPr lang="en-US" altLang="zh-TW" sz="2800" smtClean="0"/>
              <a:t>Q(</a:t>
            </a:r>
            <a:r>
              <a:rPr lang="en-US" altLang="zh-TW" sz="2800" i="1" smtClean="0"/>
              <a:t>h’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h</a:t>
            </a:r>
            <a:r>
              <a:rPr lang="en-US" altLang="zh-TW" sz="2800" smtClean="0"/>
              <a:t>)← </a:t>
            </a:r>
            <a:r>
              <a:rPr lang="en-US" altLang="zh-TW" sz="2800" i="1" smtClean="0"/>
              <a:t>E</a:t>
            </a:r>
            <a:r>
              <a:rPr lang="en-US" altLang="zh-TW" sz="2800" smtClean="0"/>
              <a:t>[ln </a:t>
            </a:r>
            <a:r>
              <a:rPr lang="en-US" altLang="zh-TW" sz="2800" i="1" smtClean="0"/>
              <a:t>P</a:t>
            </a:r>
            <a:r>
              <a:rPr lang="en-US" altLang="zh-TW" sz="2800" smtClean="0"/>
              <a:t>(</a:t>
            </a:r>
            <a:r>
              <a:rPr lang="en-US" altLang="zh-TW" sz="2800" i="1" smtClean="0"/>
              <a:t>Y </a:t>
            </a:r>
            <a:r>
              <a:rPr lang="en-US" altLang="zh-TW" sz="2800" smtClean="0"/>
              <a:t>|</a:t>
            </a:r>
            <a:r>
              <a:rPr lang="en-US" altLang="zh-TW" sz="2800" i="1" smtClean="0"/>
              <a:t>h’</a:t>
            </a:r>
            <a:r>
              <a:rPr lang="en-US" altLang="zh-TW" sz="2800" smtClean="0"/>
              <a:t>)|</a:t>
            </a:r>
            <a:r>
              <a:rPr lang="en-US" altLang="zh-TW" sz="2800" i="1" smtClean="0"/>
              <a:t>h,X</a:t>
            </a:r>
            <a:r>
              <a:rPr lang="en-US" altLang="zh-TW" sz="2800" smtClean="0"/>
              <a:t>]</a:t>
            </a:r>
          </a:p>
          <a:p>
            <a:pPr eaLnBrk="1" hangingPunct="1"/>
            <a:endParaRPr lang="en-US" altLang="zh-TW" sz="2800" smtClean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smtClean="0"/>
              <a:t>General EM Method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2800" b="1" smtClean="0"/>
              <a:t>EM Algorithm:</a:t>
            </a:r>
          </a:p>
          <a:p>
            <a:pPr lvl="1" eaLnBrk="1" hangingPunct="1"/>
            <a:r>
              <a:rPr lang="en-US" altLang="zh-TW" sz="2400" i="1" smtClean="0"/>
              <a:t>Estimation 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E</a:t>
            </a:r>
            <a:r>
              <a:rPr lang="en-US" altLang="zh-TW" sz="2400" smtClean="0"/>
              <a:t>) </a:t>
            </a:r>
            <a:r>
              <a:rPr lang="en-US" altLang="zh-TW" sz="2400" i="1" smtClean="0"/>
              <a:t>step</a:t>
            </a:r>
            <a:r>
              <a:rPr lang="en-US" altLang="zh-TW" sz="2400" smtClean="0"/>
              <a:t>: Calculate Q(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 using the current hypothesis </a:t>
            </a:r>
            <a:r>
              <a:rPr lang="en-US" altLang="zh-TW" sz="2400" i="1" smtClean="0"/>
              <a:t>h </a:t>
            </a:r>
            <a:r>
              <a:rPr lang="en-US" altLang="zh-TW" sz="2400" smtClean="0"/>
              <a:t>and the observed data </a:t>
            </a:r>
            <a:r>
              <a:rPr lang="en-US" altLang="zh-TW" sz="2400" i="1" smtClean="0"/>
              <a:t>X </a:t>
            </a:r>
            <a:r>
              <a:rPr lang="en-US" altLang="zh-TW" sz="2400" smtClean="0"/>
              <a:t>to estimate the probability distribution over </a:t>
            </a:r>
            <a:r>
              <a:rPr lang="en-US" altLang="zh-TW" sz="2400" i="1" smtClean="0"/>
              <a:t>Y</a:t>
            </a:r>
          </a:p>
          <a:p>
            <a:pPr lvl="1" eaLnBrk="1" hangingPunct="1">
              <a:buFontTx/>
              <a:buNone/>
            </a:pPr>
            <a:r>
              <a:rPr lang="en-US" altLang="zh-TW" sz="2400" smtClean="0"/>
              <a:t>            Q(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</a:t>
            </a:r>
            <a:r>
              <a:rPr lang="en-US" altLang="zh-TW" sz="2400" smtClean="0"/>
              <a:t>)← </a:t>
            </a:r>
            <a:r>
              <a:rPr lang="en-US" altLang="zh-TW" sz="2400" i="1" smtClean="0"/>
              <a:t>E</a:t>
            </a:r>
            <a:r>
              <a:rPr lang="en-US" altLang="zh-TW" sz="2400" smtClean="0"/>
              <a:t>[ln </a:t>
            </a:r>
            <a:r>
              <a:rPr lang="en-US" altLang="zh-TW" sz="2400" i="1" smtClean="0"/>
              <a:t>P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Y </a:t>
            </a:r>
            <a:r>
              <a:rPr lang="en-US" altLang="zh-TW" sz="2400" smtClean="0"/>
              <a:t>|</a:t>
            </a:r>
            <a:r>
              <a:rPr lang="en-US" altLang="zh-TW" sz="2400" i="1" smtClean="0"/>
              <a:t>h’</a:t>
            </a:r>
            <a:r>
              <a:rPr lang="en-US" altLang="zh-TW" sz="2400" smtClean="0"/>
              <a:t>)|</a:t>
            </a:r>
            <a:r>
              <a:rPr lang="en-US" altLang="zh-TW" sz="2400" i="1" smtClean="0"/>
              <a:t>h,X</a:t>
            </a:r>
            <a:r>
              <a:rPr lang="en-US" altLang="zh-TW" sz="2400" smtClean="0"/>
              <a:t>]</a:t>
            </a:r>
          </a:p>
          <a:p>
            <a:pPr lvl="1" eaLnBrk="1" hangingPunct="1"/>
            <a:r>
              <a:rPr lang="en-US" altLang="zh-TW" sz="2400" i="1" smtClean="0"/>
              <a:t>Maximization </a:t>
            </a:r>
            <a:r>
              <a:rPr lang="en-US" altLang="zh-TW" sz="2400" smtClean="0"/>
              <a:t>(</a:t>
            </a:r>
            <a:r>
              <a:rPr lang="en-US" altLang="zh-TW" sz="2400" i="1" smtClean="0"/>
              <a:t>M</a:t>
            </a:r>
            <a:r>
              <a:rPr lang="en-US" altLang="zh-TW" sz="2400" smtClean="0"/>
              <a:t>) </a:t>
            </a:r>
            <a:r>
              <a:rPr lang="en-US" altLang="zh-TW" sz="2400" i="1" smtClean="0"/>
              <a:t>step</a:t>
            </a:r>
            <a:r>
              <a:rPr lang="en-US" altLang="zh-TW" sz="2400" smtClean="0"/>
              <a:t>: Replace hypothesis h by the hypothesis h’ that maximizes this Q function</a:t>
            </a:r>
          </a:p>
        </p:txBody>
      </p:sp>
      <p:graphicFrame>
        <p:nvGraphicFramePr>
          <p:cNvPr id="3379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6439163"/>
              </p:ext>
            </p:extLst>
          </p:nvPr>
        </p:nvGraphicFramePr>
        <p:xfrm>
          <a:off x="3059831" y="5157142"/>
          <a:ext cx="3164187" cy="7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65" name="方程式" r:id="rId4" imgW="1333440" imgH="330120" progId="Equation.3">
                  <p:embed/>
                </p:oleObj>
              </mc:Choice>
              <mc:Fallback>
                <p:oleObj name="方程式" r:id="rId4" imgW="1333440" imgH="33012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831" y="5157142"/>
                        <a:ext cx="3164187" cy="792137"/>
                      </a:xfrm>
                      <a:prstGeom prst="rect">
                        <a:avLst/>
                      </a:prstGeom>
                      <a:noFill/>
                      <a:extLst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肥皂">
  <a:themeElements>
    <a:clrScheme name="肥皂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肥皂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肥皂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肥皂</Template>
  <TotalTime>12706</TotalTime>
  <Words>3399</Words>
  <Application>Microsoft Office PowerPoint</Application>
  <PresentationFormat>如螢幕大小 (4:3)</PresentationFormat>
  <Paragraphs>544</Paragraphs>
  <Slides>81</Slides>
  <Notes>77</Notes>
  <HiddenSlides>0</HiddenSlides>
  <MMClips>0</MMClips>
  <ScaleCrop>false</ScaleCrop>
  <HeadingPairs>
    <vt:vector size="8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81</vt:i4>
      </vt:variant>
    </vt:vector>
  </HeadingPairs>
  <TitlesOfParts>
    <vt:vector size="91" baseType="lpstr">
      <vt:lpstr>SymbolMT</vt:lpstr>
      <vt:lpstr>新細明體</vt:lpstr>
      <vt:lpstr>Arial</vt:lpstr>
      <vt:lpstr>Cambria Math</vt:lpstr>
      <vt:lpstr>Century Gothic</vt:lpstr>
      <vt:lpstr>Garamond</vt:lpstr>
      <vt:lpstr>Wingdings</vt:lpstr>
      <vt:lpstr>肥皂</vt:lpstr>
      <vt:lpstr>方程式</vt:lpstr>
      <vt:lpstr>Equation</vt:lpstr>
      <vt:lpstr>Bayesian Learning</vt:lpstr>
      <vt:lpstr>Basic Formulas for Probabilities</vt:lpstr>
      <vt:lpstr>Joint Probability Distributions</vt:lpstr>
      <vt:lpstr>Learning the Joint Distribution</vt:lpstr>
      <vt:lpstr>Estimating Probabilities</vt:lpstr>
      <vt:lpstr>PowerPoint 簡報</vt:lpstr>
      <vt:lpstr>Features of Bayesian Learning</vt:lpstr>
      <vt:lpstr>Features of Bayesian Learning</vt:lpstr>
      <vt:lpstr>Practical Difficulty</vt:lpstr>
      <vt:lpstr>Bayes Theorem</vt:lpstr>
      <vt:lpstr>Choosing Hypotheses</vt:lpstr>
      <vt:lpstr>Choosing Hypotheses</vt:lpstr>
      <vt:lpstr>Bayes Theorem - Example</vt:lpstr>
      <vt:lpstr>Bayes Theorem - Example</vt:lpstr>
      <vt:lpstr>Brute Force MAP Hypothesis Learner</vt:lpstr>
      <vt:lpstr>Learning A Real Valued Function</vt:lpstr>
      <vt:lpstr>Learning A Real Valued Function</vt:lpstr>
      <vt:lpstr>Learning A Real Valued Function</vt:lpstr>
      <vt:lpstr>Learning to Predict Probabilities</vt:lpstr>
      <vt:lpstr>Learning to Predict Probabilities</vt:lpstr>
      <vt:lpstr>Minimum Description Length Principle</vt:lpstr>
      <vt:lpstr>Minimum Description Length Principle</vt:lpstr>
      <vt:lpstr>Minimum Description Length Principle</vt:lpstr>
      <vt:lpstr>Minimum Description Length Principle</vt:lpstr>
      <vt:lpstr>Most Probable Classification of New Instances</vt:lpstr>
      <vt:lpstr>Most Probable Classification of New Instances</vt:lpstr>
      <vt:lpstr>Bayes Optimal Classifier</vt:lpstr>
      <vt:lpstr>Bayes Optimal Classifier</vt:lpstr>
      <vt:lpstr>Bayes Optimal Classifier</vt:lpstr>
      <vt:lpstr>Gibbs Classifier</vt:lpstr>
      <vt:lpstr>Gibbs Classifier</vt:lpstr>
      <vt:lpstr>Naive Bayes Classifier</vt:lpstr>
      <vt:lpstr>Naive Bayes Classifier</vt:lpstr>
      <vt:lpstr>Naive Bayes Classifier</vt:lpstr>
      <vt:lpstr>Naive Bayes Algorithm</vt:lpstr>
      <vt:lpstr>Naive Bayes: Example</vt:lpstr>
      <vt:lpstr>Naive Bayes: Example</vt:lpstr>
      <vt:lpstr>Naive Bayes: Example</vt:lpstr>
      <vt:lpstr>Naive Bayes: Subtleties</vt:lpstr>
      <vt:lpstr>Naive Bayes: Subtleties</vt:lpstr>
      <vt:lpstr>Naive Bayes: Subtleties</vt:lpstr>
      <vt:lpstr>Learning to Classify Text</vt:lpstr>
      <vt:lpstr>Learning to Classify Text</vt:lpstr>
      <vt:lpstr>Learning to Classify Text</vt:lpstr>
      <vt:lpstr>Learning to Classify Text</vt:lpstr>
      <vt:lpstr>Learning to Classify Text</vt:lpstr>
      <vt:lpstr>Learning to Classify Text</vt:lpstr>
      <vt:lpstr>Learning to Classify Text</vt:lpstr>
      <vt:lpstr>Learning to Classify Text</vt:lpstr>
      <vt:lpstr>Experiment</vt:lpstr>
      <vt:lpstr>Experiment</vt:lpstr>
      <vt:lpstr>Learning Curve for 20 Newsgroups</vt:lpstr>
      <vt:lpstr>Bayesian Belief Networks</vt:lpstr>
      <vt:lpstr>Conditional Independence</vt:lpstr>
      <vt:lpstr>Conditional Independence</vt:lpstr>
      <vt:lpstr>Bayesian Belief Network</vt:lpstr>
      <vt:lpstr>Bayesian Belief Network</vt:lpstr>
      <vt:lpstr>Bayesian Belief Network</vt:lpstr>
      <vt:lpstr>Inference in Bayesian Networks</vt:lpstr>
      <vt:lpstr>Inference in Bayesian Networks</vt:lpstr>
      <vt:lpstr>Inference in Bayesian Networks</vt:lpstr>
      <vt:lpstr>Patterns of Inference in Bayesian Networks</vt:lpstr>
      <vt:lpstr>Patterns of Inference in Bayesian Networks</vt:lpstr>
      <vt:lpstr>Patterns of Inference in Bayesian Networks</vt:lpstr>
      <vt:lpstr>Learning of Bayesian Networks</vt:lpstr>
      <vt:lpstr>Learning of Bayesian Networks</vt:lpstr>
      <vt:lpstr>Gradient Ascent for Bayes Nets</vt:lpstr>
      <vt:lpstr>Gradient Ascent for Bayes Nets</vt:lpstr>
      <vt:lpstr>More on learning Bayes Nets</vt:lpstr>
      <vt:lpstr>More on learning Bayes Nets</vt:lpstr>
      <vt:lpstr>Summary: Bayesian Belief Networks</vt:lpstr>
      <vt:lpstr>Expectation Maximization (EM)</vt:lpstr>
      <vt:lpstr>Generating Data from Mixture of k Gaussians</vt:lpstr>
      <vt:lpstr>EM for Estimating k Means</vt:lpstr>
      <vt:lpstr>EM for Estimating k Means</vt:lpstr>
      <vt:lpstr>EM for Estimating k Means</vt:lpstr>
      <vt:lpstr>EM for Estimating k Means</vt:lpstr>
      <vt:lpstr>EM Algorithm</vt:lpstr>
      <vt:lpstr>General EM Problem</vt:lpstr>
      <vt:lpstr>General EM Method</vt:lpstr>
      <vt:lpstr>General EM Method</vt:lpstr>
    </vt:vector>
  </TitlesOfParts>
  <Company>TCU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 6  Bayesian Learning</dc:title>
  <dc:creator>denislin</dc:creator>
  <cp:lastModifiedBy>denislin</cp:lastModifiedBy>
  <cp:revision>228</cp:revision>
  <dcterms:created xsi:type="dcterms:W3CDTF">2005-10-31T02:43:21Z</dcterms:created>
  <dcterms:modified xsi:type="dcterms:W3CDTF">2019-09-21T09:32:10Z</dcterms:modified>
</cp:coreProperties>
</file>