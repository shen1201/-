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77" r:id="rId11"/>
    <p:sldId id="265" r:id="rId12"/>
    <p:sldId id="266" r:id="rId13"/>
    <p:sldId id="267" r:id="rId14"/>
    <p:sldId id="278" r:id="rId15"/>
    <p:sldId id="268" r:id="rId16"/>
    <p:sldId id="269" r:id="rId17"/>
    <p:sldId id="270" r:id="rId18"/>
    <p:sldId id="271" r:id="rId19"/>
    <p:sldId id="272" r:id="rId20"/>
    <p:sldId id="273" r:id="rId21"/>
    <p:sldId id="274" r:id="rId22"/>
    <p:sldId id="275" r:id="rId23"/>
    <p:sldId id="276" r:id="rId24"/>
    <p:sldId id="279" r:id="rId25"/>
    <p:sldId id="280" r:id="rId26"/>
    <p:sldId id="281" r:id="rId27"/>
    <p:sldId id="282" r:id="rId28"/>
    <p:sldId id="284" r:id="rId2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8" autoAdjust="0"/>
    <p:restoredTop sz="94660"/>
  </p:normalViewPr>
  <p:slideViewPr>
    <p:cSldViewPr snapToGrid="0">
      <p:cViewPr varScale="1">
        <p:scale>
          <a:sx n="114" d="100"/>
          <a:sy n="114" d="100"/>
        </p:scale>
        <p:origin x="120" y="5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B0CCE2-A0A1-4250-9337-2CE395E76235}" type="datetimeFigureOut">
              <a:rPr lang="zh-TW" altLang="en-US" smtClean="0"/>
              <a:t>2022/10/16</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4601E4-F0BB-41D8-BA3C-3A73F8475C61}" type="slidenum">
              <a:rPr lang="zh-TW" altLang="en-US" smtClean="0"/>
              <a:t>‹#›</a:t>
            </a:fld>
            <a:endParaRPr lang="zh-TW" altLang="en-US"/>
          </a:p>
        </p:txBody>
      </p:sp>
    </p:spTree>
    <p:extLst>
      <p:ext uri="{BB962C8B-B14F-4D97-AF65-F5344CB8AC3E}">
        <p14:creationId xmlns:p14="http://schemas.microsoft.com/office/powerpoint/2010/main" val="33088979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D5829C33-3ECA-4C2C-945D-6F8696E0305F}" type="datetime1">
              <a:rPr lang="zh-TW" altLang="en-US" smtClean="0"/>
              <a:t>2022/10/16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A42122C-B539-4F52-99F7-B4BD00FBCCAD}" type="slidenum">
              <a:rPr lang="zh-TW" altLang="en-US" smtClean="0"/>
              <a:t>‹#›</a:t>
            </a:fld>
            <a:endParaRPr lang="zh-TW" altLang="en-US"/>
          </a:p>
        </p:txBody>
      </p:sp>
    </p:spTree>
    <p:extLst>
      <p:ext uri="{BB962C8B-B14F-4D97-AF65-F5344CB8AC3E}">
        <p14:creationId xmlns:p14="http://schemas.microsoft.com/office/powerpoint/2010/main" val="1629408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272B680-B68C-45DF-907D-7528FC66BDDA}" type="datetime1">
              <a:rPr lang="zh-TW" altLang="en-US" smtClean="0"/>
              <a:t>2022/10/16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A42122C-B539-4F52-99F7-B4BD00FBCCAD}" type="slidenum">
              <a:rPr lang="zh-TW" altLang="en-US" smtClean="0"/>
              <a:t>‹#›</a:t>
            </a:fld>
            <a:endParaRPr lang="zh-TW" altLang="en-US"/>
          </a:p>
        </p:txBody>
      </p:sp>
    </p:spTree>
    <p:extLst>
      <p:ext uri="{BB962C8B-B14F-4D97-AF65-F5344CB8AC3E}">
        <p14:creationId xmlns:p14="http://schemas.microsoft.com/office/powerpoint/2010/main" val="5361992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編輯母片文字樣式</a:t>
            </a:r>
          </a:p>
        </p:txBody>
      </p:sp>
      <p:sp>
        <p:nvSpPr>
          <p:cNvPr id="4" name="日期版面配置區 3"/>
          <p:cNvSpPr>
            <a:spLocks noGrp="1"/>
          </p:cNvSpPr>
          <p:nvPr>
            <p:ph type="dt" sz="half" idx="10"/>
          </p:nvPr>
        </p:nvSpPr>
        <p:spPr/>
        <p:txBody>
          <a:bodyPr/>
          <a:lstStyle/>
          <a:p>
            <a:fld id="{19F74332-28D7-4A01-AB1D-7EEF18195AEF}" type="datetime1">
              <a:rPr lang="zh-TW" altLang="en-US" smtClean="0"/>
              <a:t>2022/10/16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A42122C-B539-4F52-99F7-B4BD00FBCCAD}" type="slidenum">
              <a:rPr lang="zh-TW" altLang="en-US" smtClean="0"/>
              <a:t>‹#›</a:t>
            </a:fld>
            <a:endParaRPr lang="zh-TW" altLang="en-US"/>
          </a:p>
        </p:txBody>
      </p:sp>
    </p:spTree>
    <p:extLst>
      <p:ext uri="{BB962C8B-B14F-4D97-AF65-F5344CB8AC3E}">
        <p14:creationId xmlns:p14="http://schemas.microsoft.com/office/powerpoint/2010/main" val="35169893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838200" y="1825625"/>
            <a:ext cx="5181600" cy="4351338"/>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172200" y="1825625"/>
            <a:ext cx="5181600" cy="4351338"/>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B9B0DDE2-A1C2-49C0-8179-C575BBE3856B}" type="datetime1">
              <a:rPr lang="zh-TW" altLang="en-US" smtClean="0"/>
              <a:t>2022/10/16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A42122C-B539-4F52-99F7-B4BD00FBCCAD}" type="slidenum">
              <a:rPr lang="zh-TW" altLang="en-US" smtClean="0"/>
              <a:t>‹#›</a:t>
            </a:fld>
            <a:endParaRPr lang="zh-TW" altLang="en-US"/>
          </a:p>
        </p:txBody>
      </p:sp>
    </p:spTree>
    <p:extLst>
      <p:ext uri="{BB962C8B-B14F-4D97-AF65-F5344CB8AC3E}">
        <p14:creationId xmlns:p14="http://schemas.microsoft.com/office/powerpoint/2010/main" val="1059222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18C897F1-8BD2-45DF-A851-8EA4D927A8A2}" type="datetime1">
              <a:rPr lang="zh-TW" altLang="en-US" smtClean="0"/>
              <a:t>2022/10/16</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5A42122C-B539-4F52-99F7-B4BD00FBCCAD}" type="slidenum">
              <a:rPr lang="zh-TW" altLang="en-US" smtClean="0"/>
              <a:t>‹#›</a:t>
            </a:fld>
            <a:endParaRPr lang="zh-TW" altLang="en-US"/>
          </a:p>
        </p:txBody>
      </p:sp>
    </p:spTree>
    <p:extLst>
      <p:ext uri="{BB962C8B-B14F-4D97-AF65-F5344CB8AC3E}">
        <p14:creationId xmlns:p14="http://schemas.microsoft.com/office/powerpoint/2010/main" val="482121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4E0D1887-3147-440E-AA8C-4A34FE5BE6B9}" type="datetime1">
              <a:rPr lang="zh-TW" altLang="en-US" smtClean="0"/>
              <a:t>2022/10/16</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5A42122C-B539-4F52-99F7-B4BD00FBCCAD}" type="slidenum">
              <a:rPr lang="zh-TW" altLang="en-US" smtClean="0"/>
              <a:t>‹#›</a:t>
            </a:fld>
            <a:endParaRPr lang="zh-TW" altLang="en-US"/>
          </a:p>
        </p:txBody>
      </p:sp>
    </p:spTree>
    <p:extLst>
      <p:ext uri="{BB962C8B-B14F-4D97-AF65-F5344CB8AC3E}">
        <p14:creationId xmlns:p14="http://schemas.microsoft.com/office/powerpoint/2010/main" val="4042351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99453562-8D9B-4C7D-BFC4-32FF4C813F4F}" type="datetime1">
              <a:rPr lang="zh-TW" altLang="en-US" smtClean="0"/>
              <a:t>2022/10/16</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5A42122C-B539-4F52-99F7-B4BD00FBCCAD}" type="slidenum">
              <a:rPr lang="zh-TW" altLang="en-US" smtClean="0"/>
              <a:t>‹#›</a:t>
            </a:fld>
            <a:endParaRPr lang="zh-TW" altLang="en-US"/>
          </a:p>
        </p:txBody>
      </p:sp>
    </p:spTree>
    <p:extLst>
      <p:ext uri="{BB962C8B-B14F-4D97-AF65-F5344CB8AC3E}">
        <p14:creationId xmlns:p14="http://schemas.microsoft.com/office/powerpoint/2010/main" val="832714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編輯母片文字樣式</a:t>
            </a:r>
          </a:p>
        </p:txBody>
      </p:sp>
      <p:sp>
        <p:nvSpPr>
          <p:cNvPr id="5" name="日期版面配置區 4"/>
          <p:cNvSpPr>
            <a:spLocks noGrp="1"/>
          </p:cNvSpPr>
          <p:nvPr>
            <p:ph type="dt" sz="half" idx="10"/>
          </p:nvPr>
        </p:nvSpPr>
        <p:spPr/>
        <p:txBody>
          <a:bodyPr/>
          <a:lstStyle/>
          <a:p>
            <a:fld id="{ADED4542-C4E5-4023-9E1C-9FD52FC1D00B}" type="datetime1">
              <a:rPr lang="zh-TW" altLang="en-US" smtClean="0"/>
              <a:t>2022/10/16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A42122C-B539-4F52-99F7-B4BD00FBCCAD}" type="slidenum">
              <a:rPr lang="zh-TW" altLang="en-US" smtClean="0"/>
              <a:t>‹#›</a:t>
            </a:fld>
            <a:endParaRPr lang="zh-TW" altLang="en-US"/>
          </a:p>
        </p:txBody>
      </p:sp>
    </p:spTree>
    <p:extLst>
      <p:ext uri="{BB962C8B-B14F-4D97-AF65-F5344CB8AC3E}">
        <p14:creationId xmlns:p14="http://schemas.microsoft.com/office/powerpoint/2010/main" val="1961504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編輯母片文字樣式</a:t>
            </a:r>
          </a:p>
        </p:txBody>
      </p:sp>
      <p:sp>
        <p:nvSpPr>
          <p:cNvPr id="5" name="日期版面配置區 4"/>
          <p:cNvSpPr>
            <a:spLocks noGrp="1"/>
          </p:cNvSpPr>
          <p:nvPr>
            <p:ph type="dt" sz="half" idx="10"/>
          </p:nvPr>
        </p:nvSpPr>
        <p:spPr/>
        <p:txBody>
          <a:bodyPr/>
          <a:lstStyle/>
          <a:p>
            <a:fld id="{C7133CC0-ED58-434B-A491-9E0777B50509}" type="datetime1">
              <a:rPr lang="zh-TW" altLang="en-US" smtClean="0"/>
              <a:t>2022/10/16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A42122C-B539-4F52-99F7-B4BD00FBCCAD}" type="slidenum">
              <a:rPr lang="zh-TW" altLang="en-US" smtClean="0"/>
              <a:t>‹#›</a:t>
            </a:fld>
            <a:endParaRPr lang="zh-TW" altLang="en-US"/>
          </a:p>
        </p:txBody>
      </p:sp>
    </p:spTree>
    <p:extLst>
      <p:ext uri="{BB962C8B-B14F-4D97-AF65-F5344CB8AC3E}">
        <p14:creationId xmlns:p14="http://schemas.microsoft.com/office/powerpoint/2010/main" val="2431231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21E265F-280D-456D-830C-F47175FCBA8C}" type="datetime1">
              <a:rPr lang="zh-TW" altLang="en-US" smtClean="0"/>
              <a:t>2022/10/16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A42122C-B539-4F52-99F7-B4BD00FBCCAD}" type="slidenum">
              <a:rPr lang="zh-TW" altLang="en-US" smtClean="0"/>
              <a:t>‹#›</a:t>
            </a:fld>
            <a:endParaRPr lang="zh-TW" altLang="en-US"/>
          </a:p>
        </p:txBody>
      </p:sp>
    </p:spTree>
    <p:extLst>
      <p:ext uri="{BB962C8B-B14F-4D97-AF65-F5344CB8AC3E}">
        <p14:creationId xmlns:p14="http://schemas.microsoft.com/office/powerpoint/2010/main" val="1569341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89D0F700-E033-4813-B7E6-5E07EF026583}" type="datetime1">
              <a:rPr lang="zh-TW" altLang="en-US" smtClean="0"/>
              <a:t>2022/10/16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A42122C-B539-4F52-99F7-B4BD00FBCCAD}" type="slidenum">
              <a:rPr lang="zh-TW" altLang="en-US" smtClean="0"/>
              <a:t>‹#›</a:t>
            </a:fld>
            <a:endParaRPr lang="zh-TW" altLang="en-US"/>
          </a:p>
        </p:txBody>
      </p:sp>
    </p:spTree>
    <p:extLst>
      <p:ext uri="{BB962C8B-B14F-4D97-AF65-F5344CB8AC3E}">
        <p14:creationId xmlns:p14="http://schemas.microsoft.com/office/powerpoint/2010/main" val="4276688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6C1552-4443-4296-AC6E-2F7D6BFC2EB5}" type="datetime1">
              <a:rPr lang="zh-TW" altLang="en-US" smtClean="0"/>
              <a:t>2022/10/16</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42122C-B539-4F52-99F7-B4BD00FBCCAD}" type="slidenum">
              <a:rPr lang="zh-TW" altLang="en-US" smtClean="0"/>
              <a:t>‹#›</a:t>
            </a:fld>
            <a:endParaRPr lang="zh-TW" altLang="en-US"/>
          </a:p>
        </p:txBody>
      </p:sp>
    </p:spTree>
    <p:extLst>
      <p:ext uri="{BB962C8B-B14F-4D97-AF65-F5344CB8AC3E}">
        <p14:creationId xmlns:p14="http://schemas.microsoft.com/office/powerpoint/2010/main" val="229741609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Microsoft/cntk" TargetMode="External"/><Relationship Id="rId2" Type="http://schemas.openxmlformats.org/officeDocument/2006/relationships/hyperlink" Target="https://github.com/tensorflow/tensorflow" TargetMode="External"/><Relationship Id="rId1" Type="http://schemas.openxmlformats.org/officeDocument/2006/relationships/slideLayout" Target="../slideLayouts/slideLayout2.xml"/><Relationship Id="rId4" Type="http://schemas.openxmlformats.org/officeDocument/2006/relationships/hyperlink" Target="https://github.com/Theano/Theano"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docs.anaconda.com/anaconda/navigator/getting-started/" TargetMode="External"/><Relationship Id="rId2" Type="http://schemas.openxmlformats.org/officeDocument/2006/relationships/hyperlink" Target="https://www.anaconda.com/distribution/"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nbviewer.jupyter.org/github/jupyter/notebook/blob/master/docs/source/examples/Notebook/Notebook%20Basics.ipynb"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developer.nvidia.com/cudnn" TargetMode="External"/><Relationship Id="rId2" Type="http://schemas.openxmlformats.org/officeDocument/2006/relationships/hyperlink" Target="https://developer.nvidia.com/cuda-downloads"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a:bodyPr>
          <a:lstStyle/>
          <a:p>
            <a:r>
              <a:rPr lang="en-US" altLang="zh-TW" sz="4400" smtClean="0"/>
              <a:t>TensorFlow and Keras</a:t>
            </a:r>
            <a:endParaRPr lang="zh-TW" altLang="en-US" sz="4400"/>
          </a:p>
        </p:txBody>
      </p:sp>
      <p:sp>
        <p:nvSpPr>
          <p:cNvPr id="3" name="副標題 2"/>
          <p:cNvSpPr>
            <a:spLocks noGrp="1"/>
          </p:cNvSpPr>
          <p:nvPr>
            <p:ph type="subTitle" idx="1"/>
          </p:nvPr>
        </p:nvSpPr>
        <p:spPr>
          <a:xfrm>
            <a:off x="2104781" y="4369400"/>
            <a:ext cx="7982437" cy="1239894"/>
          </a:xfrm>
        </p:spPr>
        <p:txBody>
          <a:bodyPr>
            <a:noAutofit/>
          </a:bodyPr>
          <a:lstStyle/>
          <a:p>
            <a:r>
              <a:rPr lang="en-US" altLang="zh-TW" sz="2800" smtClean="0"/>
              <a:t>Wen-Cheng Lin</a:t>
            </a:r>
          </a:p>
          <a:p>
            <a:r>
              <a:rPr lang="en-US" altLang="zh-TW" sz="2800" smtClean="0"/>
              <a:t>Department of Medical Informatics, Tzu Chi University</a:t>
            </a:r>
            <a:endParaRPr lang="zh-TW" altLang="en-US" sz="2800"/>
          </a:p>
        </p:txBody>
      </p:sp>
      <p:sp>
        <p:nvSpPr>
          <p:cNvPr id="4" name="投影片編號版面配置區 3"/>
          <p:cNvSpPr>
            <a:spLocks noGrp="1"/>
          </p:cNvSpPr>
          <p:nvPr>
            <p:ph type="sldNum" sz="quarter" idx="12"/>
          </p:nvPr>
        </p:nvSpPr>
        <p:spPr/>
        <p:txBody>
          <a:bodyPr/>
          <a:lstStyle/>
          <a:p>
            <a:fld id="{5A42122C-B539-4F52-99F7-B4BD00FBCCAD}" type="slidenum">
              <a:rPr lang="zh-TW" altLang="en-US" smtClean="0"/>
              <a:t>1</a:t>
            </a:fld>
            <a:endParaRPr lang="zh-TW" altLang="en-US"/>
          </a:p>
        </p:txBody>
      </p:sp>
    </p:spTree>
    <p:extLst>
      <p:ext uri="{BB962C8B-B14F-4D97-AF65-F5344CB8AC3E}">
        <p14:creationId xmlns:p14="http://schemas.microsoft.com/office/powerpoint/2010/main" val="508048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TensorFlow</a:t>
            </a:r>
            <a:endParaRPr lang="zh-TW" altLang="en-US"/>
          </a:p>
        </p:txBody>
      </p:sp>
      <p:sp>
        <p:nvSpPr>
          <p:cNvPr id="3" name="內容版面配置區 2"/>
          <p:cNvSpPr>
            <a:spLocks noGrp="1"/>
          </p:cNvSpPr>
          <p:nvPr>
            <p:ph idx="1"/>
          </p:nvPr>
        </p:nvSpPr>
        <p:spPr/>
        <p:txBody>
          <a:bodyPr>
            <a:normAutofit/>
          </a:bodyPr>
          <a:lstStyle/>
          <a:p>
            <a:r>
              <a:rPr lang="en-US" altLang="zh-TW" sz="3200" smtClean="0"/>
              <a:t>An end-to-end open source machine learning platform</a:t>
            </a:r>
          </a:p>
          <a:p>
            <a:r>
              <a:rPr lang="en-US" altLang="zh-TW" sz="3200" smtClean="0"/>
              <a:t>Open </a:t>
            </a:r>
            <a:r>
              <a:rPr lang="en-US" altLang="zh-TW" sz="3200"/>
              <a:t>source library to help you develop and train ML models</a:t>
            </a:r>
            <a:endParaRPr lang="zh-TW" altLang="en-US" sz="3200"/>
          </a:p>
        </p:txBody>
      </p:sp>
      <p:pic>
        <p:nvPicPr>
          <p:cNvPr id="1026" name="Picture 2" descr="TensorFlow Laye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81512" y="3300412"/>
            <a:ext cx="3228975" cy="2876551"/>
          </a:xfrm>
          <a:prstGeom prst="rect">
            <a:avLst/>
          </a:prstGeom>
          <a:noFill/>
          <a:extLst>
            <a:ext uri="{909E8E84-426E-40DD-AFC4-6F175D3DCCD1}">
              <a14:hiddenFill xmlns:a14="http://schemas.microsoft.com/office/drawing/2010/main">
                <a:solidFill>
                  <a:srgbClr val="FFFFFF"/>
                </a:solidFill>
              </a14:hiddenFill>
            </a:ext>
          </a:extLst>
        </p:spPr>
      </p:pic>
      <p:sp>
        <p:nvSpPr>
          <p:cNvPr id="4" name="投影片編號版面配置區 3"/>
          <p:cNvSpPr>
            <a:spLocks noGrp="1"/>
          </p:cNvSpPr>
          <p:nvPr>
            <p:ph type="sldNum" sz="quarter" idx="12"/>
          </p:nvPr>
        </p:nvSpPr>
        <p:spPr/>
        <p:txBody>
          <a:bodyPr/>
          <a:lstStyle/>
          <a:p>
            <a:fld id="{5A42122C-B539-4F52-99F7-B4BD00FBCCAD}" type="slidenum">
              <a:rPr lang="zh-TW" altLang="en-US" smtClean="0"/>
              <a:t>2</a:t>
            </a:fld>
            <a:endParaRPr lang="zh-TW" altLang="en-US"/>
          </a:p>
        </p:txBody>
      </p:sp>
    </p:spTree>
    <p:extLst>
      <p:ext uri="{BB962C8B-B14F-4D97-AF65-F5344CB8AC3E}">
        <p14:creationId xmlns:p14="http://schemas.microsoft.com/office/powerpoint/2010/main" val="2119375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a:xfrm>
            <a:off x="838200" y="1825625"/>
            <a:ext cx="6485389" cy="4351338"/>
          </a:xfrm>
        </p:spPr>
        <p:txBody>
          <a:bodyPr>
            <a:normAutofit/>
          </a:bodyPr>
          <a:lstStyle/>
          <a:p>
            <a:r>
              <a:rPr lang="en-US" altLang="zh-TW" b="1"/>
              <a:t>Client</a:t>
            </a:r>
            <a:r>
              <a:rPr lang="en-US" altLang="zh-TW"/>
              <a:t>:</a:t>
            </a:r>
          </a:p>
          <a:p>
            <a:pPr lvl="1"/>
            <a:r>
              <a:rPr lang="en-US" altLang="zh-TW"/>
              <a:t>Defines the computation as a </a:t>
            </a:r>
            <a:r>
              <a:rPr lang="en-US" altLang="zh-TW">
                <a:solidFill>
                  <a:srgbClr val="FF0000"/>
                </a:solidFill>
              </a:rPr>
              <a:t>dataflow graph</a:t>
            </a:r>
            <a:r>
              <a:rPr lang="en-US" altLang="zh-TW" smtClean="0"/>
              <a:t>.</a:t>
            </a:r>
          </a:p>
          <a:p>
            <a:pPr lvl="2"/>
            <a:r>
              <a:rPr lang="en-US" altLang="zh-TW" smtClean="0"/>
              <a:t>Dataflow graph: Represent computation in terms of the dependencies between individual operations.</a:t>
            </a:r>
            <a:endParaRPr lang="en-US" altLang="zh-TW"/>
          </a:p>
          <a:p>
            <a:pPr lvl="1"/>
            <a:r>
              <a:rPr lang="en-US" altLang="zh-TW"/>
              <a:t>Initiates </a:t>
            </a:r>
            <a:r>
              <a:rPr lang="en-US" altLang="zh-TW">
                <a:solidFill>
                  <a:srgbClr val="FF0000"/>
                </a:solidFill>
              </a:rPr>
              <a:t>graph execution </a:t>
            </a:r>
            <a:r>
              <a:rPr lang="en-US" altLang="zh-TW"/>
              <a:t>using a session.</a:t>
            </a:r>
          </a:p>
          <a:p>
            <a:endParaRPr lang="zh-TW" altLang="en-US"/>
          </a:p>
        </p:txBody>
      </p:sp>
      <p:pic>
        <p:nvPicPr>
          <p:cNvPr id="4" name="Picture 2" descr="https://www.tensorflow.org/images/tensors_flowing.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8095057" y="658790"/>
            <a:ext cx="3258743" cy="5793321"/>
          </a:xfrm>
          <a:prstGeom prst="rect">
            <a:avLst/>
          </a:prstGeom>
          <a:noFill/>
          <a:extLst>
            <a:ext uri="{909E8E84-426E-40DD-AFC4-6F175D3DCCD1}">
              <a14:hiddenFill xmlns:a14="http://schemas.microsoft.com/office/drawing/2010/main">
                <a:solidFill>
                  <a:srgbClr val="FFFFFF"/>
                </a:solidFill>
              </a14:hiddenFill>
            </a:ext>
          </a:extLst>
        </p:spPr>
      </p:pic>
      <p:sp>
        <p:nvSpPr>
          <p:cNvPr id="5" name="投影片編號版面配置區 4"/>
          <p:cNvSpPr>
            <a:spLocks noGrp="1"/>
          </p:cNvSpPr>
          <p:nvPr>
            <p:ph type="sldNum" sz="quarter" idx="12"/>
          </p:nvPr>
        </p:nvSpPr>
        <p:spPr/>
        <p:txBody>
          <a:bodyPr/>
          <a:lstStyle/>
          <a:p>
            <a:fld id="{5A42122C-B539-4F52-99F7-B4BD00FBCCAD}" type="slidenum">
              <a:rPr lang="zh-TW" altLang="en-US" smtClean="0"/>
              <a:t>3</a:t>
            </a:fld>
            <a:endParaRPr lang="zh-TW" altLang="en-US"/>
          </a:p>
        </p:txBody>
      </p:sp>
    </p:spTree>
    <p:extLst>
      <p:ext uri="{BB962C8B-B14F-4D97-AF65-F5344CB8AC3E}">
        <p14:creationId xmlns:p14="http://schemas.microsoft.com/office/powerpoint/2010/main" val="1180038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fontScale="92500" lnSpcReduction="20000"/>
          </a:bodyPr>
          <a:lstStyle/>
          <a:p>
            <a:r>
              <a:rPr lang="en-US" altLang="zh-TW" b="1" smtClean="0"/>
              <a:t>Distributed Master</a:t>
            </a:r>
            <a:endParaRPr lang="en-US" altLang="zh-TW" smtClean="0"/>
          </a:p>
          <a:p>
            <a:pPr lvl="1"/>
            <a:r>
              <a:rPr lang="en-US" altLang="zh-TW" smtClean="0"/>
              <a:t>Prunes a specific subgraph from the graph, as defined by the arguments to Session.run().</a:t>
            </a:r>
          </a:p>
          <a:p>
            <a:pPr lvl="1"/>
            <a:r>
              <a:rPr lang="en-US" altLang="zh-TW" smtClean="0"/>
              <a:t>Partitions the subgraph into multiple pieces that run in different processes and devices.</a:t>
            </a:r>
          </a:p>
          <a:p>
            <a:pPr lvl="1"/>
            <a:r>
              <a:rPr lang="en-US" altLang="zh-TW" smtClean="0"/>
              <a:t>Distributes the graph pieces to worker services.</a:t>
            </a:r>
          </a:p>
          <a:p>
            <a:pPr lvl="1"/>
            <a:r>
              <a:rPr lang="en-US" altLang="zh-TW" smtClean="0"/>
              <a:t>Initiates graph piece execution by worker services.</a:t>
            </a:r>
          </a:p>
          <a:p>
            <a:r>
              <a:rPr lang="en-US" altLang="zh-TW" b="1" smtClean="0"/>
              <a:t>Worker </a:t>
            </a:r>
            <a:r>
              <a:rPr lang="en-US" altLang="zh-TW" b="1"/>
              <a:t>Services</a:t>
            </a:r>
            <a:r>
              <a:rPr lang="en-US" altLang="zh-TW"/>
              <a:t> (one for each task)</a:t>
            </a:r>
          </a:p>
          <a:p>
            <a:pPr lvl="1"/>
            <a:r>
              <a:rPr lang="en-US" altLang="zh-TW"/>
              <a:t>Schedule the execution of graph operations using kernel implementations appropriate to the available hardware (CPUs, GPUs, etc).</a:t>
            </a:r>
          </a:p>
          <a:p>
            <a:pPr lvl="1"/>
            <a:r>
              <a:rPr lang="en-US" altLang="zh-TW"/>
              <a:t>Send and receive operation results to and from other worker services.</a:t>
            </a:r>
          </a:p>
          <a:p>
            <a:r>
              <a:rPr lang="en-US" altLang="zh-TW" b="1"/>
              <a:t>Kernel Implementations</a:t>
            </a:r>
            <a:endParaRPr lang="en-US" altLang="zh-TW"/>
          </a:p>
          <a:p>
            <a:pPr lvl="1"/>
            <a:r>
              <a:rPr lang="en-US" altLang="zh-TW"/>
              <a:t>Perform the computation for individual graph operations.</a:t>
            </a:r>
          </a:p>
          <a:p>
            <a:endParaRPr lang="zh-TW" altLang="en-US"/>
          </a:p>
        </p:txBody>
      </p:sp>
      <p:sp>
        <p:nvSpPr>
          <p:cNvPr id="4" name="投影片編號版面配置區 3"/>
          <p:cNvSpPr>
            <a:spLocks noGrp="1"/>
          </p:cNvSpPr>
          <p:nvPr>
            <p:ph type="sldNum" sz="quarter" idx="12"/>
          </p:nvPr>
        </p:nvSpPr>
        <p:spPr/>
        <p:txBody>
          <a:bodyPr/>
          <a:lstStyle/>
          <a:p>
            <a:fld id="{5A42122C-B539-4F52-99F7-B4BD00FBCCAD}" type="slidenum">
              <a:rPr lang="zh-TW" altLang="en-US" smtClean="0"/>
              <a:t>4</a:t>
            </a:fld>
            <a:endParaRPr lang="zh-TW" altLang="en-US"/>
          </a:p>
        </p:txBody>
      </p:sp>
    </p:spTree>
    <p:extLst>
      <p:ext uri="{BB962C8B-B14F-4D97-AF65-F5344CB8AC3E}">
        <p14:creationId xmlns:p14="http://schemas.microsoft.com/office/powerpoint/2010/main" val="1921511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a:t>A </a:t>
            </a:r>
            <a:r>
              <a:rPr lang="en-US" altLang="zh-TW" b="1"/>
              <a:t>tensor</a:t>
            </a:r>
            <a:r>
              <a:rPr lang="en-US" altLang="zh-TW"/>
              <a:t> is a generalization of vectors and matrices to potentially higher dimensions. </a:t>
            </a:r>
            <a:endParaRPr lang="en-US" altLang="zh-TW" smtClean="0"/>
          </a:p>
          <a:p>
            <a:pPr lvl="1"/>
            <a:r>
              <a:rPr lang="en-US" altLang="zh-TW" smtClean="0"/>
              <a:t>Internally</a:t>
            </a:r>
            <a:r>
              <a:rPr lang="en-US" altLang="zh-TW"/>
              <a:t>, TensorFlow represents tensors as n-dimensional arrays of base datatypes</a:t>
            </a:r>
            <a:r>
              <a:rPr lang="en-US" altLang="zh-TW" smtClean="0"/>
              <a:t>.</a:t>
            </a:r>
          </a:p>
          <a:p>
            <a:r>
              <a:rPr lang="en-US" altLang="zh-TW" smtClean="0"/>
              <a:t>A tf.Tensor has the following properties:</a:t>
            </a:r>
          </a:p>
          <a:p>
            <a:pPr lvl="1"/>
            <a:r>
              <a:rPr lang="en-US" altLang="zh-TW" smtClean="0"/>
              <a:t>a data type (float32, int32, or string, for example)</a:t>
            </a:r>
          </a:p>
          <a:p>
            <a:pPr lvl="1"/>
            <a:r>
              <a:rPr lang="en-US" altLang="zh-TW" smtClean="0"/>
              <a:t>a shape</a:t>
            </a:r>
          </a:p>
          <a:p>
            <a:pPr lvl="2"/>
            <a:r>
              <a:rPr lang="en-US" altLang="zh-TW"/>
              <a:t>the number of dimensions </a:t>
            </a:r>
            <a:r>
              <a:rPr lang="en-US" altLang="zh-TW" smtClean="0"/>
              <a:t>(rank) and </a:t>
            </a:r>
            <a:r>
              <a:rPr lang="en-US" altLang="zh-TW"/>
              <a:t>the size of each dimension</a:t>
            </a:r>
            <a:endParaRPr lang="en-US" altLang="zh-TW" smtClean="0"/>
          </a:p>
        </p:txBody>
      </p:sp>
      <p:graphicFrame>
        <p:nvGraphicFramePr>
          <p:cNvPr id="7" name="表格 6"/>
          <p:cNvGraphicFramePr>
            <a:graphicFrameLocks noGrp="1"/>
          </p:cNvGraphicFramePr>
          <p:nvPr>
            <p:extLst>
              <p:ext uri="{D42A27DB-BD31-4B8C-83A1-F6EECF244321}">
                <p14:modId xmlns:p14="http://schemas.microsoft.com/office/powerpoint/2010/main" val="460492687"/>
              </p:ext>
            </p:extLst>
          </p:nvPr>
        </p:nvGraphicFramePr>
        <p:xfrm>
          <a:off x="8875552" y="4536015"/>
          <a:ext cx="3182223" cy="2146935"/>
        </p:xfrm>
        <a:graphic>
          <a:graphicData uri="http://schemas.openxmlformats.org/drawingml/2006/table">
            <a:tbl>
              <a:tblPr/>
              <a:tblGrid>
                <a:gridCol w="566281">
                  <a:extLst>
                    <a:ext uri="{9D8B030D-6E8A-4147-A177-3AD203B41FA5}">
                      <a16:colId xmlns:a16="http://schemas.microsoft.com/office/drawing/2014/main" val="1858285878"/>
                    </a:ext>
                  </a:extLst>
                </a:gridCol>
                <a:gridCol w="2615942">
                  <a:extLst>
                    <a:ext uri="{9D8B030D-6E8A-4147-A177-3AD203B41FA5}">
                      <a16:colId xmlns:a16="http://schemas.microsoft.com/office/drawing/2014/main" val="526960804"/>
                    </a:ext>
                  </a:extLst>
                </a:gridCol>
              </a:tblGrid>
              <a:tr h="0">
                <a:tc>
                  <a:txBody>
                    <a:bodyPr/>
                    <a:lstStyle/>
                    <a:p>
                      <a:pPr algn="l" fontAlgn="ctr"/>
                      <a:r>
                        <a:rPr lang="en-US" sz="1400" b="0">
                          <a:solidFill>
                            <a:srgbClr val="202124"/>
                          </a:solidFill>
                          <a:effectLst/>
                          <a:latin typeface="Roboto"/>
                        </a:rPr>
                        <a:t>Rank</a:t>
                      </a:r>
                    </a:p>
                  </a:txBody>
                  <a:tcPr marL="76200" marR="76200" marT="76200" marB="7620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8EAED"/>
                    </a:solidFill>
                  </a:tcPr>
                </a:tc>
                <a:tc>
                  <a:txBody>
                    <a:bodyPr/>
                    <a:lstStyle/>
                    <a:p>
                      <a:pPr algn="l" fontAlgn="ctr"/>
                      <a:r>
                        <a:rPr lang="en-US" sz="1400" b="0">
                          <a:solidFill>
                            <a:srgbClr val="202124"/>
                          </a:solidFill>
                          <a:effectLst/>
                          <a:latin typeface="Roboto"/>
                        </a:rPr>
                        <a:t>Math entity</a:t>
                      </a:r>
                    </a:p>
                  </a:txBody>
                  <a:tcPr marL="76200" marR="76200" marT="76200" marB="7620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8EAED"/>
                    </a:solidFill>
                  </a:tcPr>
                </a:tc>
                <a:extLst>
                  <a:ext uri="{0D108BD9-81ED-4DB2-BD59-A6C34878D82A}">
                    <a16:rowId xmlns:a16="http://schemas.microsoft.com/office/drawing/2014/main" val="1734994699"/>
                  </a:ext>
                </a:extLst>
              </a:tr>
              <a:tr h="0">
                <a:tc>
                  <a:txBody>
                    <a:bodyPr/>
                    <a:lstStyle/>
                    <a:p>
                      <a:pPr fontAlgn="t"/>
                      <a:r>
                        <a:rPr lang="en-US" altLang="zh-TW" sz="1400">
                          <a:effectLst/>
                        </a:rPr>
                        <a:t>0</a:t>
                      </a:r>
                    </a:p>
                  </a:txBody>
                  <a:tcPr marL="76200" marR="76200" marT="66675" marB="76200">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400">
                          <a:effectLst/>
                        </a:rPr>
                        <a:t>Scalar (magnitude only)</a:t>
                      </a:r>
                    </a:p>
                  </a:txBody>
                  <a:tcPr marL="76200" marR="76200" marT="66675" marB="76200">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360732869"/>
                  </a:ext>
                </a:extLst>
              </a:tr>
              <a:tr h="0">
                <a:tc>
                  <a:txBody>
                    <a:bodyPr/>
                    <a:lstStyle/>
                    <a:p>
                      <a:pPr fontAlgn="t"/>
                      <a:r>
                        <a:rPr lang="en-US" altLang="zh-TW" sz="1400">
                          <a:effectLst/>
                        </a:rPr>
                        <a:t>1</a:t>
                      </a:r>
                    </a:p>
                  </a:txBody>
                  <a:tcPr marL="76200" marR="76200" marT="66675" marB="76200">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400">
                          <a:effectLst/>
                        </a:rPr>
                        <a:t>Vector (magnitude and direction)</a:t>
                      </a:r>
                    </a:p>
                  </a:txBody>
                  <a:tcPr marL="76200" marR="76200" marT="66675" marB="76200">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093466434"/>
                  </a:ext>
                </a:extLst>
              </a:tr>
              <a:tr h="0">
                <a:tc>
                  <a:txBody>
                    <a:bodyPr/>
                    <a:lstStyle/>
                    <a:p>
                      <a:pPr fontAlgn="t"/>
                      <a:r>
                        <a:rPr lang="en-US" altLang="zh-TW" sz="1400">
                          <a:effectLst/>
                        </a:rPr>
                        <a:t>2</a:t>
                      </a:r>
                    </a:p>
                  </a:txBody>
                  <a:tcPr marL="76200" marR="76200" marT="66675" marB="76200">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400">
                          <a:effectLst/>
                        </a:rPr>
                        <a:t>Matrix (table of numbers)</a:t>
                      </a:r>
                    </a:p>
                  </a:txBody>
                  <a:tcPr marL="76200" marR="76200" marT="66675" marB="76200">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9323749"/>
                  </a:ext>
                </a:extLst>
              </a:tr>
              <a:tr h="0">
                <a:tc>
                  <a:txBody>
                    <a:bodyPr/>
                    <a:lstStyle/>
                    <a:p>
                      <a:pPr fontAlgn="t"/>
                      <a:r>
                        <a:rPr lang="en-US" altLang="zh-TW" sz="1400">
                          <a:effectLst/>
                        </a:rPr>
                        <a:t>3</a:t>
                      </a:r>
                    </a:p>
                  </a:txBody>
                  <a:tcPr marL="76200" marR="76200" marT="66675" marB="76200">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400">
                          <a:effectLst/>
                        </a:rPr>
                        <a:t>3-Tensor (cube of numbers)</a:t>
                      </a:r>
                    </a:p>
                  </a:txBody>
                  <a:tcPr marL="76200" marR="76200" marT="66675" marB="76200">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471646522"/>
                  </a:ext>
                </a:extLst>
              </a:tr>
              <a:tr h="0">
                <a:tc>
                  <a:txBody>
                    <a:bodyPr/>
                    <a:lstStyle/>
                    <a:p>
                      <a:pPr fontAlgn="t"/>
                      <a:r>
                        <a:rPr lang="en-US" sz="1400">
                          <a:effectLst/>
                        </a:rPr>
                        <a:t>n</a:t>
                      </a:r>
                    </a:p>
                  </a:txBody>
                  <a:tcPr marL="76200" marR="76200" marT="66675" marB="76200">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400">
                          <a:effectLst/>
                        </a:rPr>
                        <a:t>n-Tensor (you get the idea)</a:t>
                      </a:r>
                    </a:p>
                  </a:txBody>
                  <a:tcPr marL="76200" marR="76200" marT="66675" marB="76200">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41037787"/>
                  </a:ext>
                </a:extLst>
              </a:tr>
            </a:tbl>
          </a:graphicData>
        </a:graphic>
      </p:graphicFrame>
      <p:sp>
        <p:nvSpPr>
          <p:cNvPr id="4" name="投影片編號版面配置區 3"/>
          <p:cNvSpPr>
            <a:spLocks noGrp="1"/>
          </p:cNvSpPr>
          <p:nvPr>
            <p:ph type="sldNum" sz="quarter" idx="12"/>
          </p:nvPr>
        </p:nvSpPr>
        <p:spPr/>
        <p:txBody>
          <a:bodyPr/>
          <a:lstStyle/>
          <a:p>
            <a:fld id="{5A42122C-B539-4F52-99F7-B4BD00FBCCAD}" type="slidenum">
              <a:rPr lang="zh-TW" altLang="en-US" smtClean="0"/>
              <a:t>5</a:t>
            </a:fld>
            <a:endParaRPr lang="zh-TW" altLang="en-US"/>
          </a:p>
        </p:txBody>
      </p:sp>
    </p:spTree>
    <p:extLst>
      <p:ext uri="{BB962C8B-B14F-4D97-AF65-F5344CB8AC3E}">
        <p14:creationId xmlns:p14="http://schemas.microsoft.com/office/powerpoint/2010/main" val="2793127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Keras</a:t>
            </a:r>
            <a:endParaRPr lang="zh-TW" altLang="en-US"/>
          </a:p>
        </p:txBody>
      </p:sp>
      <p:sp>
        <p:nvSpPr>
          <p:cNvPr id="3" name="內容版面配置區 2"/>
          <p:cNvSpPr>
            <a:spLocks noGrp="1"/>
          </p:cNvSpPr>
          <p:nvPr>
            <p:ph idx="1"/>
          </p:nvPr>
        </p:nvSpPr>
        <p:spPr>
          <a:xfrm>
            <a:off x="838200" y="1825625"/>
            <a:ext cx="10515600" cy="4351338"/>
          </a:xfrm>
        </p:spPr>
        <p:txBody>
          <a:bodyPr/>
          <a:lstStyle/>
          <a:p>
            <a:r>
              <a:rPr lang="en-US" altLang="zh-TW" smtClean="0"/>
              <a:t>Keras is a high-level API to build and train deep learning models.</a:t>
            </a:r>
          </a:p>
          <a:p>
            <a:r>
              <a:rPr lang="en-US" altLang="zh-TW"/>
              <a:t>Keras is </a:t>
            </a:r>
            <a:r>
              <a:rPr lang="en-US" altLang="zh-TW" smtClean="0"/>
              <a:t>written </a:t>
            </a:r>
            <a:r>
              <a:rPr lang="en-US" altLang="zh-TW"/>
              <a:t>in Python and capable of running on top of </a:t>
            </a:r>
            <a:r>
              <a:rPr lang="en-US" altLang="zh-TW">
                <a:hlinkClick r:id="rId2"/>
              </a:rPr>
              <a:t>TensorFlow</a:t>
            </a:r>
            <a:r>
              <a:rPr lang="en-US" altLang="zh-TW"/>
              <a:t>, </a:t>
            </a:r>
            <a:r>
              <a:rPr lang="en-US" altLang="zh-TW">
                <a:hlinkClick r:id="rId3"/>
              </a:rPr>
              <a:t>CNTK</a:t>
            </a:r>
            <a:r>
              <a:rPr lang="en-US" altLang="zh-TW"/>
              <a:t>, or </a:t>
            </a:r>
            <a:r>
              <a:rPr lang="en-US" altLang="zh-TW">
                <a:hlinkClick r:id="rId4"/>
              </a:rPr>
              <a:t>Theano</a:t>
            </a:r>
            <a:r>
              <a:rPr lang="en-US" altLang="zh-TW" smtClean="0"/>
              <a:t>.</a:t>
            </a:r>
          </a:p>
          <a:p>
            <a:r>
              <a:rPr lang="en-US" altLang="zh-TW" smtClean="0"/>
              <a:t>Focus </a:t>
            </a:r>
            <a:r>
              <a:rPr lang="en-US" altLang="zh-TW"/>
              <a:t>on enabling fast </a:t>
            </a:r>
            <a:r>
              <a:rPr lang="en-US" altLang="zh-TW" smtClean="0"/>
              <a:t>experimentation.</a:t>
            </a:r>
          </a:p>
          <a:p>
            <a:pPr lvl="1"/>
            <a:r>
              <a:rPr lang="en-US" altLang="zh-TW" smtClean="0"/>
              <a:t>User friendliness, modularity, easy extensibility</a:t>
            </a:r>
          </a:p>
          <a:p>
            <a:r>
              <a:rPr lang="en-US" altLang="zh-TW" smtClean="0"/>
              <a:t>The core data structure of Keras is a </a:t>
            </a:r>
            <a:r>
              <a:rPr lang="en-US" altLang="zh-TW" smtClean="0">
                <a:solidFill>
                  <a:srgbClr val="FF0000"/>
                </a:solidFill>
              </a:rPr>
              <a:t>model</a:t>
            </a:r>
            <a:r>
              <a:rPr lang="en-US" altLang="zh-TW" smtClean="0"/>
              <a:t>, a way to organize layers. </a:t>
            </a:r>
          </a:p>
          <a:p>
            <a:pPr lvl="1"/>
            <a:r>
              <a:rPr lang="en-US" altLang="zh-TW" smtClean="0"/>
              <a:t>The simplest type of model is the Sequential model, a linear stack of layers.</a:t>
            </a:r>
            <a:endParaRPr lang="zh-TW" altLang="en-US"/>
          </a:p>
        </p:txBody>
      </p:sp>
      <p:sp>
        <p:nvSpPr>
          <p:cNvPr id="4" name="投影片編號版面配置區 3"/>
          <p:cNvSpPr>
            <a:spLocks noGrp="1"/>
          </p:cNvSpPr>
          <p:nvPr>
            <p:ph type="sldNum" sz="quarter" idx="12"/>
          </p:nvPr>
        </p:nvSpPr>
        <p:spPr/>
        <p:txBody>
          <a:bodyPr/>
          <a:lstStyle/>
          <a:p>
            <a:fld id="{5A42122C-B539-4F52-99F7-B4BD00FBCCAD}" type="slidenum">
              <a:rPr lang="zh-TW" altLang="en-US" smtClean="0"/>
              <a:t>6</a:t>
            </a:fld>
            <a:endParaRPr lang="zh-TW" altLang="en-US"/>
          </a:p>
        </p:txBody>
      </p:sp>
    </p:spTree>
    <p:extLst>
      <p:ext uri="{BB962C8B-B14F-4D97-AF65-F5344CB8AC3E}">
        <p14:creationId xmlns:p14="http://schemas.microsoft.com/office/powerpoint/2010/main" val="956359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a:xfrm>
            <a:off x="838200" y="1825625"/>
            <a:ext cx="10515600" cy="4895850"/>
          </a:xfrm>
        </p:spPr>
        <p:txBody>
          <a:bodyPr>
            <a:normAutofit lnSpcReduction="10000"/>
          </a:bodyPr>
          <a:lstStyle/>
          <a:p>
            <a:r>
              <a:rPr lang="en-US" altLang="zh-TW" smtClean="0"/>
              <a:t>Build a sequential model</a:t>
            </a:r>
          </a:p>
          <a:p>
            <a:pPr lvl="1"/>
            <a:r>
              <a:rPr lang="en-US" altLang="zh-TW" smtClean="0"/>
              <a:t>Combine standalone modules to create new models</a:t>
            </a:r>
          </a:p>
          <a:p>
            <a:pPr lvl="1"/>
            <a:endParaRPr lang="en-US" altLang="zh-TW" smtClean="0"/>
          </a:p>
          <a:p>
            <a:pPr marL="0" indent="0">
              <a:buNone/>
            </a:pPr>
            <a:r>
              <a:rPr lang="en-US" altLang="zh-TW" sz="2400" b="1" smtClean="0">
                <a:latin typeface="Arial Narrow" panose="020B0606020202030204" pitchFamily="34" charset="0"/>
              </a:rPr>
              <a:t># import </a:t>
            </a:r>
            <a:r>
              <a:rPr lang="en-US" altLang="zh-TW" sz="2400">
                <a:latin typeface="Arial Narrow" panose="020B0606020202030204" pitchFamily="34" charset="0"/>
              </a:rPr>
              <a:t>tensorflow</a:t>
            </a:r>
            <a:r>
              <a:rPr lang="en-US" altLang="zh-TW" sz="2400" b="1">
                <a:latin typeface="Arial Narrow" panose="020B0606020202030204" pitchFamily="34" charset="0"/>
              </a:rPr>
              <a:t> as </a:t>
            </a:r>
            <a:r>
              <a:rPr lang="en-US" altLang="zh-TW" sz="2400">
                <a:latin typeface="Arial Narrow" panose="020B0606020202030204" pitchFamily="34" charset="0"/>
              </a:rPr>
              <a:t>tf</a:t>
            </a:r>
          </a:p>
          <a:p>
            <a:pPr marL="0" indent="0">
              <a:buNone/>
            </a:pPr>
            <a:r>
              <a:rPr lang="en-US" altLang="zh-TW" sz="2400" b="1" smtClean="0">
                <a:latin typeface="Arial Narrow" panose="020B0606020202030204" pitchFamily="34" charset="0"/>
              </a:rPr>
              <a:t># from </a:t>
            </a:r>
            <a:r>
              <a:rPr lang="en-US" altLang="zh-TW" sz="2400">
                <a:latin typeface="Arial Narrow" panose="020B0606020202030204" pitchFamily="34" charset="0"/>
              </a:rPr>
              <a:t>tensorflow</a:t>
            </a:r>
            <a:r>
              <a:rPr lang="en-US" altLang="zh-TW" sz="2400" b="1">
                <a:latin typeface="Arial Narrow" panose="020B0606020202030204" pitchFamily="34" charset="0"/>
              </a:rPr>
              <a:t> import </a:t>
            </a:r>
            <a:r>
              <a:rPr lang="en-US" altLang="zh-TW" sz="2400">
                <a:latin typeface="Arial Narrow" panose="020B0606020202030204" pitchFamily="34" charset="0"/>
              </a:rPr>
              <a:t>keras</a:t>
            </a:r>
          </a:p>
          <a:p>
            <a:pPr marL="0" indent="0">
              <a:buNone/>
            </a:pPr>
            <a:r>
              <a:rPr lang="en-US" altLang="zh-TW" sz="2400" b="1" smtClean="0">
                <a:latin typeface="Arial Narrow" panose="020B0606020202030204" pitchFamily="34" charset="0"/>
              </a:rPr>
              <a:t># from </a:t>
            </a:r>
            <a:r>
              <a:rPr lang="en-US" altLang="zh-TW" sz="2400">
                <a:latin typeface="Arial Narrow" panose="020B0606020202030204" pitchFamily="34" charset="0"/>
              </a:rPr>
              <a:t>tensorflow.keras</a:t>
            </a:r>
            <a:r>
              <a:rPr lang="en-US" altLang="zh-TW" sz="2400" b="1">
                <a:latin typeface="Arial Narrow" panose="020B0606020202030204" pitchFamily="34" charset="0"/>
              </a:rPr>
              <a:t> import </a:t>
            </a:r>
            <a:r>
              <a:rPr lang="en-US" altLang="zh-TW" sz="2400" smtClean="0">
                <a:latin typeface="Arial Narrow" panose="020B0606020202030204" pitchFamily="34" charset="0"/>
              </a:rPr>
              <a:t>layers</a:t>
            </a:r>
          </a:p>
          <a:p>
            <a:pPr marL="0" indent="0">
              <a:buNone/>
            </a:pPr>
            <a:r>
              <a:rPr lang="en-US" altLang="zh-TW" sz="2400" b="1" smtClean="0">
                <a:latin typeface="Arial Narrow" panose="020B0606020202030204" pitchFamily="34" charset="0"/>
              </a:rPr>
              <a:t>from</a:t>
            </a:r>
            <a:r>
              <a:rPr lang="en-US" altLang="zh-TW" sz="2400">
                <a:latin typeface="Arial Narrow" panose="020B0606020202030204" pitchFamily="34" charset="0"/>
              </a:rPr>
              <a:t> tensorflow.keras.models </a:t>
            </a:r>
            <a:r>
              <a:rPr lang="en-US" altLang="zh-TW" sz="2400" b="1">
                <a:latin typeface="Arial Narrow" panose="020B0606020202030204" pitchFamily="34" charset="0"/>
              </a:rPr>
              <a:t>import</a:t>
            </a:r>
            <a:r>
              <a:rPr lang="en-US" altLang="zh-TW" sz="2400">
                <a:latin typeface="Arial Narrow" panose="020B0606020202030204" pitchFamily="34" charset="0"/>
              </a:rPr>
              <a:t> </a:t>
            </a:r>
            <a:r>
              <a:rPr lang="en-US" altLang="zh-TW" sz="2400" smtClean="0">
                <a:latin typeface="Arial Narrow" panose="020B0606020202030204" pitchFamily="34" charset="0"/>
              </a:rPr>
              <a:t>Sequential</a:t>
            </a:r>
          </a:p>
          <a:p>
            <a:pPr marL="0" indent="0">
              <a:buNone/>
            </a:pPr>
            <a:r>
              <a:rPr lang="en-US" altLang="zh-TW" sz="2400" b="1" smtClean="0">
                <a:latin typeface="Arial Narrow" panose="020B0606020202030204" pitchFamily="34" charset="0"/>
              </a:rPr>
              <a:t>from</a:t>
            </a:r>
            <a:r>
              <a:rPr lang="en-US" altLang="zh-TW" sz="2400" smtClean="0">
                <a:latin typeface="Arial Narrow" panose="020B0606020202030204" pitchFamily="34" charset="0"/>
              </a:rPr>
              <a:t> </a:t>
            </a:r>
            <a:r>
              <a:rPr lang="en-US" altLang="zh-TW" sz="2400">
                <a:latin typeface="Arial Narrow" panose="020B0606020202030204" pitchFamily="34" charset="0"/>
              </a:rPr>
              <a:t>tensorflow.keras.layers </a:t>
            </a:r>
            <a:r>
              <a:rPr lang="en-US" altLang="zh-TW" sz="2400" b="1" smtClean="0">
                <a:latin typeface="Arial Narrow" panose="020B0606020202030204" pitchFamily="34" charset="0"/>
              </a:rPr>
              <a:t>import</a:t>
            </a:r>
            <a:r>
              <a:rPr lang="en-US" altLang="zh-TW" sz="2400" smtClean="0">
                <a:latin typeface="Arial Narrow" panose="020B0606020202030204" pitchFamily="34" charset="0"/>
              </a:rPr>
              <a:t> Dense</a:t>
            </a:r>
          </a:p>
          <a:p>
            <a:pPr marL="0" indent="0">
              <a:buNone/>
            </a:pPr>
            <a:r>
              <a:rPr lang="en-US" altLang="zh-TW" sz="2400" smtClean="0">
                <a:latin typeface="Arial Narrow" panose="020B0606020202030204" pitchFamily="34" charset="0"/>
              </a:rPr>
              <a:t>model </a:t>
            </a:r>
            <a:r>
              <a:rPr lang="en-US" altLang="zh-TW" sz="2400">
                <a:latin typeface="Arial Narrow" panose="020B0606020202030204" pitchFamily="34" charset="0"/>
              </a:rPr>
              <a:t>= Sequential</a:t>
            </a:r>
            <a:r>
              <a:rPr lang="en-US" altLang="zh-TW" sz="2400" smtClean="0">
                <a:latin typeface="Arial Narrow" panose="020B0606020202030204" pitchFamily="34" charset="0"/>
              </a:rPr>
              <a:t>()</a:t>
            </a:r>
          </a:p>
          <a:p>
            <a:pPr marL="0" indent="0">
              <a:buNone/>
            </a:pPr>
            <a:r>
              <a:rPr lang="en-US" altLang="zh-TW" sz="2400" smtClean="0">
                <a:latin typeface="Arial Narrow" panose="020B0606020202030204" pitchFamily="34" charset="0"/>
              </a:rPr>
              <a:t>model.add(Dense(units=64</a:t>
            </a:r>
            <a:r>
              <a:rPr lang="en-US" altLang="zh-TW" sz="2400">
                <a:latin typeface="Arial Narrow" panose="020B0606020202030204" pitchFamily="34" charset="0"/>
              </a:rPr>
              <a:t>, activation='relu', </a:t>
            </a:r>
            <a:r>
              <a:rPr lang="en-US" altLang="zh-TW" sz="2400" smtClean="0">
                <a:latin typeface="Arial Narrow" panose="020B0606020202030204" pitchFamily="34" charset="0"/>
              </a:rPr>
              <a:t>input_shape=(100,))) </a:t>
            </a:r>
            <a:endParaRPr lang="en-US" altLang="zh-TW" sz="2400" smtClean="0">
              <a:latin typeface="Arial Narrow" panose="020B0606020202030204" pitchFamily="34" charset="0"/>
            </a:endParaRPr>
          </a:p>
          <a:p>
            <a:pPr marL="0" indent="0">
              <a:buNone/>
            </a:pPr>
            <a:r>
              <a:rPr lang="en-US" altLang="zh-TW" sz="2400" smtClean="0">
                <a:latin typeface="Arial Narrow" panose="020B0606020202030204" pitchFamily="34" charset="0"/>
              </a:rPr>
              <a:t>model.add(Dense(units=10</a:t>
            </a:r>
            <a:r>
              <a:rPr lang="en-US" altLang="zh-TW" sz="2400">
                <a:latin typeface="Arial Narrow" panose="020B0606020202030204" pitchFamily="34" charset="0"/>
              </a:rPr>
              <a:t>, activation='softmax'))</a:t>
            </a:r>
            <a:endParaRPr lang="zh-TW" altLang="en-US" sz="2400">
              <a:latin typeface="Arial Narrow" panose="020B0606020202030204" pitchFamily="34" charset="0"/>
            </a:endParaRPr>
          </a:p>
        </p:txBody>
      </p:sp>
      <p:sp>
        <p:nvSpPr>
          <p:cNvPr id="4" name="投影片編號版面配置區 3"/>
          <p:cNvSpPr>
            <a:spLocks noGrp="1"/>
          </p:cNvSpPr>
          <p:nvPr>
            <p:ph type="sldNum" sz="quarter" idx="12"/>
          </p:nvPr>
        </p:nvSpPr>
        <p:spPr/>
        <p:txBody>
          <a:bodyPr/>
          <a:lstStyle/>
          <a:p>
            <a:fld id="{5A42122C-B539-4F52-99F7-B4BD00FBCCAD}" type="slidenum">
              <a:rPr lang="zh-TW" altLang="en-US" smtClean="0"/>
              <a:t>7</a:t>
            </a:fld>
            <a:endParaRPr lang="zh-TW" altLang="en-US"/>
          </a:p>
        </p:txBody>
      </p:sp>
    </p:spTree>
    <p:extLst>
      <p:ext uri="{BB962C8B-B14F-4D97-AF65-F5344CB8AC3E}">
        <p14:creationId xmlns:p14="http://schemas.microsoft.com/office/powerpoint/2010/main" val="1296820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Install </a:t>
            </a:r>
            <a:r>
              <a:rPr lang="en-US" altLang="zh-TW"/>
              <a:t>Anaconda </a:t>
            </a:r>
            <a:r>
              <a:rPr lang="en-US" altLang="zh-TW" smtClean="0"/>
              <a:t>with Python</a:t>
            </a:r>
            <a:endParaRPr lang="zh-TW" altLang="en-US"/>
          </a:p>
        </p:txBody>
      </p:sp>
      <p:sp>
        <p:nvSpPr>
          <p:cNvPr id="3" name="內容版面配置區 2"/>
          <p:cNvSpPr>
            <a:spLocks noGrp="1"/>
          </p:cNvSpPr>
          <p:nvPr>
            <p:ph idx="1"/>
          </p:nvPr>
        </p:nvSpPr>
        <p:spPr/>
        <p:txBody>
          <a:bodyPr/>
          <a:lstStyle/>
          <a:p>
            <a:r>
              <a:rPr lang="en-US" altLang="zh-TW" smtClean="0"/>
              <a:t>Anaconda</a:t>
            </a:r>
          </a:p>
          <a:p>
            <a:pPr lvl="1"/>
            <a:r>
              <a:rPr lang="en-US" altLang="zh-TW" smtClean="0"/>
              <a:t>Python Data Science Platform</a:t>
            </a:r>
          </a:p>
          <a:p>
            <a:pPr lvl="1"/>
            <a:r>
              <a:rPr lang="en-US" altLang="zh-TW" smtClean="0">
                <a:hlinkClick r:id="rId2"/>
              </a:rPr>
              <a:t>https://www.anaconda.com/distribution/</a:t>
            </a:r>
            <a:endParaRPr lang="en-US" altLang="zh-TW" smtClean="0"/>
          </a:p>
          <a:p>
            <a:pPr lvl="1"/>
            <a:r>
              <a:rPr lang="en-US" altLang="zh-TW"/>
              <a:t>Python </a:t>
            </a:r>
            <a:r>
              <a:rPr lang="en-US" altLang="zh-TW" smtClean="0"/>
              <a:t>3.8 </a:t>
            </a:r>
            <a:r>
              <a:rPr lang="en-US" altLang="zh-TW"/>
              <a:t>version, 64-Bit Graphical </a:t>
            </a:r>
            <a:r>
              <a:rPr lang="en-US" altLang="zh-TW" smtClean="0"/>
              <a:t>Installer</a:t>
            </a:r>
          </a:p>
          <a:p>
            <a:r>
              <a:rPr lang="en-US" altLang="zh-TW"/>
              <a:t>Create new </a:t>
            </a:r>
            <a:r>
              <a:rPr lang="en-US" altLang="zh-TW" smtClean="0"/>
              <a:t>virtual environment in Anaconda</a:t>
            </a:r>
          </a:p>
          <a:p>
            <a:pPr lvl="1"/>
            <a:r>
              <a:rPr lang="en-US" altLang="zh-TW"/>
              <a:t>Open </a:t>
            </a:r>
            <a:r>
              <a:rPr lang="en-US" altLang="zh-TW" smtClean="0"/>
              <a:t>Anaconda Navigator</a:t>
            </a:r>
          </a:p>
          <a:p>
            <a:pPr lvl="1"/>
            <a:r>
              <a:rPr lang="en-US" altLang="zh-TW"/>
              <a:t>click the </a:t>
            </a:r>
            <a:r>
              <a:rPr lang="en-US" altLang="zh-TW" b="1"/>
              <a:t>Environments</a:t>
            </a:r>
            <a:r>
              <a:rPr lang="en-US" altLang="zh-TW"/>
              <a:t> tab, then click the Create button</a:t>
            </a:r>
            <a:r>
              <a:rPr lang="en-US" altLang="zh-TW" smtClean="0"/>
              <a:t>.</a:t>
            </a:r>
          </a:p>
          <a:p>
            <a:pPr lvl="2"/>
            <a:r>
              <a:rPr lang="en-US" altLang="zh-TW" smtClean="0"/>
              <a:t>Name: tensorflow</a:t>
            </a:r>
          </a:p>
          <a:p>
            <a:pPr lvl="2"/>
            <a:r>
              <a:rPr lang="en-US" altLang="zh-TW" smtClean="0"/>
              <a:t>Packages: Python 3.7</a:t>
            </a:r>
          </a:p>
          <a:p>
            <a:pPr lvl="1"/>
            <a:r>
              <a:rPr lang="en-US" altLang="zh-TW">
                <a:hlinkClick r:id="rId3"/>
              </a:rPr>
              <a:t>https://docs.anaconda.com/anaconda/navigator/getting-started</a:t>
            </a:r>
            <a:r>
              <a:rPr lang="en-US" altLang="zh-TW" smtClean="0">
                <a:hlinkClick r:id="rId3"/>
              </a:rPr>
              <a:t>/</a:t>
            </a:r>
            <a:endParaRPr lang="en-US" altLang="zh-TW" smtClean="0"/>
          </a:p>
          <a:p>
            <a:pPr lvl="1"/>
            <a:endParaRPr lang="zh-TW" altLang="en-US"/>
          </a:p>
        </p:txBody>
      </p:sp>
      <p:sp>
        <p:nvSpPr>
          <p:cNvPr id="4" name="投影片編號版面配置區 3"/>
          <p:cNvSpPr>
            <a:spLocks noGrp="1"/>
          </p:cNvSpPr>
          <p:nvPr>
            <p:ph type="sldNum" sz="quarter" idx="12"/>
          </p:nvPr>
        </p:nvSpPr>
        <p:spPr/>
        <p:txBody>
          <a:bodyPr/>
          <a:lstStyle/>
          <a:p>
            <a:fld id="{5A42122C-B539-4F52-99F7-B4BD00FBCCAD}" type="slidenum">
              <a:rPr lang="zh-TW" altLang="en-US" smtClean="0"/>
              <a:t>8</a:t>
            </a:fld>
            <a:endParaRPr lang="zh-TW" altLang="en-US"/>
          </a:p>
        </p:txBody>
      </p:sp>
    </p:spTree>
    <p:extLst>
      <p:ext uri="{BB962C8B-B14F-4D97-AF65-F5344CB8AC3E}">
        <p14:creationId xmlns:p14="http://schemas.microsoft.com/office/powerpoint/2010/main" val="629642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Install Tensorflow, Keras, Pandas, </a:t>
            </a:r>
            <a:r>
              <a:rPr lang="en-US" altLang="zh-TW" smtClean="0"/>
              <a:t>matplotlib, and </a:t>
            </a:r>
            <a:r>
              <a:rPr lang="en-US" altLang="zh-TW"/>
              <a:t>Scikit-learn in Anaconda</a:t>
            </a:r>
            <a:endParaRPr lang="zh-TW" altLang="en-US"/>
          </a:p>
        </p:txBody>
      </p:sp>
      <p:sp>
        <p:nvSpPr>
          <p:cNvPr id="3" name="內容版面配置區 2"/>
          <p:cNvSpPr>
            <a:spLocks noGrp="1"/>
          </p:cNvSpPr>
          <p:nvPr>
            <p:ph idx="1"/>
          </p:nvPr>
        </p:nvSpPr>
        <p:spPr/>
        <p:txBody>
          <a:bodyPr>
            <a:normAutofit/>
          </a:bodyPr>
          <a:lstStyle/>
          <a:p>
            <a:pPr marL="228600" lvl="1">
              <a:spcBef>
                <a:spcPts val="1000"/>
              </a:spcBef>
            </a:pPr>
            <a:r>
              <a:rPr lang="en-US" altLang="zh-TW" sz="2800"/>
              <a:t>Open Anaconda Navigator</a:t>
            </a:r>
          </a:p>
          <a:p>
            <a:r>
              <a:rPr lang="en-US" altLang="zh-TW" smtClean="0"/>
              <a:t>Click </a:t>
            </a:r>
            <a:r>
              <a:rPr lang="en-US" altLang="zh-TW"/>
              <a:t>the </a:t>
            </a:r>
            <a:r>
              <a:rPr lang="en-US" altLang="zh-TW" b="1"/>
              <a:t>Environments</a:t>
            </a:r>
            <a:r>
              <a:rPr lang="en-US" altLang="zh-TW"/>
              <a:t> tab</a:t>
            </a:r>
            <a:r>
              <a:rPr lang="en-US" altLang="zh-TW" smtClean="0"/>
              <a:t>, select a virtual environment (tensorflow)</a:t>
            </a:r>
          </a:p>
          <a:p>
            <a:r>
              <a:rPr lang="en-US" altLang="zh-TW" smtClean="0"/>
              <a:t>Change package display options to “All”</a:t>
            </a:r>
          </a:p>
          <a:p>
            <a:r>
              <a:rPr lang="en-US" altLang="zh-TW"/>
              <a:t>Find and check Tensorflow, Keras, </a:t>
            </a:r>
            <a:r>
              <a:rPr lang="en-US" altLang="zh-TW" smtClean="0"/>
              <a:t>NumPy, Pandas</a:t>
            </a:r>
            <a:r>
              <a:rPr lang="en-US" altLang="zh-TW"/>
              <a:t>, </a:t>
            </a:r>
            <a:r>
              <a:rPr lang="en-US" altLang="zh-TW" smtClean="0"/>
              <a:t>matplotlib, </a:t>
            </a:r>
            <a:r>
              <a:rPr lang="en-US" altLang="zh-TW"/>
              <a:t>and Scikit-learn</a:t>
            </a:r>
          </a:p>
          <a:p>
            <a:r>
              <a:rPr lang="en-US" altLang="zh-TW"/>
              <a:t>click the bottom </a:t>
            </a:r>
            <a:r>
              <a:rPr lang="en-US" altLang="zh-TW" smtClean="0"/>
              <a:t>“Apply” button</a:t>
            </a:r>
          </a:p>
          <a:p>
            <a:endParaRPr lang="en-US" altLang="zh-TW"/>
          </a:p>
        </p:txBody>
      </p:sp>
      <p:sp>
        <p:nvSpPr>
          <p:cNvPr id="4" name="投影片編號版面配置區 3"/>
          <p:cNvSpPr>
            <a:spLocks noGrp="1"/>
          </p:cNvSpPr>
          <p:nvPr>
            <p:ph type="sldNum" sz="quarter" idx="12"/>
          </p:nvPr>
        </p:nvSpPr>
        <p:spPr/>
        <p:txBody>
          <a:bodyPr/>
          <a:lstStyle/>
          <a:p>
            <a:fld id="{5A42122C-B539-4F52-99F7-B4BD00FBCCAD}" type="slidenum">
              <a:rPr lang="zh-TW" altLang="en-US" smtClean="0"/>
              <a:t>9</a:t>
            </a:fld>
            <a:endParaRPr lang="zh-TW" altLang="en-US"/>
          </a:p>
        </p:txBody>
      </p:sp>
    </p:spTree>
    <p:extLst>
      <p:ext uri="{BB962C8B-B14F-4D97-AF65-F5344CB8AC3E}">
        <p14:creationId xmlns:p14="http://schemas.microsoft.com/office/powerpoint/2010/main" val="28910126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a:t>NumPy: a fundamental package for scientific computing with Python. Arry processing for numbers, string, records, and objects.</a:t>
            </a:r>
          </a:p>
          <a:p>
            <a:r>
              <a:rPr lang="en-US" altLang="zh-TW"/>
              <a:t>Pandas: high-performance, easy-to-use data structures and data analysis tools for Python. Provide fast and efficient </a:t>
            </a:r>
            <a:r>
              <a:rPr lang="en-US" altLang="zh-TW" b="1"/>
              <a:t>DataFrame</a:t>
            </a:r>
            <a:r>
              <a:rPr lang="en-US" altLang="zh-TW"/>
              <a:t> object for data manipulation with integrated </a:t>
            </a:r>
            <a:r>
              <a:rPr lang="en-US" altLang="zh-TW" smtClean="0"/>
              <a:t>indexing.</a:t>
            </a:r>
          </a:p>
          <a:p>
            <a:r>
              <a:rPr lang="en-US" altLang="zh-TW" smtClean="0"/>
              <a:t>Matplotlib: </a:t>
            </a:r>
            <a:r>
              <a:rPr lang="en-US" altLang="zh-TW"/>
              <a:t>a Python 2D plotting library which produces publication quality </a:t>
            </a:r>
            <a:r>
              <a:rPr lang="en-US" altLang="zh-TW" smtClean="0"/>
              <a:t>figures.</a:t>
            </a:r>
            <a:endParaRPr lang="zh-TW" altLang="en-US"/>
          </a:p>
          <a:p>
            <a:r>
              <a:rPr lang="en-US" altLang="zh-TW" smtClean="0"/>
              <a:t>Scikit-learn: a </a:t>
            </a:r>
            <a:r>
              <a:rPr lang="en-US" altLang="zh-TW"/>
              <a:t>library for machine learning </a:t>
            </a:r>
            <a:r>
              <a:rPr lang="en-US" altLang="zh-TW" smtClean="0"/>
              <a:t>algorithms.</a:t>
            </a:r>
            <a:endParaRPr lang="en-US" altLang="zh-TW"/>
          </a:p>
          <a:p>
            <a:endParaRPr lang="zh-TW" altLang="en-US"/>
          </a:p>
        </p:txBody>
      </p:sp>
      <p:sp>
        <p:nvSpPr>
          <p:cNvPr id="4" name="投影片編號版面配置區 3"/>
          <p:cNvSpPr>
            <a:spLocks noGrp="1"/>
          </p:cNvSpPr>
          <p:nvPr>
            <p:ph type="sldNum" sz="quarter" idx="12"/>
          </p:nvPr>
        </p:nvSpPr>
        <p:spPr/>
        <p:txBody>
          <a:bodyPr/>
          <a:lstStyle/>
          <a:p>
            <a:fld id="{5A42122C-B539-4F52-99F7-B4BD00FBCCAD}" type="slidenum">
              <a:rPr lang="zh-TW" altLang="en-US" smtClean="0"/>
              <a:t>10</a:t>
            </a:fld>
            <a:endParaRPr lang="zh-TW" altLang="en-US"/>
          </a:p>
        </p:txBody>
      </p:sp>
    </p:spTree>
    <p:extLst>
      <p:ext uri="{BB962C8B-B14F-4D97-AF65-F5344CB8AC3E}">
        <p14:creationId xmlns:p14="http://schemas.microsoft.com/office/powerpoint/2010/main" val="441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Install Jupyter Notebook in Anaconda</a:t>
            </a:r>
            <a:endParaRPr lang="zh-TW" altLang="en-US"/>
          </a:p>
        </p:txBody>
      </p:sp>
      <p:sp>
        <p:nvSpPr>
          <p:cNvPr id="3" name="內容版面配置區 2"/>
          <p:cNvSpPr>
            <a:spLocks noGrp="1"/>
          </p:cNvSpPr>
          <p:nvPr>
            <p:ph idx="1"/>
          </p:nvPr>
        </p:nvSpPr>
        <p:spPr/>
        <p:txBody>
          <a:bodyPr/>
          <a:lstStyle/>
          <a:p>
            <a:pPr marL="228600" lvl="1">
              <a:spcBef>
                <a:spcPts val="1000"/>
              </a:spcBef>
            </a:pPr>
            <a:r>
              <a:rPr lang="en-US" altLang="zh-TW" sz="2800"/>
              <a:t>Open Anaconda Navigator</a:t>
            </a:r>
          </a:p>
          <a:p>
            <a:r>
              <a:rPr lang="en-US" altLang="zh-TW" smtClean="0"/>
              <a:t>Click </a:t>
            </a:r>
            <a:r>
              <a:rPr lang="en-US" altLang="zh-TW"/>
              <a:t>the </a:t>
            </a:r>
            <a:r>
              <a:rPr lang="en-US" altLang="zh-TW" b="1" smtClean="0"/>
              <a:t>Home</a:t>
            </a:r>
            <a:r>
              <a:rPr lang="en-US" altLang="zh-TW"/>
              <a:t> </a:t>
            </a:r>
            <a:r>
              <a:rPr lang="en-US" altLang="zh-TW" smtClean="0"/>
              <a:t>tab</a:t>
            </a:r>
          </a:p>
          <a:p>
            <a:r>
              <a:rPr lang="en-US" altLang="zh-TW" smtClean="0"/>
              <a:t>Select a virtual environment (tensorflow) in “Applications on”  items</a:t>
            </a:r>
          </a:p>
          <a:p>
            <a:r>
              <a:rPr lang="en-US" altLang="zh-TW" smtClean="0"/>
              <a:t>Find </a:t>
            </a:r>
            <a:r>
              <a:rPr lang="en-US" altLang="zh-TW"/>
              <a:t>Jupyter </a:t>
            </a:r>
            <a:r>
              <a:rPr lang="en-US" altLang="zh-TW" smtClean="0"/>
              <a:t>Notebook, click Install button</a:t>
            </a:r>
            <a:endParaRPr lang="zh-TW" altLang="en-US"/>
          </a:p>
        </p:txBody>
      </p:sp>
      <p:sp>
        <p:nvSpPr>
          <p:cNvPr id="4" name="投影片編號版面配置區 3"/>
          <p:cNvSpPr>
            <a:spLocks noGrp="1"/>
          </p:cNvSpPr>
          <p:nvPr>
            <p:ph type="sldNum" sz="quarter" idx="12"/>
          </p:nvPr>
        </p:nvSpPr>
        <p:spPr/>
        <p:txBody>
          <a:bodyPr/>
          <a:lstStyle/>
          <a:p>
            <a:fld id="{5A42122C-B539-4F52-99F7-B4BD00FBCCAD}" type="slidenum">
              <a:rPr lang="zh-TW" altLang="en-US" smtClean="0"/>
              <a:t>11</a:t>
            </a:fld>
            <a:endParaRPr lang="zh-TW" altLang="en-US"/>
          </a:p>
        </p:txBody>
      </p:sp>
    </p:spTree>
    <p:extLst>
      <p:ext uri="{BB962C8B-B14F-4D97-AF65-F5344CB8AC3E}">
        <p14:creationId xmlns:p14="http://schemas.microsoft.com/office/powerpoint/2010/main" val="4094450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Run Jupyter </a:t>
            </a:r>
            <a:r>
              <a:rPr lang="en-US" altLang="zh-TW"/>
              <a:t>Notebook</a:t>
            </a:r>
            <a:endParaRPr lang="zh-TW" altLang="en-US"/>
          </a:p>
        </p:txBody>
      </p:sp>
      <p:sp>
        <p:nvSpPr>
          <p:cNvPr id="3" name="內容版面配置區 2"/>
          <p:cNvSpPr>
            <a:spLocks noGrp="1"/>
          </p:cNvSpPr>
          <p:nvPr>
            <p:ph idx="1"/>
          </p:nvPr>
        </p:nvSpPr>
        <p:spPr/>
        <p:txBody>
          <a:bodyPr/>
          <a:lstStyle/>
          <a:p>
            <a:r>
              <a:rPr lang="en-US" altLang="zh-TW" smtClean="0"/>
              <a:t>Run Anaconda prompt (tensorflow)</a:t>
            </a:r>
          </a:p>
          <a:p>
            <a:r>
              <a:rPr lang="en-US" altLang="zh-TW" smtClean="0"/>
              <a:t>Chang directory to working directory (&gt;cd </a:t>
            </a:r>
            <a:r>
              <a:rPr lang="en-US" altLang="zh-TW" i="1" smtClean="0"/>
              <a:t>path</a:t>
            </a:r>
            <a:r>
              <a:rPr lang="en-US" altLang="zh-TW" smtClean="0"/>
              <a:t>)</a:t>
            </a:r>
          </a:p>
          <a:p>
            <a:r>
              <a:rPr lang="en-US" altLang="zh-TW" smtClean="0"/>
              <a:t>Type “jupyter notebook” then Enter</a:t>
            </a:r>
          </a:p>
          <a:p>
            <a:r>
              <a:rPr lang="en-US" altLang="zh-TW" smtClean="0"/>
              <a:t>Create a new notebook</a:t>
            </a:r>
          </a:p>
          <a:p>
            <a:pPr lvl="1"/>
            <a:r>
              <a:rPr lang="en-US" altLang="zh-TW">
                <a:hlinkClick r:id="rId2"/>
              </a:rPr>
              <a:t>https://nbviewer.jupyter.org/github/jupyter/notebook/blob/master/docs/source/examples/Notebook/Notebook%20Basics.ipynb</a:t>
            </a:r>
            <a:endParaRPr lang="zh-TW" altLang="en-US"/>
          </a:p>
        </p:txBody>
      </p:sp>
      <p:sp>
        <p:nvSpPr>
          <p:cNvPr id="5" name="投影片編號版面配置區 4"/>
          <p:cNvSpPr>
            <a:spLocks noGrp="1"/>
          </p:cNvSpPr>
          <p:nvPr>
            <p:ph type="sldNum" sz="quarter" idx="12"/>
          </p:nvPr>
        </p:nvSpPr>
        <p:spPr/>
        <p:txBody>
          <a:bodyPr/>
          <a:lstStyle/>
          <a:p>
            <a:fld id="{5A42122C-B539-4F52-99F7-B4BD00FBCCAD}" type="slidenum">
              <a:rPr lang="zh-TW" altLang="en-US" smtClean="0"/>
              <a:t>12</a:t>
            </a:fld>
            <a:endParaRPr lang="zh-TW" altLang="en-US"/>
          </a:p>
        </p:txBody>
      </p:sp>
      <p:pic>
        <p:nvPicPr>
          <p:cNvPr id="6" name="圖片 5"/>
          <p:cNvPicPr>
            <a:picLocks noChangeAspect="1"/>
          </p:cNvPicPr>
          <p:nvPr/>
        </p:nvPicPr>
        <p:blipFill>
          <a:blip r:embed="rId3"/>
          <a:stretch>
            <a:fillRect/>
          </a:stretch>
        </p:blipFill>
        <p:spPr>
          <a:xfrm>
            <a:off x="989754" y="4588778"/>
            <a:ext cx="2187424" cy="2157864"/>
          </a:xfrm>
          <a:prstGeom prst="rect">
            <a:avLst/>
          </a:prstGeom>
        </p:spPr>
      </p:pic>
    </p:spTree>
    <p:extLst>
      <p:ext uri="{BB962C8B-B14F-4D97-AF65-F5344CB8AC3E}">
        <p14:creationId xmlns:p14="http://schemas.microsoft.com/office/powerpoint/2010/main" val="28614354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Install Tensorflow-gpu</a:t>
            </a:r>
            <a:endParaRPr lang="zh-TW" altLang="en-US"/>
          </a:p>
        </p:txBody>
      </p:sp>
      <p:sp>
        <p:nvSpPr>
          <p:cNvPr id="3" name="內容版面配置區 2"/>
          <p:cNvSpPr>
            <a:spLocks noGrp="1"/>
          </p:cNvSpPr>
          <p:nvPr>
            <p:ph idx="1"/>
          </p:nvPr>
        </p:nvSpPr>
        <p:spPr>
          <a:xfrm>
            <a:off x="838200" y="1825625"/>
            <a:ext cx="10515600" cy="4801678"/>
          </a:xfrm>
        </p:spPr>
        <p:txBody>
          <a:bodyPr>
            <a:normAutofit fontScale="92500" lnSpcReduction="10000"/>
          </a:bodyPr>
          <a:lstStyle/>
          <a:p>
            <a:r>
              <a:rPr lang="en-US" altLang="zh-TW" smtClean="0"/>
              <a:t>Install Cuda</a:t>
            </a:r>
          </a:p>
          <a:p>
            <a:pPr lvl="1"/>
            <a:r>
              <a:rPr lang="en-US" altLang="zh-TW"/>
              <a:t>The NVIDIA® CUDA® Toolkit provides a development environment for creating high performance GPU-accelerated applications.</a:t>
            </a:r>
            <a:endParaRPr lang="en-US" altLang="zh-TW" smtClean="0"/>
          </a:p>
          <a:p>
            <a:pPr lvl="1"/>
            <a:r>
              <a:rPr lang="en-US" altLang="zh-TW">
                <a:hlinkClick r:id="rId2"/>
              </a:rPr>
              <a:t>https://</a:t>
            </a:r>
            <a:r>
              <a:rPr lang="en-US" altLang="zh-TW" smtClean="0">
                <a:hlinkClick r:id="rId2"/>
              </a:rPr>
              <a:t>developer.nvidia.com/cuda-downloads</a:t>
            </a:r>
            <a:endParaRPr lang="en-US" altLang="zh-TW" smtClean="0"/>
          </a:p>
          <a:p>
            <a:r>
              <a:rPr lang="en-US" altLang="zh-TW" smtClean="0"/>
              <a:t>Install cuDNN</a:t>
            </a:r>
          </a:p>
          <a:p>
            <a:pPr lvl="1"/>
            <a:r>
              <a:rPr lang="en-US" altLang="zh-TW"/>
              <a:t>The NVIDIA CUDA® Deep Neural Network library (cuDNN) is a GPU-accelerated library of primitives for deep neural </a:t>
            </a:r>
            <a:r>
              <a:rPr lang="en-US" altLang="zh-TW" smtClean="0"/>
              <a:t>networks</a:t>
            </a:r>
          </a:p>
          <a:p>
            <a:pPr lvl="1"/>
            <a:r>
              <a:rPr lang="en-US" altLang="zh-TW">
                <a:hlinkClick r:id="rId3"/>
              </a:rPr>
              <a:t>https://</a:t>
            </a:r>
            <a:r>
              <a:rPr lang="en-US" altLang="zh-TW" smtClean="0">
                <a:hlinkClick r:id="rId3"/>
              </a:rPr>
              <a:t>developer.nvidia.com/cudnn</a:t>
            </a:r>
            <a:endParaRPr lang="en-US" altLang="zh-TW" smtClean="0"/>
          </a:p>
          <a:p>
            <a:pPr lvl="1"/>
            <a:r>
              <a:rPr lang="en-US" altLang="zh-TW" smtClean="0"/>
              <a:t>Extract downloaded file </a:t>
            </a:r>
          </a:p>
          <a:p>
            <a:pPr lvl="1"/>
            <a:r>
              <a:rPr lang="en-US" altLang="zh-TW" smtClean="0"/>
              <a:t>Add the path of “%cudnn%\cuda\bin” into PATH environment variable </a:t>
            </a:r>
          </a:p>
          <a:p>
            <a:pPr lvl="1"/>
            <a:endParaRPr lang="en-US" altLang="zh-TW" smtClean="0"/>
          </a:p>
          <a:p>
            <a:r>
              <a:rPr lang="en-US" altLang="zh-TW" smtClean="0"/>
              <a:t>or install Cuda Toolkit and cuDNN in Anaconda virtual environment</a:t>
            </a:r>
          </a:p>
          <a:p>
            <a:r>
              <a:rPr lang="en-US" altLang="zh-TW"/>
              <a:t>Install Tensorflow-gpu and Keras in Anaconda virtual </a:t>
            </a:r>
            <a:r>
              <a:rPr lang="en-US" altLang="zh-TW" smtClean="0"/>
              <a:t>enviroment</a:t>
            </a:r>
            <a:endParaRPr lang="en-US" altLang="zh-TW"/>
          </a:p>
        </p:txBody>
      </p:sp>
      <p:sp>
        <p:nvSpPr>
          <p:cNvPr id="4" name="投影片編號版面配置區 3"/>
          <p:cNvSpPr>
            <a:spLocks noGrp="1"/>
          </p:cNvSpPr>
          <p:nvPr>
            <p:ph type="sldNum" sz="quarter" idx="12"/>
          </p:nvPr>
        </p:nvSpPr>
        <p:spPr/>
        <p:txBody>
          <a:bodyPr/>
          <a:lstStyle/>
          <a:p>
            <a:fld id="{5A42122C-B539-4F52-99F7-B4BD00FBCCAD}" type="slidenum">
              <a:rPr lang="zh-TW" altLang="en-US" smtClean="0"/>
              <a:t>13</a:t>
            </a:fld>
            <a:endParaRPr lang="zh-TW" altLang="en-US"/>
          </a:p>
        </p:txBody>
      </p:sp>
    </p:spTree>
    <p:extLst>
      <p:ext uri="{BB962C8B-B14F-4D97-AF65-F5344CB8AC3E}">
        <p14:creationId xmlns:p14="http://schemas.microsoft.com/office/powerpoint/2010/main" val="11496985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smtClean="0"/>
              <a:t>Multilayer Perceptron</a:t>
            </a:r>
            <a:endParaRPr lang="zh-TW" altLang="en-US"/>
          </a:p>
        </p:txBody>
      </p:sp>
      <p:sp>
        <p:nvSpPr>
          <p:cNvPr id="5" name="文字版面配置區 4"/>
          <p:cNvSpPr>
            <a:spLocks noGrp="1"/>
          </p:cNvSpPr>
          <p:nvPr>
            <p:ph type="body" idx="1"/>
          </p:nvPr>
        </p:nvSpPr>
        <p:spPr/>
        <p:txBody>
          <a:bodyPr/>
          <a:lstStyle/>
          <a:p>
            <a:endParaRPr lang="zh-TW" altLang="en-US"/>
          </a:p>
        </p:txBody>
      </p:sp>
      <p:sp>
        <p:nvSpPr>
          <p:cNvPr id="2" name="投影片編號版面配置區 1"/>
          <p:cNvSpPr>
            <a:spLocks noGrp="1"/>
          </p:cNvSpPr>
          <p:nvPr>
            <p:ph type="sldNum" sz="quarter" idx="12"/>
          </p:nvPr>
        </p:nvSpPr>
        <p:spPr/>
        <p:txBody>
          <a:bodyPr/>
          <a:lstStyle/>
          <a:p>
            <a:fld id="{5A42122C-B539-4F52-99F7-B4BD00FBCCAD}" type="slidenum">
              <a:rPr lang="zh-TW" altLang="en-US" smtClean="0"/>
              <a:t>14</a:t>
            </a:fld>
            <a:endParaRPr lang="zh-TW" altLang="en-US"/>
          </a:p>
        </p:txBody>
      </p:sp>
    </p:spTree>
    <p:extLst>
      <p:ext uri="{BB962C8B-B14F-4D97-AF65-F5344CB8AC3E}">
        <p14:creationId xmlns:p14="http://schemas.microsoft.com/office/powerpoint/2010/main" val="41952934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Mnist Handwritten Digits</a:t>
            </a:r>
            <a:r>
              <a:rPr lang="en-US" altLang="zh-TW"/>
              <a:t> </a:t>
            </a:r>
            <a:r>
              <a:rPr lang="en-US" altLang="zh-TW" smtClean="0"/>
              <a:t>Dataset</a:t>
            </a:r>
            <a:endParaRPr lang="zh-TW" altLang="en-US"/>
          </a:p>
        </p:txBody>
      </p:sp>
      <p:sp>
        <p:nvSpPr>
          <p:cNvPr id="3" name="內容版面配置區 2"/>
          <p:cNvSpPr>
            <a:spLocks noGrp="1"/>
          </p:cNvSpPr>
          <p:nvPr>
            <p:ph idx="1"/>
          </p:nvPr>
        </p:nvSpPr>
        <p:spPr/>
        <p:txBody>
          <a:bodyPr>
            <a:normAutofit/>
          </a:bodyPr>
          <a:lstStyle/>
          <a:p>
            <a:r>
              <a:rPr lang="en-US" altLang="zh-TW" smtClean="0"/>
              <a:t>Modified </a:t>
            </a:r>
            <a:r>
              <a:rPr lang="en-US" altLang="zh-TW"/>
              <a:t>National Institute of Standards and Technology </a:t>
            </a:r>
            <a:r>
              <a:rPr lang="en-US" altLang="zh-TW" smtClean="0"/>
              <a:t>database </a:t>
            </a:r>
            <a:r>
              <a:rPr lang="en-US" altLang="zh-TW"/>
              <a:t>of handwritten </a:t>
            </a:r>
            <a:r>
              <a:rPr lang="en-US" altLang="zh-TW" smtClean="0"/>
              <a:t>digits</a:t>
            </a:r>
          </a:p>
          <a:p>
            <a:r>
              <a:rPr lang="en-US" altLang="zh-TW"/>
              <a:t>60,000 training images and 10,000 testing </a:t>
            </a:r>
            <a:r>
              <a:rPr lang="en-US" altLang="zh-TW" smtClean="0"/>
              <a:t>images</a:t>
            </a:r>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260590"/>
            <a:ext cx="5020714" cy="3051310"/>
          </a:xfrm>
          <a:prstGeom prst="rect">
            <a:avLst/>
          </a:prstGeom>
        </p:spPr>
      </p:pic>
      <p:sp>
        <p:nvSpPr>
          <p:cNvPr id="5" name="投影片編號版面配置區 4"/>
          <p:cNvSpPr>
            <a:spLocks noGrp="1"/>
          </p:cNvSpPr>
          <p:nvPr>
            <p:ph type="sldNum" sz="quarter" idx="12"/>
          </p:nvPr>
        </p:nvSpPr>
        <p:spPr/>
        <p:txBody>
          <a:bodyPr/>
          <a:lstStyle/>
          <a:p>
            <a:fld id="{5A42122C-B539-4F52-99F7-B4BD00FBCCAD}" type="slidenum">
              <a:rPr lang="zh-TW" altLang="en-US" smtClean="0"/>
              <a:t>15</a:t>
            </a:fld>
            <a:endParaRPr lang="zh-TW" altLang="en-US"/>
          </a:p>
        </p:txBody>
      </p:sp>
    </p:spTree>
    <p:extLst>
      <p:ext uri="{BB962C8B-B14F-4D97-AF65-F5344CB8AC3E}">
        <p14:creationId xmlns:p14="http://schemas.microsoft.com/office/powerpoint/2010/main" val="5337875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p:cNvPicPr>
            <a:picLocks noChangeAspect="1"/>
          </p:cNvPicPr>
          <p:nvPr/>
        </p:nvPicPr>
        <p:blipFill>
          <a:blip r:embed="rId2"/>
          <a:stretch>
            <a:fillRect/>
          </a:stretch>
        </p:blipFill>
        <p:spPr>
          <a:xfrm>
            <a:off x="208411" y="738307"/>
            <a:ext cx="8230122" cy="5618043"/>
          </a:xfrm>
          <a:prstGeom prst="rect">
            <a:avLst/>
          </a:prstGeom>
        </p:spPr>
      </p:pic>
      <p:sp>
        <p:nvSpPr>
          <p:cNvPr id="3" name="內容版面配置區 2"/>
          <p:cNvSpPr>
            <a:spLocks noGrp="1"/>
          </p:cNvSpPr>
          <p:nvPr>
            <p:ph idx="1"/>
          </p:nvPr>
        </p:nvSpPr>
        <p:spPr>
          <a:xfrm>
            <a:off x="838200" y="176169"/>
            <a:ext cx="10515600" cy="671195"/>
          </a:xfrm>
        </p:spPr>
        <p:txBody>
          <a:bodyPr/>
          <a:lstStyle/>
          <a:p>
            <a:r>
              <a:rPr lang="en-US" altLang="zh-TW"/>
              <a:t>Load Mnist dataset in Keras</a:t>
            </a:r>
          </a:p>
          <a:p>
            <a:endParaRPr lang="zh-TW" altLang="en-US"/>
          </a:p>
        </p:txBody>
      </p:sp>
      <p:sp>
        <p:nvSpPr>
          <p:cNvPr id="6" name="文字方塊 5"/>
          <p:cNvSpPr txBox="1"/>
          <p:nvPr/>
        </p:nvSpPr>
        <p:spPr>
          <a:xfrm>
            <a:off x="8271884" y="474052"/>
            <a:ext cx="3711705"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176213" indent="-176213">
              <a:buFont typeface="Arial" panose="020B0604020202020204" pitchFamily="34" charset="0"/>
              <a:buChar char="•"/>
            </a:pPr>
            <a:r>
              <a:rPr lang="en-US" altLang="zh-TW" smtClean="0"/>
              <a:t>mnist.load_data()</a:t>
            </a:r>
          </a:p>
          <a:p>
            <a:pPr marL="633413" lvl="1" indent="-176213">
              <a:buFont typeface="Arial" panose="020B0604020202020204" pitchFamily="34" charset="0"/>
              <a:buChar char="•"/>
            </a:pPr>
            <a:r>
              <a:rPr lang="en-US" altLang="zh-TW" smtClean="0"/>
              <a:t>Store dataset in diratory %user%\.keras\</a:t>
            </a:r>
          </a:p>
          <a:p>
            <a:pPr marL="633413" lvl="1" indent="-176213">
              <a:buFont typeface="Arial" panose="020B0604020202020204" pitchFamily="34" charset="0"/>
              <a:buChar char="•"/>
            </a:pPr>
            <a:r>
              <a:rPr lang="en-US" altLang="zh-TW" smtClean="0"/>
              <a:t>If dataset is already exist, will not download again</a:t>
            </a:r>
            <a:endParaRPr lang="zh-TW" altLang="en-US"/>
          </a:p>
        </p:txBody>
      </p:sp>
      <p:cxnSp>
        <p:nvCxnSpPr>
          <p:cNvPr id="8" name="直線單箭頭接點 7"/>
          <p:cNvCxnSpPr/>
          <p:nvPr/>
        </p:nvCxnSpPr>
        <p:spPr>
          <a:xfrm flipH="1">
            <a:off x="7315200" y="474052"/>
            <a:ext cx="956684" cy="65007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 name="投影片編號版面配置區 3"/>
          <p:cNvSpPr>
            <a:spLocks noGrp="1"/>
          </p:cNvSpPr>
          <p:nvPr>
            <p:ph type="sldNum" sz="quarter" idx="12"/>
          </p:nvPr>
        </p:nvSpPr>
        <p:spPr/>
        <p:txBody>
          <a:bodyPr/>
          <a:lstStyle/>
          <a:p>
            <a:fld id="{5A42122C-B539-4F52-99F7-B4BD00FBCCAD}" type="slidenum">
              <a:rPr lang="zh-TW" altLang="en-US" smtClean="0"/>
              <a:t>16</a:t>
            </a:fld>
            <a:endParaRPr lang="zh-TW" altLang="en-US"/>
          </a:p>
        </p:txBody>
      </p:sp>
      <p:sp>
        <p:nvSpPr>
          <p:cNvPr id="10" name="文字方塊 9"/>
          <p:cNvSpPr txBox="1"/>
          <p:nvPr/>
        </p:nvSpPr>
        <p:spPr>
          <a:xfrm>
            <a:off x="8516485" y="2180341"/>
            <a:ext cx="2775097"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TW" smtClean="0"/>
              <a:t>Dimensions </a:t>
            </a:r>
            <a:r>
              <a:rPr lang="en-US" altLang="zh-TW" smtClean="0"/>
              <a:t>of</a:t>
            </a:r>
            <a:r>
              <a:rPr lang="zh-TW" altLang="en-US" smtClean="0"/>
              <a:t> </a:t>
            </a:r>
            <a:r>
              <a:rPr lang="en-US" altLang="zh-TW" smtClean="0"/>
              <a:t>training </a:t>
            </a:r>
            <a:r>
              <a:rPr lang="en-US" altLang="zh-TW" smtClean="0"/>
              <a:t>data</a:t>
            </a:r>
            <a:endParaRPr lang="zh-TW" altLang="en-US"/>
          </a:p>
        </p:txBody>
      </p:sp>
      <p:cxnSp>
        <p:nvCxnSpPr>
          <p:cNvPr id="11" name="直線單箭頭接點 10"/>
          <p:cNvCxnSpPr>
            <a:stCxn id="10" idx="1"/>
          </p:cNvCxnSpPr>
          <p:nvPr/>
        </p:nvCxnSpPr>
        <p:spPr>
          <a:xfrm flipH="1" flipV="1">
            <a:off x="7157907" y="2361507"/>
            <a:ext cx="1358578" cy="350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4" name="文字方塊 13"/>
          <p:cNvSpPr txBox="1"/>
          <p:nvPr/>
        </p:nvSpPr>
        <p:spPr>
          <a:xfrm>
            <a:off x="8516484" y="2842797"/>
            <a:ext cx="2775097"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TW" smtClean="0"/>
              <a:t>Number of </a:t>
            </a:r>
            <a:r>
              <a:rPr lang="en-US" altLang="zh-TW"/>
              <a:t>training data</a:t>
            </a:r>
            <a:endParaRPr lang="zh-TW" altLang="en-US"/>
          </a:p>
        </p:txBody>
      </p:sp>
      <p:cxnSp>
        <p:nvCxnSpPr>
          <p:cNvPr id="15" name="直線單箭頭接點 14"/>
          <p:cNvCxnSpPr>
            <a:stCxn id="14" idx="1"/>
          </p:cNvCxnSpPr>
          <p:nvPr/>
        </p:nvCxnSpPr>
        <p:spPr>
          <a:xfrm flipH="1">
            <a:off x="7157908" y="3027463"/>
            <a:ext cx="1358576" cy="96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8" name="文字方塊 17"/>
          <p:cNvSpPr txBox="1"/>
          <p:nvPr/>
        </p:nvSpPr>
        <p:spPr>
          <a:xfrm>
            <a:off x="8516483" y="3689919"/>
            <a:ext cx="2775097"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TW" smtClean="0"/>
              <a:t>Labels</a:t>
            </a:r>
            <a:r>
              <a:rPr lang="en-US" altLang="zh-TW" smtClean="0"/>
              <a:t> </a:t>
            </a:r>
            <a:r>
              <a:rPr lang="en-US" altLang="zh-TW" smtClean="0"/>
              <a:t>of </a:t>
            </a:r>
            <a:r>
              <a:rPr lang="en-US" altLang="zh-TW"/>
              <a:t>training data</a:t>
            </a:r>
            <a:endParaRPr lang="zh-TW" altLang="en-US"/>
          </a:p>
        </p:txBody>
      </p:sp>
      <p:cxnSp>
        <p:nvCxnSpPr>
          <p:cNvPr id="19" name="直線單箭頭接點 18"/>
          <p:cNvCxnSpPr>
            <a:stCxn id="18" idx="1"/>
          </p:cNvCxnSpPr>
          <p:nvPr/>
        </p:nvCxnSpPr>
        <p:spPr>
          <a:xfrm flipH="1">
            <a:off x="7157907" y="3874585"/>
            <a:ext cx="1358576" cy="96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8365034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p:cNvPicPr>
            <a:picLocks noChangeAspect="1"/>
          </p:cNvPicPr>
          <p:nvPr/>
        </p:nvPicPr>
        <p:blipFill>
          <a:blip r:embed="rId2"/>
          <a:stretch>
            <a:fillRect/>
          </a:stretch>
        </p:blipFill>
        <p:spPr>
          <a:xfrm>
            <a:off x="150575" y="1025631"/>
            <a:ext cx="4769480" cy="3949041"/>
          </a:xfrm>
          <a:prstGeom prst="rect">
            <a:avLst/>
          </a:prstGeom>
        </p:spPr>
      </p:pic>
      <p:sp>
        <p:nvSpPr>
          <p:cNvPr id="16" name="文字方塊 15"/>
          <p:cNvSpPr txBox="1"/>
          <p:nvPr/>
        </p:nvSpPr>
        <p:spPr>
          <a:xfrm>
            <a:off x="4823671" y="952845"/>
            <a:ext cx="7217328"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TW" smtClean="0"/>
              <a:t>Before import, check is matplot package installed in Anaconda environment</a:t>
            </a:r>
            <a:endParaRPr lang="zh-TW" altLang="en-US"/>
          </a:p>
        </p:txBody>
      </p:sp>
      <p:cxnSp>
        <p:nvCxnSpPr>
          <p:cNvPr id="17" name="直線單箭頭接點 16"/>
          <p:cNvCxnSpPr>
            <a:stCxn id="16" idx="1"/>
          </p:cNvCxnSpPr>
          <p:nvPr/>
        </p:nvCxnSpPr>
        <p:spPr>
          <a:xfrm flipH="1">
            <a:off x="4067418" y="1137511"/>
            <a:ext cx="756253" cy="14263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7" name="文字方塊 26"/>
          <p:cNvSpPr txBox="1"/>
          <p:nvPr/>
        </p:nvSpPr>
        <p:spPr>
          <a:xfrm>
            <a:off x="5024789" y="1375149"/>
            <a:ext cx="2978310"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TW"/>
              <a:t>Get the current figure</a:t>
            </a:r>
            <a:r>
              <a:rPr lang="en-US" altLang="zh-TW" smtClean="0"/>
              <a:t>.</a:t>
            </a:r>
          </a:p>
          <a:p>
            <a:r>
              <a:rPr lang="en-US" altLang="zh-TW" smtClean="0"/>
              <a:t>Set the size of image to show</a:t>
            </a:r>
            <a:endParaRPr lang="zh-TW" altLang="en-US"/>
          </a:p>
        </p:txBody>
      </p:sp>
      <p:cxnSp>
        <p:nvCxnSpPr>
          <p:cNvPr id="28" name="直線單箭頭接點 27"/>
          <p:cNvCxnSpPr>
            <a:stCxn id="27" idx="1"/>
          </p:cNvCxnSpPr>
          <p:nvPr/>
        </p:nvCxnSpPr>
        <p:spPr>
          <a:xfrm flipH="1" flipV="1">
            <a:off x="3825383" y="1694794"/>
            <a:ext cx="1199406" cy="352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32" name="文字方塊 31"/>
          <p:cNvSpPr txBox="1"/>
          <p:nvPr/>
        </p:nvSpPr>
        <p:spPr>
          <a:xfrm>
            <a:off x="5024788" y="1992035"/>
            <a:ext cx="7016211"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TW" smtClean="0"/>
              <a:t>Display a image, </a:t>
            </a:r>
            <a:r>
              <a:rPr lang="en-US" altLang="zh-TW" smtClean="0"/>
              <a:t>cmap=plt.cm.binary </a:t>
            </a:r>
            <a:r>
              <a:rPr lang="en-US" altLang="zh-TW" smtClean="0"/>
              <a:t>setup colormap used </a:t>
            </a:r>
            <a:r>
              <a:rPr lang="en-US" altLang="zh-TW"/>
              <a:t>to map scalar data to colors </a:t>
            </a:r>
            <a:endParaRPr lang="zh-TW" altLang="en-US"/>
          </a:p>
        </p:txBody>
      </p:sp>
      <p:cxnSp>
        <p:nvCxnSpPr>
          <p:cNvPr id="33" name="直線單箭頭接點 32"/>
          <p:cNvCxnSpPr>
            <a:stCxn id="32" idx="1"/>
          </p:cNvCxnSpPr>
          <p:nvPr/>
        </p:nvCxnSpPr>
        <p:spPr>
          <a:xfrm flipH="1" flipV="1">
            <a:off x="4278385" y="2038152"/>
            <a:ext cx="746403" cy="27704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1" name="文字方塊 40"/>
          <p:cNvSpPr txBox="1"/>
          <p:nvPr/>
        </p:nvSpPr>
        <p:spPr>
          <a:xfrm>
            <a:off x="5024788" y="2700877"/>
            <a:ext cx="1670523"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TW"/>
              <a:t>Display a figure</a:t>
            </a:r>
            <a:endParaRPr lang="zh-TW" altLang="en-US"/>
          </a:p>
        </p:txBody>
      </p:sp>
      <p:cxnSp>
        <p:nvCxnSpPr>
          <p:cNvPr id="42" name="直線單箭頭接點 41"/>
          <p:cNvCxnSpPr>
            <a:stCxn id="41" idx="1"/>
          </p:cNvCxnSpPr>
          <p:nvPr/>
        </p:nvCxnSpPr>
        <p:spPr>
          <a:xfrm flipH="1" flipV="1">
            <a:off x="2535315" y="2221672"/>
            <a:ext cx="2489473" cy="66387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5" name="文字方塊 44"/>
          <p:cNvSpPr txBox="1"/>
          <p:nvPr/>
        </p:nvSpPr>
        <p:spPr>
          <a:xfrm>
            <a:off x="5024789" y="3235460"/>
            <a:ext cx="3196424"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TW" smtClean="0"/>
              <a:t>Show the first image in train set</a:t>
            </a:r>
            <a:endParaRPr lang="zh-TW" altLang="en-US"/>
          </a:p>
        </p:txBody>
      </p:sp>
      <p:cxnSp>
        <p:nvCxnSpPr>
          <p:cNvPr id="46" name="直線單箭頭接點 45"/>
          <p:cNvCxnSpPr>
            <a:stCxn id="45" idx="1"/>
          </p:cNvCxnSpPr>
          <p:nvPr/>
        </p:nvCxnSpPr>
        <p:spPr>
          <a:xfrm flipH="1" flipV="1">
            <a:off x="3322040" y="2691338"/>
            <a:ext cx="1702749" cy="72878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 name="投影片編號版面配置區 1"/>
          <p:cNvSpPr>
            <a:spLocks noGrp="1"/>
          </p:cNvSpPr>
          <p:nvPr>
            <p:ph type="sldNum" sz="quarter" idx="12"/>
          </p:nvPr>
        </p:nvSpPr>
        <p:spPr/>
        <p:txBody>
          <a:bodyPr/>
          <a:lstStyle/>
          <a:p>
            <a:fld id="{5A42122C-B539-4F52-99F7-B4BD00FBCCAD}" type="slidenum">
              <a:rPr lang="zh-TW" altLang="en-US" smtClean="0"/>
              <a:t>17</a:t>
            </a:fld>
            <a:endParaRPr lang="zh-TW" altLang="en-US"/>
          </a:p>
        </p:txBody>
      </p:sp>
    </p:spTree>
    <p:extLst>
      <p:ext uri="{BB962C8B-B14F-4D97-AF65-F5344CB8AC3E}">
        <p14:creationId xmlns:p14="http://schemas.microsoft.com/office/powerpoint/2010/main" val="19604970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stretch>
            <a:fillRect/>
          </a:stretch>
        </p:blipFill>
        <p:spPr>
          <a:xfrm>
            <a:off x="175837" y="109337"/>
            <a:ext cx="7185314" cy="4915667"/>
          </a:xfrm>
          <a:prstGeom prst="rect">
            <a:avLst/>
          </a:prstGeom>
        </p:spPr>
      </p:pic>
      <p:sp>
        <p:nvSpPr>
          <p:cNvPr id="2" name="投影片編號版面配置區 1"/>
          <p:cNvSpPr>
            <a:spLocks noGrp="1"/>
          </p:cNvSpPr>
          <p:nvPr>
            <p:ph type="sldNum" sz="quarter" idx="12"/>
          </p:nvPr>
        </p:nvSpPr>
        <p:spPr/>
        <p:txBody>
          <a:bodyPr/>
          <a:lstStyle/>
          <a:p>
            <a:fld id="{5A42122C-B539-4F52-99F7-B4BD00FBCCAD}" type="slidenum">
              <a:rPr lang="zh-TW" altLang="en-US" smtClean="0"/>
              <a:t>18</a:t>
            </a:fld>
            <a:endParaRPr lang="zh-TW" altLang="en-US"/>
          </a:p>
        </p:txBody>
      </p:sp>
      <p:pic>
        <p:nvPicPr>
          <p:cNvPr id="3" name="圖片 2"/>
          <p:cNvPicPr>
            <a:picLocks noChangeAspect="1"/>
          </p:cNvPicPr>
          <p:nvPr/>
        </p:nvPicPr>
        <p:blipFill>
          <a:blip r:embed="rId3"/>
          <a:stretch>
            <a:fillRect/>
          </a:stretch>
        </p:blipFill>
        <p:spPr>
          <a:xfrm>
            <a:off x="5057392" y="3296873"/>
            <a:ext cx="7106416" cy="3424602"/>
          </a:xfrm>
          <a:prstGeom prst="rect">
            <a:avLst/>
          </a:prstGeom>
          <a:ln>
            <a:solidFill>
              <a:schemeClr val="accent1"/>
            </a:solidFill>
          </a:ln>
        </p:spPr>
      </p:pic>
    </p:spTree>
    <p:extLst>
      <p:ext uri="{BB962C8B-B14F-4D97-AF65-F5344CB8AC3E}">
        <p14:creationId xmlns:p14="http://schemas.microsoft.com/office/powerpoint/2010/main" val="29147823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圖片 26"/>
          <p:cNvPicPr>
            <a:picLocks noChangeAspect="1"/>
          </p:cNvPicPr>
          <p:nvPr/>
        </p:nvPicPr>
        <p:blipFill>
          <a:blip r:embed="rId2"/>
          <a:stretch>
            <a:fillRect/>
          </a:stretch>
        </p:blipFill>
        <p:spPr>
          <a:xfrm>
            <a:off x="857250" y="2491784"/>
            <a:ext cx="5080560" cy="4304901"/>
          </a:xfrm>
          <a:prstGeom prst="rect">
            <a:avLst/>
          </a:prstGeom>
        </p:spPr>
      </p:pic>
      <p:pic>
        <p:nvPicPr>
          <p:cNvPr id="7" name="圖片 6"/>
          <p:cNvPicPr>
            <a:picLocks noChangeAspect="1"/>
          </p:cNvPicPr>
          <p:nvPr/>
        </p:nvPicPr>
        <p:blipFill>
          <a:blip r:embed="rId3"/>
          <a:stretch>
            <a:fillRect/>
          </a:stretch>
        </p:blipFill>
        <p:spPr>
          <a:xfrm>
            <a:off x="882088" y="985620"/>
            <a:ext cx="6154679" cy="1538669"/>
          </a:xfrm>
          <a:prstGeom prst="rect">
            <a:avLst/>
          </a:prstGeom>
        </p:spPr>
      </p:pic>
      <p:sp>
        <p:nvSpPr>
          <p:cNvPr id="3" name="內容版面配置區 2"/>
          <p:cNvSpPr>
            <a:spLocks noGrp="1"/>
          </p:cNvSpPr>
          <p:nvPr>
            <p:ph idx="1"/>
          </p:nvPr>
        </p:nvSpPr>
        <p:spPr>
          <a:xfrm>
            <a:off x="838200" y="486561"/>
            <a:ext cx="10515600" cy="5690402"/>
          </a:xfrm>
        </p:spPr>
        <p:txBody>
          <a:bodyPr/>
          <a:lstStyle/>
          <a:p>
            <a:r>
              <a:rPr lang="en-US" altLang="zh-TW" smtClean="0"/>
              <a:t>Data preprocessing, transform to the network input format </a:t>
            </a:r>
            <a:endParaRPr lang="zh-TW" altLang="en-US"/>
          </a:p>
        </p:txBody>
      </p:sp>
      <p:sp>
        <p:nvSpPr>
          <p:cNvPr id="5" name="文字方塊 4"/>
          <p:cNvSpPr txBox="1"/>
          <p:nvPr/>
        </p:nvSpPr>
        <p:spPr>
          <a:xfrm>
            <a:off x="7172586" y="2076362"/>
            <a:ext cx="4882393"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TW" smtClean="0"/>
              <a:t>Since gray value is 0~255, thus feature values are normalized to 0~1</a:t>
            </a:r>
            <a:endParaRPr lang="zh-TW" altLang="en-US"/>
          </a:p>
        </p:txBody>
      </p:sp>
      <p:cxnSp>
        <p:nvCxnSpPr>
          <p:cNvPr id="6" name="直線單箭頭接點 5"/>
          <p:cNvCxnSpPr>
            <a:stCxn id="5" idx="1"/>
          </p:cNvCxnSpPr>
          <p:nvPr/>
        </p:nvCxnSpPr>
        <p:spPr>
          <a:xfrm flipH="1" flipV="1">
            <a:off x="6920917" y="1911985"/>
            <a:ext cx="251669" cy="48754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 name="投影片編號版面配置區 1"/>
          <p:cNvSpPr>
            <a:spLocks noGrp="1"/>
          </p:cNvSpPr>
          <p:nvPr>
            <p:ph type="sldNum" sz="quarter" idx="12"/>
          </p:nvPr>
        </p:nvSpPr>
        <p:spPr/>
        <p:txBody>
          <a:bodyPr/>
          <a:lstStyle/>
          <a:p>
            <a:fld id="{5A42122C-B539-4F52-99F7-B4BD00FBCCAD}" type="slidenum">
              <a:rPr lang="zh-TW" altLang="en-US" smtClean="0"/>
              <a:t>19</a:t>
            </a:fld>
            <a:endParaRPr lang="zh-TW" altLang="en-US"/>
          </a:p>
        </p:txBody>
      </p:sp>
      <p:sp>
        <p:nvSpPr>
          <p:cNvPr id="15" name="文字方塊 14"/>
          <p:cNvSpPr txBox="1"/>
          <p:nvPr/>
        </p:nvSpPr>
        <p:spPr>
          <a:xfrm>
            <a:off x="7184417" y="1108624"/>
            <a:ext cx="4882393"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TW" smtClean="0"/>
              <a:t>Transform 28x28 image features into 1D (784) vector</a:t>
            </a:r>
            <a:endParaRPr lang="zh-TW" altLang="en-US"/>
          </a:p>
        </p:txBody>
      </p:sp>
      <p:cxnSp>
        <p:nvCxnSpPr>
          <p:cNvPr id="16" name="直線單箭頭接點 15"/>
          <p:cNvCxnSpPr>
            <a:stCxn id="15" idx="1"/>
          </p:cNvCxnSpPr>
          <p:nvPr/>
        </p:nvCxnSpPr>
        <p:spPr>
          <a:xfrm flipH="1">
            <a:off x="6224631" y="1431790"/>
            <a:ext cx="959786" cy="29517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8" name="文字方塊 17"/>
          <p:cNvSpPr txBox="1"/>
          <p:nvPr/>
        </p:nvSpPr>
        <p:spPr>
          <a:xfrm>
            <a:off x="6073629" y="3383255"/>
            <a:ext cx="598135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TW" smtClean="0"/>
              <a:t>Dense layer: The </a:t>
            </a:r>
            <a:r>
              <a:rPr lang="en-US" altLang="zh-TW" smtClean="0"/>
              <a:t>nodes of adjacent layers are fully connected</a:t>
            </a:r>
            <a:endParaRPr lang="zh-TW" altLang="en-US"/>
          </a:p>
        </p:txBody>
      </p:sp>
      <p:cxnSp>
        <p:nvCxnSpPr>
          <p:cNvPr id="19" name="直線單箭頭接點 18"/>
          <p:cNvCxnSpPr>
            <a:stCxn id="18" idx="1"/>
          </p:cNvCxnSpPr>
          <p:nvPr/>
        </p:nvCxnSpPr>
        <p:spPr>
          <a:xfrm flipH="1">
            <a:off x="4102217" y="3567921"/>
            <a:ext cx="1971412" cy="578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5" name="文字方塊 24"/>
          <p:cNvSpPr txBox="1"/>
          <p:nvPr/>
        </p:nvSpPr>
        <p:spPr>
          <a:xfrm>
            <a:off x="6459523" y="5105646"/>
            <a:ext cx="5583573"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TW" smtClean="0"/>
              <a:t>784x512 </a:t>
            </a:r>
            <a:r>
              <a:rPr lang="en-US" altLang="zh-TW"/>
              <a:t>+ </a:t>
            </a:r>
            <a:r>
              <a:rPr lang="en-US" altLang="zh-TW" smtClean="0"/>
              <a:t>512</a:t>
            </a:r>
            <a:endParaRPr lang="zh-TW" altLang="en-US"/>
          </a:p>
        </p:txBody>
      </p:sp>
      <p:cxnSp>
        <p:nvCxnSpPr>
          <p:cNvPr id="26" name="直線單箭頭接點 25"/>
          <p:cNvCxnSpPr>
            <a:stCxn id="25" idx="1"/>
          </p:cNvCxnSpPr>
          <p:nvPr/>
        </p:nvCxnSpPr>
        <p:spPr>
          <a:xfrm flipH="1" flipV="1">
            <a:off x="5566795" y="5279112"/>
            <a:ext cx="892728" cy="1120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30" name="文字方塊 29"/>
          <p:cNvSpPr txBox="1"/>
          <p:nvPr/>
        </p:nvSpPr>
        <p:spPr>
          <a:xfrm>
            <a:off x="6459523" y="5622965"/>
            <a:ext cx="1674304"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TW" smtClean="0"/>
              <a:t>512x10 </a:t>
            </a:r>
            <a:r>
              <a:rPr lang="en-US" altLang="zh-TW" smtClean="0"/>
              <a:t>+ 10</a:t>
            </a:r>
            <a:endParaRPr lang="zh-TW" altLang="en-US"/>
          </a:p>
        </p:txBody>
      </p:sp>
      <p:cxnSp>
        <p:nvCxnSpPr>
          <p:cNvPr id="31" name="直線單箭頭接點 30"/>
          <p:cNvCxnSpPr>
            <a:stCxn id="30" idx="1"/>
          </p:cNvCxnSpPr>
          <p:nvPr/>
        </p:nvCxnSpPr>
        <p:spPr>
          <a:xfrm flipH="1" flipV="1">
            <a:off x="5588469" y="5595457"/>
            <a:ext cx="871054" cy="21217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652117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p:cNvPicPr>
            <a:picLocks noChangeAspect="1"/>
          </p:cNvPicPr>
          <p:nvPr/>
        </p:nvPicPr>
        <p:blipFill>
          <a:blip r:embed="rId2"/>
          <a:stretch>
            <a:fillRect/>
          </a:stretch>
        </p:blipFill>
        <p:spPr>
          <a:xfrm>
            <a:off x="199021" y="251562"/>
            <a:ext cx="7049486" cy="4051990"/>
          </a:xfrm>
          <a:prstGeom prst="rect">
            <a:avLst/>
          </a:prstGeom>
        </p:spPr>
      </p:pic>
      <p:sp>
        <p:nvSpPr>
          <p:cNvPr id="23" name="文字方塊 22"/>
          <p:cNvSpPr txBox="1"/>
          <p:nvPr/>
        </p:nvSpPr>
        <p:spPr>
          <a:xfrm>
            <a:off x="6504963" y="747937"/>
            <a:ext cx="5583573"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TW" smtClean="0"/>
              <a:t>Configure </a:t>
            </a:r>
            <a:r>
              <a:rPr lang="en-US" altLang="zh-TW"/>
              <a:t>the learning </a:t>
            </a:r>
            <a:r>
              <a:rPr lang="en-US" altLang="zh-TW" smtClean="0"/>
              <a:t>process</a:t>
            </a:r>
            <a:endParaRPr lang="zh-TW" altLang="en-US"/>
          </a:p>
        </p:txBody>
      </p:sp>
      <p:cxnSp>
        <p:nvCxnSpPr>
          <p:cNvPr id="24" name="直線單箭頭接點 23"/>
          <p:cNvCxnSpPr>
            <a:stCxn id="23" idx="1"/>
          </p:cNvCxnSpPr>
          <p:nvPr/>
        </p:nvCxnSpPr>
        <p:spPr>
          <a:xfrm flipH="1" flipV="1">
            <a:off x="5612235" y="921403"/>
            <a:ext cx="892728" cy="1120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 name="投影片編號版面配置區 1"/>
          <p:cNvSpPr>
            <a:spLocks noGrp="1"/>
          </p:cNvSpPr>
          <p:nvPr>
            <p:ph type="sldNum" sz="quarter" idx="12"/>
          </p:nvPr>
        </p:nvSpPr>
        <p:spPr/>
        <p:txBody>
          <a:bodyPr/>
          <a:lstStyle/>
          <a:p>
            <a:fld id="{5A42122C-B539-4F52-99F7-B4BD00FBCCAD}" type="slidenum">
              <a:rPr lang="zh-TW" altLang="en-US" smtClean="0"/>
              <a:t>20</a:t>
            </a:fld>
            <a:endParaRPr lang="zh-TW" altLang="en-US"/>
          </a:p>
        </p:txBody>
      </p:sp>
      <p:sp>
        <p:nvSpPr>
          <p:cNvPr id="18" name="文字方塊 17"/>
          <p:cNvSpPr txBox="1"/>
          <p:nvPr/>
        </p:nvSpPr>
        <p:spPr>
          <a:xfrm>
            <a:off x="7456066" y="1505021"/>
            <a:ext cx="4709020" cy="286232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285750" indent="-285750">
              <a:buFont typeface="Arial" panose="020B0604020202020204" pitchFamily="34" charset="0"/>
              <a:buChar char="•"/>
            </a:pPr>
            <a:r>
              <a:rPr lang="en-US" altLang="zh-TW" b="1"/>
              <a:t>batch_size</a:t>
            </a:r>
            <a:r>
              <a:rPr lang="en-US" altLang="zh-TW"/>
              <a:t>: Integer or None. Number of samples per gradient update. If unspecified, batch_size will default to 32</a:t>
            </a:r>
            <a:r>
              <a:rPr lang="en-US" altLang="zh-TW" smtClean="0"/>
              <a:t>.</a:t>
            </a:r>
          </a:p>
          <a:p>
            <a:pPr marL="285750" indent="-285750">
              <a:buFont typeface="Arial" panose="020B0604020202020204" pitchFamily="34" charset="0"/>
              <a:buChar char="•"/>
            </a:pPr>
            <a:r>
              <a:rPr lang="en-US" altLang="zh-TW" b="1"/>
              <a:t>epochs</a:t>
            </a:r>
            <a:r>
              <a:rPr lang="en-US" altLang="zh-TW"/>
              <a:t>: Integer. Number of epochs to train the model. An epoch is an iteration over the entire </a:t>
            </a:r>
            <a:r>
              <a:rPr lang="en-US" altLang="zh-TW" i="1"/>
              <a:t>x</a:t>
            </a:r>
            <a:r>
              <a:rPr lang="en-US" altLang="zh-TW"/>
              <a:t> and </a:t>
            </a:r>
            <a:r>
              <a:rPr lang="en-US" altLang="zh-TW" i="1"/>
              <a:t>y</a:t>
            </a:r>
            <a:r>
              <a:rPr lang="en-US" altLang="zh-TW"/>
              <a:t> data provided. </a:t>
            </a:r>
            <a:endParaRPr lang="en-US" altLang="zh-TW" smtClean="0"/>
          </a:p>
          <a:p>
            <a:pPr marL="285750" indent="-285750">
              <a:buFont typeface="Arial" panose="020B0604020202020204" pitchFamily="34" charset="0"/>
              <a:buChar char="•"/>
            </a:pPr>
            <a:r>
              <a:rPr lang="en-US" altLang="zh-TW" b="1" smtClean="0"/>
              <a:t>verbose:</a:t>
            </a:r>
            <a:r>
              <a:rPr lang="en-US" altLang="zh-TW" smtClean="0"/>
              <a:t> </a:t>
            </a:r>
            <a:r>
              <a:rPr lang="en-US" altLang="zh-TW"/>
              <a:t>'auto', 0, 1, or 2. Verbosity mode. 0 = silent, 1 = progress bar, 2 = one line per epoch. 'auto' defaults to 1 for most cases, but 2 when used with ParameterServerStrategy.</a:t>
            </a:r>
            <a:endParaRPr lang="zh-TW" altLang="en-US"/>
          </a:p>
        </p:txBody>
      </p:sp>
      <p:cxnSp>
        <p:nvCxnSpPr>
          <p:cNvPr id="19" name="直線單箭頭接點 18"/>
          <p:cNvCxnSpPr>
            <a:stCxn id="18" idx="1"/>
          </p:cNvCxnSpPr>
          <p:nvPr/>
        </p:nvCxnSpPr>
        <p:spPr>
          <a:xfrm flipH="1" flipV="1">
            <a:off x="6778306" y="2004971"/>
            <a:ext cx="677760" cy="93121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6072859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5A42122C-B539-4F52-99F7-B4BD00FBCCAD}" type="slidenum">
              <a:rPr lang="zh-TW" altLang="en-US" smtClean="0"/>
              <a:t>21</a:t>
            </a:fld>
            <a:endParaRPr lang="zh-TW" altLang="en-US"/>
          </a:p>
        </p:txBody>
      </p:sp>
      <p:pic>
        <p:nvPicPr>
          <p:cNvPr id="8" name="圖片 7"/>
          <p:cNvPicPr>
            <a:picLocks noChangeAspect="1"/>
          </p:cNvPicPr>
          <p:nvPr/>
        </p:nvPicPr>
        <p:blipFill>
          <a:blip r:embed="rId2"/>
          <a:stretch>
            <a:fillRect/>
          </a:stretch>
        </p:blipFill>
        <p:spPr>
          <a:xfrm>
            <a:off x="605445" y="407778"/>
            <a:ext cx="5937968" cy="4327671"/>
          </a:xfrm>
          <a:prstGeom prst="rect">
            <a:avLst/>
          </a:prstGeom>
        </p:spPr>
      </p:pic>
      <p:sp>
        <p:nvSpPr>
          <p:cNvPr id="10" name="文字方塊 9"/>
          <p:cNvSpPr txBox="1"/>
          <p:nvPr/>
        </p:nvSpPr>
        <p:spPr>
          <a:xfrm>
            <a:off x="6543413" y="867457"/>
            <a:ext cx="5583573"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TW" smtClean="0"/>
              <a:t>Predict </a:t>
            </a:r>
            <a:r>
              <a:rPr lang="en-US" altLang="zh-TW" smtClean="0"/>
              <a:t> the first 10 images in test </a:t>
            </a:r>
            <a:r>
              <a:rPr lang="en-US" altLang="zh-TW" smtClean="0"/>
              <a:t>data. Results are store in </a:t>
            </a:r>
            <a:r>
              <a:rPr lang="en-US" altLang="zh-TW" i="1" smtClean="0"/>
              <a:t>predictions</a:t>
            </a:r>
            <a:endParaRPr lang="zh-TW" altLang="en-US" i="1"/>
          </a:p>
        </p:txBody>
      </p:sp>
      <p:cxnSp>
        <p:nvCxnSpPr>
          <p:cNvPr id="11" name="直線單箭頭接點 10"/>
          <p:cNvCxnSpPr>
            <a:stCxn id="10" idx="1"/>
          </p:cNvCxnSpPr>
          <p:nvPr/>
        </p:nvCxnSpPr>
        <p:spPr>
          <a:xfrm flipH="1" flipV="1">
            <a:off x="5947794" y="1182848"/>
            <a:ext cx="595619" cy="777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3" name="文字方塊 12"/>
          <p:cNvSpPr txBox="1"/>
          <p:nvPr/>
        </p:nvSpPr>
        <p:spPr>
          <a:xfrm>
            <a:off x="6543413" y="1746713"/>
            <a:ext cx="5583573"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TW" i="1" smtClean="0"/>
              <a:t>Predictions[0]</a:t>
            </a:r>
            <a:r>
              <a:rPr lang="zh-TW" altLang="en-US" i="1" smtClean="0"/>
              <a:t> </a:t>
            </a:r>
            <a:r>
              <a:rPr lang="en-US" altLang="zh-TW" smtClean="0"/>
              <a:t>stores the</a:t>
            </a:r>
            <a:r>
              <a:rPr lang="zh-TW" altLang="en-US" smtClean="0"/>
              <a:t> </a:t>
            </a:r>
            <a:r>
              <a:rPr lang="en-US" altLang="zh-TW" smtClean="0"/>
              <a:t>probabilities of the first image </a:t>
            </a:r>
            <a:r>
              <a:rPr lang="en-US" altLang="zh-TW" i="1" smtClean="0"/>
              <a:t>test_digits[0]</a:t>
            </a:r>
            <a:r>
              <a:rPr lang="en-US" altLang="zh-TW" smtClean="0"/>
              <a:t> belonging to each class.</a:t>
            </a:r>
            <a:endParaRPr lang="zh-TW" altLang="en-US"/>
          </a:p>
        </p:txBody>
      </p:sp>
      <p:cxnSp>
        <p:nvCxnSpPr>
          <p:cNvPr id="14" name="直線單箭頭接點 13"/>
          <p:cNvCxnSpPr>
            <a:stCxn id="13" idx="1"/>
          </p:cNvCxnSpPr>
          <p:nvPr/>
        </p:nvCxnSpPr>
        <p:spPr>
          <a:xfrm flipH="1" flipV="1">
            <a:off x="6400800" y="1746713"/>
            <a:ext cx="142613" cy="32316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7" name="文字方塊 16"/>
          <p:cNvSpPr txBox="1"/>
          <p:nvPr/>
        </p:nvSpPr>
        <p:spPr>
          <a:xfrm>
            <a:off x="6543413" y="2639870"/>
            <a:ext cx="5583573"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TW" smtClean="0"/>
              <a:t>The index of the maximum value in </a:t>
            </a:r>
            <a:r>
              <a:rPr lang="en-US" altLang="zh-TW" i="1" smtClean="0"/>
              <a:t>Predictions[0].</a:t>
            </a:r>
          </a:p>
          <a:p>
            <a:r>
              <a:rPr lang="en-US" altLang="zh-TW"/>
              <a:t>The maximum </a:t>
            </a:r>
            <a:r>
              <a:rPr lang="en-US" altLang="zh-TW"/>
              <a:t>value </a:t>
            </a:r>
            <a:r>
              <a:rPr lang="en-US" altLang="zh-TW" smtClean="0"/>
              <a:t>is 0.9999347 (</a:t>
            </a:r>
            <a:r>
              <a:rPr lang="en-US" altLang="zh-TW" i="1"/>
              <a:t>Predictions[0</a:t>
            </a:r>
            <a:r>
              <a:rPr lang="en-US" altLang="zh-TW" i="1" smtClean="0"/>
              <a:t>][7]</a:t>
            </a:r>
            <a:r>
              <a:rPr lang="en-US" altLang="zh-TW" smtClean="0"/>
              <a:t>).</a:t>
            </a:r>
            <a:endParaRPr lang="zh-TW" altLang="en-US"/>
          </a:p>
        </p:txBody>
      </p:sp>
      <p:cxnSp>
        <p:nvCxnSpPr>
          <p:cNvPr id="18" name="直線單箭頭接點 17"/>
          <p:cNvCxnSpPr>
            <a:stCxn id="17" idx="1"/>
          </p:cNvCxnSpPr>
          <p:nvPr/>
        </p:nvCxnSpPr>
        <p:spPr>
          <a:xfrm flipH="1" flipV="1">
            <a:off x="6400801" y="2639874"/>
            <a:ext cx="142612" cy="32316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284954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5A42122C-B539-4F52-99F7-B4BD00FBCCAD}" type="slidenum">
              <a:rPr lang="zh-TW" altLang="en-US" smtClean="0"/>
              <a:t>22</a:t>
            </a:fld>
            <a:endParaRPr lang="zh-TW" altLang="en-US"/>
          </a:p>
        </p:txBody>
      </p:sp>
      <p:pic>
        <p:nvPicPr>
          <p:cNvPr id="9" name="圖片 8"/>
          <p:cNvPicPr>
            <a:picLocks noChangeAspect="1"/>
          </p:cNvPicPr>
          <p:nvPr/>
        </p:nvPicPr>
        <p:blipFill>
          <a:blip r:embed="rId2"/>
          <a:stretch>
            <a:fillRect/>
          </a:stretch>
        </p:blipFill>
        <p:spPr>
          <a:xfrm>
            <a:off x="1451914" y="1047417"/>
            <a:ext cx="9288171" cy="4763165"/>
          </a:xfrm>
          <a:prstGeom prst="rect">
            <a:avLst/>
          </a:prstGeom>
        </p:spPr>
      </p:pic>
    </p:spTree>
    <p:extLst>
      <p:ext uri="{BB962C8B-B14F-4D97-AF65-F5344CB8AC3E}">
        <p14:creationId xmlns:p14="http://schemas.microsoft.com/office/powerpoint/2010/main" val="36343563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Exercise 1</a:t>
            </a:r>
            <a:endParaRPr lang="zh-TW" altLang="en-US"/>
          </a:p>
        </p:txBody>
      </p:sp>
      <p:sp>
        <p:nvSpPr>
          <p:cNvPr id="3" name="內容版面配置區 2"/>
          <p:cNvSpPr>
            <a:spLocks noGrp="1"/>
          </p:cNvSpPr>
          <p:nvPr>
            <p:ph idx="1"/>
          </p:nvPr>
        </p:nvSpPr>
        <p:spPr/>
        <p:txBody>
          <a:bodyPr/>
          <a:lstStyle/>
          <a:p>
            <a:r>
              <a:rPr lang="en-US" altLang="zh-TW" smtClean="0"/>
              <a:t>Build a MLP with two hidden layers to recognize handwritten digits (</a:t>
            </a:r>
            <a:r>
              <a:rPr lang="en-US" altLang="zh-TW"/>
              <a:t>Mnist </a:t>
            </a:r>
            <a:r>
              <a:rPr lang="en-US" altLang="zh-TW" smtClean="0"/>
              <a:t>dataset)</a:t>
            </a:r>
          </a:p>
          <a:p>
            <a:r>
              <a:rPr lang="en-US" altLang="zh-TW" smtClean="0"/>
              <a:t>Compare the performance of </a:t>
            </a:r>
            <a:r>
              <a:rPr lang="en-US" altLang="zh-TW"/>
              <a:t>MLP with two hidden layers </a:t>
            </a:r>
            <a:r>
              <a:rPr lang="en-US" altLang="zh-TW" smtClean="0"/>
              <a:t>to </a:t>
            </a:r>
            <a:r>
              <a:rPr lang="en-US" altLang="zh-TW"/>
              <a:t>MLP with </a:t>
            </a:r>
            <a:r>
              <a:rPr lang="en-US" altLang="zh-TW" smtClean="0"/>
              <a:t>one </a:t>
            </a:r>
            <a:r>
              <a:rPr lang="en-US" altLang="zh-TW"/>
              <a:t>hidden </a:t>
            </a:r>
            <a:r>
              <a:rPr lang="en-US" altLang="zh-TW" smtClean="0"/>
              <a:t>layer</a:t>
            </a:r>
            <a:endParaRPr lang="zh-TW" altLang="en-US"/>
          </a:p>
        </p:txBody>
      </p:sp>
      <p:sp>
        <p:nvSpPr>
          <p:cNvPr id="4" name="投影片編號版面配置區 3"/>
          <p:cNvSpPr>
            <a:spLocks noGrp="1"/>
          </p:cNvSpPr>
          <p:nvPr>
            <p:ph type="sldNum" sz="quarter" idx="12"/>
          </p:nvPr>
        </p:nvSpPr>
        <p:spPr/>
        <p:txBody>
          <a:bodyPr/>
          <a:lstStyle/>
          <a:p>
            <a:fld id="{5A42122C-B539-4F52-99F7-B4BD00FBCCAD}" type="slidenum">
              <a:rPr lang="zh-TW" altLang="en-US" smtClean="0"/>
              <a:t>23</a:t>
            </a:fld>
            <a:endParaRPr lang="zh-TW" altLang="en-US"/>
          </a:p>
        </p:txBody>
      </p:sp>
    </p:spTree>
    <p:extLst>
      <p:ext uri="{BB962C8B-B14F-4D97-AF65-F5344CB8AC3E}">
        <p14:creationId xmlns:p14="http://schemas.microsoft.com/office/powerpoint/2010/main" val="26340522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Titanic Dataset</a:t>
            </a:r>
            <a:endParaRPr lang="zh-TW" altLang="en-US"/>
          </a:p>
        </p:txBody>
      </p:sp>
      <p:sp>
        <p:nvSpPr>
          <p:cNvPr id="3" name="內容版面配置區 2"/>
          <p:cNvSpPr>
            <a:spLocks noGrp="1"/>
          </p:cNvSpPr>
          <p:nvPr>
            <p:ph idx="1"/>
          </p:nvPr>
        </p:nvSpPr>
        <p:spPr/>
        <p:txBody>
          <a:bodyPr/>
          <a:lstStyle/>
          <a:p>
            <a:r>
              <a:rPr lang="en-US" altLang="zh-TW" smtClean="0"/>
              <a:t>Predict </a:t>
            </a:r>
            <a:r>
              <a:rPr lang="en-US" altLang="zh-TW"/>
              <a:t>which </a:t>
            </a:r>
            <a:r>
              <a:rPr lang="en-US" altLang="zh-TW" smtClean="0"/>
              <a:t>passengers</a:t>
            </a:r>
            <a:r>
              <a:rPr lang="zh-TW" altLang="en-US" smtClean="0"/>
              <a:t> </a:t>
            </a:r>
            <a:r>
              <a:rPr lang="en-US" altLang="zh-TW" smtClean="0"/>
              <a:t>in Titanic survived</a:t>
            </a:r>
          </a:p>
          <a:p>
            <a:endParaRPr lang="zh-TW" altLang="en-US"/>
          </a:p>
        </p:txBody>
      </p:sp>
      <p:graphicFrame>
        <p:nvGraphicFramePr>
          <p:cNvPr id="4" name="表格 3"/>
          <p:cNvGraphicFramePr>
            <a:graphicFrameLocks noGrp="1"/>
          </p:cNvGraphicFramePr>
          <p:nvPr>
            <p:extLst>
              <p:ext uri="{D42A27DB-BD31-4B8C-83A1-F6EECF244321}">
                <p14:modId xmlns:p14="http://schemas.microsoft.com/office/powerpoint/2010/main" val="1572253256"/>
              </p:ext>
            </p:extLst>
          </p:nvPr>
        </p:nvGraphicFramePr>
        <p:xfrm>
          <a:off x="558801" y="2418821"/>
          <a:ext cx="11396132" cy="903471"/>
        </p:xfrm>
        <a:graphic>
          <a:graphicData uri="http://schemas.openxmlformats.org/drawingml/2006/table">
            <a:tbl>
              <a:tblPr>
                <a:tableStyleId>{5C22544A-7EE6-4342-B048-85BDC9FD1C3A}</a:tableStyleId>
              </a:tblPr>
              <a:tblGrid>
                <a:gridCol w="559714">
                  <a:extLst>
                    <a:ext uri="{9D8B030D-6E8A-4147-A177-3AD203B41FA5}">
                      <a16:colId xmlns:a16="http://schemas.microsoft.com/office/drawing/2014/main" val="2026970677"/>
                    </a:ext>
                  </a:extLst>
                </a:gridCol>
                <a:gridCol w="734049">
                  <a:extLst>
                    <a:ext uri="{9D8B030D-6E8A-4147-A177-3AD203B41FA5}">
                      <a16:colId xmlns:a16="http://schemas.microsoft.com/office/drawing/2014/main" val="3093603613"/>
                    </a:ext>
                  </a:extLst>
                </a:gridCol>
                <a:gridCol w="2230099">
                  <a:extLst>
                    <a:ext uri="{9D8B030D-6E8A-4147-A177-3AD203B41FA5}">
                      <a16:colId xmlns:a16="http://schemas.microsoft.com/office/drawing/2014/main" val="189772891"/>
                    </a:ext>
                  </a:extLst>
                </a:gridCol>
                <a:gridCol w="538127">
                  <a:extLst>
                    <a:ext uri="{9D8B030D-6E8A-4147-A177-3AD203B41FA5}">
                      <a16:colId xmlns:a16="http://schemas.microsoft.com/office/drawing/2014/main" val="2042667200"/>
                    </a:ext>
                  </a:extLst>
                </a:gridCol>
                <a:gridCol w="607563">
                  <a:extLst>
                    <a:ext uri="{9D8B030D-6E8A-4147-A177-3AD203B41FA5}">
                      <a16:colId xmlns:a16="http://schemas.microsoft.com/office/drawing/2014/main" val="3764591769"/>
                    </a:ext>
                  </a:extLst>
                </a:gridCol>
                <a:gridCol w="703036">
                  <a:extLst>
                    <a:ext uri="{9D8B030D-6E8A-4147-A177-3AD203B41FA5}">
                      <a16:colId xmlns:a16="http://schemas.microsoft.com/office/drawing/2014/main" val="1468019640"/>
                    </a:ext>
                  </a:extLst>
                </a:gridCol>
                <a:gridCol w="468691">
                  <a:extLst>
                    <a:ext uri="{9D8B030D-6E8A-4147-A177-3AD203B41FA5}">
                      <a16:colId xmlns:a16="http://schemas.microsoft.com/office/drawing/2014/main" val="514418003"/>
                    </a:ext>
                  </a:extLst>
                </a:gridCol>
                <a:gridCol w="836122">
                  <a:extLst>
                    <a:ext uri="{9D8B030D-6E8A-4147-A177-3AD203B41FA5}">
                      <a16:colId xmlns:a16="http://schemas.microsoft.com/office/drawing/2014/main" val="3575664108"/>
                    </a:ext>
                  </a:extLst>
                </a:gridCol>
                <a:gridCol w="726180">
                  <a:extLst>
                    <a:ext uri="{9D8B030D-6E8A-4147-A177-3AD203B41FA5}">
                      <a16:colId xmlns:a16="http://schemas.microsoft.com/office/drawing/2014/main" val="1101632276"/>
                    </a:ext>
                  </a:extLst>
                </a:gridCol>
                <a:gridCol w="703036">
                  <a:extLst>
                    <a:ext uri="{9D8B030D-6E8A-4147-A177-3AD203B41FA5}">
                      <a16:colId xmlns:a16="http://schemas.microsoft.com/office/drawing/2014/main" val="2707174386"/>
                    </a:ext>
                  </a:extLst>
                </a:gridCol>
                <a:gridCol w="876625">
                  <a:extLst>
                    <a:ext uri="{9D8B030D-6E8A-4147-A177-3AD203B41FA5}">
                      <a16:colId xmlns:a16="http://schemas.microsoft.com/office/drawing/2014/main" val="830558581"/>
                    </a:ext>
                  </a:extLst>
                </a:gridCol>
                <a:gridCol w="520768">
                  <a:extLst>
                    <a:ext uri="{9D8B030D-6E8A-4147-A177-3AD203B41FA5}">
                      <a16:colId xmlns:a16="http://schemas.microsoft.com/office/drawing/2014/main" val="4251168052"/>
                    </a:ext>
                  </a:extLst>
                </a:gridCol>
                <a:gridCol w="546806">
                  <a:extLst>
                    <a:ext uri="{9D8B030D-6E8A-4147-A177-3AD203B41FA5}">
                      <a16:colId xmlns:a16="http://schemas.microsoft.com/office/drawing/2014/main" val="646871731"/>
                    </a:ext>
                  </a:extLst>
                </a:gridCol>
                <a:gridCol w="1345316">
                  <a:extLst>
                    <a:ext uri="{9D8B030D-6E8A-4147-A177-3AD203B41FA5}">
                      <a16:colId xmlns:a16="http://schemas.microsoft.com/office/drawing/2014/main" val="386807319"/>
                    </a:ext>
                  </a:extLst>
                </a:gridCol>
              </a:tblGrid>
              <a:tr h="127933">
                <a:tc>
                  <a:txBody>
                    <a:bodyPr/>
                    <a:lstStyle/>
                    <a:p>
                      <a:pPr algn="ctr" fontAlgn="b"/>
                      <a:r>
                        <a:rPr lang="en-US" sz="1400" u="none" strike="noStrike">
                          <a:effectLst/>
                        </a:rPr>
                        <a:t>pclass</a:t>
                      </a:r>
                      <a:endParaRPr lang="en-US" sz="1400" b="1" i="0" u="none" strike="noStrike">
                        <a:effectLst/>
                        <a:latin typeface="Times New Roman" panose="02020603050405020304" pitchFamily="18" charset="0"/>
                      </a:endParaRPr>
                    </a:p>
                  </a:txBody>
                  <a:tcPr marL="7525" marR="7525" marT="7525" marB="0" anchor="b"/>
                </a:tc>
                <a:tc>
                  <a:txBody>
                    <a:bodyPr/>
                    <a:lstStyle/>
                    <a:p>
                      <a:pPr algn="ctr" fontAlgn="b"/>
                      <a:r>
                        <a:rPr lang="en-US" sz="1400" u="none" strike="noStrike">
                          <a:effectLst/>
                        </a:rPr>
                        <a:t>survived</a:t>
                      </a:r>
                      <a:endParaRPr lang="en-US" sz="1400" b="1" i="0" u="none" strike="noStrike">
                        <a:effectLst/>
                        <a:latin typeface="Times New Roman" panose="02020603050405020304" pitchFamily="18" charset="0"/>
                      </a:endParaRPr>
                    </a:p>
                  </a:txBody>
                  <a:tcPr marL="7525" marR="7525" marT="7525" marB="0" anchor="b"/>
                </a:tc>
                <a:tc>
                  <a:txBody>
                    <a:bodyPr/>
                    <a:lstStyle/>
                    <a:p>
                      <a:pPr algn="ctr" fontAlgn="b"/>
                      <a:r>
                        <a:rPr lang="en-US" sz="1400" u="none" strike="noStrike">
                          <a:effectLst/>
                        </a:rPr>
                        <a:t>name</a:t>
                      </a:r>
                      <a:endParaRPr lang="en-US" sz="1400" b="1" i="0" u="none" strike="noStrike">
                        <a:effectLst/>
                        <a:latin typeface="Times New Roman" panose="02020603050405020304" pitchFamily="18" charset="0"/>
                      </a:endParaRPr>
                    </a:p>
                  </a:txBody>
                  <a:tcPr marL="7525" marR="7525" marT="7525" marB="0" anchor="b"/>
                </a:tc>
                <a:tc>
                  <a:txBody>
                    <a:bodyPr/>
                    <a:lstStyle/>
                    <a:p>
                      <a:pPr algn="ctr" fontAlgn="b"/>
                      <a:r>
                        <a:rPr lang="en-US" sz="1400" u="none" strike="noStrike">
                          <a:effectLst/>
                        </a:rPr>
                        <a:t>sex</a:t>
                      </a:r>
                      <a:endParaRPr lang="en-US" sz="1400" b="1" i="0" u="none" strike="noStrike">
                        <a:effectLst/>
                        <a:latin typeface="Times New Roman" panose="02020603050405020304" pitchFamily="18" charset="0"/>
                      </a:endParaRPr>
                    </a:p>
                  </a:txBody>
                  <a:tcPr marL="7525" marR="7525" marT="7525" marB="0" anchor="b"/>
                </a:tc>
                <a:tc>
                  <a:txBody>
                    <a:bodyPr/>
                    <a:lstStyle/>
                    <a:p>
                      <a:pPr algn="ctr" fontAlgn="b"/>
                      <a:r>
                        <a:rPr lang="en-US" sz="1400" u="none" strike="noStrike">
                          <a:effectLst/>
                        </a:rPr>
                        <a:t>age</a:t>
                      </a:r>
                      <a:endParaRPr lang="en-US" sz="1400" b="1" i="0" u="none" strike="noStrike">
                        <a:effectLst/>
                        <a:latin typeface="Times New Roman" panose="02020603050405020304" pitchFamily="18" charset="0"/>
                      </a:endParaRPr>
                    </a:p>
                  </a:txBody>
                  <a:tcPr marL="7525" marR="7525" marT="7525" marB="0" anchor="b"/>
                </a:tc>
                <a:tc>
                  <a:txBody>
                    <a:bodyPr/>
                    <a:lstStyle/>
                    <a:p>
                      <a:pPr algn="ctr" fontAlgn="b"/>
                      <a:r>
                        <a:rPr lang="en-US" sz="1400" u="none" strike="noStrike">
                          <a:effectLst/>
                        </a:rPr>
                        <a:t>sibsp</a:t>
                      </a:r>
                      <a:endParaRPr lang="en-US" sz="1400" b="1" i="0" u="none" strike="noStrike">
                        <a:effectLst/>
                        <a:latin typeface="Times New Roman" panose="02020603050405020304" pitchFamily="18" charset="0"/>
                      </a:endParaRPr>
                    </a:p>
                  </a:txBody>
                  <a:tcPr marL="7525" marR="7525" marT="7525" marB="0" anchor="b"/>
                </a:tc>
                <a:tc>
                  <a:txBody>
                    <a:bodyPr/>
                    <a:lstStyle/>
                    <a:p>
                      <a:pPr algn="ctr" fontAlgn="b"/>
                      <a:r>
                        <a:rPr lang="en-US" sz="1400" u="none" strike="noStrike">
                          <a:effectLst/>
                        </a:rPr>
                        <a:t>parch</a:t>
                      </a:r>
                      <a:endParaRPr lang="en-US" sz="1400" b="1" i="0" u="none" strike="noStrike">
                        <a:effectLst/>
                        <a:latin typeface="Times New Roman" panose="02020603050405020304" pitchFamily="18" charset="0"/>
                      </a:endParaRPr>
                    </a:p>
                  </a:txBody>
                  <a:tcPr marL="7525" marR="7525" marT="7525" marB="0" anchor="b"/>
                </a:tc>
                <a:tc>
                  <a:txBody>
                    <a:bodyPr/>
                    <a:lstStyle/>
                    <a:p>
                      <a:pPr algn="ctr" fontAlgn="b"/>
                      <a:r>
                        <a:rPr lang="en-US" sz="1400" u="none" strike="noStrike">
                          <a:effectLst/>
                        </a:rPr>
                        <a:t>ticket</a:t>
                      </a:r>
                      <a:endParaRPr lang="en-US" sz="1400" b="1" i="0" u="none" strike="noStrike">
                        <a:effectLst/>
                        <a:latin typeface="Times New Roman" panose="02020603050405020304" pitchFamily="18" charset="0"/>
                      </a:endParaRPr>
                    </a:p>
                  </a:txBody>
                  <a:tcPr marL="7525" marR="7525" marT="7525" marB="0" anchor="b"/>
                </a:tc>
                <a:tc>
                  <a:txBody>
                    <a:bodyPr/>
                    <a:lstStyle/>
                    <a:p>
                      <a:pPr algn="ctr" fontAlgn="b"/>
                      <a:r>
                        <a:rPr lang="en-US" sz="1400" u="none" strike="noStrike">
                          <a:effectLst/>
                        </a:rPr>
                        <a:t>fare</a:t>
                      </a:r>
                      <a:endParaRPr lang="en-US" sz="1400" b="1" i="0" u="none" strike="noStrike">
                        <a:effectLst/>
                        <a:latin typeface="Times New Roman" panose="02020603050405020304" pitchFamily="18" charset="0"/>
                      </a:endParaRPr>
                    </a:p>
                  </a:txBody>
                  <a:tcPr marL="7525" marR="7525" marT="7525" marB="0" anchor="b"/>
                </a:tc>
                <a:tc>
                  <a:txBody>
                    <a:bodyPr/>
                    <a:lstStyle/>
                    <a:p>
                      <a:pPr algn="ctr" fontAlgn="b"/>
                      <a:r>
                        <a:rPr lang="en-US" sz="1400" u="none" strike="noStrike">
                          <a:effectLst/>
                        </a:rPr>
                        <a:t>cabin</a:t>
                      </a:r>
                      <a:endParaRPr lang="en-US" sz="1400" b="1" i="0" u="none" strike="noStrike">
                        <a:effectLst/>
                        <a:latin typeface="Times New Roman" panose="02020603050405020304" pitchFamily="18" charset="0"/>
                      </a:endParaRPr>
                    </a:p>
                  </a:txBody>
                  <a:tcPr marL="7525" marR="7525" marT="7525" marB="0" anchor="b"/>
                </a:tc>
                <a:tc>
                  <a:txBody>
                    <a:bodyPr/>
                    <a:lstStyle/>
                    <a:p>
                      <a:pPr algn="ctr" fontAlgn="b"/>
                      <a:r>
                        <a:rPr lang="en-US" sz="1400" u="none" strike="noStrike">
                          <a:effectLst/>
                        </a:rPr>
                        <a:t>embarked</a:t>
                      </a:r>
                      <a:endParaRPr lang="en-US" sz="1400" b="1" i="0" u="none" strike="noStrike">
                        <a:effectLst/>
                        <a:latin typeface="Times New Roman" panose="02020603050405020304" pitchFamily="18" charset="0"/>
                      </a:endParaRPr>
                    </a:p>
                  </a:txBody>
                  <a:tcPr marL="7525" marR="7525" marT="7525" marB="0" anchor="b"/>
                </a:tc>
                <a:tc>
                  <a:txBody>
                    <a:bodyPr/>
                    <a:lstStyle/>
                    <a:p>
                      <a:pPr algn="ctr" fontAlgn="b"/>
                      <a:r>
                        <a:rPr lang="en-US" sz="1400" u="none" strike="noStrike">
                          <a:effectLst/>
                        </a:rPr>
                        <a:t>boat</a:t>
                      </a:r>
                      <a:endParaRPr lang="en-US" sz="1400" b="1" i="0" u="none" strike="noStrike">
                        <a:effectLst/>
                        <a:latin typeface="Times New Roman" panose="02020603050405020304" pitchFamily="18" charset="0"/>
                      </a:endParaRPr>
                    </a:p>
                  </a:txBody>
                  <a:tcPr marL="7525" marR="7525" marT="7525" marB="0" anchor="b"/>
                </a:tc>
                <a:tc>
                  <a:txBody>
                    <a:bodyPr/>
                    <a:lstStyle/>
                    <a:p>
                      <a:pPr algn="ctr" fontAlgn="b"/>
                      <a:r>
                        <a:rPr lang="en-US" sz="1400" u="none" strike="noStrike">
                          <a:effectLst/>
                        </a:rPr>
                        <a:t>body</a:t>
                      </a:r>
                      <a:endParaRPr lang="en-US" sz="1400" b="1" i="0" u="none" strike="noStrike">
                        <a:effectLst/>
                        <a:latin typeface="Times New Roman" panose="02020603050405020304" pitchFamily="18" charset="0"/>
                      </a:endParaRPr>
                    </a:p>
                  </a:txBody>
                  <a:tcPr marL="7525" marR="7525" marT="7525" marB="0" anchor="b"/>
                </a:tc>
                <a:tc>
                  <a:txBody>
                    <a:bodyPr/>
                    <a:lstStyle/>
                    <a:p>
                      <a:pPr algn="ctr" fontAlgn="b"/>
                      <a:r>
                        <a:rPr lang="en-US" sz="1400" u="none" strike="noStrike">
                          <a:effectLst/>
                        </a:rPr>
                        <a:t>home.dest</a:t>
                      </a:r>
                      <a:endParaRPr lang="en-US" sz="1400" b="1" i="0" u="none" strike="noStrike">
                        <a:effectLst/>
                        <a:latin typeface="Times New Roman" panose="02020603050405020304" pitchFamily="18" charset="0"/>
                      </a:endParaRPr>
                    </a:p>
                  </a:txBody>
                  <a:tcPr marL="7525" marR="7525" marT="7525" marB="0" anchor="b"/>
                </a:tc>
                <a:extLst>
                  <a:ext uri="{0D108BD9-81ED-4DB2-BD59-A6C34878D82A}">
                    <a16:rowId xmlns:a16="http://schemas.microsoft.com/office/drawing/2014/main" val="3167583281"/>
                  </a:ext>
                </a:extLst>
              </a:tr>
              <a:tr h="248341">
                <a:tc>
                  <a:txBody>
                    <a:bodyPr/>
                    <a:lstStyle/>
                    <a:p>
                      <a:pPr algn="r" fontAlgn="b"/>
                      <a:r>
                        <a:rPr lang="en-US" altLang="zh-TW" sz="1400" u="none" strike="noStrike">
                          <a:effectLst/>
                        </a:rPr>
                        <a:t>1</a:t>
                      </a:r>
                      <a:endParaRPr lang="en-US" altLang="zh-TW" sz="1400" b="0" i="0" u="none" strike="noStrike">
                        <a:effectLst/>
                        <a:latin typeface="Times New Roman" panose="02020603050405020304" pitchFamily="18" charset="0"/>
                      </a:endParaRPr>
                    </a:p>
                  </a:txBody>
                  <a:tcPr marL="7525" marR="7525" marT="7525" marB="0" anchor="b"/>
                </a:tc>
                <a:tc>
                  <a:txBody>
                    <a:bodyPr/>
                    <a:lstStyle/>
                    <a:p>
                      <a:pPr algn="r" fontAlgn="b"/>
                      <a:r>
                        <a:rPr lang="en-US" altLang="zh-TW" sz="1400" u="none" strike="noStrike">
                          <a:effectLst/>
                        </a:rPr>
                        <a:t>1</a:t>
                      </a:r>
                      <a:endParaRPr lang="en-US" altLang="zh-TW" sz="1400" b="0" i="0" u="none" strike="noStrike">
                        <a:effectLst/>
                        <a:latin typeface="Times New Roman" panose="02020603050405020304" pitchFamily="18" charset="0"/>
                      </a:endParaRPr>
                    </a:p>
                  </a:txBody>
                  <a:tcPr marL="7525" marR="7525" marT="7525" marB="0" anchor="b"/>
                </a:tc>
                <a:tc>
                  <a:txBody>
                    <a:bodyPr/>
                    <a:lstStyle/>
                    <a:p>
                      <a:pPr algn="l" fontAlgn="b"/>
                      <a:r>
                        <a:rPr lang="en-US" sz="1400" u="none" strike="noStrike">
                          <a:effectLst/>
                        </a:rPr>
                        <a:t>Allen, Miss. Elisabeth Walton</a:t>
                      </a:r>
                      <a:endParaRPr lang="en-US" sz="1400" b="0" i="0" u="none" strike="noStrike">
                        <a:effectLst/>
                        <a:latin typeface="Times New Roman" panose="02020603050405020304" pitchFamily="18" charset="0"/>
                      </a:endParaRPr>
                    </a:p>
                  </a:txBody>
                  <a:tcPr marL="7525" marR="7525" marT="7525" marB="0" anchor="b"/>
                </a:tc>
                <a:tc>
                  <a:txBody>
                    <a:bodyPr/>
                    <a:lstStyle/>
                    <a:p>
                      <a:pPr algn="l" fontAlgn="b"/>
                      <a:r>
                        <a:rPr lang="en-US" sz="1400" u="none" strike="noStrike">
                          <a:effectLst/>
                        </a:rPr>
                        <a:t>female</a:t>
                      </a:r>
                      <a:endParaRPr lang="en-US" sz="1400" b="0" i="0" u="none" strike="noStrike">
                        <a:effectLst/>
                        <a:latin typeface="Times New Roman" panose="02020603050405020304" pitchFamily="18" charset="0"/>
                      </a:endParaRPr>
                    </a:p>
                  </a:txBody>
                  <a:tcPr marL="7525" marR="7525" marT="7525" marB="0" anchor="b"/>
                </a:tc>
                <a:tc>
                  <a:txBody>
                    <a:bodyPr/>
                    <a:lstStyle/>
                    <a:p>
                      <a:pPr algn="r" fontAlgn="b"/>
                      <a:r>
                        <a:rPr lang="en-US" altLang="zh-TW" sz="1400" u="none" strike="noStrike">
                          <a:effectLst/>
                        </a:rPr>
                        <a:t>29</a:t>
                      </a:r>
                      <a:endParaRPr lang="en-US" altLang="zh-TW" sz="1400" b="0" i="0" u="none" strike="noStrike">
                        <a:effectLst/>
                        <a:latin typeface="Times New Roman" panose="02020603050405020304" pitchFamily="18" charset="0"/>
                      </a:endParaRPr>
                    </a:p>
                  </a:txBody>
                  <a:tcPr marL="7525" marR="7525" marT="7525" marB="0" anchor="b"/>
                </a:tc>
                <a:tc>
                  <a:txBody>
                    <a:bodyPr/>
                    <a:lstStyle/>
                    <a:p>
                      <a:pPr algn="r" fontAlgn="b"/>
                      <a:r>
                        <a:rPr lang="en-US" altLang="zh-TW" sz="1400" u="none" strike="noStrike">
                          <a:effectLst/>
                        </a:rPr>
                        <a:t>0</a:t>
                      </a:r>
                      <a:endParaRPr lang="en-US" altLang="zh-TW" sz="1400" b="0" i="0" u="none" strike="noStrike">
                        <a:effectLst/>
                        <a:latin typeface="Times New Roman" panose="02020603050405020304" pitchFamily="18" charset="0"/>
                      </a:endParaRPr>
                    </a:p>
                  </a:txBody>
                  <a:tcPr marL="7525" marR="7525" marT="7525" marB="0" anchor="b"/>
                </a:tc>
                <a:tc>
                  <a:txBody>
                    <a:bodyPr/>
                    <a:lstStyle/>
                    <a:p>
                      <a:pPr algn="r" fontAlgn="b"/>
                      <a:r>
                        <a:rPr lang="en-US" altLang="zh-TW" sz="1400" u="none" strike="noStrike">
                          <a:effectLst/>
                        </a:rPr>
                        <a:t>0</a:t>
                      </a:r>
                      <a:endParaRPr lang="en-US" altLang="zh-TW" sz="1400" b="0" i="0" u="none" strike="noStrike">
                        <a:effectLst/>
                        <a:latin typeface="Times New Roman" panose="02020603050405020304" pitchFamily="18" charset="0"/>
                      </a:endParaRPr>
                    </a:p>
                  </a:txBody>
                  <a:tcPr marL="7525" marR="7525" marT="7525" marB="0" anchor="b"/>
                </a:tc>
                <a:tc>
                  <a:txBody>
                    <a:bodyPr/>
                    <a:lstStyle/>
                    <a:p>
                      <a:pPr algn="l" fontAlgn="b"/>
                      <a:r>
                        <a:rPr lang="en-US" altLang="zh-TW" sz="1400" u="none" strike="noStrike">
                          <a:effectLst/>
                        </a:rPr>
                        <a:t>24160</a:t>
                      </a:r>
                      <a:endParaRPr lang="en-US" altLang="zh-TW" sz="1400" b="0" i="0" u="none" strike="noStrike">
                        <a:effectLst/>
                        <a:latin typeface="Times New Roman" panose="02020603050405020304" pitchFamily="18" charset="0"/>
                      </a:endParaRPr>
                    </a:p>
                  </a:txBody>
                  <a:tcPr marL="7525" marR="7525" marT="7525" marB="0" anchor="b"/>
                </a:tc>
                <a:tc>
                  <a:txBody>
                    <a:bodyPr/>
                    <a:lstStyle/>
                    <a:p>
                      <a:pPr algn="r" fontAlgn="b"/>
                      <a:r>
                        <a:rPr lang="en-US" altLang="zh-TW" sz="1400" u="none" strike="noStrike">
                          <a:effectLst/>
                        </a:rPr>
                        <a:t>211.3375</a:t>
                      </a:r>
                      <a:endParaRPr lang="en-US" altLang="zh-TW" sz="1400" b="0" i="0" u="none" strike="noStrike">
                        <a:effectLst/>
                        <a:latin typeface="Times New Roman" panose="02020603050405020304" pitchFamily="18" charset="0"/>
                      </a:endParaRPr>
                    </a:p>
                  </a:txBody>
                  <a:tcPr marL="7525" marR="7525" marT="7525" marB="0" anchor="b"/>
                </a:tc>
                <a:tc>
                  <a:txBody>
                    <a:bodyPr/>
                    <a:lstStyle/>
                    <a:p>
                      <a:pPr algn="l" fontAlgn="b"/>
                      <a:r>
                        <a:rPr lang="en-US" sz="1400" u="none" strike="noStrike">
                          <a:effectLst/>
                        </a:rPr>
                        <a:t>B5</a:t>
                      </a:r>
                      <a:endParaRPr lang="en-US" sz="1400" b="0" i="0" u="none" strike="noStrike">
                        <a:effectLst/>
                        <a:latin typeface="Times New Roman" panose="02020603050405020304" pitchFamily="18" charset="0"/>
                      </a:endParaRPr>
                    </a:p>
                  </a:txBody>
                  <a:tcPr marL="7525" marR="7525" marT="7525" marB="0" anchor="b"/>
                </a:tc>
                <a:tc>
                  <a:txBody>
                    <a:bodyPr/>
                    <a:lstStyle/>
                    <a:p>
                      <a:pPr algn="l" fontAlgn="b"/>
                      <a:r>
                        <a:rPr lang="en-US" sz="1400" u="none" strike="noStrike">
                          <a:effectLst/>
                        </a:rPr>
                        <a:t>S</a:t>
                      </a:r>
                      <a:endParaRPr lang="en-US" sz="1400" b="0" i="0" u="none" strike="noStrike">
                        <a:effectLst/>
                        <a:latin typeface="Times New Roman" panose="02020603050405020304" pitchFamily="18" charset="0"/>
                      </a:endParaRPr>
                    </a:p>
                  </a:txBody>
                  <a:tcPr marL="7525" marR="7525" marT="7525" marB="0" anchor="b"/>
                </a:tc>
                <a:tc>
                  <a:txBody>
                    <a:bodyPr/>
                    <a:lstStyle/>
                    <a:p>
                      <a:pPr algn="l" fontAlgn="b"/>
                      <a:r>
                        <a:rPr lang="en-US" altLang="zh-TW" sz="1400" u="none" strike="noStrike">
                          <a:effectLst/>
                        </a:rPr>
                        <a:t>2</a:t>
                      </a:r>
                      <a:endParaRPr lang="en-US" altLang="zh-TW" sz="1400" b="0" i="0" u="none" strike="noStrike">
                        <a:effectLst/>
                        <a:latin typeface="Times New Roman" panose="02020603050405020304" pitchFamily="18" charset="0"/>
                      </a:endParaRPr>
                    </a:p>
                  </a:txBody>
                  <a:tcPr marL="7525" marR="7525" marT="7525" marB="0" anchor="b"/>
                </a:tc>
                <a:tc>
                  <a:txBody>
                    <a:bodyPr/>
                    <a:lstStyle/>
                    <a:p>
                      <a:pPr algn="l" fontAlgn="b"/>
                      <a:endParaRPr lang="zh-TW" altLang="en-US" sz="1400" b="0" i="0" u="none" strike="noStrike">
                        <a:effectLst/>
                        <a:latin typeface="Times New Roman" panose="02020603050405020304" pitchFamily="18" charset="0"/>
                      </a:endParaRPr>
                    </a:p>
                  </a:txBody>
                  <a:tcPr marL="7525" marR="7525" marT="7525" marB="0" anchor="b"/>
                </a:tc>
                <a:tc>
                  <a:txBody>
                    <a:bodyPr/>
                    <a:lstStyle/>
                    <a:p>
                      <a:pPr algn="l" fontAlgn="b"/>
                      <a:r>
                        <a:rPr lang="en-US" sz="1400" u="none" strike="noStrike">
                          <a:effectLst/>
                        </a:rPr>
                        <a:t>St Louis, MO</a:t>
                      </a:r>
                      <a:endParaRPr lang="en-US" sz="1400" b="0" i="0" u="none" strike="noStrike">
                        <a:effectLst/>
                        <a:latin typeface="Times New Roman" panose="02020603050405020304" pitchFamily="18" charset="0"/>
                      </a:endParaRPr>
                    </a:p>
                  </a:txBody>
                  <a:tcPr marL="7525" marR="7525" marT="7525" marB="0" anchor="b"/>
                </a:tc>
                <a:extLst>
                  <a:ext uri="{0D108BD9-81ED-4DB2-BD59-A6C34878D82A}">
                    <a16:rowId xmlns:a16="http://schemas.microsoft.com/office/drawing/2014/main" val="1391170317"/>
                  </a:ext>
                </a:extLst>
              </a:tr>
              <a:tr h="248341">
                <a:tc>
                  <a:txBody>
                    <a:bodyPr/>
                    <a:lstStyle/>
                    <a:p>
                      <a:pPr algn="r" fontAlgn="b"/>
                      <a:r>
                        <a:rPr lang="en-US" altLang="zh-TW" sz="1400" u="none" strike="noStrike">
                          <a:effectLst/>
                        </a:rPr>
                        <a:t>1</a:t>
                      </a:r>
                      <a:endParaRPr lang="en-US" altLang="zh-TW" sz="1400" b="0" i="0" u="none" strike="noStrike">
                        <a:effectLst/>
                        <a:latin typeface="Times New Roman" panose="02020603050405020304" pitchFamily="18" charset="0"/>
                      </a:endParaRPr>
                    </a:p>
                  </a:txBody>
                  <a:tcPr marL="7525" marR="7525" marT="7525" marB="0" anchor="b"/>
                </a:tc>
                <a:tc>
                  <a:txBody>
                    <a:bodyPr/>
                    <a:lstStyle/>
                    <a:p>
                      <a:pPr algn="r" fontAlgn="b"/>
                      <a:r>
                        <a:rPr lang="en-US" altLang="zh-TW" sz="1400" u="none" strike="noStrike">
                          <a:effectLst/>
                        </a:rPr>
                        <a:t>1</a:t>
                      </a:r>
                      <a:endParaRPr lang="en-US" altLang="zh-TW" sz="1400" b="0" i="0" u="none" strike="noStrike">
                        <a:effectLst/>
                        <a:latin typeface="Times New Roman" panose="02020603050405020304" pitchFamily="18" charset="0"/>
                      </a:endParaRPr>
                    </a:p>
                  </a:txBody>
                  <a:tcPr marL="7525" marR="7525" marT="7525" marB="0" anchor="b"/>
                </a:tc>
                <a:tc>
                  <a:txBody>
                    <a:bodyPr/>
                    <a:lstStyle/>
                    <a:p>
                      <a:pPr algn="l" fontAlgn="b"/>
                      <a:r>
                        <a:rPr lang="en-US" sz="1400" u="none" strike="noStrike">
                          <a:effectLst/>
                        </a:rPr>
                        <a:t>Allison, Master. Hudson Trevor</a:t>
                      </a:r>
                      <a:endParaRPr lang="en-US" sz="1400" b="0" i="0" u="none" strike="noStrike">
                        <a:effectLst/>
                        <a:latin typeface="Times New Roman" panose="02020603050405020304" pitchFamily="18" charset="0"/>
                      </a:endParaRPr>
                    </a:p>
                  </a:txBody>
                  <a:tcPr marL="7525" marR="7525" marT="7525" marB="0" anchor="b"/>
                </a:tc>
                <a:tc>
                  <a:txBody>
                    <a:bodyPr/>
                    <a:lstStyle/>
                    <a:p>
                      <a:pPr algn="l" fontAlgn="b"/>
                      <a:r>
                        <a:rPr lang="en-US" sz="1400" u="none" strike="noStrike">
                          <a:effectLst/>
                        </a:rPr>
                        <a:t>male</a:t>
                      </a:r>
                      <a:endParaRPr lang="en-US" sz="1400" b="0" i="0" u="none" strike="noStrike">
                        <a:effectLst/>
                        <a:latin typeface="Times New Roman" panose="02020603050405020304" pitchFamily="18" charset="0"/>
                      </a:endParaRPr>
                    </a:p>
                  </a:txBody>
                  <a:tcPr marL="7525" marR="7525" marT="7525" marB="0" anchor="b"/>
                </a:tc>
                <a:tc>
                  <a:txBody>
                    <a:bodyPr/>
                    <a:lstStyle/>
                    <a:p>
                      <a:pPr algn="r" fontAlgn="b"/>
                      <a:r>
                        <a:rPr lang="en-US" altLang="zh-TW" sz="1400" u="none" strike="noStrike">
                          <a:effectLst/>
                        </a:rPr>
                        <a:t>0.9167</a:t>
                      </a:r>
                      <a:endParaRPr lang="en-US" altLang="zh-TW" sz="1400" b="0" i="0" u="none" strike="noStrike">
                        <a:effectLst/>
                        <a:latin typeface="Times New Roman" panose="02020603050405020304" pitchFamily="18" charset="0"/>
                      </a:endParaRPr>
                    </a:p>
                  </a:txBody>
                  <a:tcPr marL="7525" marR="7525" marT="7525" marB="0" anchor="b"/>
                </a:tc>
                <a:tc>
                  <a:txBody>
                    <a:bodyPr/>
                    <a:lstStyle/>
                    <a:p>
                      <a:pPr algn="r" fontAlgn="b"/>
                      <a:r>
                        <a:rPr lang="en-US" altLang="zh-TW" sz="1400" u="none" strike="noStrike">
                          <a:effectLst/>
                        </a:rPr>
                        <a:t>1</a:t>
                      </a:r>
                      <a:endParaRPr lang="en-US" altLang="zh-TW" sz="1400" b="0" i="0" u="none" strike="noStrike">
                        <a:effectLst/>
                        <a:latin typeface="Times New Roman" panose="02020603050405020304" pitchFamily="18" charset="0"/>
                      </a:endParaRPr>
                    </a:p>
                  </a:txBody>
                  <a:tcPr marL="7525" marR="7525" marT="7525" marB="0" anchor="b"/>
                </a:tc>
                <a:tc>
                  <a:txBody>
                    <a:bodyPr/>
                    <a:lstStyle/>
                    <a:p>
                      <a:pPr algn="r" fontAlgn="b"/>
                      <a:r>
                        <a:rPr lang="en-US" altLang="zh-TW" sz="1400" u="none" strike="noStrike">
                          <a:effectLst/>
                        </a:rPr>
                        <a:t>2</a:t>
                      </a:r>
                      <a:endParaRPr lang="en-US" altLang="zh-TW" sz="1400" b="0" i="0" u="none" strike="noStrike">
                        <a:effectLst/>
                        <a:latin typeface="Times New Roman" panose="02020603050405020304" pitchFamily="18" charset="0"/>
                      </a:endParaRPr>
                    </a:p>
                  </a:txBody>
                  <a:tcPr marL="7525" marR="7525" marT="7525" marB="0" anchor="b"/>
                </a:tc>
                <a:tc>
                  <a:txBody>
                    <a:bodyPr/>
                    <a:lstStyle/>
                    <a:p>
                      <a:pPr algn="l" fontAlgn="b"/>
                      <a:r>
                        <a:rPr lang="en-US" altLang="zh-TW" sz="1400" u="none" strike="noStrike">
                          <a:effectLst/>
                        </a:rPr>
                        <a:t>113781</a:t>
                      </a:r>
                      <a:endParaRPr lang="en-US" altLang="zh-TW" sz="1400" b="0" i="0" u="none" strike="noStrike">
                        <a:effectLst/>
                        <a:latin typeface="Times New Roman" panose="02020603050405020304" pitchFamily="18" charset="0"/>
                      </a:endParaRPr>
                    </a:p>
                  </a:txBody>
                  <a:tcPr marL="7525" marR="7525" marT="7525" marB="0" anchor="b"/>
                </a:tc>
                <a:tc>
                  <a:txBody>
                    <a:bodyPr/>
                    <a:lstStyle/>
                    <a:p>
                      <a:pPr algn="r" fontAlgn="b"/>
                      <a:r>
                        <a:rPr lang="en-US" altLang="zh-TW" sz="1400" u="none" strike="noStrike">
                          <a:effectLst/>
                        </a:rPr>
                        <a:t>151.5500</a:t>
                      </a:r>
                      <a:endParaRPr lang="en-US" altLang="zh-TW" sz="1400" b="0" i="0" u="none" strike="noStrike">
                        <a:effectLst/>
                        <a:latin typeface="Times New Roman" panose="02020603050405020304" pitchFamily="18" charset="0"/>
                      </a:endParaRPr>
                    </a:p>
                  </a:txBody>
                  <a:tcPr marL="7525" marR="7525" marT="7525" marB="0" anchor="b"/>
                </a:tc>
                <a:tc>
                  <a:txBody>
                    <a:bodyPr/>
                    <a:lstStyle/>
                    <a:p>
                      <a:pPr algn="l" fontAlgn="b"/>
                      <a:r>
                        <a:rPr lang="en-US" sz="1400" u="none" strike="noStrike">
                          <a:effectLst/>
                        </a:rPr>
                        <a:t>C22 C26</a:t>
                      </a:r>
                      <a:endParaRPr lang="en-US" sz="1400" b="0" i="0" u="none" strike="noStrike">
                        <a:effectLst/>
                        <a:latin typeface="Times New Roman" panose="02020603050405020304" pitchFamily="18" charset="0"/>
                      </a:endParaRPr>
                    </a:p>
                  </a:txBody>
                  <a:tcPr marL="7525" marR="7525" marT="7525" marB="0" anchor="b"/>
                </a:tc>
                <a:tc>
                  <a:txBody>
                    <a:bodyPr/>
                    <a:lstStyle/>
                    <a:p>
                      <a:pPr algn="l" fontAlgn="b"/>
                      <a:r>
                        <a:rPr lang="en-US" sz="1400" u="none" strike="noStrike">
                          <a:effectLst/>
                        </a:rPr>
                        <a:t>S</a:t>
                      </a:r>
                      <a:endParaRPr lang="en-US" sz="1400" b="0" i="0" u="none" strike="noStrike">
                        <a:effectLst/>
                        <a:latin typeface="Times New Roman" panose="02020603050405020304" pitchFamily="18" charset="0"/>
                      </a:endParaRPr>
                    </a:p>
                  </a:txBody>
                  <a:tcPr marL="7525" marR="7525" marT="7525" marB="0" anchor="b"/>
                </a:tc>
                <a:tc>
                  <a:txBody>
                    <a:bodyPr/>
                    <a:lstStyle/>
                    <a:p>
                      <a:pPr algn="l" fontAlgn="b"/>
                      <a:r>
                        <a:rPr lang="en-US" altLang="zh-TW" sz="1400" u="none" strike="noStrike">
                          <a:effectLst/>
                        </a:rPr>
                        <a:t>11</a:t>
                      </a:r>
                      <a:endParaRPr lang="en-US" altLang="zh-TW" sz="1400" b="0" i="0" u="none" strike="noStrike">
                        <a:effectLst/>
                        <a:latin typeface="Times New Roman" panose="02020603050405020304" pitchFamily="18" charset="0"/>
                      </a:endParaRPr>
                    </a:p>
                  </a:txBody>
                  <a:tcPr marL="7525" marR="7525" marT="7525" marB="0" anchor="b"/>
                </a:tc>
                <a:tc>
                  <a:txBody>
                    <a:bodyPr/>
                    <a:lstStyle/>
                    <a:p>
                      <a:pPr algn="l" fontAlgn="b"/>
                      <a:endParaRPr lang="zh-TW" altLang="en-US" sz="1400" b="0" i="0" u="none" strike="noStrike">
                        <a:effectLst/>
                        <a:latin typeface="Times New Roman" panose="02020603050405020304" pitchFamily="18" charset="0"/>
                      </a:endParaRPr>
                    </a:p>
                  </a:txBody>
                  <a:tcPr marL="7525" marR="7525" marT="7525" marB="0" anchor="b"/>
                </a:tc>
                <a:tc>
                  <a:txBody>
                    <a:bodyPr/>
                    <a:lstStyle/>
                    <a:p>
                      <a:pPr algn="l" fontAlgn="b"/>
                      <a:r>
                        <a:rPr lang="en-US" sz="1400" u="none" strike="noStrike">
                          <a:effectLst/>
                        </a:rPr>
                        <a:t>Montreal, PQ / Chesterville, ON</a:t>
                      </a:r>
                      <a:endParaRPr lang="en-US" sz="1400" b="0" i="0" u="none" strike="noStrike">
                        <a:effectLst/>
                        <a:latin typeface="Times New Roman" panose="02020603050405020304" pitchFamily="18" charset="0"/>
                      </a:endParaRPr>
                    </a:p>
                  </a:txBody>
                  <a:tcPr marL="7525" marR="7525" marT="7525" marB="0" anchor="b"/>
                </a:tc>
                <a:extLst>
                  <a:ext uri="{0D108BD9-81ED-4DB2-BD59-A6C34878D82A}">
                    <a16:rowId xmlns:a16="http://schemas.microsoft.com/office/drawing/2014/main" val="3328919441"/>
                  </a:ext>
                </a:extLst>
              </a:tr>
            </a:tbl>
          </a:graphicData>
        </a:graphic>
      </p:graphicFrame>
      <p:sp>
        <p:nvSpPr>
          <p:cNvPr id="5" name="文字方塊 4"/>
          <p:cNvSpPr txBox="1"/>
          <p:nvPr/>
        </p:nvSpPr>
        <p:spPr>
          <a:xfrm>
            <a:off x="1134267" y="3827386"/>
            <a:ext cx="995529" cy="1200329"/>
          </a:xfrm>
          <a:prstGeom prst="rect">
            <a:avLst/>
          </a:prstGeom>
          <a:noFill/>
          <a:ln>
            <a:solidFill>
              <a:schemeClr val="tx1"/>
            </a:solidFill>
          </a:ln>
        </p:spPr>
        <p:txBody>
          <a:bodyPr wrap="none" rtlCol="0">
            <a:spAutoFit/>
          </a:bodyPr>
          <a:lstStyle/>
          <a:p>
            <a:r>
              <a:rPr lang="en-US" altLang="zh-TW"/>
              <a:t>Survival</a:t>
            </a:r>
            <a:endParaRPr lang="en-US" altLang="zh-TW" smtClean="0"/>
          </a:p>
          <a:p>
            <a:r>
              <a:rPr lang="en-US" altLang="zh-TW"/>
              <a:t>0 = No, </a:t>
            </a:r>
            <a:endParaRPr lang="en-US" altLang="zh-TW" smtClean="0"/>
          </a:p>
          <a:p>
            <a:r>
              <a:rPr lang="en-US" altLang="zh-TW" smtClean="0"/>
              <a:t>1 </a:t>
            </a:r>
            <a:r>
              <a:rPr lang="en-US" altLang="zh-TW"/>
              <a:t>= Yes</a:t>
            </a:r>
          </a:p>
          <a:p>
            <a:r>
              <a:rPr lang="en-US" altLang="zh-TW" smtClean="0">
                <a:solidFill>
                  <a:schemeClr val="accent2">
                    <a:lumMod val="75000"/>
                  </a:schemeClr>
                </a:solidFill>
              </a:rPr>
              <a:t>&lt;Target&gt;</a:t>
            </a:r>
            <a:endParaRPr lang="zh-TW" altLang="en-US">
              <a:solidFill>
                <a:schemeClr val="accent2">
                  <a:lumMod val="75000"/>
                </a:schemeClr>
              </a:solidFill>
            </a:endParaRPr>
          </a:p>
        </p:txBody>
      </p:sp>
      <p:cxnSp>
        <p:nvCxnSpPr>
          <p:cNvPr id="7" name="直線單箭頭接點 6"/>
          <p:cNvCxnSpPr>
            <a:stCxn id="5" idx="0"/>
          </p:cNvCxnSpPr>
          <p:nvPr/>
        </p:nvCxnSpPr>
        <p:spPr>
          <a:xfrm flipV="1">
            <a:off x="1632032" y="3327044"/>
            <a:ext cx="2033" cy="50034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8" name="文字方塊 7"/>
          <p:cNvSpPr txBox="1"/>
          <p:nvPr/>
        </p:nvSpPr>
        <p:spPr>
          <a:xfrm>
            <a:off x="360093" y="5303790"/>
            <a:ext cx="1229183" cy="1200329"/>
          </a:xfrm>
          <a:prstGeom prst="rect">
            <a:avLst/>
          </a:prstGeom>
          <a:noFill/>
          <a:ln>
            <a:solidFill>
              <a:schemeClr val="tx1"/>
            </a:solidFill>
          </a:ln>
        </p:spPr>
        <p:txBody>
          <a:bodyPr wrap="none" rtlCol="0">
            <a:spAutoFit/>
          </a:bodyPr>
          <a:lstStyle/>
          <a:p>
            <a:r>
              <a:rPr lang="en-US" altLang="zh-TW"/>
              <a:t>Ticket </a:t>
            </a:r>
            <a:r>
              <a:rPr lang="en-US" altLang="zh-TW" smtClean="0"/>
              <a:t>class</a:t>
            </a:r>
          </a:p>
          <a:p>
            <a:r>
              <a:rPr lang="en-US" altLang="zh-TW"/>
              <a:t>1 = 1st, </a:t>
            </a:r>
            <a:endParaRPr lang="en-US" altLang="zh-TW" smtClean="0"/>
          </a:p>
          <a:p>
            <a:r>
              <a:rPr lang="en-US" altLang="zh-TW" smtClean="0"/>
              <a:t>2 </a:t>
            </a:r>
            <a:r>
              <a:rPr lang="en-US" altLang="zh-TW"/>
              <a:t>= 2nd, </a:t>
            </a:r>
            <a:endParaRPr lang="en-US" altLang="zh-TW" smtClean="0"/>
          </a:p>
          <a:p>
            <a:r>
              <a:rPr lang="en-US" altLang="zh-TW" smtClean="0"/>
              <a:t>3 </a:t>
            </a:r>
            <a:r>
              <a:rPr lang="en-US" altLang="zh-TW"/>
              <a:t>= 3rd</a:t>
            </a:r>
            <a:endParaRPr lang="zh-TW" altLang="en-US"/>
          </a:p>
        </p:txBody>
      </p:sp>
      <p:cxnSp>
        <p:nvCxnSpPr>
          <p:cNvPr id="9" name="直線單箭頭接點 8"/>
          <p:cNvCxnSpPr>
            <a:stCxn id="8" idx="0"/>
          </p:cNvCxnSpPr>
          <p:nvPr/>
        </p:nvCxnSpPr>
        <p:spPr>
          <a:xfrm flipV="1">
            <a:off x="974685" y="3343355"/>
            <a:ext cx="12059" cy="196043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7" name="文字方塊 16"/>
          <p:cNvSpPr txBox="1"/>
          <p:nvPr/>
        </p:nvSpPr>
        <p:spPr>
          <a:xfrm>
            <a:off x="4908095" y="4619166"/>
            <a:ext cx="1798954" cy="369332"/>
          </a:xfrm>
          <a:prstGeom prst="rect">
            <a:avLst/>
          </a:prstGeom>
          <a:noFill/>
          <a:ln>
            <a:solidFill>
              <a:schemeClr val="tx1"/>
            </a:solidFill>
          </a:ln>
        </p:spPr>
        <p:txBody>
          <a:bodyPr wrap="none" rtlCol="0">
            <a:spAutoFit/>
          </a:bodyPr>
          <a:lstStyle/>
          <a:p>
            <a:r>
              <a:rPr lang="en-US" altLang="zh-TW" smtClean="0"/>
              <a:t># Siblings </a:t>
            </a:r>
            <a:r>
              <a:rPr lang="en-US" altLang="zh-TW"/>
              <a:t>Aboard</a:t>
            </a:r>
            <a:endParaRPr lang="zh-TW" altLang="en-US"/>
          </a:p>
        </p:txBody>
      </p:sp>
      <p:cxnSp>
        <p:nvCxnSpPr>
          <p:cNvPr id="18" name="直線單箭頭接點 17"/>
          <p:cNvCxnSpPr>
            <a:stCxn id="17" idx="0"/>
          </p:cNvCxnSpPr>
          <p:nvPr/>
        </p:nvCxnSpPr>
        <p:spPr>
          <a:xfrm flipH="1" flipV="1">
            <a:off x="5798089" y="3343355"/>
            <a:ext cx="9483" cy="127581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9" name="文字方塊 18"/>
          <p:cNvSpPr txBox="1"/>
          <p:nvPr/>
        </p:nvSpPr>
        <p:spPr>
          <a:xfrm>
            <a:off x="6041080" y="3876454"/>
            <a:ext cx="1636430" cy="646331"/>
          </a:xfrm>
          <a:prstGeom prst="rect">
            <a:avLst/>
          </a:prstGeom>
          <a:noFill/>
          <a:ln>
            <a:solidFill>
              <a:schemeClr val="tx1"/>
            </a:solidFill>
          </a:ln>
        </p:spPr>
        <p:txBody>
          <a:bodyPr wrap="square" rtlCol="0">
            <a:spAutoFit/>
          </a:bodyPr>
          <a:lstStyle/>
          <a:p>
            <a:r>
              <a:rPr lang="en-US" altLang="zh-TW" smtClean="0"/>
              <a:t># Parents &amp; childen Aboard</a:t>
            </a:r>
            <a:endParaRPr lang="zh-TW" altLang="en-US"/>
          </a:p>
        </p:txBody>
      </p:sp>
      <p:cxnSp>
        <p:nvCxnSpPr>
          <p:cNvPr id="20" name="直線單箭頭接點 19"/>
          <p:cNvCxnSpPr>
            <a:stCxn id="19" idx="0"/>
            <a:endCxn id="4" idx="2"/>
          </p:cNvCxnSpPr>
          <p:nvPr/>
        </p:nvCxnSpPr>
        <p:spPr>
          <a:xfrm flipH="1" flipV="1">
            <a:off x="6256867" y="3322292"/>
            <a:ext cx="602428" cy="55416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7" name="文字方塊 26"/>
          <p:cNvSpPr txBox="1"/>
          <p:nvPr/>
        </p:nvSpPr>
        <p:spPr>
          <a:xfrm>
            <a:off x="8221989" y="4619735"/>
            <a:ext cx="2121452" cy="1200329"/>
          </a:xfrm>
          <a:prstGeom prst="rect">
            <a:avLst/>
          </a:prstGeom>
          <a:noFill/>
          <a:ln>
            <a:solidFill>
              <a:schemeClr val="tx1"/>
            </a:solidFill>
          </a:ln>
        </p:spPr>
        <p:txBody>
          <a:bodyPr wrap="square" rtlCol="0">
            <a:spAutoFit/>
          </a:bodyPr>
          <a:lstStyle/>
          <a:p>
            <a:r>
              <a:rPr lang="en-US" altLang="zh-TW"/>
              <a:t>Port of </a:t>
            </a:r>
            <a:r>
              <a:rPr lang="en-US" altLang="zh-TW" smtClean="0"/>
              <a:t>Embarkation</a:t>
            </a:r>
          </a:p>
          <a:p>
            <a:r>
              <a:rPr lang="en-US" altLang="zh-TW"/>
              <a:t>C = Cherbourg, </a:t>
            </a:r>
            <a:endParaRPr lang="en-US" altLang="zh-TW" smtClean="0"/>
          </a:p>
          <a:p>
            <a:r>
              <a:rPr lang="en-US" altLang="zh-TW" smtClean="0"/>
              <a:t>Q </a:t>
            </a:r>
            <a:r>
              <a:rPr lang="en-US" altLang="zh-TW"/>
              <a:t>= Queenstown, </a:t>
            </a:r>
            <a:endParaRPr lang="en-US" altLang="zh-TW" smtClean="0"/>
          </a:p>
          <a:p>
            <a:r>
              <a:rPr lang="en-US" altLang="zh-TW" smtClean="0"/>
              <a:t>S </a:t>
            </a:r>
            <a:r>
              <a:rPr lang="en-US" altLang="zh-TW"/>
              <a:t>= Southampton</a:t>
            </a:r>
            <a:endParaRPr lang="zh-TW" altLang="en-US"/>
          </a:p>
        </p:txBody>
      </p:sp>
      <p:cxnSp>
        <p:nvCxnSpPr>
          <p:cNvPr id="28" name="直線單箭頭接點 27"/>
          <p:cNvCxnSpPr>
            <a:stCxn id="27" idx="0"/>
          </p:cNvCxnSpPr>
          <p:nvPr/>
        </p:nvCxnSpPr>
        <p:spPr>
          <a:xfrm flipH="1" flipV="1">
            <a:off x="9262535" y="3356029"/>
            <a:ext cx="20180" cy="126370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6" name="投影片編號版面配置區 5"/>
          <p:cNvSpPr>
            <a:spLocks noGrp="1"/>
          </p:cNvSpPr>
          <p:nvPr>
            <p:ph type="sldNum" sz="quarter" idx="12"/>
          </p:nvPr>
        </p:nvSpPr>
        <p:spPr/>
        <p:txBody>
          <a:bodyPr/>
          <a:lstStyle/>
          <a:p>
            <a:fld id="{5A42122C-B539-4F52-99F7-B4BD00FBCCAD}" type="slidenum">
              <a:rPr lang="zh-TW" altLang="en-US" smtClean="0"/>
              <a:t>24</a:t>
            </a:fld>
            <a:endParaRPr lang="zh-TW" altLang="en-US"/>
          </a:p>
        </p:txBody>
      </p:sp>
    </p:spTree>
    <p:extLst>
      <p:ext uri="{BB962C8B-B14F-4D97-AF65-F5344CB8AC3E}">
        <p14:creationId xmlns:p14="http://schemas.microsoft.com/office/powerpoint/2010/main" val="27825304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stretch>
            <a:fillRect/>
          </a:stretch>
        </p:blipFill>
        <p:spPr>
          <a:xfrm>
            <a:off x="86254" y="67203"/>
            <a:ext cx="5838825" cy="2219325"/>
          </a:xfrm>
          <a:prstGeom prst="rect">
            <a:avLst/>
          </a:prstGeom>
        </p:spPr>
      </p:pic>
      <p:sp>
        <p:nvSpPr>
          <p:cNvPr id="6" name="文字方塊 5"/>
          <p:cNvSpPr txBox="1"/>
          <p:nvPr/>
        </p:nvSpPr>
        <p:spPr>
          <a:xfrm>
            <a:off x="6062134" y="152399"/>
            <a:ext cx="5740400" cy="1200329"/>
          </a:xfrm>
          <a:prstGeom prst="rect">
            <a:avLst/>
          </a:prstGeom>
          <a:noFill/>
          <a:ln>
            <a:solidFill>
              <a:schemeClr val="tx1"/>
            </a:solidFill>
          </a:ln>
        </p:spPr>
        <p:txBody>
          <a:bodyPr wrap="square" rtlCol="0">
            <a:spAutoFit/>
          </a:bodyPr>
          <a:lstStyle/>
          <a:p>
            <a:r>
              <a:rPr lang="en-US" altLang="zh-TW" smtClean="0"/>
              <a:t>urllib: a </a:t>
            </a:r>
            <a:r>
              <a:rPr lang="en-US" altLang="zh-TW"/>
              <a:t>package that collects several modules for working with </a:t>
            </a:r>
            <a:r>
              <a:rPr lang="en-US" altLang="zh-TW" smtClean="0"/>
              <a:t>URLs</a:t>
            </a:r>
          </a:p>
          <a:p>
            <a:r>
              <a:rPr lang="en-US" altLang="zh-TW"/>
              <a:t>urllib.request for opening and reading </a:t>
            </a:r>
            <a:r>
              <a:rPr lang="en-US" altLang="zh-TW" smtClean="0"/>
              <a:t>URLs</a:t>
            </a:r>
          </a:p>
          <a:p>
            <a:r>
              <a:rPr lang="en-US" altLang="zh-TW" smtClean="0"/>
              <a:t>os: </a:t>
            </a:r>
            <a:r>
              <a:rPr lang="en-US" altLang="zh-TW"/>
              <a:t>using operating system dependent functionality</a:t>
            </a:r>
            <a:endParaRPr lang="zh-TW" altLang="en-US"/>
          </a:p>
        </p:txBody>
      </p:sp>
      <p:cxnSp>
        <p:nvCxnSpPr>
          <p:cNvPr id="8" name="直線單箭頭接點 7"/>
          <p:cNvCxnSpPr>
            <a:stCxn id="6" idx="1"/>
          </p:cNvCxnSpPr>
          <p:nvPr/>
        </p:nvCxnSpPr>
        <p:spPr>
          <a:xfrm flipH="1">
            <a:off x="1794933" y="752564"/>
            <a:ext cx="4267201" cy="96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4" name="文字方塊 13"/>
          <p:cNvSpPr txBox="1"/>
          <p:nvPr/>
        </p:nvSpPr>
        <p:spPr>
          <a:xfrm>
            <a:off x="6062134" y="1517999"/>
            <a:ext cx="5740400" cy="369332"/>
          </a:xfrm>
          <a:prstGeom prst="rect">
            <a:avLst/>
          </a:prstGeom>
          <a:noFill/>
          <a:ln>
            <a:solidFill>
              <a:schemeClr val="tx1"/>
            </a:solidFill>
          </a:ln>
        </p:spPr>
        <p:txBody>
          <a:bodyPr wrap="square" rtlCol="0">
            <a:spAutoFit/>
          </a:bodyPr>
          <a:lstStyle/>
          <a:p>
            <a:r>
              <a:rPr lang="en-US" altLang="zh-TW"/>
              <a:t>Copy a network object denoted by a URL to a local file</a:t>
            </a:r>
            <a:endParaRPr lang="zh-TW" altLang="en-US"/>
          </a:p>
        </p:txBody>
      </p:sp>
      <p:cxnSp>
        <p:nvCxnSpPr>
          <p:cNvPr id="15" name="直線單箭頭接點 14"/>
          <p:cNvCxnSpPr>
            <a:stCxn id="14" idx="1"/>
          </p:cNvCxnSpPr>
          <p:nvPr/>
        </p:nvCxnSpPr>
        <p:spPr>
          <a:xfrm flipH="1">
            <a:off x="3581400" y="1702665"/>
            <a:ext cx="2480734" cy="691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pic>
        <p:nvPicPr>
          <p:cNvPr id="19" name="圖片 18"/>
          <p:cNvPicPr>
            <a:picLocks noChangeAspect="1"/>
          </p:cNvPicPr>
          <p:nvPr/>
        </p:nvPicPr>
        <p:blipFill>
          <a:blip r:embed="rId3"/>
          <a:stretch>
            <a:fillRect/>
          </a:stretch>
        </p:blipFill>
        <p:spPr>
          <a:xfrm>
            <a:off x="86254" y="2479220"/>
            <a:ext cx="3695700" cy="4105275"/>
          </a:xfrm>
          <a:prstGeom prst="rect">
            <a:avLst/>
          </a:prstGeom>
        </p:spPr>
      </p:pic>
      <p:sp>
        <p:nvSpPr>
          <p:cNvPr id="20" name="文字方塊 19"/>
          <p:cNvSpPr txBox="1"/>
          <p:nvPr/>
        </p:nvSpPr>
        <p:spPr>
          <a:xfrm>
            <a:off x="6062134" y="3052092"/>
            <a:ext cx="5740400" cy="1477328"/>
          </a:xfrm>
          <a:prstGeom prst="rect">
            <a:avLst/>
          </a:prstGeom>
          <a:noFill/>
          <a:ln>
            <a:solidFill>
              <a:schemeClr val="tx1"/>
            </a:solidFill>
          </a:ln>
        </p:spPr>
        <p:txBody>
          <a:bodyPr wrap="square" rtlCol="0">
            <a:spAutoFit/>
          </a:bodyPr>
          <a:lstStyle/>
          <a:p>
            <a:r>
              <a:rPr lang="en-US" altLang="zh-TW"/>
              <a:t>Read an Excel file into a pandas </a:t>
            </a:r>
            <a:r>
              <a:rPr lang="en-US" altLang="zh-TW" smtClean="0"/>
              <a:t>DataFrame (need </a:t>
            </a:r>
            <a:r>
              <a:rPr lang="en-US" altLang="zh-TW" i="1" smtClean="0">
                <a:solidFill>
                  <a:schemeClr val="accent2">
                    <a:lumMod val="75000"/>
                  </a:schemeClr>
                </a:solidFill>
              </a:rPr>
              <a:t>xlrd</a:t>
            </a:r>
            <a:r>
              <a:rPr lang="en-US" altLang="zh-TW" smtClean="0"/>
              <a:t> package)</a:t>
            </a:r>
          </a:p>
          <a:p>
            <a:r>
              <a:rPr lang="en-US" altLang="zh-TW" smtClean="0"/>
              <a:t>DataFrame: Two-dimensional </a:t>
            </a:r>
            <a:r>
              <a:rPr lang="en-US" altLang="zh-TW"/>
              <a:t>size-mutable, potentially heterogeneous tabular data structure with labeled axes (rows and columns)</a:t>
            </a:r>
            <a:endParaRPr lang="zh-TW" altLang="en-US"/>
          </a:p>
        </p:txBody>
      </p:sp>
      <p:cxnSp>
        <p:nvCxnSpPr>
          <p:cNvPr id="21" name="直線單箭頭接點 20"/>
          <p:cNvCxnSpPr>
            <a:stCxn id="20" idx="1"/>
          </p:cNvCxnSpPr>
          <p:nvPr/>
        </p:nvCxnSpPr>
        <p:spPr>
          <a:xfrm flipH="1">
            <a:off x="3581400" y="3790756"/>
            <a:ext cx="2480734" cy="31554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3" name="文字方塊 22"/>
          <p:cNvSpPr txBox="1"/>
          <p:nvPr/>
        </p:nvSpPr>
        <p:spPr>
          <a:xfrm>
            <a:off x="6062134" y="4562132"/>
            <a:ext cx="5740400" cy="369332"/>
          </a:xfrm>
          <a:prstGeom prst="rect">
            <a:avLst/>
          </a:prstGeom>
          <a:noFill/>
          <a:ln>
            <a:solidFill>
              <a:schemeClr val="tx1"/>
            </a:solidFill>
          </a:ln>
        </p:spPr>
        <p:txBody>
          <a:bodyPr wrap="square" rtlCol="0">
            <a:spAutoFit/>
          </a:bodyPr>
          <a:lstStyle/>
          <a:p>
            <a:r>
              <a:rPr lang="en-US" altLang="zh-TW" smtClean="0"/>
              <a:t>Select columns and store back to dataframe</a:t>
            </a:r>
            <a:endParaRPr lang="zh-TW" altLang="en-US"/>
          </a:p>
        </p:txBody>
      </p:sp>
      <p:cxnSp>
        <p:nvCxnSpPr>
          <p:cNvPr id="24" name="直線單箭頭接點 23"/>
          <p:cNvCxnSpPr>
            <a:stCxn id="23" idx="1"/>
          </p:cNvCxnSpPr>
          <p:nvPr/>
        </p:nvCxnSpPr>
        <p:spPr>
          <a:xfrm flipH="1">
            <a:off x="3581400" y="4746798"/>
            <a:ext cx="2480734" cy="691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6" name="文字方塊 25"/>
          <p:cNvSpPr txBox="1"/>
          <p:nvPr/>
        </p:nvSpPr>
        <p:spPr>
          <a:xfrm>
            <a:off x="6062134" y="5017959"/>
            <a:ext cx="5740400" cy="1477328"/>
          </a:xfrm>
          <a:prstGeom prst="rect">
            <a:avLst/>
          </a:prstGeom>
          <a:noFill/>
          <a:ln>
            <a:solidFill>
              <a:schemeClr val="tx1"/>
            </a:solidFill>
          </a:ln>
        </p:spPr>
        <p:txBody>
          <a:bodyPr wrap="square" rtlCol="0">
            <a:spAutoFit/>
          </a:bodyPr>
          <a:lstStyle/>
          <a:p>
            <a:r>
              <a:rPr lang="en-US" altLang="zh-TW"/>
              <a:t>randomly generates </a:t>
            </a:r>
            <a:r>
              <a:rPr lang="en-US" altLang="zh-TW" smtClean="0"/>
              <a:t>len(all_df</a:t>
            </a:r>
            <a:r>
              <a:rPr lang="en-US" altLang="zh-TW"/>
              <a:t>) numbers from the uniform (0, 1) </a:t>
            </a:r>
            <a:r>
              <a:rPr lang="en-US" altLang="zh-TW" smtClean="0"/>
              <a:t>distribution.</a:t>
            </a:r>
          </a:p>
          <a:p>
            <a:r>
              <a:rPr lang="en-US" altLang="zh-TW"/>
              <a:t>msk is a boolean array, where msk[i] is True if the i-th value randomly generated by np.random.rand is less than </a:t>
            </a:r>
            <a:r>
              <a:rPr lang="en-US" altLang="zh-TW" smtClean="0"/>
              <a:t>0.8.</a:t>
            </a:r>
          </a:p>
          <a:p>
            <a:r>
              <a:rPr lang="en-US" altLang="zh-TW" smtClean="0"/>
              <a:t>Splite data into train and test data (8:2)</a:t>
            </a:r>
            <a:endParaRPr lang="zh-TW" altLang="en-US"/>
          </a:p>
        </p:txBody>
      </p:sp>
      <p:cxnSp>
        <p:nvCxnSpPr>
          <p:cNvPr id="27" name="直線單箭頭接點 26"/>
          <p:cNvCxnSpPr>
            <a:stCxn id="26" idx="1"/>
          </p:cNvCxnSpPr>
          <p:nvPr/>
        </p:nvCxnSpPr>
        <p:spPr>
          <a:xfrm flipH="1" flipV="1">
            <a:off x="3581400" y="5209536"/>
            <a:ext cx="2480734" cy="54708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 name="投影片編號版面配置區 1"/>
          <p:cNvSpPr>
            <a:spLocks noGrp="1"/>
          </p:cNvSpPr>
          <p:nvPr>
            <p:ph type="sldNum" sz="quarter" idx="12"/>
          </p:nvPr>
        </p:nvSpPr>
        <p:spPr/>
        <p:txBody>
          <a:bodyPr/>
          <a:lstStyle/>
          <a:p>
            <a:fld id="{5A42122C-B539-4F52-99F7-B4BD00FBCCAD}" type="slidenum">
              <a:rPr lang="zh-TW" altLang="en-US" smtClean="0"/>
              <a:t>25</a:t>
            </a:fld>
            <a:endParaRPr lang="zh-TW" altLang="en-US"/>
          </a:p>
        </p:txBody>
      </p:sp>
    </p:spTree>
    <p:extLst>
      <p:ext uri="{BB962C8B-B14F-4D97-AF65-F5344CB8AC3E}">
        <p14:creationId xmlns:p14="http://schemas.microsoft.com/office/powerpoint/2010/main" val="42554524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stretch>
            <a:fillRect/>
          </a:stretch>
        </p:blipFill>
        <p:spPr>
          <a:xfrm>
            <a:off x="107420" y="106361"/>
            <a:ext cx="4964114" cy="3779618"/>
          </a:xfrm>
          <a:prstGeom prst="rect">
            <a:avLst/>
          </a:prstGeom>
        </p:spPr>
      </p:pic>
      <p:sp>
        <p:nvSpPr>
          <p:cNvPr id="3" name="文字方塊 2"/>
          <p:cNvSpPr txBox="1"/>
          <p:nvPr/>
        </p:nvSpPr>
        <p:spPr>
          <a:xfrm>
            <a:off x="5283201" y="136522"/>
            <a:ext cx="6722532" cy="369332"/>
          </a:xfrm>
          <a:prstGeom prst="rect">
            <a:avLst/>
          </a:prstGeom>
          <a:noFill/>
          <a:ln>
            <a:solidFill>
              <a:schemeClr val="tx1"/>
            </a:solidFill>
          </a:ln>
        </p:spPr>
        <p:txBody>
          <a:bodyPr wrap="square" rtlCol="0">
            <a:spAutoFit/>
          </a:bodyPr>
          <a:lstStyle/>
          <a:p>
            <a:r>
              <a:rPr lang="en-US" altLang="zh-TW" smtClean="0"/>
              <a:t>Remove column “name”. axis=1 indicates column.</a:t>
            </a:r>
            <a:endParaRPr lang="zh-TW" altLang="en-US"/>
          </a:p>
        </p:txBody>
      </p:sp>
      <p:cxnSp>
        <p:nvCxnSpPr>
          <p:cNvPr id="4" name="直線單箭頭接點 3"/>
          <p:cNvCxnSpPr>
            <a:stCxn id="3" idx="1"/>
          </p:cNvCxnSpPr>
          <p:nvPr/>
        </p:nvCxnSpPr>
        <p:spPr>
          <a:xfrm flipH="1">
            <a:off x="2827867" y="321188"/>
            <a:ext cx="2455334" cy="16987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0" name="文字方塊 9"/>
          <p:cNvSpPr txBox="1"/>
          <p:nvPr/>
        </p:nvSpPr>
        <p:spPr>
          <a:xfrm>
            <a:off x="5283201" y="536015"/>
            <a:ext cx="6722532" cy="369332"/>
          </a:xfrm>
          <a:prstGeom prst="rect">
            <a:avLst/>
          </a:prstGeom>
          <a:noFill/>
          <a:ln>
            <a:solidFill>
              <a:schemeClr val="tx1"/>
            </a:solidFill>
          </a:ln>
        </p:spPr>
        <p:txBody>
          <a:bodyPr wrap="square" rtlCol="0">
            <a:spAutoFit/>
          </a:bodyPr>
          <a:lstStyle/>
          <a:p>
            <a:r>
              <a:rPr lang="en-US" altLang="zh-TW" smtClean="0"/>
              <a:t>Compute mean value of all data in column “age”</a:t>
            </a:r>
            <a:endParaRPr lang="zh-TW" altLang="en-US"/>
          </a:p>
        </p:txBody>
      </p:sp>
      <p:cxnSp>
        <p:nvCxnSpPr>
          <p:cNvPr id="11" name="直線單箭頭接點 10"/>
          <p:cNvCxnSpPr>
            <a:stCxn id="10" idx="1"/>
          </p:cNvCxnSpPr>
          <p:nvPr/>
        </p:nvCxnSpPr>
        <p:spPr>
          <a:xfrm flipH="1" flipV="1">
            <a:off x="2497667" y="690520"/>
            <a:ext cx="2785534" cy="3016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3" name="文字方塊 12"/>
          <p:cNvSpPr txBox="1"/>
          <p:nvPr/>
        </p:nvSpPr>
        <p:spPr>
          <a:xfrm>
            <a:off x="5283201" y="935508"/>
            <a:ext cx="6722532" cy="646331"/>
          </a:xfrm>
          <a:prstGeom prst="rect">
            <a:avLst/>
          </a:prstGeom>
          <a:noFill/>
          <a:ln>
            <a:solidFill>
              <a:schemeClr val="tx1"/>
            </a:solidFill>
          </a:ln>
        </p:spPr>
        <p:txBody>
          <a:bodyPr wrap="square" rtlCol="0">
            <a:spAutoFit/>
          </a:bodyPr>
          <a:lstStyle/>
          <a:p>
            <a:r>
              <a:rPr lang="en-US" altLang="zh-TW" smtClean="0"/>
              <a:t>Fill the value </a:t>
            </a:r>
            <a:r>
              <a:rPr lang="en-US" altLang="zh-TW" smtClean="0">
                <a:solidFill>
                  <a:schemeClr val="accent2">
                    <a:lumMod val="75000"/>
                  </a:schemeClr>
                </a:solidFill>
              </a:rPr>
              <a:t>age_mean</a:t>
            </a:r>
            <a:r>
              <a:rPr lang="en-US" altLang="zh-TW" smtClean="0"/>
              <a:t> into the cell with </a:t>
            </a:r>
            <a:r>
              <a:rPr lang="en-US" altLang="zh-TW" i="1">
                <a:solidFill>
                  <a:schemeClr val="accent2">
                    <a:lumMod val="75000"/>
                  </a:schemeClr>
                </a:solidFill>
              </a:rPr>
              <a:t>NA/NaN</a:t>
            </a:r>
            <a:r>
              <a:rPr lang="en-US" altLang="zh-TW" smtClean="0"/>
              <a:t> value in column “age”</a:t>
            </a:r>
            <a:endParaRPr lang="zh-TW" altLang="en-US"/>
          </a:p>
        </p:txBody>
      </p:sp>
      <p:cxnSp>
        <p:nvCxnSpPr>
          <p:cNvPr id="14" name="直線單箭頭接點 13"/>
          <p:cNvCxnSpPr>
            <a:stCxn id="13" idx="1"/>
          </p:cNvCxnSpPr>
          <p:nvPr/>
        </p:nvCxnSpPr>
        <p:spPr>
          <a:xfrm flipH="1" flipV="1">
            <a:off x="3217333" y="875186"/>
            <a:ext cx="2065868" cy="38348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6" name="文字方塊 15"/>
          <p:cNvSpPr txBox="1"/>
          <p:nvPr/>
        </p:nvSpPr>
        <p:spPr>
          <a:xfrm>
            <a:off x="5283201" y="1665001"/>
            <a:ext cx="6722532" cy="646331"/>
          </a:xfrm>
          <a:prstGeom prst="rect">
            <a:avLst/>
          </a:prstGeom>
          <a:noFill/>
          <a:ln>
            <a:solidFill>
              <a:schemeClr val="tx1"/>
            </a:solidFill>
          </a:ln>
        </p:spPr>
        <p:txBody>
          <a:bodyPr wrap="square" rtlCol="0">
            <a:spAutoFit/>
          </a:bodyPr>
          <a:lstStyle/>
          <a:p>
            <a:r>
              <a:rPr lang="en-US" altLang="zh-TW" smtClean="0"/>
              <a:t>Change the values in column “sex” into </a:t>
            </a:r>
            <a:r>
              <a:rPr lang="en-US" altLang="zh-TW" i="1" smtClean="0">
                <a:solidFill>
                  <a:schemeClr val="accent2">
                    <a:lumMod val="75000"/>
                  </a:schemeClr>
                </a:solidFill>
              </a:rPr>
              <a:t>0</a:t>
            </a:r>
            <a:r>
              <a:rPr lang="en-US" altLang="zh-TW" smtClean="0"/>
              <a:t> if the value is “</a:t>
            </a:r>
            <a:r>
              <a:rPr lang="en-US" altLang="zh-TW" i="1" smtClean="0">
                <a:solidFill>
                  <a:schemeClr val="accent2">
                    <a:lumMod val="75000"/>
                  </a:schemeClr>
                </a:solidFill>
              </a:rPr>
              <a:t>female</a:t>
            </a:r>
            <a:r>
              <a:rPr lang="en-US" altLang="zh-TW" smtClean="0"/>
              <a:t>” or </a:t>
            </a:r>
            <a:r>
              <a:rPr lang="en-US" altLang="zh-TW" i="1" smtClean="0">
                <a:solidFill>
                  <a:schemeClr val="accent2">
                    <a:lumMod val="75000"/>
                  </a:schemeClr>
                </a:solidFill>
              </a:rPr>
              <a:t>1</a:t>
            </a:r>
            <a:r>
              <a:rPr lang="en-US" altLang="zh-TW" smtClean="0"/>
              <a:t> if the value is “</a:t>
            </a:r>
            <a:r>
              <a:rPr lang="en-US" altLang="zh-TW" i="1" smtClean="0">
                <a:solidFill>
                  <a:schemeClr val="accent2">
                    <a:lumMod val="75000"/>
                  </a:schemeClr>
                </a:solidFill>
              </a:rPr>
              <a:t>male</a:t>
            </a:r>
            <a:r>
              <a:rPr lang="en-US" altLang="zh-TW" smtClean="0"/>
              <a:t>”</a:t>
            </a:r>
            <a:endParaRPr lang="zh-TW" altLang="en-US"/>
          </a:p>
        </p:txBody>
      </p:sp>
      <p:cxnSp>
        <p:nvCxnSpPr>
          <p:cNvPr id="17" name="直線單箭頭接點 16"/>
          <p:cNvCxnSpPr>
            <a:stCxn id="16" idx="1"/>
          </p:cNvCxnSpPr>
          <p:nvPr/>
        </p:nvCxnSpPr>
        <p:spPr>
          <a:xfrm flipH="1" flipV="1">
            <a:off x="4902201" y="1413179"/>
            <a:ext cx="381000" cy="57498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9" name="文字方塊 18"/>
          <p:cNvSpPr txBox="1"/>
          <p:nvPr/>
        </p:nvSpPr>
        <p:spPr>
          <a:xfrm>
            <a:off x="5283201" y="2401757"/>
            <a:ext cx="6722532" cy="646331"/>
          </a:xfrm>
          <a:prstGeom prst="rect">
            <a:avLst/>
          </a:prstGeom>
          <a:noFill/>
          <a:ln>
            <a:solidFill>
              <a:schemeClr val="tx1"/>
            </a:solidFill>
          </a:ln>
        </p:spPr>
        <p:txBody>
          <a:bodyPr wrap="square" rtlCol="0">
            <a:spAutoFit/>
          </a:bodyPr>
          <a:lstStyle/>
          <a:p>
            <a:r>
              <a:rPr lang="en-US" altLang="zh-TW"/>
              <a:t>Convert categorical </a:t>
            </a:r>
            <a:r>
              <a:rPr lang="en-US" altLang="zh-TW" smtClean="0"/>
              <a:t>variable (column “embarked”) </a:t>
            </a:r>
            <a:r>
              <a:rPr lang="en-US" altLang="zh-TW"/>
              <a:t>into dummy/indicator </a:t>
            </a:r>
            <a:r>
              <a:rPr lang="en-US" altLang="zh-TW" smtClean="0"/>
              <a:t>variables, i.e. one hot encoding. </a:t>
            </a:r>
            <a:endParaRPr lang="zh-TW" altLang="en-US"/>
          </a:p>
        </p:txBody>
      </p:sp>
      <p:cxnSp>
        <p:nvCxnSpPr>
          <p:cNvPr id="20" name="直線單箭頭接點 19"/>
          <p:cNvCxnSpPr/>
          <p:nvPr/>
        </p:nvCxnSpPr>
        <p:spPr>
          <a:xfrm flipH="1" flipV="1">
            <a:off x="4428067" y="1624639"/>
            <a:ext cx="855134" cy="77711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2" name="文字方塊 21"/>
          <p:cNvSpPr txBox="1"/>
          <p:nvPr/>
        </p:nvSpPr>
        <p:spPr>
          <a:xfrm>
            <a:off x="5283201" y="3128812"/>
            <a:ext cx="6722532" cy="923330"/>
          </a:xfrm>
          <a:prstGeom prst="rect">
            <a:avLst/>
          </a:prstGeom>
          <a:noFill/>
          <a:ln>
            <a:solidFill>
              <a:schemeClr val="tx1"/>
            </a:solidFill>
          </a:ln>
        </p:spPr>
        <p:txBody>
          <a:bodyPr wrap="square" rtlCol="0">
            <a:spAutoFit/>
          </a:bodyPr>
          <a:lstStyle/>
          <a:p>
            <a:r>
              <a:rPr lang="en-US" altLang="zh-TW"/>
              <a:t>Convert </a:t>
            </a:r>
            <a:r>
              <a:rPr lang="en-US" altLang="zh-TW" smtClean="0"/>
              <a:t>DataFrame into array.</a:t>
            </a:r>
          </a:p>
          <a:p>
            <a:r>
              <a:rPr lang="en-US" altLang="zh-TW" smtClean="0"/>
              <a:t>ndarray[:, 0] select all records with column 0. ndarray[ : , 1: ] </a:t>
            </a:r>
            <a:r>
              <a:rPr lang="en-US" altLang="zh-TW"/>
              <a:t>select all records with </a:t>
            </a:r>
            <a:r>
              <a:rPr lang="en-US" altLang="zh-TW" smtClean="0"/>
              <a:t>column 1 to last column. </a:t>
            </a:r>
            <a:endParaRPr lang="zh-TW" altLang="en-US"/>
          </a:p>
        </p:txBody>
      </p:sp>
      <p:cxnSp>
        <p:nvCxnSpPr>
          <p:cNvPr id="23" name="直線單箭頭接點 22"/>
          <p:cNvCxnSpPr/>
          <p:nvPr/>
        </p:nvCxnSpPr>
        <p:spPr>
          <a:xfrm flipH="1" flipV="1">
            <a:off x="2497667" y="1988169"/>
            <a:ext cx="2480733" cy="32316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0" name="直線接點 29"/>
          <p:cNvCxnSpPr/>
          <p:nvPr/>
        </p:nvCxnSpPr>
        <p:spPr>
          <a:xfrm>
            <a:off x="4978400" y="2311332"/>
            <a:ext cx="304801" cy="817480"/>
          </a:xfrm>
          <a:prstGeom prst="line">
            <a:avLst/>
          </a:prstGeom>
        </p:spPr>
        <p:style>
          <a:lnRef idx="3">
            <a:schemeClr val="accent2"/>
          </a:lnRef>
          <a:fillRef idx="0">
            <a:schemeClr val="accent2"/>
          </a:fillRef>
          <a:effectRef idx="2">
            <a:schemeClr val="accent2"/>
          </a:effectRef>
          <a:fontRef idx="minor">
            <a:schemeClr val="tx1"/>
          </a:fontRef>
        </p:style>
      </p:cxnSp>
      <p:sp>
        <p:nvSpPr>
          <p:cNvPr id="37" name="文字方塊 36"/>
          <p:cNvSpPr txBox="1"/>
          <p:nvPr/>
        </p:nvSpPr>
        <p:spPr>
          <a:xfrm>
            <a:off x="5283201" y="4209142"/>
            <a:ext cx="6722532" cy="646331"/>
          </a:xfrm>
          <a:prstGeom prst="rect">
            <a:avLst/>
          </a:prstGeom>
          <a:noFill/>
          <a:ln>
            <a:solidFill>
              <a:schemeClr val="tx1"/>
            </a:solidFill>
          </a:ln>
        </p:spPr>
        <p:txBody>
          <a:bodyPr wrap="square" rtlCol="0">
            <a:spAutoFit/>
          </a:bodyPr>
          <a:lstStyle/>
          <a:p>
            <a:r>
              <a:rPr lang="en-US" altLang="zh-TW"/>
              <a:t>Transforms features by scaling each feature to a given range</a:t>
            </a:r>
            <a:r>
              <a:rPr lang="en-US" altLang="zh-TW" smtClean="0"/>
              <a:t>.</a:t>
            </a:r>
          </a:p>
          <a:p>
            <a:r>
              <a:rPr lang="en-US" altLang="zh-TW" smtClean="0"/>
              <a:t>.fit_transform() fits transformer </a:t>
            </a:r>
            <a:r>
              <a:rPr lang="en-US" altLang="zh-TW"/>
              <a:t>to data, then transform </a:t>
            </a:r>
            <a:r>
              <a:rPr lang="en-US" altLang="zh-TW" smtClean="0"/>
              <a:t>it.</a:t>
            </a:r>
            <a:endParaRPr lang="zh-TW" altLang="en-US"/>
          </a:p>
        </p:txBody>
      </p:sp>
      <p:cxnSp>
        <p:nvCxnSpPr>
          <p:cNvPr id="38" name="直線單箭頭接點 37"/>
          <p:cNvCxnSpPr/>
          <p:nvPr/>
        </p:nvCxnSpPr>
        <p:spPr>
          <a:xfrm flipH="1" flipV="1">
            <a:off x="4614333" y="2765287"/>
            <a:ext cx="668869" cy="144385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pic>
        <p:nvPicPr>
          <p:cNvPr id="42" name="圖片 41"/>
          <p:cNvPicPr>
            <a:picLocks noChangeAspect="1"/>
          </p:cNvPicPr>
          <p:nvPr/>
        </p:nvPicPr>
        <p:blipFill>
          <a:blip r:embed="rId3"/>
          <a:stretch>
            <a:fillRect/>
          </a:stretch>
        </p:blipFill>
        <p:spPr>
          <a:xfrm>
            <a:off x="107420" y="4388379"/>
            <a:ext cx="4964114" cy="1806050"/>
          </a:xfrm>
          <a:prstGeom prst="rect">
            <a:avLst/>
          </a:prstGeom>
        </p:spPr>
      </p:pic>
      <p:sp>
        <p:nvSpPr>
          <p:cNvPr id="5" name="投影片編號版面配置區 4"/>
          <p:cNvSpPr>
            <a:spLocks noGrp="1"/>
          </p:cNvSpPr>
          <p:nvPr>
            <p:ph type="sldNum" sz="quarter" idx="12"/>
          </p:nvPr>
        </p:nvSpPr>
        <p:spPr/>
        <p:txBody>
          <a:bodyPr/>
          <a:lstStyle/>
          <a:p>
            <a:fld id="{5A42122C-B539-4F52-99F7-B4BD00FBCCAD}" type="slidenum">
              <a:rPr lang="zh-TW" altLang="en-US" smtClean="0"/>
              <a:t>26</a:t>
            </a:fld>
            <a:endParaRPr lang="zh-TW" altLang="en-US"/>
          </a:p>
        </p:txBody>
      </p:sp>
    </p:spTree>
    <p:extLst>
      <p:ext uri="{BB962C8B-B14F-4D97-AF65-F5344CB8AC3E}">
        <p14:creationId xmlns:p14="http://schemas.microsoft.com/office/powerpoint/2010/main" val="23189656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p:cNvSpPr>
            <a:spLocks noGrp="1"/>
          </p:cNvSpPr>
          <p:nvPr>
            <p:ph type="sldNum" sz="quarter" idx="12"/>
          </p:nvPr>
        </p:nvSpPr>
        <p:spPr/>
        <p:txBody>
          <a:bodyPr/>
          <a:lstStyle/>
          <a:p>
            <a:fld id="{5A42122C-B539-4F52-99F7-B4BD00FBCCAD}" type="slidenum">
              <a:rPr lang="zh-TW" altLang="en-US" smtClean="0"/>
              <a:t>27</a:t>
            </a:fld>
            <a:endParaRPr lang="zh-TW" altLang="en-US"/>
          </a:p>
        </p:txBody>
      </p:sp>
      <p:pic>
        <p:nvPicPr>
          <p:cNvPr id="7" name="圖片 6"/>
          <p:cNvPicPr>
            <a:picLocks noChangeAspect="1"/>
          </p:cNvPicPr>
          <p:nvPr/>
        </p:nvPicPr>
        <p:blipFill>
          <a:blip r:embed="rId2"/>
          <a:stretch>
            <a:fillRect/>
          </a:stretch>
        </p:blipFill>
        <p:spPr>
          <a:xfrm>
            <a:off x="79157" y="58843"/>
            <a:ext cx="3679339" cy="4680937"/>
          </a:xfrm>
          <a:prstGeom prst="rect">
            <a:avLst/>
          </a:prstGeom>
        </p:spPr>
      </p:pic>
      <p:pic>
        <p:nvPicPr>
          <p:cNvPr id="8" name="圖片 7"/>
          <p:cNvPicPr>
            <a:picLocks noChangeAspect="1"/>
          </p:cNvPicPr>
          <p:nvPr/>
        </p:nvPicPr>
        <p:blipFill>
          <a:blip r:embed="rId3"/>
          <a:stretch>
            <a:fillRect/>
          </a:stretch>
        </p:blipFill>
        <p:spPr>
          <a:xfrm>
            <a:off x="3847381" y="58843"/>
            <a:ext cx="5226590" cy="6729917"/>
          </a:xfrm>
          <a:prstGeom prst="rect">
            <a:avLst/>
          </a:prstGeom>
        </p:spPr>
      </p:pic>
      <p:sp>
        <p:nvSpPr>
          <p:cNvPr id="9" name="文字方塊 8"/>
          <p:cNvSpPr txBox="1"/>
          <p:nvPr/>
        </p:nvSpPr>
        <p:spPr>
          <a:xfrm>
            <a:off x="8169130" y="431231"/>
            <a:ext cx="3919406" cy="313932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285750" indent="-285750">
              <a:buFont typeface="Arial" panose="020B0604020202020204" pitchFamily="34" charset="0"/>
              <a:buChar char="•"/>
            </a:pPr>
            <a:r>
              <a:rPr lang="en-US" altLang="zh-TW" b="1"/>
              <a:t> </a:t>
            </a:r>
            <a:r>
              <a:rPr lang="en-US" altLang="zh-TW" b="1" smtClean="0"/>
              <a:t>validation_split</a:t>
            </a:r>
            <a:r>
              <a:rPr lang="en-US" altLang="zh-TW"/>
              <a:t>:  Float between 0 and 1. Fraction of the training data to be used as validation data. The model will set apart this fraction of the training data, will not train on it, and will evaluate the loss and any model metrics on this data at the end of each epoch. The validation data is selected from the last samples in the x and y data provided, before shuffling.</a:t>
            </a:r>
            <a:endParaRPr lang="zh-TW" altLang="en-US"/>
          </a:p>
        </p:txBody>
      </p:sp>
      <p:cxnSp>
        <p:nvCxnSpPr>
          <p:cNvPr id="10" name="直線單箭頭接點 9"/>
          <p:cNvCxnSpPr>
            <a:stCxn id="9" idx="1"/>
          </p:cNvCxnSpPr>
          <p:nvPr/>
        </p:nvCxnSpPr>
        <p:spPr>
          <a:xfrm flipH="1" flipV="1">
            <a:off x="7491370" y="931183"/>
            <a:ext cx="677760" cy="106970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3877753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5A42122C-B539-4F52-99F7-B4BD00FBCCAD}" type="slidenum">
              <a:rPr lang="zh-TW" altLang="en-US" smtClean="0"/>
              <a:t>28</a:t>
            </a:fld>
            <a:endParaRPr lang="zh-TW" altLang="en-US"/>
          </a:p>
        </p:txBody>
      </p:sp>
      <p:pic>
        <p:nvPicPr>
          <p:cNvPr id="3" name="圖片 2"/>
          <p:cNvPicPr>
            <a:picLocks noChangeAspect="1"/>
          </p:cNvPicPr>
          <p:nvPr/>
        </p:nvPicPr>
        <p:blipFill>
          <a:blip r:embed="rId2"/>
          <a:stretch>
            <a:fillRect/>
          </a:stretch>
        </p:blipFill>
        <p:spPr>
          <a:xfrm>
            <a:off x="251557" y="115639"/>
            <a:ext cx="3313764" cy="6742361"/>
          </a:xfrm>
          <a:prstGeom prst="rect">
            <a:avLst/>
          </a:prstGeom>
        </p:spPr>
      </p:pic>
      <p:pic>
        <p:nvPicPr>
          <p:cNvPr id="4" name="圖片 3"/>
          <p:cNvPicPr>
            <a:picLocks noChangeAspect="1"/>
          </p:cNvPicPr>
          <p:nvPr/>
        </p:nvPicPr>
        <p:blipFill>
          <a:blip r:embed="rId3"/>
          <a:stretch>
            <a:fillRect/>
          </a:stretch>
        </p:blipFill>
        <p:spPr>
          <a:xfrm>
            <a:off x="3954140" y="115639"/>
            <a:ext cx="5561535" cy="1673276"/>
          </a:xfrm>
          <a:prstGeom prst="rect">
            <a:avLst/>
          </a:prstGeom>
        </p:spPr>
      </p:pic>
      <p:pic>
        <p:nvPicPr>
          <p:cNvPr id="5" name="圖片 4"/>
          <p:cNvPicPr>
            <a:picLocks noChangeAspect="1"/>
          </p:cNvPicPr>
          <p:nvPr/>
        </p:nvPicPr>
        <p:blipFill>
          <a:blip r:embed="rId4"/>
          <a:stretch>
            <a:fillRect/>
          </a:stretch>
        </p:blipFill>
        <p:spPr>
          <a:xfrm>
            <a:off x="3954140" y="1920959"/>
            <a:ext cx="5990224" cy="4796443"/>
          </a:xfrm>
          <a:prstGeom prst="rect">
            <a:avLst/>
          </a:prstGeom>
        </p:spPr>
      </p:pic>
      <p:sp>
        <p:nvSpPr>
          <p:cNvPr id="6" name="文字方塊 5"/>
          <p:cNvSpPr txBox="1"/>
          <p:nvPr/>
        </p:nvSpPr>
        <p:spPr>
          <a:xfrm>
            <a:off x="9307938" y="2473739"/>
            <a:ext cx="2107035"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TW" smtClean="0"/>
              <a:t>Predict test data.    Sigmoid unit </a:t>
            </a:r>
            <a:r>
              <a:rPr lang="en-US" altLang="zh-TW" smtClean="0">
                <a:sym typeface="Wingdings" panose="05000000000000000000" pitchFamily="2" charset="2"/>
              </a:rPr>
              <a:t> 0~1</a:t>
            </a:r>
            <a:endParaRPr lang="zh-TW" altLang="en-US" i="1"/>
          </a:p>
        </p:txBody>
      </p:sp>
      <p:cxnSp>
        <p:nvCxnSpPr>
          <p:cNvPr id="7" name="直線單箭頭接點 6"/>
          <p:cNvCxnSpPr>
            <a:stCxn id="6" idx="1"/>
          </p:cNvCxnSpPr>
          <p:nvPr/>
        </p:nvCxnSpPr>
        <p:spPr>
          <a:xfrm flipH="1" flipV="1">
            <a:off x="8705329" y="2788974"/>
            <a:ext cx="602609" cy="793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8" name="文字方塊 7"/>
          <p:cNvSpPr txBox="1"/>
          <p:nvPr/>
        </p:nvSpPr>
        <p:spPr>
          <a:xfrm>
            <a:off x="8705329" y="4415044"/>
            <a:ext cx="3347548"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TW"/>
              <a:t>Insert column into DataFrame at specified location</a:t>
            </a:r>
            <a:endParaRPr lang="zh-TW" altLang="en-US" i="1"/>
          </a:p>
        </p:txBody>
      </p:sp>
      <p:cxnSp>
        <p:nvCxnSpPr>
          <p:cNvPr id="9" name="直線單箭頭接點 8"/>
          <p:cNvCxnSpPr>
            <a:stCxn id="8" idx="1"/>
          </p:cNvCxnSpPr>
          <p:nvPr/>
        </p:nvCxnSpPr>
        <p:spPr>
          <a:xfrm flipH="1" flipV="1">
            <a:off x="8061820" y="4738209"/>
            <a:ext cx="643509" cy="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42687676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19681</TotalTime>
  <Words>1236</Words>
  <Application>Microsoft Office PowerPoint</Application>
  <PresentationFormat>寬螢幕</PresentationFormat>
  <Paragraphs>240</Paragraphs>
  <Slides>28</Slides>
  <Notes>0</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28</vt:i4>
      </vt:variant>
    </vt:vector>
  </HeadingPairs>
  <TitlesOfParts>
    <vt:vector size="37" baseType="lpstr">
      <vt:lpstr>Roboto</vt:lpstr>
      <vt:lpstr>新細明體</vt:lpstr>
      <vt:lpstr>Arial</vt:lpstr>
      <vt:lpstr>Arial Narrow</vt:lpstr>
      <vt:lpstr>Calibri</vt:lpstr>
      <vt:lpstr>Calibri Light</vt:lpstr>
      <vt:lpstr>Times New Roman</vt:lpstr>
      <vt:lpstr>Wingdings</vt:lpstr>
      <vt:lpstr>Office 佈景主題</vt:lpstr>
      <vt:lpstr>TensorFlow and Keras</vt:lpstr>
      <vt:lpstr>TensorFlow</vt:lpstr>
      <vt:lpstr>PowerPoint 簡報</vt:lpstr>
      <vt:lpstr>PowerPoint 簡報</vt:lpstr>
      <vt:lpstr>PowerPoint 簡報</vt:lpstr>
      <vt:lpstr>Keras</vt:lpstr>
      <vt:lpstr>PowerPoint 簡報</vt:lpstr>
      <vt:lpstr>Install Anaconda with Python</vt:lpstr>
      <vt:lpstr>Install Tensorflow, Keras, Pandas, matplotlib, and Scikit-learn in Anaconda</vt:lpstr>
      <vt:lpstr>PowerPoint 簡報</vt:lpstr>
      <vt:lpstr>Install Jupyter Notebook in Anaconda</vt:lpstr>
      <vt:lpstr>Run Jupyter Notebook</vt:lpstr>
      <vt:lpstr>Install Tensorflow-gpu</vt:lpstr>
      <vt:lpstr>Multilayer Perceptron</vt:lpstr>
      <vt:lpstr>Mnist Handwritten Digits Dataset</vt:lpstr>
      <vt:lpstr>PowerPoint 簡報</vt:lpstr>
      <vt:lpstr>PowerPoint 簡報</vt:lpstr>
      <vt:lpstr>PowerPoint 簡報</vt:lpstr>
      <vt:lpstr>PowerPoint 簡報</vt:lpstr>
      <vt:lpstr>PowerPoint 簡報</vt:lpstr>
      <vt:lpstr>PowerPoint 簡報</vt:lpstr>
      <vt:lpstr>PowerPoint 簡報</vt:lpstr>
      <vt:lpstr>Exercise 1</vt:lpstr>
      <vt:lpstr>Titanic Dataset</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TensorFlow and Keras</dc:title>
  <dc:creator>denislin</dc:creator>
  <cp:lastModifiedBy>denislin</cp:lastModifiedBy>
  <cp:revision>134</cp:revision>
  <dcterms:created xsi:type="dcterms:W3CDTF">2019-08-07T08:38:07Z</dcterms:created>
  <dcterms:modified xsi:type="dcterms:W3CDTF">2022-10-17T10:56:30Z</dcterms:modified>
</cp:coreProperties>
</file>